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6"/>
  </p:notesMasterIdLst>
  <p:sldIdLst>
    <p:sldId id="260" r:id="rId2"/>
    <p:sldId id="258" r:id="rId3"/>
    <p:sldId id="262" r:id="rId4"/>
    <p:sldId id="265" r:id="rId5"/>
    <p:sldId id="261" r:id="rId6"/>
    <p:sldId id="263" r:id="rId7"/>
    <p:sldId id="264" r:id="rId8"/>
    <p:sldId id="267" r:id="rId9"/>
    <p:sldId id="266" r:id="rId10"/>
    <p:sldId id="259" r:id="rId11"/>
    <p:sldId id="268" r:id="rId12"/>
    <p:sldId id="271"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DCC7"/>
    <a:srgbClr val="E6C989"/>
    <a:srgbClr val="AA853F"/>
    <a:srgbClr val="001A00"/>
    <a:srgbClr val="FCF9EF"/>
    <a:srgbClr val="15462A"/>
    <a:srgbClr val="6A6A6A"/>
    <a:srgbClr val="FCF7EC"/>
    <a:srgbClr val="001B00"/>
    <a:srgbClr val="A985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29"/>
    <p:restoredTop sz="94610"/>
  </p:normalViewPr>
  <p:slideViewPr>
    <p:cSldViewPr snapToGrid="0" snapToObjects="1">
      <p:cViewPr varScale="1">
        <p:scale>
          <a:sx n="127" d="100"/>
          <a:sy n="127" d="100"/>
        </p:scale>
        <p:origin x="29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rgbClr val="AA853F"/>
              </a:solidFill>
              <a:round/>
            </a:ln>
            <a:effectLst/>
          </c:spPr>
          <c:marker>
            <c:symbol val="none"/>
          </c:marker>
          <c:cat>
            <c:numRef>
              <c:f>Feuil2!$B$1:$B$31</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cat>
          <c:val>
            <c:numRef>
              <c:f>Feuil2!$C$1:$C$31</c:f>
              <c:numCache>
                <c:formatCode>General</c:formatCode>
                <c:ptCount val="31"/>
                <c:pt idx="0">
                  <c:v>100</c:v>
                </c:pt>
                <c:pt idx="1">
                  <c:v>105</c:v>
                </c:pt>
                <c:pt idx="2">
                  <c:v>120</c:v>
                </c:pt>
                <c:pt idx="3">
                  <c:v>125</c:v>
                </c:pt>
                <c:pt idx="4">
                  <c:v>130</c:v>
                </c:pt>
                <c:pt idx="5">
                  <c:v>140</c:v>
                </c:pt>
                <c:pt idx="6">
                  <c:v>148</c:v>
                </c:pt>
                <c:pt idx="7">
                  <c:v>156</c:v>
                </c:pt>
                <c:pt idx="8">
                  <c:v>168</c:v>
                </c:pt>
                <c:pt idx="9">
                  <c:v>186</c:v>
                </c:pt>
                <c:pt idx="10">
                  <c:v>196</c:v>
                </c:pt>
                <c:pt idx="11">
                  <c:v>210</c:v>
                </c:pt>
                <c:pt idx="12">
                  <c:v>220</c:v>
                </c:pt>
                <c:pt idx="13">
                  <c:v>236</c:v>
                </c:pt>
                <c:pt idx="14">
                  <c:v>255</c:v>
                </c:pt>
                <c:pt idx="15">
                  <c:v>276</c:v>
                </c:pt>
                <c:pt idx="16">
                  <c:v>300</c:v>
                </c:pt>
                <c:pt idx="17">
                  <c:v>331.5</c:v>
                </c:pt>
                <c:pt idx="18">
                  <c:v>350</c:v>
                </c:pt>
                <c:pt idx="19">
                  <c:v>365</c:v>
                </c:pt>
                <c:pt idx="20">
                  <c:v>387</c:v>
                </c:pt>
                <c:pt idx="21">
                  <c:v>415</c:v>
                </c:pt>
                <c:pt idx="22">
                  <c:v>465</c:v>
                </c:pt>
                <c:pt idx="23">
                  <c:v>495</c:v>
                </c:pt>
                <c:pt idx="24">
                  <c:v>505</c:v>
                </c:pt>
                <c:pt idx="25">
                  <c:v>543</c:v>
                </c:pt>
                <c:pt idx="26">
                  <c:v>587</c:v>
                </c:pt>
                <c:pt idx="27">
                  <c:v>620</c:v>
                </c:pt>
                <c:pt idx="28">
                  <c:v>652</c:v>
                </c:pt>
                <c:pt idx="29">
                  <c:v>705</c:v>
                </c:pt>
                <c:pt idx="30">
                  <c:v>761</c:v>
                </c:pt>
              </c:numCache>
            </c:numRef>
          </c:val>
          <c:smooth val="0"/>
          <c:extLst>
            <c:ext xmlns:c16="http://schemas.microsoft.com/office/drawing/2014/chart" uri="{C3380CC4-5D6E-409C-BE32-E72D297353CC}">
              <c16:uniqueId val="{00000000-0020-3B4C-A561-9B6741121A78}"/>
            </c:ext>
          </c:extLst>
        </c:ser>
        <c:dLbls>
          <c:showLegendKey val="0"/>
          <c:showVal val="0"/>
          <c:showCatName val="0"/>
          <c:showSerName val="0"/>
          <c:showPercent val="0"/>
          <c:showBubbleSize val="0"/>
        </c:dLbls>
        <c:smooth val="0"/>
        <c:axId val="24815231"/>
        <c:axId val="2123883712"/>
      </c:lineChart>
      <c:catAx>
        <c:axId val="248152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Jost Medium" pitchFamily="2" charset="77"/>
                <a:ea typeface="Jost Medium" pitchFamily="2" charset="77"/>
                <a:cs typeface="+mn-cs"/>
              </a:defRPr>
            </a:pPr>
            <a:endParaRPr lang="fr-FR"/>
          </a:p>
        </c:txPr>
        <c:crossAx val="2123883712"/>
        <c:crosses val="autoZero"/>
        <c:auto val="1"/>
        <c:lblAlgn val="ctr"/>
        <c:lblOffset val="100"/>
        <c:tickLblSkip val="5"/>
        <c:tickMarkSkip val="5"/>
        <c:noMultiLvlLbl val="0"/>
      </c:catAx>
      <c:valAx>
        <c:axId val="2123883712"/>
        <c:scaling>
          <c:orientation val="minMax"/>
          <c:max val="800"/>
          <c:min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Jost Medium" pitchFamily="2" charset="77"/>
                <a:ea typeface="Jost Medium" pitchFamily="2" charset="77"/>
                <a:cs typeface="+mn-cs"/>
              </a:defRPr>
            </a:pPr>
            <a:endParaRPr lang="fr-FR"/>
          </a:p>
        </c:txPr>
        <c:crossAx val="24815231"/>
        <c:crosses val="autoZero"/>
        <c:crossBetween val="between"/>
        <c:majorUnit val="200"/>
      </c:valAx>
      <c:spPr>
        <a:solidFill>
          <a:srgbClr val="FCF9EF"/>
        </a:solidFill>
        <a:ln>
          <a:noFill/>
        </a:ln>
        <a:effectLst/>
      </c:spPr>
    </c:plotArea>
    <c:plotVisOnly val="1"/>
    <c:dispBlanksAs val="gap"/>
    <c:showDLblsOverMax val="0"/>
  </c:chart>
  <c:spPr>
    <a:solidFill>
      <a:srgbClr val="FCF9EF"/>
    </a:solid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rgbClr val="15462A"/>
            </a:solidFill>
            <a:ln>
              <a:noFill/>
            </a:ln>
            <a:effectLst/>
          </c:spPr>
          <c:invertIfNegative val="0"/>
          <c:val>
            <c:numRef>
              <c:f>Feuil1!$D$4:$D$8</c:f>
              <c:numCache>
                <c:formatCode>0%</c:formatCode>
                <c:ptCount val="5"/>
                <c:pt idx="0">
                  <c:v>0.05</c:v>
                </c:pt>
                <c:pt idx="1">
                  <c:v>0.45</c:v>
                </c:pt>
                <c:pt idx="2">
                  <c:v>0.22</c:v>
                </c:pt>
                <c:pt idx="3">
                  <c:v>0.19</c:v>
                </c:pt>
                <c:pt idx="4">
                  <c:v>0.09</c:v>
                </c:pt>
              </c:numCache>
            </c:numRef>
          </c:val>
          <c:extLst>
            <c:ext xmlns:c16="http://schemas.microsoft.com/office/drawing/2014/chart" uri="{C3380CC4-5D6E-409C-BE32-E72D297353CC}">
              <c16:uniqueId val="{00000000-CF24-3547-8CE2-61F5D0A58514}"/>
            </c:ext>
          </c:extLst>
        </c:ser>
        <c:dLbls>
          <c:showLegendKey val="0"/>
          <c:showVal val="0"/>
          <c:showCatName val="0"/>
          <c:showSerName val="0"/>
          <c:showPercent val="0"/>
          <c:showBubbleSize val="0"/>
        </c:dLbls>
        <c:gapWidth val="27"/>
        <c:overlap val="-45"/>
        <c:axId val="2144111680"/>
        <c:axId val="2144110336"/>
      </c:barChart>
      <c:catAx>
        <c:axId val="2144111680"/>
        <c:scaling>
          <c:orientation val="minMax"/>
        </c:scaling>
        <c:delete val="1"/>
        <c:axPos val="l"/>
        <c:majorTickMark val="none"/>
        <c:minorTickMark val="none"/>
        <c:tickLblPos val="nextTo"/>
        <c:crossAx val="2144110336"/>
        <c:crosses val="autoZero"/>
        <c:auto val="1"/>
        <c:lblAlgn val="ctr"/>
        <c:lblOffset val="100"/>
        <c:noMultiLvlLbl val="0"/>
      </c:catAx>
      <c:valAx>
        <c:axId val="2144110336"/>
        <c:scaling>
          <c:orientation val="minMax"/>
        </c:scaling>
        <c:delete val="1"/>
        <c:axPos val="b"/>
        <c:numFmt formatCode="0%" sourceLinked="1"/>
        <c:majorTickMark val="none"/>
        <c:minorTickMark val="none"/>
        <c:tickLblPos val="nextTo"/>
        <c:crossAx val="21441116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rgbClr val="15462A"/>
            </a:solidFill>
            <a:ln>
              <a:noFill/>
            </a:ln>
            <a:effectLst/>
          </c:spPr>
          <c:invertIfNegative val="0"/>
          <c:val>
            <c:numRef>
              <c:f>Feuil1!$F$4:$F$8</c:f>
              <c:numCache>
                <c:formatCode>0%</c:formatCode>
                <c:ptCount val="5"/>
                <c:pt idx="0">
                  <c:v>0.05</c:v>
                </c:pt>
                <c:pt idx="1">
                  <c:v>0.27</c:v>
                </c:pt>
                <c:pt idx="2">
                  <c:v>0.22</c:v>
                </c:pt>
                <c:pt idx="3">
                  <c:v>0.22</c:v>
                </c:pt>
                <c:pt idx="4">
                  <c:v>0.24</c:v>
                </c:pt>
              </c:numCache>
            </c:numRef>
          </c:val>
          <c:extLst>
            <c:ext xmlns:c16="http://schemas.microsoft.com/office/drawing/2014/chart" uri="{C3380CC4-5D6E-409C-BE32-E72D297353CC}">
              <c16:uniqueId val="{00000000-18D8-304A-8467-7A7069E8D8AC}"/>
            </c:ext>
          </c:extLst>
        </c:ser>
        <c:dLbls>
          <c:showLegendKey val="0"/>
          <c:showVal val="0"/>
          <c:showCatName val="0"/>
          <c:showSerName val="0"/>
          <c:showPercent val="0"/>
          <c:showBubbleSize val="0"/>
        </c:dLbls>
        <c:gapWidth val="27"/>
        <c:overlap val="-45"/>
        <c:axId val="2123419584"/>
        <c:axId val="2123421824"/>
      </c:barChart>
      <c:catAx>
        <c:axId val="2123419584"/>
        <c:scaling>
          <c:orientation val="minMax"/>
        </c:scaling>
        <c:delete val="1"/>
        <c:axPos val="l"/>
        <c:numFmt formatCode="General" sourceLinked="1"/>
        <c:majorTickMark val="none"/>
        <c:minorTickMark val="none"/>
        <c:tickLblPos val="nextTo"/>
        <c:crossAx val="2123421824"/>
        <c:crosses val="autoZero"/>
        <c:auto val="1"/>
        <c:lblAlgn val="ctr"/>
        <c:lblOffset val="100"/>
        <c:noMultiLvlLbl val="0"/>
      </c:catAx>
      <c:valAx>
        <c:axId val="2123421824"/>
        <c:scaling>
          <c:orientation val="minMax"/>
        </c:scaling>
        <c:delete val="1"/>
        <c:axPos val="b"/>
        <c:numFmt formatCode="0%" sourceLinked="1"/>
        <c:majorTickMark val="none"/>
        <c:minorTickMark val="none"/>
        <c:tickLblPos val="nextTo"/>
        <c:crossAx val="21234195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rgbClr val="15462A"/>
            </a:solidFill>
            <a:ln>
              <a:noFill/>
            </a:ln>
            <a:effectLst/>
          </c:spPr>
          <c:invertIfNegative val="0"/>
          <c:val>
            <c:numRef>
              <c:f>Feuil1!$H$4:$H$8</c:f>
              <c:numCache>
                <c:formatCode>0%</c:formatCode>
                <c:ptCount val="5"/>
                <c:pt idx="0">
                  <c:v>0.05</c:v>
                </c:pt>
                <c:pt idx="1">
                  <c:v>0.14000000000000001</c:v>
                </c:pt>
                <c:pt idx="2">
                  <c:v>0.19</c:v>
                </c:pt>
                <c:pt idx="3">
                  <c:v>0.23</c:v>
                </c:pt>
                <c:pt idx="4">
                  <c:v>0.39</c:v>
                </c:pt>
              </c:numCache>
            </c:numRef>
          </c:val>
          <c:extLst>
            <c:ext xmlns:c16="http://schemas.microsoft.com/office/drawing/2014/chart" uri="{C3380CC4-5D6E-409C-BE32-E72D297353CC}">
              <c16:uniqueId val="{00000000-9CA5-7B45-B5D3-20B20B92AA6F}"/>
            </c:ext>
          </c:extLst>
        </c:ser>
        <c:dLbls>
          <c:showLegendKey val="0"/>
          <c:showVal val="0"/>
          <c:showCatName val="0"/>
          <c:showSerName val="0"/>
          <c:showPercent val="0"/>
          <c:showBubbleSize val="0"/>
        </c:dLbls>
        <c:gapWidth val="27"/>
        <c:overlap val="-45"/>
        <c:axId val="2123499264"/>
        <c:axId val="2123506880"/>
      </c:barChart>
      <c:catAx>
        <c:axId val="2123499264"/>
        <c:scaling>
          <c:orientation val="minMax"/>
        </c:scaling>
        <c:delete val="1"/>
        <c:axPos val="l"/>
        <c:numFmt formatCode="General" sourceLinked="1"/>
        <c:majorTickMark val="none"/>
        <c:minorTickMark val="none"/>
        <c:tickLblPos val="nextTo"/>
        <c:crossAx val="2123506880"/>
        <c:crosses val="autoZero"/>
        <c:auto val="1"/>
        <c:lblAlgn val="ctr"/>
        <c:lblOffset val="100"/>
        <c:noMultiLvlLbl val="0"/>
      </c:catAx>
      <c:valAx>
        <c:axId val="2123506880"/>
        <c:scaling>
          <c:orientation val="minMax"/>
        </c:scaling>
        <c:delete val="1"/>
        <c:axPos val="b"/>
        <c:numFmt formatCode="0%" sourceLinked="1"/>
        <c:majorTickMark val="none"/>
        <c:minorTickMark val="none"/>
        <c:tickLblPos val="nextTo"/>
        <c:crossAx val="21234992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rgbClr val="15462A"/>
            </a:solidFill>
            <a:ln>
              <a:noFill/>
            </a:ln>
            <a:effectLst/>
          </c:spPr>
          <c:invertIfNegative val="0"/>
          <c:val>
            <c:numRef>
              <c:f>Feuil1!$J$4:$J$8</c:f>
              <c:numCache>
                <c:formatCode>0%</c:formatCode>
                <c:ptCount val="5"/>
                <c:pt idx="0">
                  <c:v>0.05</c:v>
                </c:pt>
                <c:pt idx="1">
                  <c:v>7.0000000000000007E-2</c:v>
                </c:pt>
                <c:pt idx="2">
                  <c:v>0.09</c:v>
                </c:pt>
                <c:pt idx="3">
                  <c:v>0.24</c:v>
                </c:pt>
                <c:pt idx="4">
                  <c:v>0.55000000000000004</c:v>
                </c:pt>
              </c:numCache>
            </c:numRef>
          </c:val>
          <c:extLst>
            <c:ext xmlns:c16="http://schemas.microsoft.com/office/drawing/2014/chart" uri="{C3380CC4-5D6E-409C-BE32-E72D297353CC}">
              <c16:uniqueId val="{00000000-E5FC-1042-ABFD-8DF96BC3961C}"/>
            </c:ext>
          </c:extLst>
        </c:ser>
        <c:dLbls>
          <c:showLegendKey val="0"/>
          <c:showVal val="0"/>
          <c:showCatName val="0"/>
          <c:showSerName val="0"/>
          <c:showPercent val="0"/>
          <c:showBubbleSize val="0"/>
        </c:dLbls>
        <c:gapWidth val="27"/>
        <c:overlap val="-45"/>
        <c:axId val="3632511"/>
        <c:axId val="2123528192"/>
      </c:barChart>
      <c:catAx>
        <c:axId val="3632511"/>
        <c:scaling>
          <c:orientation val="minMax"/>
        </c:scaling>
        <c:delete val="1"/>
        <c:axPos val="l"/>
        <c:numFmt formatCode="General" sourceLinked="1"/>
        <c:majorTickMark val="none"/>
        <c:minorTickMark val="none"/>
        <c:tickLblPos val="nextTo"/>
        <c:crossAx val="2123528192"/>
        <c:crosses val="autoZero"/>
        <c:auto val="1"/>
        <c:lblAlgn val="ctr"/>
        <c:lblOffset val="100"/>
        <c:noMultiLvlLbl val="0"/>
      </c:catAx>
      <c:valAx>
        <c:axId val="2123528192"/>
        <c:scaling>
          <c:orientation val="minMax"/>
        </c:scaling>
        <c:delete val="1"/>
        <c:axPos val="b"/>
        <c:numFmt formatCode="0%" sourceLinked="1"/>
        <c:majorTickMark val="none"/>
        <c:minorTickMark val="none"/>
        <c:tickLblPos val="nextTo"/>
        <c:crossAx val="363251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2335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E3F85-B117-941B-8D1C-A41B00826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B2205-A84D-B42D-A994-1A37A82A273C}"/>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20E9D27B-C97F-F05B-BBF4-53A28F025A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CFCD50-2805-D57C-E10C-1BD8C4D8AE88}"/>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4192980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Ref idx="1001">
        <a:schemeClr val="bg1"/>
      </p:bgRef>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A4FCA372-603E-F001-8FAA-AA8E5895B1D4}"/>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8E19D978-E7F0-AD6C-696B-5D62C20CD564}"/>
              </a:ext>
            </a:extLst>
          </p:cNvPr>
          <p:cNvSpPr>
            <a:spLocks noGrp="1"/>
          </p:cNvSpPr>
          <p:nvPr>
            <p:ph type="sldNum" sz="quarter" idx="11"/>
          </p:nvPr>
        </p:nvSpPr>
        <p:spPr/>
        <p:txBody>
          <a:bodyPr/>
          <a:lstStyle/>
          <a:p>
            <a:fld id="{49B61AA6-5A41-F343-9833-839BE35FDF94}" type="slidenum">
              <a:rPr lang="fr-FR" smtClean="0"/>
              <a:pPr/>
              <a:t>‹N°›</a:t>
            </a:fld>
            <a:endParaRPr lang="fr-FR" dirty="0">
              <a:solidFill>
                <a:schemeClr val="tx1"/>
              </a:solidFil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C8718CB5-0CA2-5F84-A7A0-7B4FD3C852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3" name="Espace réservé du numéro de diapositive 2">
            <a:extLst>
              <a:ext uri="{FF2B5EF4-FFF2-40B4-BE49-F238E27FC236}">
                <a16:creationId xmlns:a16="http://schemas.microsoft.com/office/drawing/2014/main" id="{0573CAC1-1255-66FE-9DFD-59B3798D1596}"/>
              </a:ext>
            </a:extLst>
          </p:cNvPr>
          <p:cNvSpPr>
            <a:spLocks noGrp="1"/>
          </p:cNvSpPr>
          <p:nvPr>
            <p:ph type="sldNum" sz="quarter" idx="4"/>
          </p:nvPr>
        </p:nvSpPr>
        <p:spPr>
          <a:xfrm>
            <a:off x="9111342" y="6356349"/>
            <a:ext cx="2743200" cy="365125"/>
          </a:xfrm>
          <a:prstGeom prst="rect">
            <a:avLst/>
          </a:prstGeom>
        </p:spPr>
        <p:txBody>
          <a:bodyPr vert="horz" lIns="91440" tIns="45720" rIns="91440" bIns="45720" rtlCol="0" anchor="ctr"/>
          <a:lstStyle>
            <a:lvl1pPr algn="r">
              <a:defRPr sz="1200">
                <a:solidFill>
                  <a:schemeClr val="tx1"/>
                </a:solidFill>
              </a:defRPr>
            </a:lvl1pPr>
          </a:lstStyle>
          <a:p>
            <a:fld id="{49B61AA6-5A41-F343-9833-839BE35FDF94}" type="slidenum">
              <a:rPr lang="fr-FR" smtClean="0"/>
              <a:pPr/>
              <a:t>‹N°›</a:t>
            </a:fld>
            <a:endParaRPr lang="fr-FR"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6" rtl="0" eaLnBrk="1" latinLnBrk="0" hangingPunct="1">
        <a:spcBef>
          <a:spcPct val="0"/>
        </a:spcBef>
        <a:buNone/>
        <a:defRPr sz="4400" kern="1200">
          <a:solidFill>
            <a:schemeClr val="tx1"/>
          </a:solidFill>
          <a:latin typeface="+mj-lt"/>
          <a:ea typeface="+mj-ea"/>
          <a:cs typeface="+mj-cs"/>
        </a:defRPr>
      </a:lvl1pPr>
    </p:titleStyle>
    <p:bodyStyle>
      <a:lvl1pPr marL="342903" indent="-342903" algn="l" defTabSz="914406"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5" indent="-285752" algn="l" defTabSz="914406"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8" indent="-228602" algn="l" defTabSz="914406"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10" indent="-228602" algn="l" defTabSz="914406"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13" indent="-228602" algn="l" defTabSz="914406"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17" indent="-228602" algn="l" defTabSz="9144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19" indent="-228602" algn="l" defTabSz="9144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23" indent="-228602" algn="l" defTabSz="9144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25" indent="-228602" algn="l" defTabSz="9144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6" rtl="0" eaLnBrk="1" latinLnBrk="0" hangingPunct="1">
        <a:defRPr sz="1800" kern="1200">
          <a:solidFill>
            <a:schemeClr val="tx1"/>
          </a:solidFill>
          <a:latin typeface="+mn-lt"/>
          <a:ea typeface="+mn-ea"/>
          <a:cs typeface="+mn-cs"/>
        </a:defRPr>
      </a:lvl1pPr>
      <a:lvl2pPr marL="457203" algn="l" defTabSz="914406" rtl="0" eaLnBrk="1" latinLnBrk="0" hangingPunct="1">
        <a:defRPr sz="1800" kern="1200">
          <a:solidFill>
            <a:schemeClr val="tx1"/>
          </a:solidFill>
          <a:latin typeface="+mn-lt"/>
          <a:ea typeface="+mn-ea"/>
          <a:cs typeface="+mn-cs"/>
        </a:defRPr>
      </a:lvl2pPr>
      <a:lvl3pPr marL="914406" algn="l" defTabSz="914406" rtl="0" eaLnBrk="1" latinLnBrk="0" hangingPunct="1">
        <a:defRPr sz="1800" kern="1200">
          <a:solidFill>
            <a:schemeClr val="tx1"/>
          </a:solidFill>
          <a:latin typeface="+mn-lt"/>
          <a:ea typeface="+mn-ea"/>
          <a:cs typeface="+mn-cs"/>
        </a:defRPr>
      </a:lvl3pPr>
      <a:lvl4pPr marL="1371609" algn="l" defTabSz="914406" rtl="0" eaLnBrk="1" latinLnBrk="0" hangingPunct="1">
        <a:defRPr sz="1800" kern="1200">
          <a:solidFill>
            <a:schemeClr val="tx1"/>
          </a:solidFill>
          <a:latin typeface="+mn-lt"/>
          <a:ea typeface="+mn-ea"/>
          <a:cs typeface="+mn-cs"/>
        </a:defRPr>
      </a:lvl4pPr>
      <a:lvl5pPr marL="1828812" algn="l" defTabSz="914406" rtl="0" eaLnBrk="1" latinLnBrk="0" hangingPunct="1">
        <a:defRPr sz="1800" kern="1200">
          <a:solidFill>
            <a:schemeClr val="tx1"/>
          </a:solidFill>
          <a:latin typeface="+mn-lt"/>
          <a:ea typeface="+mn-ea"/>
          <a:cs typeface="+mn-cs"/>
        </a:defRPr>
      </a:lvl5pPr>
      <a:lvl6pPr marL="2286015" algn="l" defTabSz="914406" rtl="0" eaLnBrk="1" latinLnBrk="0" hangingPunct="1">
        <a:defRPr sz="1800" kern="1200">
          <a:solidFill>
            <a:schemeClr val="tx1"/>
          </a:solidFill>
          <a:latin typeface="+mn-lt"/>
          <a:ea typeface="+mn-ea"/>
          <a:cs typeface="+mn-cs"/>
        </a:defRPr>
      </a:lvl6pPr>
      <a:lvl7pPr marL="2743218" algn="l" defTabSz="914406" rtl="0" eaLnBrk="1" latinLnBrk="0" hangingPunct="1">
        <a:defRPr sz="1800" kern="1200">
          <a:solidFill>
            <a:schemeClr val="tx1"/>
          </a:solidFill>
          <a:latin typeface="+mn-lt"/>
          <a:ea typeface="+mn-ea"/>
          <a:cs typeface="+mn-cs"/>
        </a:defRPr>
      </a:lvl7pPr>
      <a:lvl8pPr marL="3200421" algn="l" defTabSz="914406" rtl="0" eaLnBrk="1" latinLnBrk="0" hangingPunct="1">
        <a:defRPr sz="1800" kern="1200">
          <a:solidFill>
            <a:schemeClr val="tx1"/>
          </a:solidFill>
          <a:latin typeface="+mn-lt"/>
          <a:ea typeface="+mn-ea"/>
          <a:cs typeface="+mn-cs"/>
        </a:defRPr>
      </a:lvl8pPr>
      <a:lvl9pPr marL="3657624" algn="l" defTabSz="91440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07/relationships/hdphoto" Target="../media/hdphoto2.wdp"/><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EA633-6096-04E1-ACAB-5A77798BBB32}"/>
            </a:ext>
          </a:extLst>
        </p:cNvPr>
        <p:cNvGrpSpPr/>
        <p:nvPr/>
      </p:nvGrpSpPr>
      <p:grpSpPr>
        <a:xfrm>
          <a:off x="0" y="0"/>
          <a:ext cx="0" cy="0"/>
          <a:chOff x="0" y="0"/>
          <a:chExt cx="0" cy="0"/>
        </a:xfrm>
      </p:grpSpPr>
      <p:pic>
        <p:nvPicPr>
          <p:cNvPr id="23" name="Image 22">
            <a:extLst>
              <a:ext uri="{FF2B5EF4-FFF2-40B4-BE49-F238E27FC236}">
                <a16:creationId xmlns:a16="http://schemas.microsoft.com/office/drawing/2014/main" id="{A1ABB355-D41E-408F-4CAD-D40E5523E3EE}"/>
              </a:ext>
            </a:extLst>
          </p:cNvPr>
          <p:cNvPicPr>
            <a:picLocks noChangeAspect="1"/>
          </p:cNvPicPr>
          <p:nvPr/>
        </p:nvPicPr>
        <p:blipFill>
          <a:blip r:embed="rId3">
            <a:alphaModFix amt="20000"/>
            <a:extLst>
              <a:ext uri="{BEBA8EAE-BF5A-486C-A8C5-ECC9F3942E4B}">
                <a14:imgProps xmlns:a14="http://schemas.microsoft.com/office/drawing/2010/main">
                  <a14:imgLayer r:embed="rId4">
                    <a14:imgEffect>
                      <a14:saturation sat="66000"/>
                    </a14:imgEffect>
                  </a14:imgLayer>
                </a14:imgProps>
              </a:ext>
            </a:extLst>
          </a:blip>
          <a:srcRect l="73942" t="-21403" r="19496" b="-27711"/>
          <a:stretch>
            <a:fillRect/>
          </a:stretch>
        </p:blipFill>
        <p:spPr>
          <a:xfrm>
            <a:off x="11590972" y="156744"/>
            <a:ext cx="617961" cy="7327940"/>
          </a:xfrm>
          <a:prstGeom prst="rect">
            <a:avLst/>
          </a:prstGeom>
        </p:spPr>
      </p:pic>
      <p:pic>
        <p:nvPicPr>
          <p:cNvPr id="8" name="Image 7">
            <a:extLst>
              <a:ext uri="{FF2B5EF4-FFF2-40B4-BE49-F238E27FC236}">
                <a16:creationId xmlns:a16="http://schemas.microsoft.com/office/drawing/2014/main" id="{E1E23B3D-9DA4-B67C-48A1-8C1AC46CD6A6}"/>
              </a:ext>
            </a:extLst>
          </p:cNvPr>
          <p:cNvPicPr>
            <a:picLocks noChangeAspect="1"/>
          </p:cNvPicPr>
          <p:nvPr/>
        </p:nvPicPr>
        <p:blipFill>
          <a:blip r:embed="rId3">
            <a:alphaModFix amt="20000"/>
            <a:extLst>
              <a:ext uri="{BEBA8EAE-BF5A-486C-A8C5-ECC9F3942E4B}">
                <a14:imgProps xmlns:a14="http://schemas.microsoft.com/office/drawing/2010/main">
                  <a14:imgLayer r:embed="rId5">
                    <a14:imgEffect>
                      <a14:saturation sat="66000"/>
                    </a14:imgEffect>
                  </a14:imgLayer>
                </a14:imgProps>
              </a:ext>
            </a:extLst>
          </a:blip>
          <a:srcRect l="26213" t="-15878" r="65984" b="-33235"/>
          <a:stretch>
            <a:fillRect/>
          </a:stretch>
        </p:blipFill>
        <p:spPr>
          <a:xfrm>
            <a:off x="-25827" y="724734"/>
            <a:ext cx="734857" cy="6138411"/>
          </a:xfrm>
          <a:prstGeom prst="rect">
            <a:avLst/>
          </a:prstGeom>
        </p:spPr>
      </p:pic>
      <p:sp>
        <p:nvSpPr>
          <p:cNvPr id="5" name="Shape 1">
            <a:extLst>
              <a:ext uri="{FF2B5EF4-FFF2-40B4-BE49-F238E27FC236}">
                <a16:creationId xmlns:a16="http://schemas.microsoft.com/office/drawing/2014/main" id="{D85FADF1-563D-D7FB-3FDA-108CA98EA3BA}"/>
              </a:ext>
            </a:extLst>
          </p:cNvPr>
          <p:cNvSpPr/>
          <p:nvPr/>
        </p:nvSpPr>
        <p:spPr>
          <a:xfrm flipH="1">
            <a:off x="3766751" y="919842"/>
            <a:ext cx="54430" cy="5018315"/>
          </a:xfrm>
          <a:prstGeom prst="line">
            <a:avLst/>
          </a:prstGeom>
          <a:noFill/>
          <a:ln w="7620">
            <a:solidFill>
              <a:srgbClr val="A9853F"/>
            </a:solidFill>
            <a:prstDash val="solid"/>
          </a:ln>
        </p:spPr>
        <p:txBody>
          <a:bodyPr/>
          <a:lstStyle/>
          <a:p>
            <a:endParaRPr lang="fr-FR"/>
          </a:p>
        </p:txBody>
      </p:sp>
      <p:sp>
        <p:nvSpPr>
          <p:cNvPr id="34" name="Rectangle 33">
            <a:extLst>
              <a:ext uri="{FF2B5EF4-FFF2-40B4-BE49-F238E27FC236}">
                <a16:creationId xmlns:a16="http://schemas.microsoft.com/office/drawing/2014/main" id="{6ED7CCAC-2D77-9DFC-EB54-7667CFBEACB5}"/>
              </a:ext>
            </a:extLst>
          </p:cNvPr>
          <p:cNvSpPr/>
          <p:nvPr/>
        </p:nvSpPr>
        <p:spPr>
          <a:xfrm>
            <a:off x="464234" y="351693"/>
            <a:ext cx="11254154" cy="613841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Shape 0">
            <a:extLst>
              <a:ext uri="{FF2B5EF4-FFF2-40B4-BE49-F238E27FC236}">
                <a16:creationId xmlns:a16="http://schemas.microsoft.com/office/drawing/2014/main" id="{C7E4D50E-A6A7-129E-D6CA-E6DAA3686454}"/>
              </a:ext>
            </a:extLst>
          </p:cNvPr>
          <p:cNvSpPr/>
          <p:nvPr/>
        </p:nvSpPr>
        <p:spPr>
          <a:xfrm>
            <a:off x="1359182" y="1771745"/>
            <a:ext cx="2849060" cy="2689733"/>
          </a:xfrm>
          <a:prstGeom prst="rect">
            <a:avLst/>
          </a:prstGeom>
          <a:solidFill>
            <a:srgbClr val="FCF7EC"/>
          </a:solidFill>
          <a:ln w="12700">
            <a:solidFill>
              <a:srgbClr val="073527">
                <a:alpha val="0"/>
              </a:srgbClr>
            </a:solidFill>
            <a:prstDash val="solid"/>
          </a:ln>
        </p:spPr>
        <p:txBody>
          <a:bodyPr/>
          <a:lstStyle/>
          <a:p>
            <a:endParaRPr lang="fr-FR"/>
          </a:p>
        </p:txBody>
      </p:sp>
      <p:sp>
        <p:nvSpPr>
          <p:cNvPr id="12" name="Shape 8">
            <a:extLst>
              <a:ext uri="{FF2B5EF4-FFF2-40B4-BE49-F238E27FC236}">
                <a16:creationId xmlns:a16="http://schemas.microsoft.com/office/drawing/2014/main" id="{2CF550F1-C236-0623-1461-A8EC7C795E96}"/>
              </a:ext>
            </a:extLst>
          </p:cNvPr>
          <p:cNvSpPr/>
          <p:nvPr/>
        </p:nvSpPr>
        <p:spPr>
          <a:xfrm>
            <a:off x="6826858" y="3362300"/>
            <a:ext cx="615451" cy="0"/>
          </a:xfrm>
          <a:prstGeom prst="line">
            <a:avLst/>
          </a:prstGeom>
          <a:noFill/>
          <a:ln w="12700">
            <a:solidFill>
              <a:srgbClr val="A9853F"/>
            </a:solidFill>
            <a:prstDash val="solid"/>
          </a:ln>
        </p:spPr>
        <p:txBody>
          <a:bodyPr/>
          <a:lstStyle/>
          <a:p>
            <a:endParaRPr lang="fr-FR" noProof="0" dirty="0"/>
          </a:p>
        </p:txBody>
      </p:sp>
      <p:sp>
        <p:nvSpPr>
          <p:cNvPr id="13" name="Text 9">
            <a:extLst>
              <a:ext uri="{FF2B5EF4-FFF2-40B4-BE49-F238E27FC236}">
                <a16:creationId xmlns:a16="http://schemas.microsoft.com/office/drawing/2014/main" id="{EDACCF7B-D413-6EC3-53D8-21BC8CCD8DBD}"/>
              </a:ext>
            </a:extLst>
          </p:cNvPr>
          <p:cNvSpPr/>
          <p:nvPr/>
        </p:nvSpPr>
        <p:spPr>
          <a:xfrm>
            <a:off x="6796378" y="3792154"/>
            <a:ext cx="3370881" cy="835202"/>
          </a:xfrm>
          <a:prstGeom prst="rect">
            <a:avLst/>
          </a:prstGeom>
          <a:noFill/>
          <a:ln/>
        </p:spPr>
        <p:txBody>
          <a:bodyPr wrap="square" lIns="0" tIns="0" rIns="0" bIns="0" rtlCol="0" anchor="t">
            <a:normAutofit/>
          </a:bodyPr>
          <a:lstStyle/>
          <a:p>
            <a:r>
              <a:rPr lang="fr-FR" noProof="0" dirty="0">
                <a:solidFill>
                  <a:srgbClr val="FBFBFB"/>
                </a:solidFill>
                <a:latin typeface="Jost Medium" pitchFamily="2" charset="77"/>
                <a:ea typeface="Jost Medium" pitchFamily="2" charset="77"/>
                <a:cs typeface="Futura Medium" panose="020B0602020204020303" pitchFamily="34" charset="-79"/>
              </a:rPr>
              <a:t>Gestion privée &amp;</a:t>
            </a:r>
          </a:p>
          <a:p>
            <a:r>
              <a:rPr lang="fr-FR" noProof="0" dirty="0">
                <a:solidFill>
                  <a:srgbClr val="FBFBFB"/>
                </a:solidFill>
                <a:latin typeface="Jost Medium" pitchFamily="2" charset="77"/>
                <a:ea typeface="Jost Medium" pitchFamily="2" charset="77"/>
                <a:cs typeface="Futura Medium" panose="020B0602020204020303" pitchFamily="34" charset="-79"/>
              </a:rPr>
              <a:t>placement de trésorerie</a:t>
            </a:r>
          </a:p>
        </p:txBody>
      </p:sp>
      <p:sp>
        <p:nvSpPr>
          <p:cNvPr id="14" name="Text 10">
            <a:extLst>
              <a:ext uri="{FF2B5EF4-FFF2-40B4-BE49-F238E27FC236}">
                <a16:creationId xmlns:a16="http://schemas.microsoft.com/office/drawing/2014/main" id="{08ED3ECE-D6CB-AE5A-FAA9-A801766B5B9A}"/>
              </a:ext>
            </a:extLst>
          </p:cNvPr>
          <p:cNvSpPr/>
          <p:nvPr/>
        </p:nvSpPr>
        <p:spPr>
          <a:xfrm>
            <a:off x="6796379" y="4537116"/>
            <a:ext cx="2861188" cy="594734"/>
          </a:xfrm>
          <a:prstGeom prst="rect">
            <a:avLst/>
          </a:prstGeom>
          <a:noFill/>
          <a:ln/>
        </p:spPr>
        <p:txBody>
          <a:bodyPr wrap="square" lIns="0" tIns="0" rIns="0" bIns="0" rtlCol="0" anchor="t">
            <a:normAutofit/>
          </a:bodyPr>
          <a:lstStyle/>
          <a:p>
            <a:r>
              <a:rPr lang="fr-FR" sz="1100" noProof="0" dirty="0">
                <a:solidFill>
                  <a:srgbClr val="FCF9EF"/>
                </a:solidFill>
                <a:latin typeface="Jost Medium" pitchFamily="2" charset="77"/>
                <a:ea typeface="Jost Medium" pitchFamily="2" charset="77"/>
                <a:cs typeface="Futura Medium" panose="020B0602020204020303" pitchFamily="34" charset="-79"/>
              </a:rPr>
              <a:t>Conseil sur mesure pour entrepreneurs, familles et dirigeants.</a:t>
            </a:r>
          </a:p>
        </p:txBody>
      </p:sp>
      <p:sp>
        <p:nvSpPr>
          <p:cNvPr id="15" name="Shape 11">
            <a:extLst>
              <a:ext uri="{FF2B5EF4-FFF2-40B4-BE49-F238E27FC236}">
                <a16:creationId xmlns:a16="http://schemas.microsoft.com/office/drawing/2014/main" id="{3D2F14C0-054A-7003-09C7-7E66C6101B2C}"/>
              </a:ext>
            </a:extLst>
          </p:cNvPr>
          <p:cNvSpPr/>
          <p:nvPr/>
        </p:nvSpPr>
        <p:spPr>
          <a:xfrm>
            <a:off x="10841944" y="5682441"/>
            <a:ext cx="536321" cy="0"/>
          </a:xfrm>
          <a:prstGeom prst="line">
            <a:avLst/>
          </a:prstGeom>
          <a:noFill/>
          <a:ln w="10160">
            <a:solidFill>
              <a:srgbClr val="A9853F"/>
            </a:solidFill>
            <a:prstDash val="solid"/>
          </a:ln>
        </p:spPr>
        <p:txBody>
          <a:bodyPr/>
          <a:lstStyle/>
          <a:p>
            <a:endParaRPr lang="fr-FR" noProof="0" dirty="0"/>
          </a:p>
        </p:txBody>
      </p:sp>
      <p:pic>
        <p:nvPicPr>
          <p:cNvPr id="4" name="Image 1" descr="/mnt/data/lfdr_assets/staircase.png">
            <a:extLst>
              <a:ext uri="{FF2B5EF4-FFF2-40B4-BE49-F238E27FC236}">
                <a16:creationId xmlns:a16="http://schemas.microsoft.com/office/drawing/2014/main" id="{23B1CC02-34D6-28E6-5351-88464A74FE1C}"/>
              </a:ext>
            </a:extLst>
          </p:cNvPr>
          <p:cNvPicPr>
            <a:picLocks noChangeAspect="1"/>
          </p:cNvPicPr>
          <p:nvPr/>
        </p:nvPicPr>
        <p:blipFill>
          <a:blip r:embed="rId6"/>
          <a:srcRect l="5195" t="16070"/>
          <a:stretch>
            <a:fillRect/>
          </a:stretch>
        </p:blipFill>
        <p:spPr>
          <a:xfrm>
            <a:off x="1859921" y="2233929"/>
            <a:ext cx="3370881" cy="2897921"/>
          </a:xfrm>
          <a:prstGeom prst="rect">
            <a:avLst/>
          </a:prstGeom>
        </p:spPr>
      </p:pic>
      <p:sp>
        <p:nvSpPr>
          <p:cNvPr id="6" name="ZoneTexte 5">
            <a:extLst>
              <a:ext uri="{FF2B5EF4-FFF2-40B4-BE49-F238E27FC236}">
                <a16:creationId xmlns:a16="http://schemas.microsoft.com/office/drawing/2014/main" id="{027AA720-2F0D-65F2-34CD-E714FED421A5}"/>
              </a:ext>
            </a:extLst>
          </p:cNvPr>
          <p:cNvSpPr txBox="1"/>
          <p:nvPr/>
        </p:nvSpPr>
        <p:spPr>
          <a:xfrm>
            <a:off x="7212640" y="5876812"/>
            <a:ext cx="4270329" cy="261610"/>
          </a:xfrm>
          <a:prstGeom prst="rect">
            <a:avLst/>
          </a:prstGeom>
          <a:noFill/>
        </p:spPr>
        <p:txBody>
          <a:bodyPr wrap="square" rtlCol="0">
            <a:spAutoFit/>
          </a:bodyPr>
          <a:lstStyle/>
          <a:p>
            <a:pPr algn="r"/>
            <a:r>
              <a:rPr lang="fr-FR" sz="1100" dirty="0">
                <a:solidFill>
                  <a:srgbClr val="FDFDFD"/>
                </a:solidFill>
                <a:latin typeface="Jost Medium" pitchFamily="2" charset="77"/>
                <a:ea typeface="Jost Medium" pitchFamily="2" charset="77"/>
                <a:cs typeface="Futura Medium" panose="020B0602020204020303" pitchFamily="34" charset="-79"/>
              </a:rPr>
              <a:t>Madame &amp; Monsieur </a:t>
            </a:r>
            <a:r>
              <a:rPr lang="fr-FR" sz="1100" dirty="0">
                <a:solidFill>
                  <a:srgbClr val="FDFDFD"/>
                </a:solidFill>
                <a:latin typeface="Jost Medium" pitchFamily="2" charset="77"/>
                <a:ea typeface="Jost Medium" pitchFamily="2" charset="77"/>
                <a:cs typeface="Futura Medium" panose="020B0602020204020303" pitchFamily="34" charset="-79"/>
              </a:rPr>
              <a:t>XXX</a:t>
            </a:r>
            <a:r>
              <a:rPr lang="fr-FR" sz="1100" dirty="0">
                <a:solidFill>
                  <a:srgbClr val="FDFDFD"/>
                </a:solidFill>
                <a:latin typeface="Jost Medium" pitchFamily="2" charset="77"/>
                <a:ea typeface="Jost Medium" pitchFamily="2" charset="77"/>
                <a:cs typeface="Futura Medium" panose="020B0602020204020303" pitchFamily="34" charset="-79"/>
              </a:rPr>
              <a:t> </a:t>
            </a:r>
            <a:r>
              <a:rPr lang="fr-FR" sz="1100" noProof="0" dirty="0">
                <a:solidFill>
                  <a:srgbClr val="FDFDFD"/>
                </a:solidFill>
                <a:latin typeface="Jost Medium" pitchFamily="2" charset="77"/>
                <a:ea typeface="Jost Medium" pitchFamily="2" charset="77"/>
                <a:cs typeface="Futura Medium" panose="020B0602020204020303" pitchFamily="34" charset="-79"/>
              </a:rPr>
              <a:t>- </a:t>
            </a:r>
            <a:r>
              <a:rPr lang="fr-FR" sz="1100" noProof="0" dirty="0">
                <a:solidFill>
                  <a:srgbClr val="FDFDFD"/>
                </a:solidFill>
                <a:latin typeface="Jost Medium" pitchFamily="2" charset="77"/>
                <a:ea typeface="Jost Medium" pitchFamily="2" charset="77"/>
                <a:cs typeface="Futura Medium" panose="020B0602020204020303" pitchFamily="34" charset="-79"/>
              </a:rPr>
              <a:t>Date</a:t>
            </a:r>
          </a:p>
        </p:txBody>
      </p:sp>
      <p:pic>
        <p:nvPicPr>
          <p:cNvPr id="22" name="Image 21">
            <a:extLst>
              <a:ext uri="{FF2B5EF4-FFF2-40B4-BE49-F238E27FC236}">
                <a16:creationId xmlns:a16="http://schemas.microsoft.com/office/drawing/2014/main" id="{CBBF8332-12CD-9FD5-3BC1-6A11ABF0010A}"/>
              </a:ext>
            </a:extLst>
          </p:cNvPr>
          <p:cNvPicPr>
            <a:picLocks noChangeAspect="1"/>
          </p:cNvPicPr>
          <p:nvPr/>
        </p:nvPicPr>
        <p:blipFill>
          <a:blip r:embed="rId7"/>
          <a:stretch>
            <a:fillRect/>
          </a:stretch>
        </p:blipFill>
        <p:spPr>
          <a:xfrm>
            <a:off x="6615811" y="1969440"/>
            <a:ext cx="3409585" cy="1146516"/>
          </a:xfrm>
          <a:prstGeom prst="rect">
            <a:avLst/>
          </a:prstGeom>
        </p:spPr>
      </p:pic>
      <p:sp>
        <p:nvSpPr>
          <p:cNvPr id="7" name="ZoneTexte 6">
            <a:extLst>
              <a:ext uri="{FF2B5EF4-FFF2-40B4-BE49-F238E27FC236}">
                <a16:creationId xmlns:a16="http://schemas.microsoft.com/office/drawing/2014/main" id="{6DEB8759-49A0-C1D9-1718-DB130BE06D63}"/>
              </a:ext>
            </a:extLst>
          </p:cNvPr>
          <p:cNvSpPr txBox="1"/>
          <p:nvPr/>
        </p:nvSpPr>
        <p:spPr>
          <a:xfrm>
            <a:off x="-25827" y="6547754"/>
            <a:ext cx="12217827" cy="200055"/>
          </a:xfrm>
          <a:prstGeom prst="rect">
            <a:avLst/>
          </a:prstGeom>
          <a:noFill/>
        </p:spPr>
        <p:txBody>
          <a:bodyPr wrap="square">
            <a:spAutoFit/>
          </a:bodyPr>
          <a:lstStyle/>
          <a:p>
            <a:pPr algn="ctr"/>
            <a:r>
              <a:rPr lang="fr-FR" sz="700" b="1" dirty="0">
                <a:solidFill>
                  <a:schemeClr val="tx1">
                    <a:lumMod val="85000"/>
                    <a:lumOff val="15000"/>
                  </a:schemeClr>
                </a:solidFill>
              </a:rPr>
              <a:t>Document non contractuel, à usage confidentiel</a:t>
            </a:r>
            <a:r>
              <a:rPr lang="fr-FR" sz="700" dirty="0">
                <a:solidFill>
                  <a:schemeClr val="tx1">
                    <a:lumMod val="85000"/>
                    <a:lumOff val="15000"/>
                  </a:schemeClr>
                </a:solidFill>
              </a:rPr>
              <a:t> | La Financière de Rochechouart.</a:t>
            </a:r>
          </a:p>
        </p:txBody>
      </p:sp>
    </p:spTree>
    <p:extLst>
      <p:ext uri="{BB962C8B-B14F-4D97-AF65-F5344CB8AC3E}">
        <p14:creationId xmlns:p14="http://schemas.microsoft.com/office/powerpoint/2010/main" val="1537851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 26">
            <a:extLst>
              <a:ext uri="{FF2B5EF4-FFF2-40B4-BE49-F238E27FC236}">
                <a16:creationId xmlns:a16="http://schemas.microsoft.com/office/drawing/2014/main" id="{30FE354E-1506-D512-0CE6-429FFC121C3D}"/>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26214" t="-15878" r="44222" b="-33235"/>
          <a:stretch>
            <a:fillRect/>
          </a:stretch>
        </p:blipFill>
        <p:spPr>
          <a:xfrm>
            <a:off x="-25827" y="724734"/>
            <a:ext cx="2784267" cy="6138411"/>
          </a:xfrm>
          <a:prstGeom prst="rect">
            <a:avLst/>
          </a:prstGeom>
        </p:spPr>
      </p:pic>
      <p:sp>
        <p:nvSpPr>
          <p:cNvPr id="2" name="Rectangle 1">
            <a:extLst>
              <a:ext uri="{FF2B5EF4-FFF2-40B4-BE49-F238E27FC236}">
                <a16:creationId xmlns:a16="http://schemas.microsoft.com/office/drawing/2014/main" id="{BC06DCCC-0318-04D8-3ED8-F6D94B44876F}"/>
              </a:ext>
            </a:extLst>
          </p:cNvPr>
          <p:cNvSpPr/>
          <p:nvPr/>
        </p:nvSpPr>
        <p:spPr>
          <a:xfrm>
            <a:off x="2640013" y="518615"/>
            <a:ext cx="7127875" cy="5832758"/>
          </a:xfrm>
          <a:prstGeom prst="rect">
            <a:avLst/>
          </a:prstGeom>
          <a:solidFill>
            <a:srgbClr val="FEFB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ext 9">
            <a:extLst>
              <a:ext uri="{FF2B5EF4-FFF2-40B4-BE49-F238E27FC236}">
                <a16:creationId xmlns:a16="http://schemas.microsoft.com/office/drawing/2014/main" id="{98646227-C898-B8FF-5647-69D1F3515ACB}"/>
              </a:ext>
            </a:extLst>
          </p:cNvPr>
          <p:cNvSpPr/>
          <p:nvPr/>
        </p:nvSpPr>
        <p:spPr>
          <a:xfrm>
            <a:off x="3305660" y="1317065"/>
            <a:ext cx="5580679" cy="371138"/>
          </a:xfrm>
          <a:prstGeom prst="rect">
            <a:avLst/>
          </a:prstGeom>
          <a:noFill/>
          <a:ln/>
        </p:spPr>
        <p:txBody>
          <a:bodyPr wrap="square" lIns="0" tIns="0" rIns="0" bIns="0" rtlCol="0" anchor="t">
            <a:normAutofit/>
          </a:bodyPr>
          <a:lstStyle/>
          <a:p>
            <a:pPr algn="ctr"/>
            <a:r>
              <a:rPr lang="en-US" b="1" dirty="0">
                <a:solidFill>
                  <a:srgbClr val="073527"/>
                </a:solidFill>
                <a:latin typeface="Jost Black" pitchFamily="2" charset="77"/>
                <a:ea typeface="Jost Black" pitchFamily="2" charset="77"/>
                <a:cs typeface="Futura Medium" panose="020B0602020204020303" pitchFamily="34" charset="-79"/>
              </a:rPr>
              <a:t>SOMMAIRE</a:t>
            </a:r>
          </a:p>
          <a:p>
            <a:pPr algn="ctr"/>
            <a:endParaRPr lang="en-US" b="1" dirty="0">
              <a:solidFill>
                <a:srgbClr val="073527"/>
              </a:solidFill>
              <a:latin typeface="Jost Black" pitchFamily="2" charset="77"/>
              <a:ea typeface="Jost Black" pitchFamily="2" charset="77"/>
              <a:cs typeface="Futura Medium" panose="020B0602020204020303" pitchFamily="34" charset="-79"/>
            </a:endParaRPr>
          </a:p>
          <a:p>
            <a:pPr algn="ctr"/>
            <a:endParaRPr lang="en-US" b="1" dirty="0">
              <a:solidFill>
                <a:srgbClr val="073527"/>
              </a:solidFill>
              <a:latin typeface="Jost Black" pitchFamily="2" charset="77"/>
              <a:ea typeface="Jost Black" pitchFamily="2" charset="77"/>
              <a:cs typeface="Futura Medium" panose="020B0602020204020303" pitchFamily="34" charset="-79"/>
            </a:endParaRPr>
          </a:p>
        </p:txBody>
      </p:sp>
      <p:pic>
        <p:nvPicPr>
          <p:cNvPr id="10" name="Image 9">
            <a:extLst>
              <a:ext uri="{FF2B5EF4-FFF2-40B4-BE49-F238E27FC236}">
                <a16:creationId xmlns:a16="http://schemas.microsoft.com/office/drawing/2014/main" id="{0E71C5AF-2481-9C68-AF28-22BBCA681261}"/>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54583" t="-21403" r="19496" b="-27711"/>
          <a:stretch>
            <a:fillRect/>
          </a:stretch>
        </p:blipFill>
        <p:spPr>
          <a:xfrm>
            <a:off x="9767888" y="165537"/>
            <a:ext cx="2441045" cy="7327940"/>
          </a:xfrm>
          <a:prstGeom prst="rect">
            <a:avLst/>
          </a:prstGeom>
        </p:spPr>
      </p:pic>
      <p:sp>
        <p:nvSpPr>
          <p:cNvPr id="11" name="ZoneTexte 10">
            <a:extLst>
              <a:ext uri="{FF2B5EF4-FFF2-40B4-BE49-F238E27FC236}">
                <a16:creationId xmlns:a16="http://schemas.microsoft.com/office/drawing/2014/main" id="{017E4702-C24A-9AC5-B033-986B61A4EE45}"/>
              </a:ext>
            </a:extLst>
          </p:cNvPr>
          <p:cNvSpPr txBox="1"/>
          <p:nvPr/>
        </p:nvSpPr>
        <p:spPr>
          <a:xfrm>
            <a:off x="3237469" y="2111327"/>
            <a:ext cx="5470762" cy="276999"/>
          </a:xfrm>
          <a:prstGeom prst="rect">
            <a:avLst/>
          </a:prstGeom>
          <a:noFill/>
        </p:spPr>
        <p:txBody>
          <a:bodyPr wrap="square" rtlCol="0">
            <a:spAutoFit/>
          </a:bodyPr>
          <a:lstStyle/>
          <a:p>
            <a:r>
              <a:rPr lang="fr-FR" sz="1200" dirty="0">
                <a:latin typeface="Jost Medium" pitchFamily="2" charset="77"/>
                <a:ea typeface="Jost Medium" pitchFamily="2" charset="77"/>
                <a:cs typeface="Futura Medium" panose="020B0602020204020303" pitchFamily="34" charset="-79"/>
              </a:rPr>
              <a:t>1. Notre philosophie d’investissement ………………………………………….......</a:t>
            </a:r>
          </a:p>
        </p:txBody>
      </p:sp>
      <p:sp>
        <p:nvSpPr>
          <p:cNvPr id="12" name="ZoneTexte 11">
            <a:extLst>
              <a:ext uri="{FF2B5EF4-FFF2-40B4-BE49-F238E27FC236}">
                <a16:creationId xmlns:a16="http://schemas.microsoft.com/office/drawing/2014/main" id="{45BDF94D-98BC-49D6-EABB-5881802471A5}"/>
              </a:ext>
            </a:extLst>
          </p:cNvPr>
          <p:cNvSpPr txBox="1"/>
          <p:nvPr/>
        </p:nvSpPr>
        <p:spPr>
          <a:xfrm>
            <a:off x="3237470" y="2505712"/>
            <a:ext cx="3880022" cy="276999"/>
          </a:xfrm>
          <a:prstGeom prst="rect">
            <a:avLst/>
          </a:prstGeom>
          <a:noFill/>
        </p:spPr>
        <p:txBody>
          <a:bodyPr wrap="square" rtlCol="0">
            <a:spAutoFit/>
          </a:bodyPr>
          <a:lstStyle/>
          <a:p>
            <a:r>
              <a:rPr lang="fr-FR" sz="1200">
                <a:latin typeface="Jost Medium" pitchFamily="2" charset="77"/>
                <a:ea typeface="Jost Medium" pitchFamily="2" charset="77"/>
                <a:cs typeface="Futura Medium" panose="020B0602020204020303" pitchFamily="34" charset="-79"/>
              </a:rPr>
              <a:t>2. Structurer votre patrimoine</a:t>
            </a:r>
          </a:p>
        </p:txBody>
      </p:sp>
      <p:sp>
        <p:nvSpPr>
          <p:cNvPr id="13" name="ZoneTexte 12">
            <a:extLst>
              <a:ext uri="{FF2B5EF4-FFF2-40B4-BE49-F238E27FC236}">
                <a16:creationId xmlns:a16="http://schemas.microsoft.com/office/drawing/2014/main" id="{35CF2B3C-CBD0-66F0-1D36-F69895DB2B6F}"/>
              </a:ext>
            </a:extLst>
          </p:cNvPr>
          <p:cNvSpPr txBox="1"/>
          <p:nvPr/>
        </p:nvSpPr>
        <p:spPr>
          <a:xfrm>
            <a:off x="3521561" y="2900097"/>
            <a:ext cx="5051570" cy="276999"/>
          </a:xfrm>
          <a:prstGeom prst="rect">
            <a:avLst/>
          </a:prstGeom>
          <a:noFill/>
        </p:spPr>
        <p:txBody>
          <a:bodyPr wrap="square" rtlCol="0">
            <a:spAutoFit/>
          </a:bodyPr>
          <a:lstStyle/>
          <a:p>
            <a:r>
              <a:rPr lang="fr-FR" sz="1200" dirty="0">
                <a:latin typeface="Jost Medium" pitchFamily="2" charset="77"/>
                <a:ea typeface="Jost Medium" pitchFamily="2" charset="77"/>
                <a:cs typeface="Futura Medium" panose="020B0602020204020303" pitchFamily="34" charset="-79"/>
              </a:rPr>
              <a:t>a. L’ingénierie juridique et fiscale ……………………………………………….</a:t>
            </a:r>
          </a:p>
        </p:txBody>
      </p:sp>
      <p:sp>
        <p:nvSpPr>
          <p:cNvPr id="14" name="ZoneTexte 13">
            <a:extLst>
              <a:ext uri="{FF2B5EF4-FFF2-40B4-BE49-F238E27FC236}">
                <a16:creationId xmlns:a16="http://schemas.microsoft.com/office/drawing/2014/main" id="{8C382565-86D0-1B52-1DB8-6FB277067CAE}"/>
              </a:ext>
            </a:extLst>
          </p:cNvPr>
          <p:cNvSpPr txBox="1"/>
          <p:nvPr/>
        </p:nvSpPr>
        <p:spPr>
          <a:xfrm>
            <a:off x="3521562" y="3291490"/>
            <a:ext cx="5089038" cy="276999"/>
          </a:xfrm>
          <a:prstGeom prst="rect">
            <a:avLst/>
          </a:prstGeom>
          <a:noFill/>
        </p:spPr>
        <p:txBody>
          <a:bodyPr wrap="square" rtlCol="0">
            <a:spAutoFit/>
          </a:bodyPr>
          <a:lstStyle/>
          <a:p>
            <a:r>
              <a:rPr lang="fr-FR" sz="1200" dirty="0">
                <a:latin typeface="Jost Medium" pitchFamily="2" charset="77"/>
                <a:ea typeface="Jost Medium" pitchFamily="2" charset="77"/>
                <a:cs typeface="Futura Medium" panose="020B0602020204020303" pitchFamily="34" charset="-79"/>
              </a:rPr>
              <a:t>b. Vous générer des revenus complémentaires ……………………….........</a:t>
            </a:r>
          </a:p>
        </p:txBody>
      </p:sp>
      <p:sp>
        <p:nvSpPr>
          <p:cNvPr id="15" name="ZoneTexte 14">
            <a:extLst>
              <a:ext uri="{FF2B5EF4-FFF2-40B4-BE49-F238E27FC236}">
                <a16:creationId xmlns:a16="http://schemas.microsoft.com/office/drawing/2014/main" id="{418F937E-BB64-EB22-775A-56EC423FB96F}"/>
              </a:ext>
            </a:extLst>
          </p:cNvPr>
          <p:cNvSpPr txBox="1"/>
          <p:nvPr/>
        </p:nvSpPr>
        <p:spPr>
          <a:xfrm>
            <a:off x="3521561" y="3682883"/>
            <a:ext cx="5051569" cy="276999"/>
          </a:xfrm>
          <a:prstGeom prst="rect">
            <a:avLst/>
          </a:prstGeom>
          <a:noFill/>
        </p:spPr>
        <p:txBody>
          <a:bodyPr wrap="square" rtlCol="0">
            <a:spAutoFit/>
          </a:bodyPr>
          <a:lstStyle/>
          <a:p>
            <a:r>
              <a:rPr lang="fr-FR" sz="1200" dirty="0">
                <a:latin typeface="Jost Medium" pitchFamily="2" charset="77"/>
                <a:ea typeface="Jost Medium" pitchFamily="2" charset="77"/>
                <a:cs typeface="Futura Medium" panose="020B0602020204020303" pitchFamily="34" charset="-79"/>
              </a:rPr>
              <a:t>c. Capitaliser sur une enveloppe long terme ………………………………….</a:t>
            </a:r>
          </a:p>
        </p:txBody>
      </p:sp>
      <p:sp>
        <p:nvSpPr>
          <p:cNvPr id="16" name="ZoneTexte 15">
            <a:extLst>
              <a:ext uri="{FF2B5EF4-FFF2-40B4-BE49-F238E27FC236}">
                <a16:creationId xmlns:a16="http://schemas.microsoft.com/office/drawing/2014/main" id="{24BC43AD-84E7-E881-2B69-6519AEC42053}"/>
              </a:ext>
            </a:extLst>
          </p:cNvPr>
          <p:cNvSpPr txBox="1"/>
          <p:nvPr/>
        </p:nvSpPr>
        <p:spPr>
          <a:xfrm>
            <a:off x="3237470" y="4074276"/>
            <a:ext cx="5335660" cy="276999"/>
          </a:xfrm>
          <a:prstGeom prst="rect">
            <a:avLst/>
          </a:prstGeom>
          <a:noFill/>
        </p:spPr>
        <p:txBody>
          <a:bodyPr wrap="square" rtlCol="0">
            <a:spAutoFit/>
          </a:bodyPr>
          <a:lstStyle/>
          <a:p>
            <a:r>
              <a:rPr lang="fr-FR" sz="1200" dirty="0">
                <a:latin typeface="Jost Medium" pitchFamily="2" charset="77"/>
                <a:ea typeface="Jost Medium" pitchFamily="2" charset="77"/>
                <a:cs typeface="Futura Medium" panose="020B0602020204020303" pitchFamily="34" charset="-79"/>
              </a:rPr>
              <a:t>3. Votre profil d’investissement ………………………………………………………..</a:t>
            </a:r>
          </a:p>
        </p:txBody>
      </p:sp>
      <p:sp>
        <p:nvSpPr>
          <p:cNvPr id="17" name="ZoneTexte 16">
            <a:extLst>
              <a:ext uri="{FF2B5EF4-FFF2-40B4-BE49-F238E27FC236}">
                <a16:creationId xmlns:a16="http://schemas.microsoft.com/office/drawing/2014/main" id="{506556B0-BF54-DC76-E7A6-B011FA3A9869}"/>
              </a:ext>
            </a:extLst>
          </p:cNvPr>
          <p:cNvSpPr txBox="1"/>
          <p:nvPr/>
        </p:nvSpPr>
        <p:spPr>
          <a:xfrm>
            <a:off x="3237468" y="4465669"/>
            <a:ext cx="5373131" cy="276999"/>
          </a:xfrm>
          <a:prstGeom prst="rect">
            <a:avLst/>
          </a:prstGeom>
          <a:noFill/>
        </p:spPr>
        <p:txBody>
          <a:bodyPr wrap="square" rtlCol="0">
            <a:spAutoFit/>
          </a:bodyPr>
          <a:lstStyle/>
          <a:p>
            <a:r>
              <a:rPr lang="fr-FR" sz="1200" dirty="0">
                <a:latin typeface="Jost Medium" pitchFamily="2" charset="77"/>
                <a:ea typeface="Jost Medium" pitchFamily="2" charset="77"/>
                <a:cs typeface="Futura Medium" panose="020B0602020204020303" pitchFamily="34" charset="-79"/>
              </a:rPr>
              <a:t>4. Vous accompagner sur le long terme ……………………………………….......</a:t>
            </a:r>
          </a:p>
        </p:txBody>
      </p:sp>
      <p:sp>
        <p:nvSpPr>
          <p:cNvPr id="18" name="ZoneTexte 17">
            <a:extLst>
              <a:ext uri="{FF2B5EF4-FFF2-40B4-BE49-F238E27FC236}">
                <a16:creationId xmlns:a16="http://schemas.microsoft.com/office/drawing/2014/main" id="{4A610211-7B50-D4DB-2981-0C1DC199B5F6}"/>
              </a:ext>
            </a:extLst>
          </p:cNvPr>
          <p:cNvSpPr txBox="1"/>
          <p:nvPr/>
        </p:nvSpPr>
        <p:spPr>
          <a:xfrm>
            <a:off x="8399611" y="2111326"/>
            <a:ext cx="475507" cy="276999"/>
          </a:xfrm>
          <a:prstGeom prst="rect">
            <a:avLst/>
          </a:prstGeom>
          <a:noFill/>
        </p:spPr>
        <p:txBody>
          <a:bodyPr wrap="square" rtlCol="0">
            <a:spAutoFit/>
          </a:bodyPr>
          <a:lstStyle/>
          <a:p>
            <a:pPr algn="r"/>
            <a:r>
              <a:rPr lang="fr-FR" sz="1200" dirty="0">
                <a:latin typeface="Jost Medium" pitchFamily="2" charset="77"/>
                <a:ea typeface="Jost Medium" pitchFamily="2" charset="77"/>
                <a:cs typeface="Futura Medium" panose="020B0602020204020303" pitchFamily="34" charset="-79"/>
              </a:rPr>
              <a:t>p. 3</a:t>
            </a:r>
          </a:p>
        </p:txBody>
      </p:sp>
      <p:sp>
        <p:nvSpPr>
          <p:cNvPr id="19" name="ZoneTexte 18">
            <a:extLst>
              <a:ext uri="{FF2B5EF4-FFF2-40B4-BE49-F238E27FC236}">
                <a16:creationId xmlns:a16="http://schemas.microsoft.com/office/drawing/2014/main" id="{D0253461-3281-AE7F-24C3-8DDB7CAC4B68}"/>
              </a:ext>
            </a:extLst>
          </p:cNvPr>
          <p:cNvSpPr txBox="1"/>
          <p:nvPr/>
        </p:nvSpPr>
        <p:spPr>
          <a:xfrm>
            <a:off x="8410831" y="2896490"/>
            <a:ext cx="475507" cy="276999"/>
          </a:xfrm>
          <a:prstGeom prst="rect">
            <a:avLst/>
          </a:prstGeom>
          <a:noFill/>
        </p:spPr>
        <p:txBody>
          <a:bodyPr wrap="square" rtlCol="0">
            <a:spAutoFit/>
          </a:bodyPr>
          <a:lstStyle/>
          <a:p>
            <a:pPr algn="r"/>
            <a:r>
              <a:rPr lang="fr-FR" sz="1200" dirty="0">
                <a:latin typeface="Jost Medium" pitchFamily="2" charset="77"/>
                <a:ea typeface="Jost Medium" pitchFamily="2" charset="77"/>
                <a:cs typeface="Futura Medium" panose="020B0602020204020303" pitchFamily="34" charset="-79"/>
              </a:rPr>
              <a:t>p. 6</a:t>
            </a:r>
          </a:p>
        </p:txBody>
      </p:sp>
      <p:sp>
        <p:nvSpPr>
          <p:cNvPr id="20" name="ZoneTexte 19">
            <a:extLst>
              <a:ext uri="{FF2B5EF4-FFF2-40B4-BE49-F238E27FC236}">
                <a16:creationId xmlns:a16="http://schemas.microsoft.com/office/drawing/2014/main" id="{B0AA700D-591E-2D32-4C7A-CF0C304F264E}"/>
              </a:ext>
            </a:extLst>
          </p:cNvPr>
          <p:cNvSpPr txBox="1"/>
          <p:nvPr/>
        </p:nvSpPr>
        <p:spPr>
          <a:xfrm>
            <a:off x="8399611" y="3291490"/>
            <a:ext cx="475507" cy="276999"/>
          </a:xfrm>
          <a:prstGeom prst="rect">
            <a:avLst/>
          </a:prstGeom>
          <a:noFill/>
        </p:spPr>
        <p:txBody>
          <a:bodyPr wrap="square" rtlCol="0">
            <a:spAutoFit/>
          </a:bodyPr>
          <a:lstStyle/>
          <a:p>
            <a:pPr algn="r"/>
            <a:r>
              <a:rPr lang="fr-FR" sz="1200" dirty="0">
                <a:latin typeface="Jost Medium" pitchFamily="2" charset="77"/>
                <a:ea typeface="Jost Medium" pitchFamily="2" charset="77"/>
                <a:cs typeface="Futura Medium" panose="020B0602020204020303" pitchFamily="34" charset="-79"/>
              </a:rPr>
              <a:t>p. 7</a:t>
            </a:r>
          </a:p>
        </p:txBody>
      </p:sp>
      <p:sp>
        <p:nvSpPr>
          <p:cNvPr id="21" name="ZoneTexte 20">
            <a:extLst>
              <a:ext uri="{FF2B5EF4-FFF2-40B4-BE49-F238E27FC236}">
                <a16:creationId xmlns:a16="http://schemas.microsoft.com/office/drawing/2014/main" id="{DEB1A8BF-18ED-D7ED-6F19-2F5DF8C076E1}"/>
              </a:ext>
            </a:extLst>
          </p:cNvPr>
          <p:cNvSpPr txBox="1"/>
          <p:nvPr/>
        </p:nvSpPr>
        <p:spPr>
          <a:xfrm>
            <a:off x="8399611" y="3682882"/>
            <a:ext cx="475507" cy="276999"/>
          </a:xfrm>
          <a:prstGeom prst="rect">
            <a:avLst/>
          </a:prstGeom>
          <a:noFill/>
        </p:spPr>
        <p:txBody>
          <a:bodyPr wrap="square" rtlCol="0">
            <a:spAutoFit/>
          </a:bodyPr>
          <a:lstStyle/>
          <a:p>
            <a:pPr algn="r"/>
            <a:r>
              <a:rPr lang="fr-FR" sz="1200" dirty="0">
                <a:latin typeface="Jost Medium" pitchFamily="2" charset="77"/>
                <a:ea typeface="Jost Medium" pitchFamily="2" charset="77"/>
                <a:cs typeface="Futura Medium" panose="020B0602020204020303" pitchFamily="34" charset="-79"/>
              </a:rPr>
              <a:t>p. 8</a:t>
            </a:r>
          </a:p>
        </p:txBody>
      </p:sp>
      <p:sp>
        <p:nvSpPr>
          <p:cNvPr id="22" name="ZoneTexte 21">
            <a:extLst>
              <a:ext uri="{FF2B5EF4-FFF2-40B4-BE49-F238E27FC236}">
                <a16:creationId xmlns:a16="http://schemas.microsoft.com/office/drawing/2014/main" id="{277B125F-9615-17C4-8E74-4D9254B12464}"/>
              </a:ext>
            </a:extLst>
          </p:cNvPr>
          <p:cNvSpPr txBox="1"/>
          <p:nvPr/>
        </p:nvSpPr>
        <p:spPr>
          <a:xfrm>
            <a:off x="8405221" y="4074695"/>
            <a:ext cx="475507" cy="276999"/>
          </a:xfrm>
          <a:prstGeom prst="rect">
            <a:avLst/>
          </a:prstGeom>
          <a:noFill/>
        </p:spPr>
        <p:txBody>
          <a:bodyPr wrap="square" rtlCol="0">
            <a:spAutoFit/>
          </a:bodyPr>
          <a:lstStyle/>
          <a:p>
            <a:pPr algn="r"/>
            <a:r>
              <a:rPr lang="fr-FR" sz="1200" dirty="0">
                <a:latin typeface="Jost Medium" pitchFamily="2" charset="77"/>
                <a:ea typeface="Jost Medium" pitchFamily="2" charset="77"/>
                <a:cs typeface="Futura Medium" panose="020B0602020204020303" pitchFamily="34" charset="-79"/>
              </a:rPr>
              <a:t>p. 9</a:t>
            </a:r>
          </a:p>
        </p:txBody>
      </p:sp>
      <p:sp>
        <p:nvSpPr>
          <p:cNvPr id="23" name="ZoneTexte 22">
            <a:extLst>
              <a:ext uri="{FF2B5EF4-FFF2-40B4-BE49-F238E27FC236}">
                <a16:creationId xmlns:a16="http://schemas.microsoft.com/office/drawing/2014/main" id="{EB4CC0CA-C204-F6A6-1FA1-430BF96DEB86}"/>
              </a:ext>
            </a:extLst>
          </p:cNvPr>
          <p:cNvSpPr txBox="1"/>
          <p:nvPr/>
        </p:nvSpPr>
        <p:spPr>
          <a:xfrm>
            <a:off x="8297503" y="4465669"/>
            <a:ext cx="639098" cy="276999"/>
          </a:xfrm>
          <a:prstGeom prst="rect">
            <a:avLst/>
          </a:prstGeom>
          <a:noFill/>
        </p:spPr>
        <p:txBody>
          <a:bodyPr wrap="square" rtlCol="0">
            <a:spAutoFit/>
          </a:bodyPr>
          <a:lstStyle/>
          <a:p>
            <a:pPr algn="r"/>
            <a:r>
              <a:rPr lang="fr-FR" sz="1200" dirty="0">
                <a:latin typeface="Jost Medium" pitchFamily="2" charset="77"/>
                <a:ea typeface="Jost Medium" pitchFamily="2" charset="77"/>
                <a:cs typeface="Futura Medium" panose="020B0602020204020303" pitchFamily="34" charset="-79"/>
              </a:rPr>
              <a:t>p. 11</a:t>
            </a:r>
          </a:p>
        </p:txBody>
      </p:sp>
      <p:sp>
        <p:nvSpPr>
          <p:cNvPr id="25" name="Shape 8">
            <a:extLst>
              <a:ext uri="{FF2B5EF4-FFF2-40B4-BE49-F238E27FC236}">
                <a16:creationId xmlns:a16="http://schemas.microsoft.com/office/drawing/2014/main" id="{0F23A0EE-7456-E5F0-E77A-05C4EDB46339}"/>
              </a:ext>
            </a:extLst>
          </p:cNvPr>
          <p:cNvSpPr/>
          <p:nvPr/>
        </p:nvSpPr>
        <p:spPr>
          <a:xfrm>
            <a:off x="5788274" y="1846651"/>
            <a:ext cx="615451" cy="0"/>
          </a:xfrm>
          <a:prstGeom prst="line">
            <a:avLst/>
          </a:prstGeom>
          <a:noFill/>
          <a:ln w="12700">
            <a:solidFill>
              <a:srgbClr val="A9853F"/>
            </a:solidFill>
            <a:prstDash val="solid"/>
          </a:ln>
        </p:spPr>
        <p:txBody>
          <a:bodyPr/>
          <a:lstStyle/>
          <a:p>
            <a:endParaRPr lang="fr-FR"/>
          </a:p>
        </p:txBody>
      </p:sp>
      <p:pic>
        <p:nvPicPr>
          <p:cNvPr id="26" name="Image 25">
            <a:extLst>
              <a:ext uri="{FF2B5EF4-FFF2-40B4-BE49-F238E27FC236}">
                <a16:creationId xmlns:a16="http://schemas.microsoft.com/office/drawing/2014/main" id="{6126CD17-5EF7-D327-7E04-7CE76550AA43}"/>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3524122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EF7D3-D2A8-AC2C-AE4D-13B46E5BECA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2288ADB8-2BDD-AFFC-C7D8-097F991025AF}"/>
              </a:ext>
            </a:extLst>
          </p:cNvPr>
          <p:cNvSpPr/>
          <p:nvPr/>
        </p:nvSpPr>
        <p:spPr>
          <a:xfrm>
            <a:off x="464234" y="351693"/>
            <a:ext cx="9303654" cy="613841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E6F2F81-E95E-EBA8-9D1A-A0D7967B3F24}"/>
              </a:ext>
            </a:extLst>
          </p:cNvPr>
          <p:cNvSpPr txBox="1"/>
          <p:nvPr/>
        </p:nvSpPr>
        <p:spPr>
          <a:xfrm>
            <a:off x="1310516" y="3429000"/>
            <a:ext cx="4709284" cy="1200329"/>
          </a:xfrm>
          <a:prstGeom prst="rect">
            <a:avLst/>
          </a:prstGeom>
          <a:noFill/>
        </p:spPr>
        <p:txBody>
          <a:bodyPr wrap="square" rtlCol="0">
            <a:spAutoFit/>
          </a:bodyPr>
          <a:lstStyle/>
          <a:p>
            <a:r>
              <a:rPr lang="fr-FR" sz="3600" b="1" dirty="0">
                <a:solidFill>
                  <a:srgbClr val="E7DCC7"/>
                </a:solidFill>
                <a:latin typeface="Jost SemiBold" pitchFamily="2" charset="77"/>
                <a:ea typeface="Jost SemiBold" pitchFamily="2" charset="77"/>
                <a:cs typeface="Futura" panose="020B0602020204020303" pitchFamily="34" charset="-79"/>
              </a:rPr>
              <a:t>1. Notre philosophie d’investissement</a:t>
            </a:r>
          </a:p>
        </p:txBody>
      </p:sp>
      <p:sp>
        <p:nvSpPr>
          <p:cNvPr id="12" name="Shape 8">
            <a:extLst>
              <a:ext uri="{FF2B5EF4-FFF2-40B4-BE49-F238E27FC236}">
                <a16:creationId xmlns:a16="http://schemas.microsoft.com/office/drawing/2014/main" id="{04A77B9F-92B5-144F-D645-60609F78F771}"/>
              </a:ext>
            </a:extLst>
          </p:cNvPr>
          <p:cNvSpPr/>
          <p:nvPr/>
        </p:nvSpPr>
        <p:spPr>
          <a:xfrm>
            <a:off x="1371476" y="5750000"/>
            <a:ext cx="2009154" cy="0"/>
          </a:xfrm>
          <a:prstGeom prst="line">
            <a:avLst/>
          </a:prstGeom>
          <a:noFill/>
          <a:ln w="19050">
            <a:solidFill>
              <a:srgbClr val="A9853F"/>
            </a:solidFill>
            <a:prstDash val="solid"/>
          </a:ln>
        </p:spPr>
        <p:txBody>
          <a:bodyPr/>
          <a:lstStyle/>
          <a:p>
            <a:endParaRPr lang="fr-FR"/>
          </a:p>
        </p:txBody>
      </p:sp>
      <p:pic>
        <p:nvPicPr>
          <p:cNvPr id="19" name="Image 18">
            <a:extLst>
              <a:ext uri="{FF2B5EF4-FFF2-40B4-BE49-F238E27FC236}">
                <a16:creationId xmlns:a16="http://schemas.microsoft.com/office/drawing/2014/main" id="{4318DBE6-624C-FDA4-79D6-988E5AEDEC61}"/>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54583" t="-21403" r="19496" b="-27711"/>
          <a:stretch>
            <a:fillRect/>
          </a:stretch>
        </p:blipFill>
        <p:spPr>
          <a:xfrm>
            <a:off x="9767888" y="156744"/>
            <a:ext cx="2441045" cy="7327940"/>
          </a:xfrm>
          <a:prstGeom prst="rect">
            <a:avLst/>
          </a:prstGeom>
        </p:spPr>
      </p:pic>
      <p:pic>
        <p:nvPicPr>
          <p:cNvPr id="2" name="Image 1">
            <a:extLst>
              <a:ext uri="{FF2B5EF4-FFF2-40B4-BE49-F238E27FC236}">
                <a16:creationId xmlns:a16="http://schemas.microsoft.com/office/drawing/2014/main" id="{FC7C683E-5571-A759-CC8F-0EC7DC1C43B9}"/>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1539254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00D6-3440-2905-CFE8-3E6BBA16EF4C}"/>
            </a:ext>
          </a:extLst>
        </p:cNvPr>
        <p:cNvGrpSpPr/>
        <p:nvPr/>
      </p:nvGrpSpPr>
      <p:grpSpPr>
        <a:xfrm>
          <a:off x="0" y="0"/>
          <a:ext cx="0" cy="0"/>
          <a:chOff x="0" y="0"/>
          <a:chExt cx="0" cy="0"/>
        </a:xfrm>
      </p:grpSpPr>
      <p:pic>
        <p:nvPicPr>
          <p:cNvPr id="44" name="Image 43">
            <a:extLst>
              <a:ext uri="{FF2B5EF4-FFF2-40B4-BE49-F238E27FC236}">
                <a16:creationId xmlns:a16="http://schemas.microsoft.com/office/drawing/2014/main" id="{C80FBCA1-7E4D-0FE5-B1B3-D6C8BCCEAD7E}"/>
              </a:ext>
            </a:extLst>
          </p:cNvPr>
          <p:cNvPicPr>
            <a:picLocks noChangeAspect="1"/>
          </p:cNvPicPr>
          <p:nvPr/>
        </p:nvPicPr>
        <p:blipFill>
          <a:blip r:embed="rId2">
            <a:alphaModFix amt="5000"/>
          </a:blip>
          <a:srcRect l="6207" b="6232"/>
          <a:stretch>
            <a:fillRect/>
          </a:stretch>
        </p:blipFill>
        <p:spPr>
          <a:xfrm>
            <a:off x="0" y="11614"/>
            <a:ext cx="12191999" cy="6859822"/>
          </a:xfrm>
          <a:prstGeom prst="rect">
            <a:avLst/>
          </a:prstGeom>
        </p:spPr>
      </p:pic>
      <p:pic>
        <p:nvPicPr>
          <p:cNvPr id="2" name="Image 1">
            <a:extLst>
              <a:ext uri="{FF2B5EF4-FFF2-40B4-BE49-F238E27FC236}">
                <a16:creationId xmlns:a16="http://schemas.microsoft.com/office/drawing/2014/main" id="{9F1241E0-29F8-71C9-2AEE-A91F7C80D411}"/>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17161A87-8039-91F2-3CC9-F5B0E3791D7D}"/>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CB8CB83B-32F8-A146-7E0E-9A54254B7EE6}"/>
              </a:ext>
            </a:extLst>
          </p:cNvPr>
          <p:cNvSpPr/>
          <p:nvPr/>
        </p:nvSpPr>
        <p:spPr>
          <a:xfrm>
            <a:off x="947468" y="949911"/>
            <a:ext cx="4514867"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Une approche sélective, disciplinée, sur-mesure et à long terme</a:t>
            </a:r>
          </a:p>
        </p:txBody>
      </p:sp>
      <p:sp>
        <p:nvSpPr>
          <p:cNvPr id="5" name="Text 9">
            <a:extLst>
              <a:ext uri="{FF2B5EF4-FFF2-40B4-BE49-F238E27FC236}">
                <a16:creationId xmlns:a16="http://schemas.microsoft.com/office/drawing/2014/main" id="{573A6F19-E31E-EA1F-8E3F-92B251514C90}"/>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Notre philosophie d’investissement</a:t>
            </a:r>
          </a:p>
        </p:txBody>
      </p:sp>
      <p:sp>
        <p:nvSpPr>
          <p:cNvPr id="37" name="Rectangle 36">
            <a:extLst>
              <a:ext uri="{FF2B5EF4-FFF2-40B4-BE49-F238E27FC236}">
                <a16:creationId xmlns:a16="http://schemas.microsoft.com/office/drawing/2014/main" id="{6EE082D3-B547-2F33-D5B4-C49EE9A6143A}"/>
              </a:ext>
            </a:extLst>
          </p:cNvPr>
          <p:cNvSpPr/>
          <p:nvPr/>
        </p:nvSpPr>
        <p:spPr>
          <a:xfrm>
            <a:off x="1539179" y="1950081"/>
            <a:ext cx="3151829" cy="1759710"/>
          </a:xfrm>
          <a:prstGeom prst="rect">
            <a:avLst/>
          </a:prstGeom>
          <a:solidFill>
            <a:srgbClr val="001B0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200" dirty="0">
                <a:solidFill>
                  <a:schemeClr val="bg1"/>
                </a:solidFill>
                <a:latin typeface="Jost Medium" pitchFamily="2" charset="77"/>
                <a:ea typeface="Jost Medium" pitchFamily="2" charset="77"/>
                <a:cs typeface="Futura Medium" panose="020B0602020204020303" pitchFamily="34" charset="-79"/>
              </a:rPr>
              <a:t>Analyse financière</a:t>
            </a:r>
          </a:p>
          <a:p>
            <a:pPr algn="ctr">
              <a:spcAft>
                <a:spcPts val="600"/>
              </a:spcAft>
            </a:pPr>
            <a:endParaRPr lang="fr-FR" sz="1200" dirty="0">
              <a:solidFill>
                <a:schemeClr val="bg1"/>
              </a:solidFill>
              <a:latin typeface="Jost Medium" pitchFamily="2" charset="77"/>
              <a:ea typeface="Jost Medium" pitchFamily="2" charset="77"/>
              <a:cs typeface="Futura Medium" panose="020B0602020204020303" pitchFamily="34" charset="-79"/>
            </a:endParaRPr>
          </a:p>
          <a:p>
            <a:pPr algn="ctr"/>
            <a:r>
              <a:rPr lang="fr-FR" sz="900" dirty="0">
                <a:solidFill>
                  <a:schemeClr val="bg1"/>
                </a:solidFill>
                <a:latin typeface="Jost Light" pitchFamily="2" charset="77"/>
                <a:ea typeface="Jost Light" pitchFamily="2" charset="77"/>
                <a:cs typeface="Futura Medium" panose="020B0602020204020303" pitchFamily="34" charset="-79"/>
              </a:rPr>
              <a:t>Analyse quotidienne d’un univers de plus de 800 entreprises cotées, nourrie par notre veille fondamentale et la sélection de fonds/ETF en cohérence avec nos convictions.</a:t>
            </a:r>
          </a:p>
        </p:txBody>
      </p:sp>
      <p:sp>
        <p:nvSpPr>
          <p:cNvPr id="38" name="Rectangle 37">
            <a:extLst>
              <a:ext uri="{FF2B5EF4-FFF2-40B4-BE49-F238E27FC236}">
                <a16:creationId xmlns:a16="http://schemas.microsoft.com/office/drawing/2014/main" id="{755394D6-1052-2ADE-8087-D13E695E8D73}"/>
              </a:ext>
            </a:extLst>
          </p:cNvPr>
          <p:cNvSpPr/>
          <p:nvPr/>
        </p:nvSpPr>
        <p:spPr>
          <a:xfrm>
            <a:off x="4753109" y="1950082"/>
            <a:ext cx="3151829" cy="1759710"/>
          </a:xfrm>
          <a:prstGeom prst="rect">
            <a:avLst/>
          </a:prstGeom>
          <a:solidFill>
            <a:srgbClr val="AA853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200" dirty="0">
                <a:solidFill>
                  <a:schemeClr val="bg1"/>
                </a:solidFill>
                <a:latin typeface="Jost Medium" pitchFamily="2" charset="77"/>
                <a:ea typeface="Jost Medium" pitchFamily="2" charset="77"/>
                <a:cs typeface="Futura Medium" panose="020B0602020204020303" pitchFamily="34" charset="-79"/>
              </a:rPr>
              <a:t>Publication et recherche</a:t>
            </a:r>
          </a:p>
          <a:p>
            <a:pPr algn="ctr">
              <a:spcAft>
                <a:spcPts val="600"/>
              </a:spcAft>
            </a:pPr>
            <a:endParaRPr lang="fr-FR" sz="1200" dirty="0">
              <a:solidFill>
                <a:schemeClr val="bg1"/>
              </a:solidFill>
              <a:latin typeface="Jost Medium" pitchFamily="2" charset="77"/>
              <a:ea typeface="Jost Medium" pitchFamily="2" charset="77"/>
              <a:cs typeface="Futura Medium" panose="020B0602020204020303" pitchFamily="34" charset="-79"/>
            </a:endParaRPr>
          </a:p>
          <a:p>
            <a:pPr algn="ctr"/>
            <a:r>
              <a:rPr lang="fr-FR" sz="900" dirty="0">
                <a:solidFill>
                  <a:schemeClr val="bg1"/>
                </a:solidFill>
                <a:latin typeface="Jost Light" pitchFamily="2" charset="77"/>
                <a:ea typeface="Jost Light" pitchFamily="2" charset="77"/>
                <a:cs typeface="Futura Medium" panose="020B0602020204020303" pitchFamily="34" charset="-79"/>
              </a:rPr>
              <a:t>Une publication mensuelle adressée aux investisseurs de La Financière de Rochechouart, fondée sur notre recherche interne et nos échanges lors d’AG : Le Bulletin Rochechouart.</a:t>
            </a:r>
          </a:p>
        </p:txBody>
      </p:sp>
      <p:sp>
        <p:nvSpPr>
          <p:cNvPr id="39" name="Rectangle 38">
            <a:extLst>
              <a:ext uri="{FF2B5EF4-FFF2-40B4-BE49-F238E27FC236}">
                <a16:creationId xmlns:a16="http://schemas.microsoft.com/office/drawing/2014/main" id="{08B3FDC1-FD1B-6DF7-71F7-7EB4331B4B40}"/>
              </a:ext>
            </a:extLst>
          </p:cNvPr>
          <p:cNvSpPr/>
          <p:nvPr/>
        </p:nvSpPr>
        <p:spPr>
          <a:xfrm>
            <a:off x="1539179" y="3778599"/>
            <a:ext cx="3151829" cy="1759711"/>
          </a:xfrm>
          <a:prstGeom prst="rect">
            <a:avLst/>
          </a:prstGeom>
          <a:solidFill>
            <a:srgbClr val="FCF9E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200" dirty="0">
                <a:solidFill>
                  <a:schemeClr val="tx1"/>
                </a:solidFill>
                <a:latin typeface="Jost Medium" pitchFamily="2" charset="77"/>
                <a:ea typeface="Jost Medium" pitchFamily="2" charset="77"/>
                <a:cs typeface="Futura Medium" panose="020B0602020204020303" pitchFamily="34" charset="-79"/>
              </a:rPr>
              <a:t>Construction de portefeuille</a:t>
            </a:r>
          </a:p>
          <a:p>
            <a:pPr algn="ctr">
              <a:spcAft>
                <a:spcPts val="600"/>
              </a:spcAft>
            </a:pPr>
            <a:endParaRPr lang="fr-FR" sz="1200" dirty="0">
              <a:solidFill>
                <a:schemeClr val="tx1"/>
              </a:solidFill>
              <a:latin typeface="Jost Medium" pitchFamily="2" charset="77"/>
              <a:ea typeface="Jost Medium" pitchFamily="2" charset="77"/>
              <a:cs typeface="Futura Medium" panose="020B0602020204020303" pitchFamily="34" charset="-79"/>
            </a:endParaRPr>
          </a:p>
          <a:p>
            <a:pPr algn="ctr"/>
            <a:r>
              <a:rPr lang="fr-FR" sz="900" dirty="0">
                <a:solidFill>
                  <a:schemeClr val="tx1"/>
                </a:solidFill>
                <a:latin typeface="Jost Light" pitchFamily="2" charset="77"/>
                <a:ea typeface="Jost Light" pitchFamily="2" charset="77"/>
                <a:cs typeface="Futura Medium" panose="020B0602020204020303" pitchFamily="34" charset="-79"/>
              </a:rPr>
              <a:t>Définition de l’allocation cible, sélection des supports et pondération de chaque classe d’actifs selon votre profil de risque, votre horizon et vos objectifs patrimoniaux.</a:t>
            </a:r>
          </a:p>
        </p:txBody>
      </p:sp>
      <p:sp>
        <p:nvSpPr>
          <p:cNvPr id="40" name="Rectangle 39">
            <a:extLst>
              <a:ext uri="{FF2B5EF4-FFF2-40B4-BE49-F238E27FC236}">
                <a16:creationId xmlns:a16="http://schemas.microsoft.com/office/drawing/2014/main" id="{BE7BF416-A3EF-DA76-7BEB-F6EB363DD836}"/>
              </a:ext>
            </a:extLst>
          </p:cNvPr>
          <p:cNvSpPr/>
          <p:nvPr/>
        </p:nvSpPr>
        <p:spPr>
          <a:xfrm>
            <a:off x="7967039" y="1950081"/>
            <a:ext cx="3151829" cy="1759710"/>
          </a:xfrm>
          <a:prstGeom prst="rect">
            <a:avLst/>
          </a:prstGeom>
          <a:solidFill>
            <a:srgbClr val="E6C989"/>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200" dirty="0">
                <a:solidFill>
                  <a:schemeClr val="tx1"/>
                </a:solidFill>
                <a:latin typeface="Jost Medium" pitchFamily="2" charset="77"/>
                <a:ea typeface="Jost Medium" pitchFamily="2" charset="77"/>
                <a:cs typeface="Futura Medium" panose="020B0602020204020303" pitchFamily="34" charset="-79"/>
              </a:rPr>
              <a:t>Alignement des intérêts</a:t>
            </a:r>
          </a:p>
          <a:p>
            <a:pPr algn="ctr">
              <a:spcAft>
                <a:spcPts val="600"/>
              </a:spcAft>
            </a:pPr>
            <a:endParaRPr lang="fr-FR" sz="1200" dirty="0">
              <a:solidFill>
                <a:schemeClr val="tx1"/>
              </a:solidFill>
              <a:latin typeface="Jost Medium" pitchFamily="2" charset="77"/>
              <a:ea typeface="Jost Medium" pitchFamily="2" charset="77"/>
              <a:cs typeface="Futura Medium" panose="020B0602020204020303" pitchFamily="34" charset="-79"/>
            </a:endParaRPr>
          </a:p>
          <a:p>
            <a:pPr algn="ctr"/>
            <a:r>
              <a:rPr lang="fr-FR" sz="900" dirty="0">
                <a:solidFill>
                  <a:schemeClr val="tx1"/>
                </a:solidFill>
                <a:latin typeface="Jost Light" pitchFamily="2" charset="77"/>
                <a:ea typeface="Jost Light" pitchFamily="2" charset="77"/>
                <a:cs typeface="Futura Medium" panose="020B0602020204020303" pitchFamily="34" charset="-79"/>
              </a:rPr>
              <a:t>Un travail en architecture ouverte, pour une sélection rigoureuse des meilleurs supports, en phase avec votre profil de risque, vos objectifs et vos préférences en matière ESG.</a:t>
            </a:r>
          </a:p>
        </p:txBody>
      </p:sp>
      <p:sp>
        <p:nvSpPr>
          <p:cNvPr id="42" name="Rectangle 41">
            <a:extLst>
              <a:ext uri="{FF2B5EF4-FFF2-40B4-BE49-F238E27FC236}">
                <a16:creationId xmlns:a16="http://schemas.microsoft.com/office/drawing/2014/main" id="{410EC976-C2F1-6F02-46D7-A5184838EA7E}"/>
              </a:ext>
            </a:extLst>
          </p:cNvPr>
          <p:cNvSpPr/>
          <p:nvPr/>
        </p:nvSpPr>
        <p:spPr>
          <a:xfrm>
            <a:off x="4753109" y="3778599"/>
            <a:ext cx="3151829" cy="1759710"/>
          </a:xfrm>
          <a:prstGeom prst="rect">
            <a:avLst/>
          </a:prstGeom>
          <a:solidFill>
            <a:srgbClr val="15462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200" dirty="0">
                <a:solidFill>
                  <a:schemeClr val="bg1"/>
                </a:solidFill>
                <a:latin typeface="Jost Medium" pitchFamily="2" charset="77"/>
                <a:ea typeface="Jost Medium" pitchFamily="2" charset="77"/>
                <a:cs typeface="Futura Medium" panose="020B0602020204020303" pitchFamily="34" charset="-79"/>
              </a:rPr>
              <a:t>Gestion du risque</a:t>
            </a:r>
          </a:p>
          <a:p>
            <a:pPr algn="ctr">
              <a:spcAft>
                <a:spcPts val="600"/>
              </a:spcAft>
            </a:pPr>
            <a:endParaRPr lang="fr-FR" sz="1200" dirty="0">
              <a:solidFill>
                <a:schemeClr val="bg1"/>
              </a:solidFill>
              <a:latin typeface="Jost Medium" pitchFamily="2" charset="77"/>
              <a:ea typeface="Jost Medium" pitchFamily="2" charset="77"/>
              <a:cs typeface="Futura Medium" panose="020B0602020204020303" pitchFamily="34" charset="-79"/>
            </a:endParaRPr>
          </a:p>
          <a:p>
            <a:pPr algn="ctr"/>
            <a:r>
              <a:rPr lang="fr-FR" sz="900" dirty="0">
                <a:solidFill>
                  <a:schemeClr val="bg1"/>
                </a:solidFill>
                <a:latin typeface="Jost Light" pitchFamily="2" charset="77"/>
                <a:ea typeface="Jost Light" pitchFamily="2" charset="77"/>
                <a:cs typeface="Futura Medium" panose="020B0602020204020303" pitchFamily="34" charset="-79"/>
              </a:rPr>
              <a:t>Une attention constante portée à la maîtrise du risque, à la cohérence des expositions et à la recherche d’un couple rendement / risque adapté à chaque situation.</a:t>
            </a:r>
          </a:p>
        </p:txBody>
      </p:sp>
      <p:sp>
        <p:nvSpPr>
          <p:cNvPr id="43" name="Rectangle 42">
            <a:extLst>
              <a:ext uri="{FF2B5EF4-FFF2-40B4-BE49-F238E27FC236}">
                <a16:creationId xmlns:a16="http://schemas.microsoft.com/office/drawing/2014/main" id="{C6D6682C-F3B2-9293-B289-E24D60FE681A}"/>
              </a:ext>
            </a:extLst>
          </p:cNvPr>
          <p:cNvSpPr/>
          <p:nvPr/>
        </p:nvSpPr>
        <p:spPr>
          <a:xfrm>
            <a:off x="7967039" y="3778599"/>
            <a:ext cx="3165922" cy="1759710"/>
          </a:xfrm>
          <a:prstGeom prst="rect">
            <a:avLst/>
          </a:prstGeom>
          <a:solidFill>
            <a:srgbClr val="E7DCC7"/>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200" dirty="0">
                <a:solidFill>
                  <a:schemeClr val="tx1"/>
                </a:solidFill>
                <a:latin typeface="Jost Medium" pitchFamily="2" charset="77"/>
                <a:ea typeface="Jost Medium" pitchFamily="2" charset="77"/>
                <a:cs typeface="Futura Medium" panose="020B0602020204020303" pitchFamily="34" charset="-79"/>
              </a:rPr>
              <a:t>Suivi dans la durée</a:t>
            </a:r>
          </a:p>
          <a:p>
            <a:pPr algn="ctr">
              <a:spcAft>
                <a:spcPts val="600"/>
              </a:spcAft>
            </a:pPr>
            <a:endParaRPr lang="fr-FR" sz="1200" dirty="0">
              <a:solidFill>
                <a:schemeClr val="tx1"/>
              </a:solidFill>
              <a:latin typeface="Jost Medium" pitchFamily="2" charset="77"/>
              <a:ea typeface="Jost Medium" pitchFamily="2" charset="77"/>
              <a:cs typeface="Futura Medium" panose="020B0602020204020303" pitchFamily="34" charset="-79"/>
            </a:endParaRPr>
          </a:p>
          <a:p>
            <a:pPr algn="ctr"/>
            <a:r>
              <a:rPr lang="fr-FR" sz="900" dirty="0">
                <a:solidFill>
                  <a:schemeClr val="tx1"/>
                </a:solidFill>
                <a:latin typeface="Jost Light" pitchFamily="2" charset="77"/>
                <a:ea typeface="Jost Light" pitchFamily="2" charset="77"/>
                <a:cs typeface="Futura Medium" panose="020B0602020204020303" pitchFamily="34" charset="-79"/>
              </a:rPr>
              <a:t>Un pilotage dans le temps fondé sur des points d’échanges, des arbitrages lorsque nécessaire, reportings réguliers et une adaptation continue à l’évolution de votre situation.</a:t>
            </a:r>
          </a:p>
        </p:txBody>
      </p:sp>
    </p:spTree>
    <p:extLst>
      <p:ext uri="{BB962C8B-B14F-4D97-AF65-F5344CB8AC3E}">
        <p14:creationId xmlns:p14="http://schemas.microsoft.com/office/powerpoint/2010/main" val="3249391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477ACD0-314D-3FA2-7F46-8C3405ECC47E}"/>
              </a:ext>
            </a:extLst>
          </p:cNvPr>
          <p:cNvSpPr/>
          <p:nvPr/>
        </p:nvSpPr>
        <p:spPr>
          <a:xfrm>
            <a:off x="464234" y="351693"/>
            <a:ext cx="9303654" cy="613841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0CC011A1-A14B-50E9-72E0-E73D072A9895}"/>
              </a:ext>
            </a:extLst>
          </p:cNvPr>
          <p:cNvSpPr txBox="1"/>
          <p:nvPr/>
        </p:nvSpPr>
        <p:spPr>
          <a:xfrm>
            <a:off x="1310516" y="3429000"/>
            <a:ext cx="3828643" cy="1200329"/>
          </a:xfrm>
          <a:prstGeom prst="rect">
            <a:avLst/>
          </a:prstGeom>
          <a:noFill/>
        </p:spPr>
        <p:txBody>
          <a:bodyPr wrap="square" rtlCol="0">
            <a:spAutoFit/>
          </a:bodyPr>
          <a:lstStyle/>
          <a:p>
            <a:r>
              <a:rPr lang="fr-FR" sz="3600" b="1" dirty="0">
                <a:solidFill>
                  <a:srgbClr val="E7DCC7"/>
                </a:solidFill>
                <a:latin typeface="Jost SemiBold" pitchFamily="2" charset="77"/>
                <a:ea typeface="Jost SemiBold" pitchFamily="2" charset="77"/>
                <a:cs typeface="Futura" panose="020B0602020204020303" pitchFamily="34" charset="-79"/>
              </a:rPr>
              <a:t>2. Structurer votre patrimoine </a:t>
            </a:r>
          </a:p>
        </p:txBody>
      </p:sp>
      <p:sp>
        <p:nvSpPr>
          <p:cNvPr id="12" name="Shape 8">
            <a:extLst>
              <a:ext uri="{FF2B5EF4-FFF2-40B4-BE49-F238E27FC236}">
                <a16:creationId xmlns:a16="http://schemas.microsoft.com/office/drawing/2014/main" id="{72047B36-302F-BD51-EA1C-7206EC3E0DDC}"/>
              </a:ext>
            </a:extLst>
          </p:cNvPr>
          <p:cNvSpPr/>
          <p:nvPr/>
        </p:nvSpPr>
        <p:spPr>
          <a:xfrm>
            <a:off x="1371476" y="5750000"/>
            <a:ext cx="2009154" cy="0"/>
          </a:xfrm>
          <a:prstGeom prst="line">
            <a:avLst/>
          </a:prstGeom>
          <a:noFill/>
          <a:ln w="19050">
            <a:solidFill>
              <a:srgbClr val="A9853F"/>
            </a:solidFill>
            <a:prstDash val="solid"/>
          </a:ln>
        </p:spPr>
        <p:txBody>
          <a:bodyPr/>
          <a:lstStyle/>
          <a:p>
            <a:endParaRPr lang="fr-FR"/>
          </a:p>
        </p:txBody>
      </p:sp>
      <p:pic>
        <p:nvPicPr>
          <p:cNvPr id="19" name="Image 18">
            <a:extLst>
              <a:ext uri="{FF2B5EF4-FFF2-40B4-BE49-F238E27FC236}">
                <a16:creationId xmlns:a16="http://schemas.microsoft.com/office/drawing/2014/main" id="{D3A26E59-C11D-BEAB-D7B8-A0B897D52B9D}"/>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54583" t="-21403" r="19496" b="-27711"/>
          <a:stretch>
            <a:fillRect/>
          </a:stretch>
        </p:blipFill>
        <p:spPr>
          <a:xfrm>
            <a:off x="9767888" y="156744"/>
            <a:ext cx="2441045" cy="7327940"/>
          </a:xfrm>
          <a:prstGeom prst="rect">
            <a:avLst/>
          </a:prstGeom>
        </p:spPr>
      </p:pic>
      <p:pic>
        <p:nvPicPr>
          <p:cNvPr id="20" name="Image 19">
            <a:extLst>
              <a:ext uri="{FF2B5EF4-FFF2-40B4-BE49-F238E27FC236}">
                <a16:creationId xmlns:a16="http://schemas.microsoft.com/office/drawing/2014/main" id="{0238716E-F168-DE82-D938-0BD0A32BF06B}"/>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1761878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Image 23">
            <a:extLst>
              <a:ext uri="{FF2B5EF4-FFF2-40B4-BE49-F238E27FC236}">
                <a16:creationId xmlns:a16="http://schemas.microsoft.com/office/drawing/2014/main" id="{8E6B57DC-E879-78BD-5238-9E1C13619272}"/>
              </a:ext>
            </a:extLst>
          </p:cNvPr>
          <p:cNvPicPr>
            <a:picLocks noChangeAspect="1"/>
          </p:cNvPicPr>
          <p:nvPr/>
        </p:nvPicPr>
        <p:blipFill>
          <a:blip r:embed="rId2">
            <a:alphaModFix amt="5000"/>
          </a:blip>
          <a:srcRect l="6207" b="6232"/>
          <a:stretch>
            <a:fillRect/>
          </a:stretch>
        </p:blipFill>
        <p:spPr>
          <a:xfrm>
            <a:off x="1" y="0"/>
            <a:ext cx="12191999" cy="6859822"/>
          </a:xfrm>
          <a:prstGeom prst="rect">
            <a:avLst/>
          </a:prstGeom>
        </p:spPr>
      </p:pic>
      <p:pic>
        <p:nvPicPr>
          <p:cNvPr id="2" name="Image 1">
            <a:extLst>
              <a:ext uri="{FF2B5EF4-FFF2-40B4-BE49-F238E27FC236}">
                <a16:creationId xmlns:a16="http://schemas.microsoft.com/office/drawing/2014/main" id="{1B408EF5-F494-F2AB-ED64-0FA4990AF6CA}"/>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3" name="Rectangle 2">
            <a:extLst>
              <a:ext uri="{FF2B5EF4-FFF2-40B4-BE49-F238E27FC236}">
                <a16:creationId xmlns:a16="http://schemas.microsoft.com/office/drawing/2014/main" id="{7065D056-BED8-0171-67A7-2ECEB77D3726}"/>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 9">
            <a:extLst>
              <a:ext uri="{FF2B5EF4-FFF2-40B4-BE49-F238E27FC236}">
                <a16:creationId xmlns:a16="http://schemas.microsoft.com/office/drawing/2014/main" id="{67AD8324-2095-E7F0-A5DC-DEE0810D1464}"/>
              </a:ext>
            </a:extLst>
          </p:cNvPr>
          <p:cNvSpPr/>
          <p:nvPr/>
        </p:nvSpPr>
        <p:spPr>
          <a:xfrm>
            <a:off x="947468" y="949911"/>
            <a:ext cx="4514867"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Optimisez l’architecture de votre patrimoine</a:t>
            </a:r>
          </a:p>
        </p:txBody>
      </p:sp>
      <p:sp>
        <p:nvSpPr>
          <p:cNvPr id="5" name="Text 9">
            <a:extLst>
              <a:ext uri="{FF2B5EF4-FFF2-40B4-BE49-F238E27FC236}">
                <a16:creationId xmlns:a16="http://schemas.microsoft.com/office/drawing/2014/main" id="{A7A8CFAD-7438-95A3-1823-D4F3A30AB431}"/>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noProof="0" dirty="0">
                <a:solidFill>
                  <a:srgbClr val="A9853F"/>
                </a:solidFill>
                <a:latin typeface="Cormorant Garamond SemiBold" pitchFamily="2" charset="77"/>
                <a:ea typeface="Cormorant Garamond SemiBold" pitchFamily="2" charset="77"/>
                <a:cs typeface="Cormorant Garamond SemiBold" pitchFamily="2" charset="77"/>
              </a:rPr>
              <a:t>L’ingénierie juridique et fiscale</a:t>
            </a:r>
          </a:p>
        </p:txBody>
      </p:sp>
      <p:sp>
        <p:nvSpPr>
          <p:cNvPr id="6" name="Rectangle : avec coin arrondi et coin rogné en haut 5">
            <a:extLst>
              <a:ext uri="{FF2B5EF4-FFF2-40B4-BE49-F238E27FC236}">
                <a16:creationId xmlns:a16="http://schemas.microsoft.com/office/drawing/2014/main" id="{A182A19D-DF20-0A7F-A9F8-29194F7BC775}"/>
              </a:ext>
            </a:extLst>
          </p:cNvPr>
          <p:cNvSpPr/>
          <p:nvPr/>
        </p:nvSpPr>
        <p:spPr>
          <a:xfrm>
            <a:off x="2158337" y="1933538"/>
            <a:ext cx="2690060" cy="489396"/>
          </a:xfrm>
          <a:prstGeom prst="snipRoundRect">
            <a:avLst/>
          </a:prstGeom>
          <a:solidFill>
            <a:srgbClr val="001B0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bg1"/>
                </a:solidFill>
                <a:latin typeface="Jost Black" pitchFamily="2" charset="77"/>
                <a:ea typeface="Jost Black" pitchFamily="2" charset="77"/>
                <a:cs typeface="Futura Medium" panose="020B0602020204020303" pitchFamily="34" charset="-79"/>
              </a:rPr>
              <a:t>Analyser</a:t>
            </a:r>
          </a:p>
        </p:txBody>
      </p:sp>
      <p:sp>
        <p:nvSpPr>
          <p:cNvPr id="7" name="Rectangle 6">
            <a:extLst>
              <a:ext uri="{FF2B5EF4-FFF2-40B4-BE49-F238E27FC236}">
                <a16:creationId xmlns:a16="http://schemas.microsoft.com/office/drawing/2014/main" id="{C03EF328-2B34-6043-6F5D-2CB7DFB4B0BC}"/>
              </a:ext>
            </a:extLst>
          </p:cNvPr>
          <p:cNvSpPr/>
          <p:nvPr/>
        </p:nvSpPr>
        <p:spPr>
          <a:xfrm>
            <a:off x="2158337" y="2596670"/>
            <a:ext cx="2690060" cy="1421153"/>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050" dirty="0">
              <a:solidFill>
                <a:srgbClr val="001B00"/>
              </a:solidFill>
              <a:latin typeface="Jost Medium" pitchFamily="2" charset="77"/>
              <a:ea typeface="Jost Medium" pitchFamily="2" charset="77"/>
              <a:cs typeface="Futura Medium" panose="020B0602020204020303" pitchFamily="34" charset="-79"/>
            </a:endParaRPr>
          </a:p>
        </p:txBody>
      </p:sp>
      <p:sp>
        <p:nvSpPr>
          <p:cNvPr id="8" name="Rectangle : avec coin arrondi et coin rogné en haut 7">
            <a:extLst>
              <a:ext uri="{FF2B5EF4-FFF2-40B4-BE49-F238E27FC236}">
                <a16:creationId xmlns:a16="http://schemas.microsoft.com/office/drawing/2014/main" id="{FFAA49BC-1C4F-1AC2-A374-F5BB4D74A5CB}"/>
              </a:ext>
            </a:extLst>
          </p:cNvPr>
          <p:cNvSpPr/>
          <p:nvPr/>
        </p:nvSpPr>
        <p:spPr>
          <a:xfrm>
            <a:off x="5070142" y="1933538"/>
            <a:ext cx="2690060" cy="489396"/>
          </a:xfrm>
          <a:prstGeom prst="snipRoundRect">
            <a:avLst/>
          </a:prstGeom>
          <a:solidFill>
            <a:srgbClr val="001B0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bg1"/>
                </a:solidFill>
                <a:latin typeface="Jost Black" pitchFamily="2" charset="77"/>
                <a:ea typeface="Jost Black" pitchFamily="2" charset="77"/>
                <a:cs typeface="Futura Medium" panose="020B0602020204020303" pitchFamily="34" charset="-79"/>
              </a:rPr>
              <a:t>Structurer</a:t>
            </a:r>
          </a:p>
        </p:txBody>
      </p:sp>
      <p:sp>
        <p:nvSpPr>
          <p:cNvPr id="10" name="Rectangle : avec coin arrondi et coin rogné en haut 9">
            <a:extLst>
              <a:ext uri="{FF2B5EF4-FFF2-40B4-BE49-F238E27FC236}">
                <a16:creationId xmlns:a16="http://schemas.microsoft.com/office/drawing/2014/main" id="{D16C5A29-C2C6-86BF-C95F-10D834039A16}"/>
              </a:ext>
            </a:extLst>
          </p:cNvPr>
          <p:cNvSpPr/>
          <p:nvPr/>
        </p:nvSpPr>
        <p:spPr>
          <a:xfrm>
            <a:off x="7981947" y="1933538"/>
            <a:ext cx="2690060" cy="489396"/>
          </a:xfrm>
          <a:prstGeom prst="snipRoundRect">
            <a:avLst/>
          </a:prstGeom>
          <a:solidFill>
            <a:srgbClr val="001B0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Jost Black" pitchFamily="2" charset="77"/>
                <a:ea typeface="Jost Black" pitchFamily="2" charset="77"/>
                <a:cs typeface="Futura Medium" panose="020B0602020204020303" pitchFamily="34" charset="-79"/>
              </a:rPr>
              <a:t>Construire</a:t>
            </a:r>
            <a:endParaRPr lang="fr-FR" sz="1100" b="1" dirty="0">
              <a:solidFill>
                <a:schemeClr val="bg1"/>
              </a:solidFill>
              <a:latin typeface="Jost Black" pitchFamily="2" charset="77"/>
              <a:ea typeface="Jost Black" pitchFamily="2" charset="77"/>
              <a:cs typeface="Futura Medium" panose="020B0602020204020303" pitchFamily="34" charset="-79"/>
            </a:endParaRPr>
          </a:p>
        </p:txBody>
      </p:sp>
      <p:sp>
        <p:nvSpPr>
          <p:cNvPr id="15" name="Rectangle 14">
            <a:extLst>
              <a:ext uri="{FF2B5EF4-FFF2-40B4-BE49-F238E27FC236}">
                <a16:creationId xmlns:a16="http://schemas.microsoft.com/office/drawing/2014/main" id="{0FB1897D-50C7-C563-046B-51A0F24D202E}"/>
              </a:ext>
            </a:extLst>
          </p:cNvPr>
          <p:cNvSpPr/>
          <p:nvPr/>
        </p:nvSpPr>
        <p:spPr>
          <a:xfrm>
            <a:off x="2158337" y="4191559"/>
            <a:ext cx="2690060" cy="1421153"/>
          </a:xfrm>
          <a:prstGeom prst="rect">
            <a:avLst/>
          </a:prstGeom>
          <a:solidFill>
            <a:srgbClr val="FCF9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050" dirty="0">
              <a:solidFill>
                <a:srgbClr val="001B00"/>
              </a:solidFill>
              <a:latin typeface="Jost Medium" pitchFamily="2" charset="77"/>
              <a:ea typeface="Jost Medium" pitchFamily="2" charset="77"/>
              <a:cs typeface="Futura Medium" panose="020B0602020204020303" pitchFamily="34" charset="-79"/>
            </a:endParaRPr>
          </a:p>
        </p:txBody>
      </p:sp>
      <p:sp>
        <p:nvSpPr>
          <p:cNvPr id="16" name="Rectangle 15">
            <a:extLst>
              <a:ext uri="{FF2B5EF4-FFF2-40B4-BE49-F238E27FC236}">
                <a16:creationId xmlns:a16="http://schemas.microsoft.com/office/drawing/2014/main" id="{7B7AFDE0-C834-C0CB-30E2-48A12DE7C241}"/>
              </a:ext>
            </a:extLst>
          </p:cNvPr>
          <p:cNvSpPr/>
          <p:nvPr/>
        </p:nvSpPr>
        <p:spPr>
          <a:xfrm>
            <a:off x="5070142" y="2596670"/>
            <a:ext cx="2690060" cy="1421153"/>
          </a:xfrm>
          <a:prstGeom prst="rect">
            <a:avLst/>
          </a:prstGeom>
          <a:solidFill>
            <a:srgbClr val="15462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050" dirty="0">
              <a:solidFill>
                <a:schemeClr val="bg1"/>
              </a:solidFill>
              <a:latin typeface="Jost Medium" pitchFamily="2" charset="77"/>
              <a:ea typeface="Jost Medium" pitchFamily="2" charset="77"/>
              <a:cs typeface="Futura Medium" panose="020B0602020204020303" pitchFamily="34" charset="-79"/>
            </a:endParaRPr>
          </a:p>
        </p:txBody>
      </p:sp>
      <p:sp>
        <p:nvSpPr>
          <p:cNvPr id="17" name="Rectangle 16">
            <a:extLst>
              <a:ext uri="{FF2B5EF4-FFF2-40B4-BE49-F238E27FC236}">
                <a16:creationId xmlns:a16="http://schemas.microsoft.com/office/drawing/2014/main" id="{87557535-2F07-5089-5E73-1D36BEB15E95}"/>
              </a:ext>
            </a:extLst>
          </p:cNvPr>
          <p:cNvSpPr/>
          <p:nvPr/>
        </p:nvSpPr>
        <p:spPr>
          <a:xfrm>
            <a:off x="5070142" y="4207192"/>
            <a:ext cx="2690060" cy="1421153"/>
          </a:xfrm>
          <a:prstGeom prst="rect">
            <a:avLst/>
          </a:prstGeom>
          <a:solidFill>
            <a:srgbClr val="15462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050" dirty="0">
              <a:solidFill>
                <a:schemeClr val="bg1"/>
              </a:solidFill>
              <a:latin typeface="Jost Medium" pitchFamily="2" charset="77"/>
              <a:ea typeface="Jost Medium" pitchFamily="2" charset="77"/>
              <a:cs typeface="Futura Medium" panose="020B0602020204020303" pitchFamily="34" charset="-79"/>
            </a:endParaRPr>
          </a:p>
        </p:txBody>
      </p:sp>
      <p:sp>
        <p:nvSpPr>
          <p:cNvPr id="18" name="Rectangle 17">
            <a:extLst>
              <a:ext uri="{FF2B5EF4-FFF2-40B4-BE49-F238E27FC236}">
                <a16:creationId xmlns:a16="http://schemas.microsoft.com/office/drawing/2014/main" id="{4F4D92AA-A8ED-4EE9-D1AA-908CEB02B0E3}"/>
              </a:ext>
            </a:extLst>
          </p:cNvPr>
          <p:cNvSpPr/>
          <p:nvPr/>
        </p:nvSpPr>
        <p:spPr>
          <a:xfrm>
            <a:off x="7981947" y="2596670"/>
            <a:ext cx="2690060" cy="1421153"/>
          </a:xfrm>
          <a:prstGeom prst="rect">
            <a:avLst/>
          </a:prstGeom>
          <a:solidFill>
            <a:srgbClr val="A9853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050" dirty="0">
              <a:solidFill>
                <a:srgbClr val="001B00"/>
              </a:solidFill>
              <a:latin typeface="Jost Medium" pitchFamily="2" charset="77"/>
              <a:ea typeface="Jost Medium" pitchFamily="2" charset="77"/>
              <a:cs typeface="Futura Medium" panose="020B0602020204020303" pitchFamily="34" charset="-79"/>
            </a:endParaRPr>
          </a:p>
        </p:txBody>
      </p:sp>
      <p:sp>
        <p:nvSpPr>
          <p:cNvPr id="19" name="Rectangle 18">
            <a:extLst>
              <a:ext uri="{FF2B5EF4-FFF2-40B4-BE49-F238E27FC236}">
                <a16:creationId xmlns:a16="http://schemas.microsoft.com/office/drawing/2014/main" id="{D3C0A5EC-824F-83E5-FD71-86DAD717BD5B}"/>
              </a:ext>
            </a:extLst>
          </p:cNvPr>
          <p:cNvSpPr/>
          <p:nvPr/>
        </p:nvSpPr>
        <p:spPr>
          <a:xfrm>
            <a:off x="7981947" y="4207192"/>
            <a:ext cx="2690060" cy="1421153"/>
          </a:xfrm>
          <a:prstGeom prst="rect">
            <a:avLst/>
          </a:prstGeom>
          <a:solidFill>
            <a:srgbClr val="A9853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050" dirty="0">
              <a:solidFill>
                <a:srgbClr val="001B00"/>
              </a:solidFill>
              <a:latin typeface="Jost Medium" pitchFamily="2" charset="77"/>
              <a:ea typeface="Jost Medium" pitchFamily="2" charset="77"/>
              <a:cs typeface="Futura Medium" panose="020B0602020204020303" pitchFamily="34" charset="-79"/>
            </a:endParaRPr>
          </a:p>
        </p:txBody>
      </p:sp>
      <p:sp>
        <p:nvSpPr>
          <p:cNvPr id="25" name="ZoneTexte 24">
            <a:extLst>
              <a:ext uri="{FF2B5EF4-FFF2-40B4-BE49-F238E27FC236}">
                <a16:creationId xmlns:a16="http://schemas.microsoft.com/office/drawing/2014/main" id="{EF3967D8-6624-73CD-2FD8-AF3EBA52D97D}"/>
              </a:ext>
            </a:extLst>
          </p:cNvPr>
          <p:cNvSpPr txBox="1"/>
          <p:nvPr/>
        </p:nvSpPr>
        <p:spPr>
          <a:xfrm>
            <a:off x="2158337" y="2937914"/>
            <a:ext cx="2690060" cy="707886"/>
          </a:xfrm>
          <a:prstGeom prst="rect">
            <a:avLst/>
          </a:prstGeom>
          <a:noFill/>
          <a:ln>
            <a:noFill/>
          </a:ln>
        </p:spPr>
        <p:txBody>
          <a:bodyPr wrap="square" rtlCol="0">
            <a:spAutoFit/>
          </a:bodyPr>
          <a:lstStyle/>
          <a:p>
            <a:pPr algn="ctr"/>
            <a:r>
              <a:rPr lang="fr-FR" sz="1000" dirty="0">
                <a:solidFill>
                  <a:srgbClr val="001B00"/>
                </a:solidFill>
                <a:latin typeface="Jost Medium" pitchFamily="2" charset="77"/>
                <a:ea typeface="Jost Medium" pitchFamily="2" charset="77"/>
                <a:cs typeface="Futura Medium" panose="020B0602020204020303" pitchFamily="34" charset="-79"/>
              </a:rPr>
              <a:t>Diagnostic patrimonial : analyse de votre situation personnelle, matrimoniale et familiale. Identification des enjeux fiscaux, juridiques et successoraux.</a:t>
            </a:r>
          </a:p>
        </p:txBody>
      </p:sp>
      <p:sp>
        <p:nvSpPr>
          <p:cNvPr id="26" name="ZoneTexte 25">
            <a:extLst>
              <a:ext uri="{FF2B5EF4-FFF2-40B4-BE49-F238E27FC236}">
                <a16:creationId xmlns:a16="http://schemas.microsoft.com/office/drawing/2014/main" id="{506D3634-46A0-2CB9-64E0-8CC2E0A117A3}"/>
              </a:ext>
            </a:extLst>
          </p:cNvPr>
          <p:cNvSpPr txBox="1"/>
          <p:nvPr/>
        </p:nvSpPr>
        <p:spPr>
          <a:xfrm>
            <a:off x="5070142" y="2937914"/>
            <a:ext cx="2690060" cy="861774"/>
          </a:xfrm>
          <a:prstGeom prst="rect">
            <a:avLst/>
          </a:prstGeom>
          <a:noFill/>
          <a:ln>
            <a:noFill/>
          </a:ln>
        </p:spPr>
        <p:txBody>
          <a:bodyPr wrap="square" rtlCol="0">
            <a:spAutoFit/>
          </a:bodyPr>
          <a:lstStyle/>
          <a:p>
            <a:pPr algn="ctr"/>
            <a:r>
              <a:rPr lang="fr-FR" sz="1000" dirty="0">
                <a:solidFill>
                  <a:schemeClr val="bg1"/>
                </a:solidFill>
                <a:latin typeface="Jost Medium" pitchFamily="2" charset="77"/>
                <a:ea typeface="Jost Medium" pitchFamily="2" charset="77"/>
                <a:cs typeface="Futura Medium" panose="020B0602020204020303" pitchFamily="34" charset="-79"/>
              </a:rPr>
              <a:t>Organisation patrimoniale : choix des structures adaptées : détention directe, sociétés (SCI / SARL), holding, démembrement ou autres véhicules patrimoniaux.</a:t>
            </a:r>
          </a:p>
        </p:txBody>
      </p:sp>
      <p:sp>
        <p:nvSpPr>
          <p:cNvPr id="27" name="ZoneTexte 26">
            <a:extLst>
              <a:ext uri="{FF2B5EF4-FFF2-40B4-BE49-F238E27FC236}">
                <a16:creationId xmlns:a16="http://schemas.microsoft.com/office/drawing/2014/main" id="{BDFAB6A4-2880-D36F-CF87-87BDA67F067F}"/>
              </a:ext>
            </a:extLst>
          </p:cNvPr>
          <p:cNvSpPr txBox="1"/>
          <p:nvPr/>
        </p:nvSpPr>
        <p:spPr>
          <a:xfrm>
            <a:off x="7981947" y="3004512"/>
            <a:ext cx="2690060" cy="553998"/>
          </a:xfrm>
          <a:prstGeom prst="rect">
            <a:avLst/>
          </a:prstGeom>
          <a:noFill/>
          <a:ln>
            <a:noFill/>
          </a:ln>
        </p:spPr>
        <p:txBody>
          <a:bodyPr wrap="square" rtlCol="0">
            <a:spAutoFit/>
          </a:bodyPr>
          <a:lstStyle/>
          <a:p>
            <a:pPr algn="ctr"/>
            <a:r>
              <a:rPr lang="fr-FR" sz="1000" dirty="0">
                <a:solidFill>
                  <a:schemeClr val="bg1"/>
                </a:solidFill>
                <a:latin typeface="Jost Medium" pitchFamily="2" charset="77"/>
                <a:ea typeface="Jost Medium" pitchFamily="2" charset="77"/>
                <a:cs typeface="Futura Medium" panose="020B0602020204020303" pitchFamily="34" charset="-79"/>
              </a:rPr>
              <a:t>Mise en œuvre : coordination avec nos partenaires pour déployer les solutions retenues dans un cadre sécurisé.</a:t>
            </a:r>
          </a:p>
        </p:txBody>
      </p:sp>
      <p:sp>
        <p:nvSpPr>
          <p:cNvPr id="28" name="ZoneTexte 27">
            <a:extLst>
              <a:ext uri="{FF2B5EF4-FFF2-40B4-BE49-F238E27FC236}">
                <a16:creationId xmlns:a16="http://schemas.microsoft.com/office/drawing/2014/main" id="{EA1193C5-E8B7-9A04-5078-D197694B2388}"/>
              </a:ext>
            </a:extLst>
          </p:cNvPr>
          <p:cNvSpPr txBox="1"/>
          <p:nvPr/>
        </p:nvSpPr>
        <p:spPr>
          <a:xfrm>
            <a:off x="2158337" y="4629227"/>
            <a:ext cx="2690060" cy="553998"/>
          </a:xfrm>
          <a:prstGeom prst="rect">
            <a:avLst/>
          </a:prstGeom>
          <a:noFill/>
          <a:ln>
            <a:noFill/>
          </a:ln>
        </p:spPr>
        <p:txBody>
          <a:bodyPr wrap="square" rtlCol="0">
            <a:spAutoFit/>
          </a:bodyPr>
          <a:lstStyle>
            <a:lvl1pPr algn="ctr">
              <a:defRPr sz="1050">
                <a:solidFill>
                  <a:srgbClr val="001B00"/>
                </a:solidFill>
                <a:latin typeface="Jost Medium" pitchFamily="2" charset="77"/>
                <a:ea typeface="Jost Medium" pitchFamily="2" charset="77"/>
                <a:cs typeface="Futura Medium" panose="020B0602020204020303" pitchFamily="34" charset="-79"/>
              </a:defRPr>
            </a:lvl1pPr>
          </a:lstStyle>
          <a:p>
            <a:r>
              <a:rPr lang="fr-FR" sz="1000" dirty="0">
                <a:latin typeface="Jost Medium" pitchFamily="2" charset="77"/>
                <a:ea typeface="Jost Medium" pitchFamily="2" charset="77"/>
              </a:rPr>
              <a:t>Fiscalité &amp; transmission : étude de votre fiscalité actuelle et future, anticipation des transmissions et protection de vos proches.</a:t>
            </a:r>
          </a:p>
        </p:txBody>
      </p:sp>
      <p:sp>
        <p:nvSpPr>
          <p:cNvPr id="29" name="ZoneTexte 28">
            <a:extLst>
              <a:ext uri="{FF2B5EF4-FFF2-40B4-BE49-F238E27FC236}">
                <a16:creationId xmlns:a16="http://schemas.microsoft.com/office/drawing/2014/main" id="{1060982D-A851-512C-8568-FA42CA595FDF}"/>
              </a:ext>
            </a:extLst>
          </p:cNvPr>
          <p:cNvSpPr txBox="1"/>
          <p:nvPr/>
        </p:nvSpPr>
        <p:spPr>
          <a:xfrm>
            <a:off x="5070142" y="4548435"/>
            <a:ext cx="2690060" cy="707886"/>
          </a:xfrm>
          <a:prstGeom prst="rect">
            <a:avLst/>
          </a:prstGeom>
          <a:noFill/>
          <a:ln>
            <a:noFill/>
          </a:ln>
        </p:spPr>
        <p:txBody>
          <a:bodyPr wrap="square" rtlCol="0">
            <a:spAutoFit/>
          </a:bodyPr>
          <a:lstStyle>
            <a:lvl1pPr algn="ctr">
              <a:defRPr sz="1050">
                <a:solidFill>
                  <a:srgbClr val="001B00"/>
                </a:solidFill>
                <a:latin typeface="Jost Medium" pitchFamily="2" charset="77"/>
                <a:ea typeface="Jost Medium" pitchFamily="2" charset="77"/>
                <a:cs typeface="Futura Medium" panose="020B0602020204020303" pitchFamily="34" charset="-79"/>
              </a:defRPr>
            </a:lvl1pPr>
          </a:lstStyle>
          <a:p>
            <a:r>
              <a:rPr lang="fr-FR" sz="1000" dirty="0">
                <a:solidFill>
                  <a:schemeClr val="bg1"/>
                </a:solidFill>
                <a:latin typeface="Jost Medium" pitchFamily="2" charset="77"/>
                <a:ea typeface="Jost Medium" pitchFamily="2" charset="77"/>
              </a:rPr>
              <a:t>Stratégie de transmission : donation, démembrement, assurance vie, pactes et organisation de la détention afin de préparer la transmission du patrimoine.</a:t>
            </a:r>
          </a:p>
        </p:txBody>
      </p:sp>
      <p:sp>
        <p:nvSpPr>
          <p:cNvPr id="30" name="ZoneTexte 29">
            <a:extLst>
              <a:ext uri="{FF2B5EF4-FFF2-40B4-BE49-F238E27FC236}">
                <a16:creationId xmlns:a16="http://schemas.microsoft.com/office/drawing/2014/main" id="{7E3DDDD8-CF0F-FCEE-9972-643FD78D0B16}"/>
              </a:ext>
            </a:extLst>
          </p:cNvPr>
          <p:cNvSpPr txBox="1"/>
          <p:nvPr/>
        </p:nvSpPr>
        <p:spPr>
          <a:xfrm>
            <a:off x="7981947" y="4532803"/>
            <a:ext cx="2690060" cy="707886"/>
          </a:xfrm>
          <a:prstGeom prst="rect">
            <a:avLst/>
          </a:prstGeom>
          <a:noFill/>
          <a:ln>
            <a:noFill/>
          </a:ln>
        </p:spPr>
        <p:txBody>
          <a:bodyPr wrap="square" rtlCol="0">
            <a:spAutoFit/>
          </a:bodyPr>
          <a:lstStyle>
            <a:lvl1pPr algn="ctr">
              <a:defRPr sz="1050">
                <a:solidFill>
                  <a:srgbClr val="001B00"/>
                </a:solidFill>
                <a:latin typeface="Jost Medium" pitchFamily="2" charset="77"/>
                <a:ea typeface="Jost Medium" pitchFamily="2" charset="77"/>
                <a:cs typeface="Futura Medium" panose="020B0602020204020303" pitchFamily="34" charset="-79"/>
              </a:defRPr>
            </a:lvl1pPr>
          </a:lstStyle>
          <a:p>
            <a:r>
              <a:rPr lang="fr-FR" sz="1000" dirty="0">
                <a:solidFill>
                  <a:schemeClr val="bg1"/>
                </a:solidFill>
                <a:latin typeface="Jost Medium" pitchFamily="2" charset="77"/>
                <a:ea typeface="Jost Medium" pitchFamily="2" charset="77"/>
              </a:rPr>
              <a:t>Suivi dans le temps : adaptation de l’architecture patrimoniale aux évolutions de votre situation, de vos objectifs et de la réglementation.</a:t>
            </a:r>
          </a:p>
        </p:txBody>
      </p:sp>
      <p:sp>
        <p:nvSpPr>
          <p:cNvPr id="32" name="Ellipse 31">
            <a:extLst>
              <a:ext uri="{FF2B5EF4-FFF2-40B4-BE49-F238E27FC236}">
                <a16:creationId xmlns:a16="http://schemas.microsoft.com/office/drawing/2014/main" id="{DBBB83D7-501A-2AA9-2200-72E31E368401}"/>
              </a:ext>
            </a:extLst>
          </p:cNvPr>
          <p:cNvSpPr/>
          <p:nvPr/>
        </p:nvSpPr>
        <p:spPr>
          <a:xfrm>
            <a:off x="1881930" y="1647887"/>
            <a:ext cx="447261" cy="450000"/>
          </a:xfrm>
          <a:prstGeom prst="ellipse">
            <a:avLst/>
          </a:prstGeom>
          <a:solidFill>
            <a:srgbClr val="001B00"/>
          </a:solidFill>
          <a:ln>
            <a:solidFill>
              <a:srgbClr val="FCF7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1</a:t>
            </a:r>
          </a:p>
        </p:txBody>
      </p:sp>
      <p:sp>
        <p:nvSpPr>
          <p:cNvPr id="33" name="Ellipse 32">
            <a:extLst>
              <a:ext uri="{FF2B5EF4-FFF2-40B4-BE49-F238E27FC236}">
                <a16:creationId xmlns:a16="http://schemas.microsoft.com/office/drawing/2014/main" id="{CB1D43FE-7FFE-980C-6BD8-DABBFB280B97}"/>
              </a:ext>
            </a:extLst>
          </p:cNvPr>
          <p:cNvSpPr/>
          <p:nvPr/>
        </p:nvSpPr>
        <p:spPr>
          <a:xfrm>
            <a:off x="4820754" y="1642278"/>
            <a:ext cx="447261" cy="450000"/>
          </a:xfrm>
          <a:prstGeom prst="ellipse">
            <a:avLst/>
          </a:prstGeom>
          <a:solidFill>
            <a:srgbClr val="001B00"/>
          </a:solidFill>
          <a:ln>
            <a:solidFill>
              <a:srgbClr val="FCF7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2</a:t>
            </a:r>
          </a:p>
        </p:txBody>
      </p:sp>
      <p:sp>
        <p:nvSpPr>
          <p:cNvPr id="34" name="Ellipse 33">
            <a:extLst>
              <a:ext uri="{FF2B5EF4-FFF2-40B4-BE49-F238E27FC236}">
                <a16:creationId xmlns:a16="http://schemas.microsoft.com/office/drawing/2014/main" id="{3CC4983A-0E99-382F-679C-FC98CE01D379}"/>
              </a:ext>
            </a:extLst>
          </p:cNvPr>
          <p:cNvSpPr/>
          <p:nvPr/>
        </p:nvSpPr>
        <p:spPr>
          <a:xfrm>
            <a:off x="7758316" y="1689283"/>
            <a:ext cx="447261" cy="450000"/>
          </a:xfrm>
          <a:prstGeom prst="ellipse">
            <a:avLst/>
          </a:prstGeom>
          <a:solidFill>
            <a:srgbClr val="001B00"/>
          </a:solidFill>
          <a:ln>
            <a:solidFill>
              <a:srgbClr val="FCF7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Jost Black" pitchFamily="2" charset="77"/>
                <a:ea typeface="Jost Black" pitchFamily="2" charset="77"/>
              </a:rPr>
              <a:t>3</a:t>
            </a:r>
          </a:p>
        </p:txBody>
      </p:sp>
    </p:spTree>
    <p:extLst>
      <p:ext uri="{BB962C8B-B14F-4D97-AF65-F5344CB8AC3E}">
        <p14:creationId xmlns:p14="http://schemas.microsoft.com/office/powerpoint/2010/main" val="1317124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 name="Image 86">
            <a:extLst>
              <a:ext uri="{FF2B5EF4-FFF2-40B4-BE49-F238E27FC236}">
                <a16:creationId xmlns:a16="http://schemas.microsoft.com/office/drawing/2014/main" id="{99EB3CCB-0C02-A2BA-AA47-DD6C0B988248}"/>
              </a:ext>
            </a:extLst>
          </p:cNvPr>
          <p:cNvPicPr>
            <a:picLocks noChangeAspect="1"/>
          </p:cNvPicPr>
          <p:nvPr/>
        </p:nvPicPr>
        <p:blipFill>
          <a:blip r:embed="rId2">
            <a:alphaModFix amt="5000"/>
          </a:blip>
          <a:srcRect l="6207" b="6232"/>
          <a:stretch>
            <a:fillRect/>
          </a:stretch>
        </p:blipFill>
        <p:spPr>
          <a:xfrm>
            <a:off x="1" y="0"/>
            <a:ext cx="12191999" cy="6859822"/>
          </a:xfrm>
          <a:prstGeom prst="rect">
            <a:avLst/>
          </a:prstGeom>
        </p:spPr>
      </p:pic>
      <p:sp>
        <p:nvSpPr>
          <p:cNvPr id="3" name="Text 9">
            <a:extLst>
              <a:ext uri="{FF2B5EF4-FFF2-40B4-BE49-F238E27FC236}">
                <a16:creationId xmlns:a16="http://schemas.microsoft.com/office/drawing/2014/main" id="{6C9E8B61-3C1D-3EDD-75E8-55FD938EDB4A}"/>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dirty="0">
                <a:solidFill>
                  <a:srgbClr val="A9853F"/>
                </a:solidFill>
                <a:latin typeface="Cormorant Garamond SemiBold" pitchFamily="2" charset="77"/>
                <a:ea typeface="Cormorant Garamond SemiBold" pitchFamily="2" charset="77"/>
                <a:cs typeface="Cormorant Garamond SemiBold" pitchFamily="2" charset="77"/>
              </a:rPr>
              <a:t>Générer</a:t>
            </a:r>
            <a:r>
              <a:rPr lang="fr-FR" b="1" noProof="0" dirty="0">
                <a:solidFill>
                  <a:srgbClr val="A9853F"/>
                </a:solidFill>
                <a:latin typeface="Cormorant Garamond SemiBold" pitchFamily="2" charset="77"/>
                <a:ea typeface="Cormorant Garamond SemiBold" pitchFamily="2" charset="77"/>
                <a:cs typeface="Cormorant Garamond SemiBold" pitchFamily="2" charset="77"/>
              </a:rPr>
              <a:t> des revenus supplémentaires</a:t>
            </a:r>
          </a:p>
        </p:txBody>
      </p:sp>
      <p:sp>
        <p:nvSpPr>
          <p:cNvPr id="4" name="Text 9">
            <a:extLst>
              <a:ext uri="{FF2B5EF4-FFF2-40B4-BE49-F238E27FC236}">
                <a16:creationId xmlns:a16="http://schemas.microsoft.com/office/drawing/2014/main" id="{66869521-FFA1-80D9-88F0-478296C3B94E}"/>
              </a:ext>
            </a:extLst>
          </p:cNvPr>
          <p:cNvSpPr/>
          <p:nvPr/>
        </p:nvSpPr>
        <p:spPr>
          <a:xfrm>
            <a:off x="947468" y="949911"/>
            <a:ext cx="4514867"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Constituez vous une rente grâce à votre capital</a:t>
            </a:r>
          </a:p>
        </p:txBody>
      </p:sp>
      <p:sp>
        <p:nvSpPr>
          <p:cNvPr id="5" name="Rectangle 4">
            <a:extLst>
              <a:ext uri="{FF2B5EF4-FFF2-40B4-BE49-F238E27FC236}">
                <a16:creationId xmlns:a16="http://schemas.microsoft.com/office/drawing/2014/main" id="{2F692D70-C60E-BD02-B522-56E0B9728042}"/>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Image 37">
            <a:extLst>
              <a:ext uri="{FF2B5EF4-FFF2-40B4-BE49-F238E27FC236}">
                <a16:creationId xmlns:a16="http://schemas.microsoft.com/office/drawing/2014/main" id="{20B63E8F-C1CB-18B7-DF90-96D45CCA971B}"/>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50" name="Rectangle : avec coins arrondis en haut 49">
            <a:extLst>
              <a:ext uri="{FF2B5EF4-FFF2-40B4-BE49-F238E27FC236}">
                <a16:creationId xmlns:a16="http://schemas.microsoft.com/office/drawing/2014/main" id="{AC18A86C-5D54-EB4B-E0A3-252A8B99CA87}"/>
              </a:ext>
            </a:extLst>
          </p:cNvPr>
          <p:cNvSpPr/>
          <p:nvPr/>
        </p:nvSpPr>
        <p:spPr>
          <a:xfrm>
            <a:off x="1414602" y="1506618"/>
            <a:ext cx="3580598"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Financier</a:t>
            </a:r>
          </a:p>
        </p:txBody>
      </p:sp>
      <p:sp>
        <p:nvSpPr>
          <p:cNvPr id="55" name="Rectangle 54">
            <a:extLst>
              <a:ext uri="{FF2B5EF4-FFF2-40B4-BE49-F238E27FC236}">
                <a16:creationId xmlns:a16="http://schemas.microsoft.com/office/drawing/2014/main" id="{2A2BAE2F-468E-EB03-CE45-8B8937118A21}"/>
              </a:ext>
            </a:extLst>
          </p:cNvPr>
          <p:cNvSpPr/>
          <p:nvPr/>
        </p:nvSpPr>
        <p:spPr>
          <a:xfrm>
            <a:off x="1414602" y="1957308"/>
            <a:ext cx="3580598" cy="1418610"/>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dirty="0"/>
          </a:p>
        </p:txBody>
      </p:sp>
      <p:sp>
        <p:nvSpPr>
          <p:cNvPr id="52" name="Ellipse 51">
            <a:extLst>
              <a:ext uri="{FF2B5EF4-FFF2-40B4-BE49-F238E27FC236}">
                <a16:creationId xmlns:a16="http://schemas.microsoft.com/office/drawing/2014/main" id="{EDC93B67-1DB2-3026-C10B-47CDD5155662}"/>
              </a:ext>
            </a:extLst>
          </p:cNvPr>
          <p:cNvSpPr/>
          <p:nvPr/>
        </p:nvSpPr>
        <p:spPr>
          <a:xfrm>
            <a:off x="2651448" y="2142036"/>
            <a:ext cx="1106905" cy="1049154"/>
          </a:xfrm>
          <a:prstGeom prst="ellipse">
            <a:avLst/>
          </a:prstGeom>
          <a:solidFill>
            <a:srgbClr val="E7DC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a:extLst>
              <a:ext uri="{FF2B5EF4-FFF2-40B4-BE49-F238E27FC236}">
                <a16:creationId xmlns:a16="http://schemas.microsoft.com/office/drawing/2014/main" id="{171833D3-71AA-18EA-AB01-72EFBBDF1BF6}"/>
              </a:ext>
            </a:extLst>
          </p:cNvPr>
          <p:cNvSpPr/>
          <p:nvPr/>
        </p:nvSpPr>
        <p:spPr>
          <a:xfrm>
            <a:off x="1414601" y="5116982"/>
            <a:ext cx="3580598" cy="55702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050" dirty="0">
                <a:solidFill>
                  <a:schemeClr val="bg1"/>
                </a:solidFill>
                <a:latin typeface="Jost Medium" pitchFamily="2" charset="77"/>
                <a:ea typeface="Jost Medium" pitchFamily="2" charset="77"/>
              </a:rPr>
              <a:t>Objectif de rente </a:t>
            </a:r>
            <a:r>
              <a:rPr lang="fr-FR" sz="1050" dirty="0" err="1">
                <a:solidFill>
                  <a:schemeClr val="bg1"/>
                </a:solidFill>
                <a:latin typeface="Jost Medium" pitchFamily="2" charset="77"/>
                <a:ea typeface="Jost Medium" pitchFamily="2" charset="77"/>
              </a:rPr>
              <a:t>p.a</a:t>
            </a:r>
            <a:r>
              <a:rPr lang="fr-FR" sz="1050" dirty="0">
                <a:solidFill>
                  <a:schemeClr val="bg1"/>
                </a:solidFill>
                <a:latin typeface="Jost Medium" pitchFamily="2" charset="77"/>
                <a:ea typeface="Jost Medium" pitchFamily="2" charset="77"/>
              </a:rPr>
              <a:t>. : 6% à 11%</a:t>
            </a:r>
          </a:p>
        </p:txBody>
      </p:sp>
      <p:sp>
        <p:nvSpPr>
          <p:cNvPr id="59" name="Rectangle 58">
            <a:extLst>
              <a:ext uri="{FF2B5EF4-FFF2-40B4-BE49-F238E27FC236}">
                <a16:creationId xmlns:a16="http://schemas.microsoft.com/office/drawing/2014/main" id="{D9FB766E-B664-FB18-6156-BFF47C59B160}"/>
              </a:ext>
            </a:extLst>
          </p:cNvPr>
          <p:cNvSpPr/>
          <p:nvPr/>
        </p:nvSpPr>
        <p:spPr>
          <a:xfrm>
            <a:off x="1414601" y="4067985"/>
            <a:ext cx="3580598" cy="943630"/>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rPr>
              <a:t>✓ Rendement conditionnel connu à l’avance</a:t>
            </a:r>
          </a:p>
          <a:p>
            <a:pPr algn="ctr"/>
            <a:endParaRPr lang="fr-FR" sz="900" dirty="0">
              <a:solidFill>
                <a:schemeClr val="tx1"/>
              </a:solidFill>
              <a:latin typeface="Jost Medium" pitchFamily="2" charset="77"/>
              <a:ea typeface="Jost Medium" pitchFamily="2" charset="77"/>
            </a:endParaRPr>
          </a:p>
          <a:p>
            <a:pPr algn="ctr"/>
            <a:r>
              <a:rPr lang="fr-FR" sz="900" dirty="0">
                <a:solidFill>
                  <a:schemeClr val="tx1"/>
                </a:solidFill>
                <a:latin typeface="Jost Medium" pitchFamily="2" charset="77"/>
                <a:ea typeface="Jost Medium" pitchFamily="2" charset="77"/>
              </a:rPr>
              <a:t>✓ Distribution périodique selon structuration</a:t>
            </a:r>
          </a:p>
          <a:p>
            <a:pPr algn="ctr"/>
            <a:endParaRPr lang="fr-FR" sz="900" dirty="0">
              <a:solidFill>
                <a:schemeClr val="tx1"/>
              </a:solidFill>
              <a:latin typeface="Jost Medium" pitchFamily="2" charset="77"/>
              <a:ea typeface="Jost Medium" pitchFamily="2" charset="77"/>
            </a:endParaRPr>
          </a:p>
          <a:p>
            <a:pPr algn="ctr"/>
            <a:r>
              <a:rPr lang="fr-FR" sz="900" dirty="0">
                <a:solidFill>
                  <a:schemeClr val="tx1"/>
                </a:solidFill>
                <a:latin typeface="Jost Medium" pitchFamily="2" charset="77"/>
                <a:ea typeface="Jost Medium" pitchFamily="2" charset="77"/>
              </a:rPr>
              <a:t>✓ Structuration sur-mesure selon votre profil de risque</a:t>
            </a:r>
          </a:p>
          <a:p>
            <a:pPr algn="ctr"/>
            <a:endParaRPr lang="fr-FR" sz="900" dirty="0">
              <a:solidFill>
                <a:schemeClr val="tx1"/>
              </a:solidFill>
              <a:latin typeface="Jost Medium" pitchFamily="2" charset="77"/>
              <a:ea typeface="Jost Medium" pitchFamily="2" charset="77"/>
            </a:endParaRPr>
          </a:p>
        </p:txBody>
      </p:sp>
      <p:pic>
        <p:nvPicPr>
          <p:cNvPr id="63" name="Image 62">
            <a:extLst>
              <a:ext uri="{FF2B5EF4-FFF2-40B4-BE49-F238E27FC236}">
                <a16:creationId xmlns:a16="http://schemas.microsoft.com/office/drawing/2014/main" id="{EF74DFAF-3BD0-8AB9-3F10-78C72AD01D80}"/>
              </a:ext>
            </a:extLst>
          </p:cNvPr>
          <p:cNvPicPr>
            <a:picLocks noChangeAspect="1"/>
          </p:cNvPicPr>
          <p:nvPr/>
        </p:nvPicPr>
        <p:blipFill>
          <a:blip r:embed="rId4"/>
          <a:stretch>
            <a:fillRect/>
          </a:stretch>
        </p:blipFill>
        <p:spPr>
          <a:xfrm>
            <a:off x="2847541" y="2277808"/>
            <a:ext cx="716785" cy="716785"/>
          </a:xfrm>
          <a:prstGeom prst="rect">
            <a:avLst/>
          </a:prstGeom>
        </p:spPr>
      </p:pic>
      <p:sp>
        <p:nvSpPr>
          <p:cNvPr id="64" name="Rectangle 63">
            <a:extLst>
              <a:ext uri="{FF2B5EF4-FFF2-40B4-BE49-F238E27FC236}">
                <a16:creationId xmlns:a16="http://schemas.microsoft.com/office/drawing/2014/main" id="{9EA219B8-A75B-90E1-E08C-0D7AF58C8C60}"/>
              </a:ext>
            </a:extLst>
          </p:cNvPr>
          <p:cNvSpPr/>
          <p:nvPr/>
        </p:nvSpPr>
        <p:spPr>
          <a:xfrm>
            <a:off x="1414601" y="3443438"/>
            <a:ext cx="3580598" cy="55702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050" dirty="0">
                <a:solidFill>
                  <a:schemeClr val="bg1"/>
                </a:solidFill>
                <a:latin typeface="Jost Medium" pitchFamily="2" charset="77"/>
                <a:ea typeface="Jost Medium" pitchFamily="2" charset="77"/>
              </a:rPr>
              <a:t>Produits structurés - solutions distributives</a:t>
            </a:r>
          </a:p>
        </p:txBody>
      </p:sp>
      <p:sp>
        <p:nvSpPr>
          <p:cNvPr id="65" name="Rectangle 64">
            <a:extLst>
              <a:ext uri="{FF2B5EF4-FFF2-40B4-BE49-F238E27FC236}">
                <a16:creationId xmlns:a16="http://schemas.microsoft.com/office/drawing/2014/main" id="{30122199-25FC-BCBE-D647-E08F529E4D94}"/>
              </a:ext>
            </a:extLst>
          </p:cNvPr>
          <p:cNvSpPr/>
          <p:nvPr/>
        </p:nvSpPr>
        <p:spPr>
          <a:xfrm>
            <a:off x="1414601" y="5779377"/>
            <a:ext cx="3580598" cy="499850"/>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i="1" dirty="0">
                <a:solidFill>
                  <a:schemeClr val="tx1"/>
                </a:solidFill>
                <a:latin typeface="Jost Light" pitchFamily="2" charset="77"/>
                <a:ea typeface="Jost Light" pitchFamily="2" charset="77"/>
              </a:rPr>
              <a:t>Exemple : avec un capital de 500 000 euros investis, une rente </a:t>
            </a:r>
          </a:p>
          <a:p>
            <a:pPr algn="ctr"/>
            <a:r>
              <a:rPr lang="fr-FR" sz="900" i="1" dirty="0">
                <a:solidFill>
                  <a:schemeClr val="tx1"/>
                </a:solidFill>
                <a:latin typeface="Jost Light" pitchFamily="2" charset="77"/>
                <a:ea typeface="Jost Light" pitchFamily="2" charset="77"/>
              </a:rPr>
              <a:t>mensuelle de 3 300 euros est envisageable.</a:t>
            </a:r>
          </a:p>
        </p:txBody>
      </p:sp>
      <p:sp>
        <p:nvSpPr>
          <p:cNvPr id="66" name="Rectangle : avec coins arrondis en haut 65">
            <a:extLst>
              <a:ext uri="{FF2B5EF4-FFF2-40B4-BE49-F238E27FC236}">
                <a16:creationId xmlns:a16="http://schemas.microsoft.com/office/drawing/2014/main" id="{C2325CFD-DFB5-2B5C-9AA2-CBABA7B72006}"/>
              </a:ext>
            </a:extLst>
          </p:cNvPr>
          <p:cNvSpPr/>
          <p:nvPr/>
        </p:nvSpPr>
        <p:spPr>
          <a:xfrm>
            <a:off x="7750254" y="1506618"/>
            <a:ext cx="3580598" cy="371138"/>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Immobilier</a:t>
            </a:r>
          </a:p>
        </p:txBody>
      </p:sp>
      <p:sp>
        <p:nvSpPr>
          <p:cNvPr id="67" name="Rectangle 66">
            <a:extLst>
              <a:ext uri="{FF2B5EF4-FFF2-40B4-BE49-F238E27FC236}">
                <a16:creationId xmlns:a16="http://schemas.microsoft.com/office/drawing/2014/main" id="{0D3CF1B6-6BF1-4D57-5A5F-7C22933C7251}"/>
              </a:ext>
            </a:extLst>
          </p:cNvPr>
          <p:cNvSpPr/>
          <p:nvPr/>
        </p:nvSpPr>
        <p:spPr>
          <a:xfrm>
            <a:off x="7750254" y="1957308"/>
            <a:ext cx="3580598" cy="1418610"/>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dirty="0"/>
          </a:p>
        </p:txBody>
      </p:sp>
      <p:sp>
        <p:nvSpPr>
          <p:cNvPr id="68" name="Ellipse 67">
            <a:extLst>
              <a:ext uri="{FF2B5EF4-FFF2-40B4-BE49-F238E27FC236}">
                <a16:creationId xmlns:a16="http://schemas.microsoft.com/office/drawing/2014/main" id="{B1B32124-4A78-54F6-53CC-515D65F96A00}"/>
              </a:ext>
            </a:extLst>
          </p:cNvPr>
          <p:cNvSpPr/>
          <p:nvPr/>
        </p:nvSpPr>
        <p:spPr>
          <a:xfrm>
            <a:off x="8987100" y="2142036"/>
            <a:ext cx="1106905" cy="1049154"/>
          </a:xfrm>
          <a:prstGeom prst="ellipse">
            <a:avLst/>
          </a:prstGeom>
          <a:solidFill>
            <a:srgbClr val="E7DC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84E5481C-0FF8-E3FC-EEAE-46E7A1A6B3FA}"/>
              </a:ext>
            </a:extLst>
          </p:cNvPr>
          <p:cNvSpPr/>
          <p:nvPr/>
        </p:nvSpPr>
        <p:spPr>
          <a:xfrm>
            <a:off x="7750253" y="5116982"/>
            <a:ext cx="3580598" cy="55702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050" dirty="0">
                <a:solidFill>
                  <a:schemeClr val="bg1"/>
                </a:solidFill>
                <a:latin typeface="Jost Medium" pitchFamily="2" charset="77"/>
                <a:ea typeface="Jost Medium" pitchFamily="2" charset="77"/>
              </a:rPr>
              <a:t>Objectif de rente </a:t>
            </a:r>
            <a:r>
              <a:rPr lang="fr-FR" sz="1050" dirty="0" err="1">
                <a:solidFill>
                  <a:schemeClr val="bg1"/>
                </a:solidFill>
                <a:latin typeface="Jost Medium" pitchFamily="2" charset="77"/>
                <a:ea typeface="Jost Medium" pitchFamily="2" charset="77"/>
              </a:rPr>
              <a:t>p.a</a:t>
            </a:r>
            <a:r>
              <a:rPr lang="fr-FR" sz="1050" dirty="0">
                <a:solidFill>
                  <a:schemeClr val="bg1"/>
                </a:solidFill>
                <a:latin typeface="Jost Medium" pitchFamily="2" charset="77"/>
                <a:ea typeface="Jost Medium" pitchFamily="2" charset="77"/>
              </a:rPr>
              <a:t>. : 5% à 8%</a:t>
            </a:r>
          </a:p>
        </p:txBody>
      </p:sp>
      <p:sp>
        <p:nvSpPr>
          <p:cNvPr id="70" name="Rectangle 69">
            <a:extLst>
              <a:ext uri="{FF2B5EF4-FFF2-40B4-BE49-F238E27FC236}">
                <a16:creationId xmlns:a16="http://schemas.microsoft.com/office/drawing/2014/main" id="{58AD0EEC-C79F-7922-F72A-AA035AFA27EC}"/>
              </a:ext>
            </a:extLst>
          </p:cNvPr>
          <p:cNvSpPr/>
          <p:nvPr/>
        </p:nvSpPr>
        <p:spPr>
          <a:xfrm>
            <a:off x="7750253" y="4067985"/>
            <a:ext cx="3580598" cy="943630"/>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rPr>
              <a:t>✓ Accès à l’immobilier mutualisé</a:t>
            </a:r>
          </a:p>
          <a:p>
            <a:pPr algn="ctr"/>
            <a:endParaRPr lang="fr-FR" sz="900" dirty="0">
              <a:solidFill>
                <a:schemeClr val="tx1"/>
              </a:solidFill>
              <a:latin typeface="Jost Medium" pitchFamily="2" charset="77"/>
              <a:ea typeface="Jost Medium" pitchFamily="2" charset="77"/>
            </a:endParaRPr>
          </a:p>
          <a:p>
            <a:pPr algn="ctr"/>
            <a:r>
              <a:rPr lang="fr-FR" sz="900" dirty="0">
                <a:solidFill>
                  <a:schemeClr val="tx1"/>
                </a:solidFill>
                <a:latin typeface="Jost Medium" pitchFamily="2" charset="77"/>
                <a:ea typeface="Jost Medium" pitchFamily="2" charset="77"/>
              </a:rPr>
              <a:t>✓ Revenus potentiels réguliers</a:t>
            </a:r>
          </a:p>
          <a:p>
            <a:pPr algn="ctr"/>
            <a:endParaRPr lang="fr-FR" sz="900" dirty="0">
              <a:solidFill>
                <a:schemeClr val="tx1"/>
              </a:solidFill>
              <a:latin typeface="Jost Medium" pitchFamily="2" charset="77"/>
              <a:ea typeface="Jost Medium" pitchFamily="2" charset="77"/>
            </a:endParaRPr>
          </a:p>
          <a:p>
            <a:pPr algn="ctr"/>
            <a:r>
              <a:rPr lang="fr-FR" sz="900" dirty="0">
                <a:solidFill>
                  <a:schemeClr val="tx1"/>
                </a:solidFill>
                <a:latin typeface="Jost Medium" pitchFamily="2" charset="77"/>
                <a:ea typeface="Jost Medium" pitchFamily="2" charset="77"/>
              </a:rPr>
              <a:t>✓ Gestion déléguée aux meilleures sociétés de gestion</a:t>
            </a:r>
          </a:p>
          <a:p>
            <a:pPr algn="ctr"/>
            <a:endParaRPr lang="fr-FR" sz="900" dirty="0">
              <a:solidFill>
                <a:schemeClr val="tx1"/>
              </a:solidFill>
              <a:latin typeface="Jost Medium" pitchFamily="2" charset="77"/>
              <a:ea typeface="Jost Medium" pitchFamily="2" charset="77"/>
            </a:endParaRPr>
          </a:p>
        </p:txBody>
      </p:sp>
      <p:sp>
        <p:nvSpPr>
          <p:cNvPr id="72" name="Rectangle 71">
            <a:extLst>
              <a:ext uri="{FF2B5EF4-FFF2-40B4-BE49-F238E27FC236}">
                <a16:creationId xmlns:a16="http://schemas.microsoft.com/office/drawing/2014/main" id="{D9E316B6-F9AB-D071-EFE5-4B8024FDDE2C}"/>
              </a:ext>
            </a:extLst>
          </p:cNvPr>
          <p:cNvSpPr/>
          <p:nvPr/>
        </p:nvSpPr>
        <p:spPr>
          <a:xfrm>
            <a:off x="7750253" y="3443438"/>
            <a:ext cx="3580598" cy="557028"/>
          </a:xfrm>
          <a:prstGeom prst="rect">
            <a:avLst/>
          </a:prstGeom>
          <a:solidFill>
            <a:srgbClr val="AA853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050" dirty="0">
                <a:solidFill>
                  <a:schemeClr val="bg1"/>
                </a:solidFill>
                <a:latin typeface="Jost Medium" pitchFamily="2" charset="77"/>
                <a:ea typeface="Jost Medium" pitchFamily="2" charset="77"/>
              </a:rPr>
              <a:t>SCPI - fonds immobiliers distributifs</a:t>
            </a:r>
          </a:p>
        </p:txBody>
      </p:sp>
      <p:sp>
        <p:nvSpPr>
          <p:cNvPr id="73" name="Rectangle 72">
            <a:extLst>
              <a:ext uri="{FF2B5EF4-FFF2-40B4-BE49-F238E27FC236}">
                <a16:creationId xmlns:a16="http://schemas.microsoft.com/office/drawing/2014/main" id="{861F395A-02ED-5256-47C8-07699AFDDC4F}"/>
              </a:ext>
            </a:extLst>
          </p:cNvPr>
          <p:cNvSpPr/>
          <p:nvPr/>
        </p:nvSpPr>
        <p:spPr>
          <a:xfrm>
            <a:off x="7750253" y="5779377"/>
            <a:ext cx="3580598" cy="499850"/>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i="1" dirty="0">
                <a:solidFill>
                  <a:schemeClr val="tx1"/>
                </a:solidFill>
                <a:latin typeface="Jost Light" pitchFamily="2" charset="77"/>
                <a:ea typeface="Jost Light" pitchFamily="2" charset="77"/>
              </a:rPr>
              <a:t>Exemple : avec un capital de 500 000 euros investis, une rente </a:t>
            </a:r>
          </a:p>
          <a:p>
            <a:pPr algn="ctr"/>
            <a:r>
              <a:rPr lang="fr-FR" sz="900" i="1" dirty="0">
                <a:solidFill>
                  <a:schemeClr val="tx1"/>
                </a:solidFill>
                <a:latin typeface="Jost Light" pitchFamily="2" charset="77"/>
                <a:ea typeface="Jost Light" pitchFamily="2" charset="77"/>
              </a:rPr>
              <a:t>mensuelle de 2 800 euros est envisageable.</a:t>
            </a:r>
          </a:p>
        </p:txBody>
      </p:sp>
      <p:pic>
        <p:nvPicPr>
          <p:cNvPr id="75" name="Image 74">
            <a:extLst>
              <a:ext uri="{FF2B5EF4-FFF2-40B4-BE49-F238E27FC236}">
                <a16:creationId xmlns:a16="http://schemas.microsoft.com/office/drawing/2014/main" id="{64326FFB-BDD2-38EB-CD4E-ECAAE99B897A}"/>
              </a:ext>
            </a:extLst>
          </p:cNvPr>
          <p:cNvPicPr>
            <a:picLocks noChangeAspect="1"/>
          </p:cNvPicPr>
          <p:nvPr/>
        </p:nvPicPr>
        <p:blipFill>
          <a:blip r:embed="rId5"/>
          <a:stretch>
            <a:fillRect/>
          </a:stretch>
        </p:blipFill>
        <p:spPr>
          <a:xfrm>
            <a:off x="9114172" y="2240233"/>
            <a:ext cx="852760" cy="852760"/>
          </a:xfrm>
          <a:prstGeom prst="rect">
            <a:avLst/>
          </a:prstGeom>
        </p:spPr>
      </p:pic>
      <p:sp>
        <p:nvSpPr>
          <p:cNvPr id="76" name="Rectangle : avec coins arrondis en haut 75">
            <a:extLst>
              <a:ext uri="{FF2B5EF4-FFF2-40B4-BE49-F238E27FC236}">
                <a16:creationId xmlns:a16="http://schemas.microsoft.com/office/drawing/2014/main" id="{EA9323A6-5C40-0F30-8045-0E8AC450FE5F}"/>
              </a:ext>
            </a:extLst>
          </p:cNvPr>
          <p:cNvSpPr/>
          <p:nvPr/>
        </p:nvSpPr>
        <p:spPr>
          <a:xfrm>
            <a:off x="5462335" y="2240232"/>
            <a:ext cx="1880107" cy="2785309"/>
          </a:xfrm>
          <a:prstGeom prst="round2SameRect">
            <a:avLst>
              <a:gd name="adj1" fmla="val 50000"/>
              <a:gd name="adj2" fmla="val 0"/>
            </a:avLst>
          </a:prstGeom>
          <a:solidFill>
            <a:srgbClr val="FCF9EF"/>
          </a:solidFill>
          <a:ln>
            <a:solidFill>
              <a:srgbClr val="AA853F"/>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sz="1200" b="1" dirty="0">
              <a:latin typeface="Jost Black" pitchFamily="2" charset="77"/>
              <a:ea typeface="Jost Black" pitchFamily="2" charset="77"/>
            </a:endParaRPr>
          </a:p>
        </p:txBody>
      </p:sp>
      <p:sp>
        <p:nvSpPr>
          <p:cNvPr id="77" name="Ellipse 76">
            <a:extLst>
              <a:ext uri="{FF2B5EF4-FFF2-40B4-BE49-F238E27FC236}">
                <a16:creationId xmlns:a16="http://schemas.microsoft.com/office/drawing/2014/main" id="{3A937318-8C37-F348-2D80-3C5C647AD9CB}"/>
              </a:ext>
            </a:extLst>
          </p:cNvPr>
          <p:cNvSpPr/>
          <p:nvPr/>
        </p:nvSpPr>
        <p:spPr>
          <a:xfrm>
            <a:off x="5997205" y="2532430"/>
            <a:ext cx="810366" cy="810000"/>
          </a:xfrm>
          <a:prstGeom prst="ellipse">
            <a:avLst/>
          </a:prstGeom>
          <a:solidFill>
            <a:srgbClr val="E7DC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79" name="Connecteur droit 78">
            <a:extLst>
              <a:ext uri="{FF2B5EF4-FFF2-40B4-BE49-F238E27FC236}">
                <a16:creationId xmlns:a16="http://schemas.microsoft.com/office/drawing/2014/main" id="{9DBA0BA6-0057-9882-EEDA-B41635A6177A}"/>
              </a:ext>
            </a:extLst>
          </p:cNvPr>
          <p:cNvCxnSpPr>
            <a:cxnSpLocks/>
            <a:stCxn id="64" idx="3"/>
          </p:cNvCxnSpPr>
          <p:nvPr/>
        </p:nvCxnSpPr>
        <p:spPr>
          <a:xfrm>
            <a:off x="4995199" y="3721952"/>
            <a:ext cx="467136" cy="0"/>
          </a:xfrm>
          <a:prstGeom prst="line">
            <a:avLst/>
          </a:prstGeom>
          <a:ln w="12700">
            <a:solidFill>
              <a:srgbClr val="AA853F"/>
            </a:solidFill>
          </a:ln>
        </p:spPr>
        <p:style>
          <a:lnRef idx="1">
            <a:schemeClr val="accent1"/>
          </a:lnRef>
          <a:fillRef idx="0">
            <a:schemeClr val="accent1"/>
          </a:fillRef>
          <a:effectRef idx="0">
            <a:schemeClr val="accent1"/>
          </a:effectRef>
          <a:fontRef idx="minor">
            <a:schemeClr val="tx1"/>
          </a:fontRef>
        </p:style>
      </p:cxnSp>
      <p:cxnSp>
        <p:nvCxnSpPr>
          <p:cNvPr id="81" name="Connecteur droit 80">
            <a:extLst>
              <a:ext uri="{FF2B5EF4-FFF2-40B4-BE49-F238E27FC236}">
                <a16:creationId xmlns:a16="http://schemas.microsoft.com/office/drawing/2014/main" id="{9310D655-6A20-005C-EE91-0E1DAE69B836}"/>
              </a:ext>
            </a:extLst>
          </p:cNvPr>
          <p:cNvCxnSpPr>
            <a:cxnSpLocks/>
          </p:cNvCxnSpPr>
          <p:nvPr/>
        </p:nvCxnSpPr>
        <p:spPr>
          <a:xfrm flipV="1">
            <a:off x="7342442" y="3699092"/>
            <a:ext cx="407811" cy="3442"/>
          </a:xfrm>
          <a:prstGeom prst="line">
            <a:avLst/>
          </a:prstGeom>
          <a:ln w="12700">
            <a:solidFill>
              <a:srgbClr val="AA853F"/>
            </a:solidFill>
          </a:ln>
        </p:spPr>
        <p:style>
          <a:lnRef idx="1">
            <a:schemeClr val="accent1"/>
          </a:lnRef>
          <a:fillRef idx="0">
            <a:schemeClr val="accent1"/>
          </a:fillRef>
          <a:effectRef idx="0">
            <a:schemeClr val="accent1"/>
          </a:effectRef>
          <a:fontRef idx="minor">
            <a:schemeClr val="tx1"/>
          </a:fontRef>
        </p:style>
      </p:cxnSp>
      <p:sp>
        <p:nvSpPr>
          <p:cNvPr id="82" name="Ellipse 81">
            <a:extLst>
              <a:ext uri="{FF2B5EF4-FFF2-40B4-BE49-F238E27FC236}">
                <a16:creationId xmlns:a16="http://schemas.microsoft.com/office/drawing/2014/main" id="{E51DCDB2-B2FF-BC0E-99F9-ABF62DD37FA3}"/>
              </a:ext>
            </a:extLst>
          </p:cNvPr>
          <p:cNvSpPr/>
          <p:nvPr/>
        </p:nvSpPr>
        <p:spPr>
          <a:xfrm>
            <a:off x="5203372" y="3699092"/>
            <a:ext cx="45719" cy="45719"/>
          </a:xfrm>
          <a:prstGeom prst="ellipse">
            <a:avLst/>
          </a:prstGeom>
          <a:solidFill>
            <a:srgbClr val="AA853F"/>
          </a:solidFill>
          <a:ln>
            <a:solidFill>
              <a:srgbClr val="AA8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Ellipse 82">
            <a:extLst>
              <a:ext uri="{FF2B5EF4-FFF2-40B4-BE49-F238E27FC236}">
                <a16:creationId xmlns:a16="http://schemas.microsoft.com/office/drawing/2014/main" id="{F3BA9FD5-89A1-B2AB-DCEF-06598963A027}"/>
              </a:ext>
            </a:extLst>
          </p:cNvPr>
          <p:cNvSpPr/>
          <p:nvPr/>
        </p:nvSpPr>
        <p:spPr>
          <a:xfrm>
            <a:off x="7523488" y="3676233"/>
            <a:ext cx="45719" cy="45719"/>
          </a:xfrm>
          <a:prstGeom prst="ellipse">
            <a:avLst/>
          </a:prstGeom>
          <a:solidFill>
            <a:srgbClr val="AA853F"/>
          </a:solidFill>
          <a:ln>
            <a:solidFill>
              <a:srgbClr val="AA8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5" name="Image 84">
            <a:extLst>
              <a:ext uri="{FF2B5EF4-FFF2-40B4-BE49-F238E27FC236}">
                <a16:creationId xmlns:a16="http://schemas.microsoft.com/office/drawing/2014/main" id="{8FFAD667-394C-BE18-4D1C-2277CF50973F}"/>
              </a:ext>
            </a:extLst>
          </p:cNvPr>
          <p:cNvPicPr>
            <a:picLocks noChangeAspect="1"/>
          </p:cNvPicPr>
          <p:nvPr/>
        </p:nvPicPr>
        <p:blipFill>
          <a:blip r:embed="rId6"/>
          <a:stretch>
            <a:fillRect/>
          </a:stretch>
        </p:blipFill>
        <p:spPr>
          <a:xfrm>
            <a:off x="6125661" y="2666613"/>
            <a:ext cx="553453" cy="508601"/>
          </a:xfrm>
          <a:prstGeom prst="rect">
            <a:avLst/>
          </a:prstGeom>
        </p:spPr>
      </p:pic>
      <p:sp>
        <p:nvSpPr>
          <p:cNvPr id="86" name="ZoneTexte 85">
            <a:extLst>
              <a:ext uri="{FF2B5EF4-FFF2-40B4-BE49-F238E27FC236}">
                <a16:creationId xmlns:a16="http://schemas.microsoft.com/office/drawing/2014/main" id="{E59ACB97-56DF-6E7D-3596-0072C69EDCCD}"/>
              </a:ext>
            </a:extLst>
          </p:cNvPr>
          <p:cNvSpPr txBox="1"/>
          <p:nvPr/>
        </p:nvSpPr>
        <p:spPr>
          <a:xfrm>
            <a:off x="5769679" y="3482910"/>
            <a:ext cx="1260034" cy="246221"/>
          </a:xfrm>
          <a:prstGeom prst="rect">
            <a:avLst/>
          </a:prstGeom>
          <a:noFill/>
        </p:spPr>
        <p:txBody>
          <a:bodyPr wrap="square" rtlCol="0">
            <a:spAutoFit/>
          </a:bodyPr>
          <a:lstStyle/>
          <a:p>
            <a:pPr algn="ctr"/>
            <a:r>
              <a:rPr lang="fr-FR" sz="1000" dirty="0">
                <a:latin typeface="Jost Medium" pitchFamily="2" charset="77"/>
                <a:ea typeface="Jost Medium" pitchFamily="2" charset="77"/>
              </a:rPr>
              <a:t>Complémentarité</a:t>
            </a:r>
          </a:p>
        </p:txBody>
      </p:sp>
      <p:sp>
        <p:nvSpPr>
          <p:cNvPr id="88" name="ZoneTexte 87">
            <a:extLst>
              <a:ext uri="{FF2B5EF4-FFF2-40B4-BE49-F238E27FC236}">
                <a16:creationId xmlns:a16="http://schemas.microsoft.com/office/drawing/2014/main" id="{A93CE53C-A3EE-4F5A-FA30-9D3AF8A6EF65}"/>
              </a:ext>
            </a:extLst>
          </p:cNvPr>
          <p:cNvSpPr txBox="1"/>
          <p:nvPr/>
        </p:nvSpPr>
        <p:spPr>
          <a:xfrm>
            <a:off x="5462336" y="3901927"/>
            <a:ext cx="1880106" cy="784830"/>
          </a:xfrm>
          <a:prstGeom prst="rect">
            <a:avLst/>
          </a:prstGeom>
          <a:noFill/>
        </p:spPr>
        <p:txBody>
          <a:bodyPr wrap="square" rtlCol="0">
            <a:spAutoFit/>
          </a:bodyPr>
          <a:lstStyle/>
          <a:p>
            <a:pPr algn="ctr"/>
            <a:r>
              <a:rPr lang="fr-FR" sz="900" dirty="0">
                <a:latin typeface="Jost Medium" pitchFamily="2" charset="77"/>
                <a:ea typeface="Jost Medium" pitchFamily="2" charset="77"/>
              </a:rPr>
              <a:t>✓ Diversification</a:t>
            </a:r>
          </a:p>
          <a:p>
            <a:pPr algn="ctr"/>
            <a:endParaRPr lang="fr-FR" sz="900" dirty="0">
              <a:latin typeface="Jost Medium" pitchFamily="2" charset="77"/>
              <a:ea typeface="Jost Medium" pitchFamily="2" charset="77"/>
            </a:endParaRPr>
          </a:p>
          <a:p>
            <a:pPr algn="ctr"/>
            <a:r>
              <a:rPr lang="fr-FR" sz="900" dirty="0">
                <a:latin typeface="Jost Medium" pitchFamily="2" charset="77"/>
                <a:ea typeface="Jost Medium" pitchFamily="2" charset="77"/>
              </a:rPr>
              <a:t>✓ Rente mensuelle ou trimestrielle</a:t>
            </a:r>
          </a:p>
          <a:p>
            <a:pPr algn="ctr"/>
            <a:endParaRPr lang="fr-FR" sz="900" dirty="0">
              <a:latin typeface="Jost Medium" pitchFamily="2" charset="77"/>
              <a:ea typeface="Jost Medium" pitchFamily="2" charset="77"/>
            </a:endParaRPr>
          </a:p>
          <a:p>
            <a:pPr algn="ctr"/>
            <a:r>
              <a:rPr lang="fr-FR" sz="900" dirty="0">
                <a:latin typeface="Jost Medium" pitchFamily="2" charset="77"/>
                <a:ea typeface="Jost Medium" pitchFamily="2" charset="77"/>
              </a:rPr>
              <a:t>✓ Capital protégé</a:t>
            </a:r>
          </a:p>
        </p:txBody>
      </p:sp>
    </p:spTree>
    <p:extLst>
      <p:ext uri="{BB962C8B-B14F-4D97-AF65-F5344CB8AC3E}">
        <p14:creationId xmlns:p14="http://schemas.microsoft.com/office/powerpoint/2010/main" val="3028052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AB995-8693-0F2A-9D4D-565318B793F7}"/>
            </a:ext>
          </a:extLst>
        </p:cNvPr>
        <p:cNvGrpSpPr/>
        <p:nvPr/>
      </p:nvGrpSpPr>
      <p:grpSpPr>
        <a:xfrm>
          <a:off x="0" y="0"/>
          <a:ext cx="0" cy="0"/>
          <a:chOff x="0" y="0"/>
          <a:chExt cx="0" cy="0"/>
        </a:xfrm>
      </p:grpSpPr>
      <p:pic>
        <p:nvPicPr>
          <p:cNvPr id="32" name="Image 31">
            <a:extLst>
              <a:ext uri="{FF2B5EF4-FFF2-40B4-BE49-F238E27FC236}">
                <a16:creationId xmlns:a16="http://schemas.microsoft.com/office/drawing/2014/main" id="{9AF32F82-6469-1DA9-4F08-FE75EA94FB1E}"/>
              </a:ext>
            </a:extLst>
          </p:cNvPr>
          <p:cNvPicPr>
            <a:picLocks noChangeAspect="1"/>
          </p:cNvPicPr>
          <p:nvPr/>
        </p:nvPicPr>
        <p:blipFill>
          <a:blip r:embed="rId2">
            <a:alphaModFix amt="5000"/>
          </a:blip>
          <a:srcRect l="6207" b="6232"/>
          <a:stretch>
            <a:fillRect/>
          </a:stretch>
        </p:blipFill>
        <p:spPr>
          <a:xfrm>
            <a:off x="1" y="0"/>
            <a:ext cx="12191999" cy="6859822"/>
          </a:xfrm>
          <a:prstGeom prst="rect">
            <a:avLst/>
          </a:prstGeom>
        </p:spPr>
      </p:pic>
      <p:sp>
        <p:nvSpPr>
          <p:cNvPr id="3" name="Text 9">
            <a:extLst>
              <a:ext uri="{FF2B5EF4-FFF2-40B4-BE49-F238E27FC236}">
                <a16:creationId xmlns:a16="http://schemas.microsoft.com/office/drawing/2014/main" id="{A8E4EBB6-6D54-0D63-012F-A0A1A0A8A758}"/>
              </a:ext>
            </a:extLst>
          </p:cNvPr>
          <p:cNvSpPr/>
          <p:nvPr/>
        </p:nvSpPr>
        <p:spPr>
          <a:xfrm>
            <a:off x="947468" y="578773"/>
            <a:ext cx="4514867" cy="371138"/>
          </a:xfrm>
          <a:prstGeom prst="rect">
            <a:avLst/>
          </a:prstGeom>
          <a:noFill/>
          <a:ln/>
        </p:spPr>
        <p:txBody>
          <a:bodyPr wrap="square" lIns="0" tIns="0" rIns="0" bIns="0" rtlCol="0" anchor="t">
            <a:normAutofit/>
          </a:bodyPr>
          <a:lstStyle/>
          <a:p>
            <a:r>
              <a:rPr lang="fr-FR" b="1" dirty="0">
                <a:solidFill>
                  <a:srgbClr val="A9853F"/>
                </a:solidFill>
                <a:latin typeface="Cormorant Garamond SemiBold" pitchFamily="2" charset="77"/>
                <a:ea typeface="Cormorant Garamond SemiBold" pitchFamily="2" charset="77"/>
                <a:cs typeface="Cormorant Garamond SemiBold" pitchFamily="2" charset="77"/>
              </a:rPr>
              <a:t>La capitalisation dans le temps</a:t>
            </a:r>
            <a:endParaRPr lang="fr-FR" b="1" noProof="0" dirty="0">
              <a:solidFill>
                <a:srgbClr val="A9853F"/>
              </a:solidFill>
              <a:latin typeface="Cormorant Garamond SemiBold" pitchFamily="2" charset="77"/>
              <a:ea typeface="Cormorant Garamond SemiBold" pitchFamily="2" charset="77"/>
              <a:cs typeface="Cormorant Garamond SemiBold" pitchFamily="2" charset="77"/>
            </a:endParaRPr>
          </a:p>
        </p:txBody>
      </p:sp>
      <p:sp>
        <p:nvSpPr>
          <p:cNvPr id="4" name="Text 9">
            <a:extLst>
              <a:ext uri="{FF2B5EF4-FFF2-40B4-BE49-F238E27FC236}">
                <a16:creationId xmlns:a16="http://schemas.microsoft.com/office/drawing/2014/main" id="{7310C0EA-4ED1-F954-4018-C88E6EC77606}"/>
              </a:ext>
            </a:extLst>
          </p:cNvPr>
          <p:cNvSpPr/>
          <p:nvPr/>
        </p:nvSpPr>
        <p:spPr>
          <a:xfrm>
            <a:off x="947468" y="949911"/>
            <a:ext cx="4514867" cy="371138"/>
          </a:xfrm>
          <a:prstGeom prst="rect">
            <a:avLst/>
          </a:prstGeom>
          <a:noFill/>
          <a:ln/>
        </p:spPr>
        <p:txBody>
          <a:bodyPr wrap="square" lIns="0" tIns="0" rIns="0" bIns="0" rtlCol="0" anchor="t">
            <a:normAutofit/>
          </a:bodyPr>
          <a:lstStyle/>
          <a:p>
            <a:r>
              <a:rPr lang="fr-FR" sz="1200" dirty="0">
                <a:solidFill>
                  <a:srgbClr val="073527"/>
                </a:solidFill>
                <a:latin typeface="Jost Medium" pitchFamily="2" charset="77"/>
                <a:ea typeface="Jost Medium" pitchFamily="2" charset="77"/>
                <a:cs typeface="Futura Medium" panose="020B0602020204020303" pitchFamily="34" charset="-79"/>
              </a:rPr>
              <a:t>Les intérêts composés comme moteurs de croissance</a:t>
            </a:r>
            <a:endParaRPr lang="fr-FR" sz="1200" noProof="0" dirty="0">
              <a:solidFill>
                <a:srgbClr val="073527"/>
              </a:solidFill>
              <a:highlight>
                <a:srgbClr val="FFFF00"/>
              </a:highlight>
              <a:latin typeface="Jost Medium" pitchFamily="2" charset="77"/>
              <a:ea typeface="Jost Medium" pitchFamily="2" charset="77"/>
              <a:cs typeface="Futura Medium" panose="020B0602020204020303" pitchFamily="34" charset="-79"/>
            </a:endParaRPr>
          </a:p>
        </p:txBody>
      </p:sp>
      <p:sp>
        <p:nvSpPr>
          <p:cNvPr id="5" name="Rectangle 4">
            <a:extLst>
              <a:ext uri="{FF2B5EF4-FFF2-40B4-BE49-F238E27FC236}">
                <a16:creationId xmlns:a16="http://schemas.microsoft.com/office/drawing/2014/main" id="{99F95736-BE29-A410-704B-952F8A96BAE8}"/>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Image 37">
            <a:extLst>
              <a:ext uri="{FF2B5EF4-FFF2-40B4-BE49-F238E27FC236}">
                <a16:creationId xmlns:a16="http://schemas.microsoft.com/office/drawing/2014/main" id="{91FE2BA4-942B-46E9-4ED1-3DD2BE3988E0}"/>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2" name="Rectangle : avec coins arrondis en haut 1">
            <a:extLst>
              <a:ext uri="{FF2B5EF4-FFF2-40B4-BE49-F238E27FC236}">
                <a16:creationId xmlns:a16="http://schemas.microsoft.com/office/drawing/2014/main" id="{30B87E3D-6C4A-8C6A-4ACE-1B10BF3933B2}"/>
              </a:ext>
            </a:extLst>
          </p:cNvPr>
          <p:cNvSpPr/>
          <p:nvPr/>
        </p:nvSpPr>
        <p:spPr>
          <a:xfrm>
            <a:off x="1705042" y="1511491"/>
            <a:ext cx="3580598" cy="371138"/>
          </a:xfrm>
          <a:prstGeom prst="round2SameRect">
            <a:avLst>
              <a:gd name="adj1" fmla="val 50000"/>
              <a:gd name="adj2" fmla="val 0"/>
            </a:avLst>
          </a:prstGeom>
          <a:solidFill>
            <a:srgbClr val="001B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Le principe</a:t>
            </a:r>
          </a:p>
        </p:txBody>
      </p:sp>
      <p:sp>
        <p:nvSpPr>
          <p:cNvPr id="13" name="Rectangle 12">
            <a:extLst>
              <a:ext uri="{FF2B5EF4-FFF2-40B4-BE49-F238E27FC236}">
                <a16:creationId xmlns:a16="http://schemas.microsoft.com/office/drawing/2014/main" id="{21AA9864-53EA-5424-3A71-5C51C0911963}"/>
              </a:ext>
            </a:extLst>
          </p:cNvPr>
          <p:cNvSpPr/>
          <p:nvPr/>
        </p:nvSpPr>
        <p:spPr>
          <a:xfrm>
            <a:off x="1705042" y="1948000"/>
            <a:ext cx="3580598" cy="499850"/>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rPr>
              <a:t>✓ Réinvestir les flux</a:t>
            </a:r>
          </a:p>
          <a:p>
            <a:pPr algn="ctr"/>
            <a:r>
              <a:rPr lang="fr-FR" sz="900" dirty="0">
                <a:solidFill>
                  <a:schemeClr val="tx1"/>
                </a:solidFill>
                <a:latin typeface="Jost Light" pitchFamily="2" charset="77"/>
                <a:ea typeface="Jost Light" pitchFamily="2" charset="77"/>
              </a:rPr>
              <a:t>plutôt que de les consommer</a:t>
            </a:r>
          </a:p>
        </p:txBody>
      </p:sp>
      <p:sp>
        <p:nvSpPr>
          <p:cNvPr id="14" name="Rectangle 13">
            <a:extLst>
              <a:ext uri="{FF2B5EF4-FFF2-40B4-BE49-F238E27FC236}">
                <a16:creationId xmlns:a16="http://schemas.microsoft.com/office/drawing/2014/main" id="{5DE0F9D8-22C2-E747-6C87-EA588A295523}"/>
              </a:ext>
            </a:extLst>
          </p:cNvPr>
          <p:cNvSpPr/>
          <p:nvPr/>
        </p:nvSpPr>
        <p:spPr>
          <a:xfrm>
            <a:off x="1705042" y="2513221"/>
            <a:ext cx="3580598" cy="499850"/>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rPr>
              <a:t>✓ Laisser le temps</a:t>
            </a:r>
          </a:p>
          <a:p>
            <a:pPr algn="ctr"/>
            <a:r>
              <a:rPr lang="fr-FR" sz="900" dirty="0">
                <a:solidFill>
                  <a:schemeClr val="tx1"/>
                </a:solidFill>
                <a:latin typeface="Jost Light" pitchFamily="2" charset="77"/>
                <a:ea typeface="Jost Light" pitchFamily="2" charset="77"/>
              </a:rPr>
              <a:t>Amplifier l’effet « boule de neige »</a:t>
            </a:r>
          </a:p>
        </p:txBody>
      </p:sp>
      <p:sp>
        <p:nvSpPr>
          <p:cNvPr id="15" name="Rectangle 14">
            <a:extLst>
              <a:ext uri="{FF2B5EF4-FFF2-40B4-BE49-F238E27FC236}">
                <a16:creationId xmlns:a16="http://schemas.microsoft.com/office/drawing/2014/main" id="{C73FBD56-CED3-3065-ECE0-EC95E95331A2}"/>
              </a:ext>
            </a:extLst>
          </p:cNvPr>
          <p:cNvSpPr/>
          <p:nvPr/>
        </p:nvSpPr>
        <p:spPr>
          <a:xfrm>
            <a:off x="1705042" y="3078442"/>
            <a:ext cx="3580598" cy="499850"/>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rPr>
              <a:t>✓ Diversifier les moteurs</a:t>
            </a:r>
          </a:p>
          <a:p>
            <a:pPr algn="ctr"/>
            <a:r>
              <a:rPr lang="fr-FR" sz="900" dirty="0">
                <a:solidFill>
                  <a:schemeClr val="tx1"/>
                </a:solidFill>
                <a:latin typeface="Jost Light" pitchFamily="2" charset="77"/>
                <a:ea typeface="Jost Light" pitchFamily="2" charset="77"/>
              </a:rPr>
              <a:t>De croissance afin de mieux valoriser</a:t>
            </a:r>
          </a:p>
        </p:txBody>
      </p:sp>
      <p:graphicFrame>
        <p:nvGraphicFramePr>
          <p:cNvPr id="17" name="Graphique 16">
            <a:extLst>
              <a:ext uri="{FF2B5EF4-FFF2-40B4-BE49-F238E27FC236}">
                <a16:creationId xmlns:a16="http://schemas.microsoft.com/office/drawing/2014/main" id="{8E4BC326-D20A-70C9-E954-995E23C24E08}"/>
              </a:ext>
            </a:extLst>
          </p:cNvPr>
          <p:cNvGraphicFramePr>
            <a:graphicFrameLocks/>
          </p:cNvGraphicFramePr>
          <p:nvPr>
            <p:extLst>
              <p:ext uri="{D42A27DB-BD31-4B8C-83A1-F6EECF244321}">
                <p14:modId xmlns:p14="http://schemas.microsoft.com/office/powerpoint/2010/main" val="2880919832"/>
              </p:ext>
            </p:extLst>
          </p:nvPr>
        </p:nvGraphicFramePr>
        <p:xfrm>
          <a:off x="5744958" y="1582615"/>
          <a:ext cx="4742000" cy="4737292"/>
        </p:xfrm>
        <a:graphic>
          <a:graphicData uri="http://schemas.openxmlformats.org/drawingml/2006/chart">
            <c:chart xmlns:c="http://schemas.openxmlformats.org/drawingml/2006/chart" xmlns:r="http://schemas.openxmlformats.org/officeDocument/2006/relationships" r:id="rId4"/>
          </a:graphicData>
        </a:graphic>
      </p:graphicFrame>
      <p:sp>
        <p:nvSpPr>
          <p:cNvPr id="18" name="Rectangle : avec coins arrondis en haut 17">
            <a:extLst>
              <a:ext uri="{FF2B5EF4-FFF2-40B4-BE49-F238E27FC236}">
                <a16:creationId xmlns:a16="http://schemas.microsoft.com/office/drawing/2014/main" id="{1A98FC7B-A8A3-CA55-400E-5EAD5A15BED6}"/>
              </a:ext>
            </a:extLst>
          </p:cNvPr>
          <p:cNvSpPr/>
          <p:nvPr/>
        </p:nvSpPr>
        <p:spPr>
          <a:xfrm>
            <a:off x="5744956" y="1016834"/>
            <a:ext cx="4741999" cy="466788"/>
          </a:xfrm>
          <a:prstGeom prst="round2SameRect">
            <a:avLst>
              <a:gd name="adj1" fmla="val 50000"/>
              <a:gd name="adj2" fmla="val 0"/>
            </a:avLst>
          </a:prstGeom>
          <a:solidFill>
            <a:srgbClr val="001B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Évolution théorique de votre capital (base 100)*</a:t>
            </a:r>
          </a:p>
        </p:txBody>
      </p:sp>
      <p:sp>
        <p:nvSpPr>
          <p:cNvPr id="19" name="ZoneTexte 18">
            <a:extLst>
              <a:ext uri="{FF2B5EF4-FFF2-40B4-BE49-F238E27FC236}">
                <a16:creationId xmlns:a16="http://schemas.microsoft.com/office/drawing/2014/main" id="{292E28B7-A0DF-0432-7745-681DC90745D7}"/>
              </a:ext>
            </a:extLst>
          </p:cNvPr>
          <p:cNvSpPr txBox="1"/>
          <p:nvPr/>
        </p:nvSpPr>
        <p:spPr>
          <a:xfrm>
            <a:off x="10559375" y="5973140"/>
            <a:ext cx="983337" cy="307777"/>
          </a:xfrm>
          <a:prstGeom prst="rect">
            <a:avLst/>
          </a:prstGeom>
          <a:noFill/>
        </p:spPr>
        <p:txBody>
          <a:bodyPr wrap="square" rtlCol="0">
            <a:spAutoFit/>
          </a:bodyPr>
          <a:lstStyle/>
          <a:p>
            <a:r>
              <a:rPr lang="fr-FR" sz="700" dirty="0">
                <a:solidFill>
                  <a:srgbClr val="6A6A6A"/>
                </a:solidFill>
                <a:latin typeface="Jost Medium" pitchFamily="2" charset="77"/>
                <a:ea typeface="Jost Medium" pitchFamily="2" charset="77"/>
              </a:rPr>
              <a:t>Nombre d’années </a:t>
            </a:r>
          </a:p>
          <a:p>
            <a:r>
              <a:rPr lang="fr-FR" sz="700" dirty="0">
                <a:solidFill>
                  <a:srgbClr val="6A6A6A"/>
                </a:solidFill>
                <a:latin typeface="Jost Medium" pitchFamily="2" charset="77"/>
                <a:ea typeface="Jost Medium" pitchFamily="2" charset="77"/>
              </a:rPr>
              <a:t>capitalisées (a)</a:t>
            </a:r>
          </a:p>
        </p:txBody>
      </p:sp>
      <p:sp>
        <p:nvSpPr>
          <p:cNvPr id="21" name="Rectangle 20">
            <a:extLst>
              <a:ext uri="{FF2B5EF4-FFF2-40B4-BE49-F238E27FC236}">
                <a16:creationId xmlns:a16="http://schemas.microsoft.com/office/drawing/2014/main" id="{F9D177E3-2049-8BA5-1239-C89BD30BAC27}"/>
              </a:ext>
            </a:extLst>
          </p:cNvPr>
          <p:cNvSpPr/>
          <p:nvPr/>
        </p:nvSpPr>
        <p:spPr>
          <a:xfrm>
            <a:off x="1703705" y="4501824"/>
            <a:ext cx="1853637" cy="792790"/>
          </a:xfrm>
          <a:prstGeom prst="rect">
            <a:avLst/>
          </a:prstGeom>
          <a:solidFill>
            <a:srgbClr val="15462A"/>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dirty="0">
                <a:solidFill>
                  <a:srgbClr val="E7DCC7"/>
                </a:solidFill>
                <a:latin typeface="Jost Medium" pitchFamily="2" charset="77"/>
                <a:ea typeface="Jost Medium" pitchFamily="2" charset="77"/>
              </a:rPr>
              <a:t>Performance sur 20 ans*</a:t>
            </a:r>
          </a:p>
          <a:p>
            <a:pPr algn="ctr"/>
            <a:r>
              <a:rPr lang="fr-FR" sz="2400" b="1" dirty="0">
                <a:solidFill>
                  <a:schemeClr val="bg1"/>
                </a:solidFill>
                <a:latin typeface="Cormorant Garamond" pitchFamily="2" charset="77"/>
                <a:ea typeface="Cormorant Garamond" pitchFamily="2" charset="77"/>
                <a:cs typeface="Cormorant Garamond" pitchFamily="2" charset="77"/>
              </a:rPr>
              <a:t>+287%</a:t>
            </a:r>
          </a:p>
        </p:txBody>
      </p:sp>
      <p:sp>
        <p:nvSpPr>
          <p:cNvPr id="22" name="Rectangle 21">
            <a:extLst>
              <a:ext uri="{FF2B5EF4-FFF2-40B4-BE49-F238E27FC236}">
                <a16:creationId xmlns:a16="http://schemas.microsoft.com/office/drawing/2014/main" id="{DC8BC1B0-F715-244D-2F49-F29BBDE268E1}"/>
              </a:ext>
            </a:extLst>
          </p:cNvPr>
          <p:cNvSpPr/>
          <p:nvPr/>
        </p:nvSpPr>
        <p:spPr>
          <a:xfrm>
            <a:off x="1705042" y="3643663"/>
            <a:ext cx="1853637" cy="792790"/>
          </a:xfrm>
          <a:prstGeom prst="rect">
            <a:avLst/>
          </a:prstGeom>
          <a:solidFill>
            <a:srgbClr val="15462A"/>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dirty="0">
                <a:solidFill>
                  <a:srgbClr val="E7DCC7"/>
                </a:solidFill>
                <a:latin typeface="Jost Medium" pitchFamily="2" charset="77"/>
                <a:ea typeface="Jost Medium" pitchFamily="2" charset="77"/>
              </a:rPr>
              <a:t>Base initiale</a:t>
            </a:r>
          </a:p>
          <a:p>
            <a:pPr algn="ctr"/>
            <a:r>
              <a:rPr lang="fr-FR" sz="2400" b="1" dirty="0">
                <a:solidFill>
                  <a:schemeClr val="bg1"/>
                </a:solidFill>
                <a:latin typeface="Cormorant Garamond" pitchFamily="2" charset="77"/>
                <a:ea typeface="Cormorant Garamond" pitchFamily="2" charset="77"/>
                <a:cs typeface="Cormorant Garamond" pitchFamily="2" charset="77"/>
              </a:rPr>
              <a:t>100</a:t>
            </a:r>
            <a:endParaRPr lang="fr-FR" sz="1100" b="1" dirty="0">
              <a:solidFill>
                <a:schemeClr val="bg1"/>
              </a:solidFill>
              <a:latin typeface="Cormorant Garamond" pitchFamily="2" charset="77"/>
              <a:ea typeface="Cormorant Garamond" pitchFamily="2" charset="77"/>
              <a:cs typeface="Cormorant Garamond" pitchFamily="2" charset="77"/>
            </a:endParaRPr>
          </a:p>
        </p:txBody>
      </p:sp>
      <p:sp>
        <p:nvSpPr>
          <p:cNvPr id="23" name="Rectangle 22">
            <a:extLst>
              <a:ext uri="{FF2B5EF4-FFF2-40B4-BE49-F238E27FC236}">
                <a16:creationId xmlns:a16="http://schemas.microsoft.com/office/drawing/2014/main" id="{8B6BC282-5ABB-6ACB-6EEB-C849C09F2F9B}"/>
              </a:ext>
            </a:extLst>
          </p:cNvPr>
          <p:cNvSpPr/>
          <p:nvPr/>
        </p:nvSpPr>
        <p:spPr>
          <a:xfrm>
            <a:off x="3613858" y="3643663"/>
            <a:ext cx="1671782" cy="792790"/>
          </a:xfrm>
          <a:prstGeom prst="rect">
            <a:avLst/>
          </a:prstGeom>
          <a:solidFill>
            <a:srgbClr val="15462A"/>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dirty="0">
                <a:solidFill>
                  <a:srgbClr val="E7DCC7"/>
                </a:solidFill>
                <a:latin typeface="Jost Medium" pitchFamily="2" charset="77"/>
                <a:ea typeface="Jost Medium" pitchFamily="2" charset="77"/>
              </a:rPr>
              <a:t>Performance sur 10 ans*</a:t>
            </a:r>
          </a:p>
          <a:p>
            <a:pPr algn="ctr"/>
            <a:r>
              <a:rPr lang="fr-FR" sz="2400" b="1" dirty="0">
                <a:solidFill>
                  <a:schemeClr val="bg1"/>
                </a:solidFill>
                <a:latin typeface="Cormorant Garamond" pitchFamily="2" charset="77"/>
                <a:ea typeface="Cormorant Garamond" pitchFamily="2" charset="77"/>
                <a:cs typeface="Cormorant Garamond" pitchFamily="2" charset="77"/>
              </a:rPr>
              <a:t>+97%</a:t>
            </a:r>
            <a:endParaRPr lang="fr-FR" sz="3200" b="1" dirty="0">
              <a:solidFill>
                <a:schemeClr val="bg1"/>
              </a:solidFill>
              <a:latin typeface="Cormorant Garamond" pitchFamily="2" charset="77"/>
              <a:ea typeface="Cormorant Garamond" pitchFamily="2" charset="77"/>
              <a:cs typeface="Cormorant Garamond" pitchFamily="2" charset="77"/>
            </a:endParaRPr>
          </a:p>
        </p:txBody>
      </p:sp>
      <p:sp>
        <p:nvSpPr>
          <p:cNvPr id="24" name="Rectangle 23">
            <a:extLst>
              <a:ext uri="{FF2B5EF4-FFF2-40B4-BE49-F238E27FC236}">
                <a16:creationId xmlns:a16="http://schemas.microsoft.com/office/drawing/2014/main" id="{B9D83860-0721-E11F-800A-78AB50D4B41E}"/>
              </a:ext>
            </a:extLst>
          </p:cNvPr>
          <p:cNvSpPr/>
          <p:nvPr/>
        </p:nvSpPr>
        <p:spPr>
          <a:xfrm>
            <a:off x="3613858" y="4501824"/>
            <a:ext cx="1671782" cy="792790"/>
          </a:xfrm>
          <a:prstGeom prst="rect">
            <a:avLst/>
          </a:prstGeom>
          <a:solidFill>
            <a:srgbClr val="15462A"/>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dirty="0">
                <a:solidFill>
                  <a:srgbClr val="E7DCC7"/>
                </a:solidFill>
                <a:latin typeface="Jost Medium" pitchFamily="2" charset="77"/>
                <a:ea typeface="Jost Medium" pitchFamily="2" charset="77"/>
              </a:rPr>
              <a:t>Performance sur 30 ans*</a:t>
            </a:r>
          </a:p>
          <a:p>
            <a:pPr algn="ctr"/>
            <a:r>
              <a:rPr lang="fr-FR" sz="2400" b="1" dirty="0">
                <a:solidFill>
                  <a:schemeClr val="bg1"/>
                </a:solidFill>
                <a:latin typeface="Cormorant Garamond" pitchFamily="2" charset="77"/>
                <a:ea typeface="Cormorant Garamond" pitchFamily="2" charset="77"/>
                <a:cs typeface="Cormorant Garamond" pitchFamily="2" charset="77"/>
              </a:rPr>
              <a:t>+661%</a:t>
            </a:r>
          </a:p>
        </p:txBody>
      </p:sp>
      <p:sp>
        <p:nvSpPr>
          <p:cNvPr id="27" name="Rectangle 26">
            <a:extLst>
              <a:ext uri="{FF2B5EF4-FFF2-40B4-BE49-F238E27FC236}">
                <a16:creationId xmlns:a16="http://schemas.microsoft.com/office/drawing/2014/main" id="{918F91F2-090E-FC00-5536-BB7E01F93BC4}"/>
              </a:ext>
            </a:extLst>
          </p:cNvPr>
          <p:cNvSpPr/>
          <p:nvPr/>
        </p:nvSpPr>
        <p:spPr>
          <a:xfrm>
            <a:off x="1703705" y="5359985"/>
            <a:ext cx="3580598" cy="959922"/>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i="1" dirty="0">
                <a:solidFill>
                  <a:schemeClr val="tx1"/>
                </a:solidFill>
                <a:latin typeface="Jost Light" pitchFamily="2" charset="77"/>
                <a:ea typeface="Jost Light" pitchFamily="2" charset="77"/>
              </a:rPr>
              <a:t>Exemple : avec un capital de 250 000 euros investis initialement, un capital de 967 000 euros peut être atteint au bout de 20 ans grâce à la capitalisation.</a:t>
            </a:r>
          </a:p>
        </p:txBody>
      </p:sp>
      <p:sp>
        <p:nvSpPr>
          <p:cNvPr id="31" name="ZoneTexte 30">
            <a:extLst>
              <a:ext uri="{FF2B5EF4-FFF2-40B4-BE49-F238E27FC236}">
                <a16:creationId xmlns:a16="http://schemas.microsoft.com/office/drawing/2014/main" id="{DFC37452-3203-FBCD-7189-393959EF8F9E}"/>
              </a:ext>
            </a:extLst>
          </p:cNvPr>
          <p:cNvSpPr txBox="1"/>
          <p:nvPr/>
        </p:nvSpPr>
        <p:spPr>
          <a:xfrm>
            <a:off x="1703705" y="6592425"/>
            <a:ext cx="10022998" cy="200055"/>
          </a:xfrm>
          <a:prstGeom prst="rect">
            <a:avLst/>
          </a:prstGeom>
          <a:noFill/>
        </p:spPr>
        <p:txBody>
          <a:bodyPr wrap="square" rtlCol="0">
            <a:spAutoFit/>
          </a:bodyPr>
          <a:lstStyle/>
          <a:p>
            <a:r>
              <a:rPr lang="fr-FR" sz="700" i="1" dirty="0">
                <a:solidFill>
                  <a:srgbClr val="6A6A6A"/>
                </a:solidFill>
                <a:latin typeface="Jost Light" pitchFamily="2" charset="77"/>
                <a:ea typeface="Jost Light" pitchFamily="2" charset="77"/>
              </a:rPr>
              <a:t>*Les performances présentées sont théoriques, calculées à partir d’hypothèses de rendement constantes, et ne constituent ni une garantie de performance future ni une recommandation d’investissement. Tout investissement comporte un risque de perte en capital.</a:t>
            </a:r>
          </a:p>
        </p:txBody>
      </p:sp>
    </p:spTree>
    <p:extLst>
      <p:ext uri="{BB962C8B-B14F-4D97-AF65-F5344CB8AC3E}">
        <p14:creationId xmlns:p14="http://schemas.microsoft.com/office/powerpoint/2010/main" val="154890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B7CE3-87D5-AA9D-25DE-08A9E441F071}"/>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3F393875-6BBF-0848-8B21-C478068A807C}"/>
              </a:ext>
            </a:extLst>
          </p:cNvPr>
          <p:cNvSpPr/>
          <p:nvPr/>
        </p:nvSpPr>
        <p:spPr>
          <a:xfrm>
            <a:off x="464234" y="351693"/>
            <a:ext cx="9303654" cy="613841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B3D5E9C8-19A3-F8EE-C969-1410D3CB05E8}"/>
              </a:ext>
            </a:extLst>
          </p:cNvPr>
          <p:cNvSpPr txBox="1"/>
          <p:nvPr/>
        </p:nvSpPr>
        <p:spPr>
          <a:xfrm>
            <a:off x="1310516" y="3429000"/>
            <a:ext cx="3828643" cy="1200329"/>
          </a:xfrm>
          <a:prstGeom prst="rect">
            <a:avLst/>
          </a:prstGeom>
          <a:noFill/>
        </p:spPr>
        <p:txBody>
          <a:bodyPr wrap="square" rtlCol="0">
            <a:spAutoFit/>
          </a:bodyPr>
          <a:lstStyle/>
          <a:p>
            <a:r>
              <a:rPr lang="fr-FR" sz="3600" b="1" dirty="0">
                <a:solidFill>
                  <a:srgbClr val="E7DCC7"/>
                </a:solidFill>
                <a:latin typeface="Jost SemiBold" pitchFamily="2" charset="77"/>
                <a:ea typeface="Jost SemiBold" pitchFamily="2" charset="77"/>
                <a:cs typeface="Futura" panose="020B0602020204020303" pitchFamily="34" charset="-79"/>
              </a:rPr>
              <a:t>3. Votre profil d’investissement</a:t>
            </a:r>
          </a:p>
        </p:txBody>
      </p:sp>
      <p:sp>
        <p:nvSpPr>
          <p:cNvPr id="12" name="Shape 8">
            <a:extLst>
              <a:ext uri="{FF2B5EF4-FFF2-40B4-BE49-F238E27FC236}">
                <a16:creationId xmlns:a16="http://schemas.microsoft.com/office/drawing/2014/main" id="{3BFE517E-ECC3-C720-F865-5F3B69DA919B}"/>
              </a:ext>
            </a:extLst>
          </p:cNvPr>
          <p:cNvSpPr/>
          <p:nvPr/>
        </p:nvSpPr>
        <p:spPr>
          <a:xfrm>
            <a:off x="1371476" y="5750000"/>
            <a:ext cx="2009154" cy="0"/>
          </a:xfrm>
          <a:prstGeom prst="line">
            <a:avLst/>
          </a:prstGeom>
          <a:noFill/>
          <a:ln w="19050">
            <a:solidFill>
              <a:srgbClr val="A9853F"/>
            </a:solidFill>
            <a:prstDash val="solid"/>
          </a:ln>
        </p:spPr>
        <p:txBody>
          <a:bodyPr/>
          <a:lstStyle/>
          <a:p>
            <a:endParaRPr lang="fr-FR"/>
          </a:p>
        </p:txBody>
      </p:sp>
      <p:pic>
        <p:nvPicPr>
          <p:cNvPr id="19" name="Image 18">
            <a:extLst>
              <a:ext uri="{FF2B5EF4-FFF2-40B4-BE49-F238E27FC236}">
                <a16:creationId xmlns:a16="http://schemas.microsoft.com/office/drawing/2014/main" id="{84C389E0-42A7-B1E0-55CC-238112E3C3F4}"/>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54583" t="-21403" r="19496" b="-27711"/>
          <a:stretch>
            <a:fillRect/>
          </a:stretch>
        </p:blipFill>
        <p:spPr>
          <a:xfrm>
            <a:off x="9767888" y="156744"/>
            <a:ext cx="2441045" cy="7327940"/>
          </a:xfrm>
          <a:prstGeom prst="rect">
            <a:avLst/>
          </a:prstGeom>
        </p:spPr>
      </p:pic>
      <p:pic>
        <p:nvPicPr>
          <p:cNvPr id="20" name="Image 19">
            <a:extLst>
              <a:ext uri="{FF2B5EF4-FFF2-40B4-BE49-F238E27FC236}">
                <a16:creationId xmlns:a16="http://schemas.microsoft.com/office/drawing/2014/main" id="{BDCB3538-C181-8691-3D84-29CD2D182946}"/>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3977589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 name="Image 82">
            <a:extLst>
              <a:ext uri="{FF2B5EF4-FFF2-40B4-BE49-F238E27FC236}">
                <a16:creationId xmlns:a16="http://schemas.microsoft.com/office/drawing/2014/main" id="{74E796F1-B49B-9A86-6D72-EABBFDAD038D}"/>
              </a:ext>
            </a:extLst>
          </p:cNvPr>
          <p:cNvPicPr>
            <a:picLocks noChangeAspect="1"/>
          </p:cNvPicPr>
          <p:nvPr/>
        </p:nvPicPr>
        <p:blipFill>
          <a:blip r:embed="rId2">
            <a:alphaModFix amt="5000"/>
          </a:blip>
          <a:srcRect l="6207" b="6232"/>
          <a:stretch>
            <a:fillRect/>
          </a:stretch>
        </p:blipFill>
        <p:spPr>
          <a:xfrm>
            <a:off x="1" y="0"/>
            <a:ext cx="12191999" cy="6859822"/>
          </a:xfrm>
          <a:prstGeom prst="rect">
            <a:avLst/>
          </a:prstGeom>
        </p:spPr>
      </p:pic>
      <p:sp>
        <p:nvSpPr>
          <p:cNvPr id="12" name="Rectangle 11">
            <a:extLst>
              <a:ext uri="{FF2B5EF4-FFF2-40B4-BE49-F238E27FC236}">
                <a16:creationId xmlns:a16="http://schemas.microsoft.com/office/drawing/2014/main" id="{71A29821-720C-8540-83AF-4E9EBEF8A598}"/>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Text 9">
            <a:extLst>
              <a:ext uri="{FF2B5EF4-FFF2-40B4-BE49-F238E27FC236}">
                <a16:creationId xmlns:a16="http://schemas.microsoft.com/office/drawing/2014/main" id="{6EA06541-F8D8-153A-38B4-D540EF8C76D2}"/>
              </a:ext>
            </a:extLst>
          </p:cNvPr>
          <p:cNvSpPr/>
          <p:nvPr/>
        </p:nvSpPr>
        <p:spPr>
          <a:xfrm>
            <a:off x="947468" y="949911"/>
            <a:ext cx="4514867" cy="371138"/>
          </a:xfrm>
          <a:prstGeom prst="rect">
            <a:avLst/>
          </a:prstGeom>
          <a:noFill/>
          <a:ln/>
        </p:spPr>
        <p:txBody>
          <a:bodyPr wrap="square" lIns="0" tIns="0" rIns="0" bIns="0" rtlCol="0" anchor="t">
            <a:normAutofit/>
          </a:bodyPr>
          <a:lstStyle/>
          <a:p>
            <a:r>
              <a:rPr lang="fr-FR" sz="1200" noProof="0" dirty="0">
                <a:solidFill>
                  <a:srgbClr val="073527"/>
                </a:solidFill>
                <a:latin typeface="Jost Medium" pitchFamily="2" charset="77"/>
                <a:ea typeface="Jost Medium" pitchFamily="2" charset="77"/>
                <a:cs typeface="Futura Medium" panose="020B0602020204020303" pitchFamily="34" charset="-79"/>
              </a:rPr>
              <a:t>Profils d’investissements et rendements associés</a:t>
            </a:r>
          </a:p>
        </p:txBody>
      </p:sp>
      <p:sp>
        <p:nvSpPr>
          <p:cNvPr id="15" name="Text 9">
            <a:extLst>
              <a:ext uri="{FF2B5EF4-FFF2-40B4-BE49-F238E27FC236}">
                <a16:creationId xmlns:a16="http://schemas.microsoft.com/office/drawing/2014/main" id="{54AC86C0-E1E2-28BA-2128-2B172A8D89D4}"/>
              </a:ext>
            </a:extLst>
          </p:cNvPr>
          <p:cNvSpPr/>
          <p:nvPr/>
        </p:nvSpPr>
        <p:spPr>
          <a:xfrm>
            <a:off x="947468" y="578773"/>
            <a:ext cx="4514867" cy="371138"/>
          </a:xfrm>
          <a:prstGeom prst="rect">
            <a:avLst/>
          </a:prstGeom>
          <a:noFill/>
          <a:ln/>
        </p:spPr>
        <p:txBody>
          <a:bodyPr wrap="square" lIns="0" tIns="0" rIns="0" bIns="0" rtlCol="0" anchor="t">
            <a:normAutofit/>
          </a:bodyPr>
          <a:lstStyle/>
          <a:p>
            <a:r>
              <a:rPr lang="fr-FR" noProof="0" dirty="0">
                <a:solidFill>
                  <a:srgbClr val="A9853F"/>
                </a:solidFill>
                <a:latin typeface="Cormorant Garamond" pitchFamily="2" charset="77"/>
                <a:ea typeface="Cormorant Garamond" pitchFamily="2" charset="77"/>
                <a:cs typeface="Cormorant Garamond" pitchFamily="2" charset="77"/>
              </a:rPr>
              <a:t>Allocation d’actifs</a:t>
            </a:r>
          </a:p>
        </p:txBody>
      </p:sp>
      <p:sp>
        <p:nvSpPr>
          <p:cNvPr id="2" name="Rectangle : avec coins rognés en haut 1">
            <a:extLst>
              <a:ext uri="{FF2B5EF4-FFF2-40B4-BE49-F238E27FC236}">
                <a16:creationId xmlns:a16="http://schemas.microsoft.com/office/drawing/2014/main" id="{51FD638F-A4EC-C036-B7AC-F06BAAE2D9BF}"/>
              </a:ext>
            </a:extLst>
          </p:cNvPr>
          <p:cNvSpPr/>
          <p:nvPr/>
        </p:nvSpPr>
        <p:spPr>
          <a:xfrm>
            <a:off x="1411230" y="1782620"/>
            <a:ext cx="2104687" cy="489397"/>
          </a:xfrm>
          <a:prstGeom prst="snip2SameRect">
            <a:avLst/>
          </a:prstGeom>
          <a:solidFill>
            <a:srgbClr val="001B0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bg1"/>
                </a:solidFill>
                <a:latin typeface="Jost Medium" pitchFamily="2" charset="77"/>
                <a:ea typeface="Jost Medium" pitchFamily="2" charset="77"/>
                <a:cs typeface="Futura Medium" panose="020B0602020204020303" pitchFamily="34" charset="-79"/>
              </a:rPr>
              <a:t>Profil de risque</a:t>
            </a:r>
          </a:p>
        </p:txBody>
      </p:sp>
      <p:sp>
        <p:nvSpPr>
          <p:cNvPr id="3" name="Rectangle : avec coin arrondi et coin rogné en haut 2">
            <a:extLst>
              <a:ext uri="{FF2B5EF4-FFF2-40B4-BE49-F238E27FC236}">
                <a16:creationId xmlns:a16="http://schemas.microsoft.com/office/drawing/2014/main" id="{D0761DD0-4C7F-D625-11E8-0197F7D4DC21}"/>
              </a:ext>
            </a:extLst>
          </p:cNvPr>
          <p:cNvSpPr/>
          <p:nvPr/>
        </p:nvSpPr>
        <p:spPr>
          <a:xfrm>
            <a:off x="3952938" y="1782620"/>
            <a:ext cx="1800000" cy="489397"/>
          </a:xfrm>
          <a:prstGeom prst="snipRoundRect">
            <a:avLst/>
          </a:prstGeom>
          <a:solidFill>
            <a:srgbClr val="001B0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bg1"/>
                </a:solidFill>
                <a:latin typeface="Jost Medium" pitchFamily="2" charset="77"/>
                <a:ea typeface="Jost Medium" pitchFamily="2" charset="77"/>
                <a:cs typeface="Futura Medium" panose="020B0602020204020303" pitchFamily="34" charset="-79"/>
              </a:rPr>
              <a:t>Conservateur</a:t>
            </a:r>
          </a:p>
        </p:txBody>
      </p:sp>
      <p:sp>
        <p:nvSpPr>
          <p:cNvPr id="4" name="Rectangle : avec coins rognés en haut 3">
            <a:extLst>
              <a:ext uri="{FF2B5EF4-FFF2-40B4-BE49-F238E27FC236}">
                <a16:creationId xmlns:a16="http://schemas.microsoft.com/office/drawing/2014/main" id="{AE72FA40-D472-62DC-F9B2-9D347B395936}"/>
              </a:ext>
            </a:extLst>
          </p:cNvPr>
          <p:cNvSpPr/>
          <p:nvPr/>
        </p:nvSpPr>
        <p:spPr>
          <a:xfrm>
            <a:off x="5817297" y="1782620"/>
            <a:ext cx="1800000" cy="489397"/>
          </a:xfrm>
          <a:prstGeom prst="snip2SameRect">
            <a:avLst/>
          </a:prstGeom>
          <a:solidFill>
            <a:srgbClr val="001B0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bg1"/>
                </a:solidFill>
                <a:latin typeface="Jost Medium" pitchFamily="2" charset="77"/>
                <a:ea typeface="Jost Medium" pitchFamily="2" charset="77"/>
                <a:cs typeface="Futura Medium" panose="020B0602020204020303" pitchFamily="34" charset="-79"/>
              </a:rPr>
              <a:t>Équilibré</a:t>
            </a:r>
          </a:p>
        </p:txBody>
      </p:sp>
      <p:sp>
        <p:nvSpPr>
          <p:cNvPr id="5" name="Rectangle : avec coins rognés en haut 4">
            <a:extLst>
              <a:ext uri="{FF2B5EF4-FFF2-40B4-BE49-F238E27FC236}">
                <a16:creationId xmlns:a16="http://schemas.microsoft.com/office/drawing/2014/main" id="{CEA17FC7-201A-F8AB-AAB1-F55DA84BB6A7}"/>
              </a:ext>
            </a:extLst>
          </p:cNvPr>
          <p:cNvSpPr/>
          <p:nvPr/>
        </p:nvSpPr>
        <p:spPr>
          <a:xfrm>
            <a:off x="7680400" y="1782620"/>
            <a:ext cx="1800000" cy="489397"/>
          </a:xfrm>
          <a:prstGeom prst="snip2SameRect">
            <a:avLst/>
          </a:prstGeom>
          <a:solidFill>
            <a:srgbClr val="001B0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bg1"/>
                </a:solidFill>
                <a:latin typeface="Jost Medium" pitchFamily="2" charset="77"/>
                <a:ea typeface="Jost Medium" pitchFamily="2" charset="77"/>
                <a:cs typeface="Futura Medium" panose="020B0602020204020303" pitchFamily="34" charset="-79"/>
              </a:rPr>
              <a:t>Opportuniste</a:t>
            </a:r>
          </a:p>
        </p:txBody>
      </p:sp>
      <p:sp>
        <p:nvSpPr>
          <p:cNvPr id="6" name="Rectangle : avec coin arrondi et coin rogné en haut 5">
            <a:extLst>
              <a:ext uri="{FF2B5EF4-FFF2-40B4-BE49-F238E27FC236}">
                <a16:creationId xmlns:a16="http://schemas.microsoft.com/office/drawing/2014/main" id="{8ADFCEBA-835C-0D1C-2571-8259E28D1293}"/>
              </a:ext>
            </a:extLst>
          </p:cNvPr>
          <p:cNvSpPr/>
          <p:nvPr/>
        </p:nvSpPr>
        <p:spPr>
          <a:xfrm>
            <a:off x="9543503" y="1782620"/>
            <a:ext cx="1800000" cy="489397"/>
          </a:xfrm>
          <a:prstGeom prst="snipRoundRect">
            <a:avLst/>
          </a:prstGeom>
          <a:solidFill>
            <a:srgbClr val="001B0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bg1"/>
                </a:solidFill>
                <a:latin typeface="Jost Medium" pitchFamily="2" charset="77"/>
                <a:ea typeface="Jost Medium" pitchFamily="2" charset="77"/>
                <a:cs typeface="Futura Medium" panose="020B0602020204020303" pitchFamily="34" charset="-79"/>
              </a:rPr>
              <a:t>Dynamique</a:t>
            </a:r>
          </a:p>
        </p:txBody>
      </p:sp>
      <p:sp>
        <p:nvSpPr>
          <p:cNvPr id="7" name="Rectangle 6">
            <a:extLst>
              <a:ext uri="{FF2B5EF4-FFF2-40B4-BE49-F238E27FC236}">
                <a16:creationId xmlns:a16="http://schemas.microsoft.com/office/drawing/2014/main" id="{E0C7D256-610E-FEE6-41E0-26EDE187DB01}"/>
              </a:ext>
            </a:extLst>
          </p:cNvPr>
          <p:cNvSpPr/>
          <p:nvPr/>
        </p:nvSpPr>
        <p:spPr>
          <a:xfrm>
            <a:off x="1411858" y="2272016"/>
            <a:ext cx="2104687" cy="489397"/>
          </a:xfrm>
          <a:prstGeom prst="rect">
            <a:avLst/>
          </a:prstGeom>
          <a:solidFill>
            <a:srgbClr val="FCF9E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cs typeface="Futura Medium" panose="020B0602020204020303" pitchFamily="34" charset="-79"/>
              </a:rPr>
              <a:t>SRRI (1 – 7)</a:t>
            </a:r>
          </a:p>
        </p:txBody>
      </p:sp>
      <p:sp>
        <p:nvSpPr>
          <p:cNvPr id="8" name="Rectangle 7">
            <a:extLst>
              <a:ext uri="{FF2B5EF4-FFF2-40B4-BE49-F238E27FC236}">
                <a16:creationId xmlns:a16="http://schemas.microsoft.com/office/drawing/2014/main" id="{2BE4DDD6-CB2F-A552-123D-B7AFA11B549E}"/>
              </a:ext>
            </a:extLst>
          </p:cNvPr>
          <p:cNvSpPr/>
          <p:nvPr/>
        </p:nvSpPr>
        <p:spPr>
          <a:xfrm>
            <a:off x="3952938" y="2272016"/>
            <a:ext cx="1800000" cy="489397"/>
          </a:xfrm>
          <a:prstGeom prst="rect">
            <a:avLst/>
          </a:prstGeom>
          <a:solidFill>
            <a:srgbClr val="FCF9E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cs typeface="Futura Medium" panose="020B0602020204020303" pitchFamily="34" charset="-79"/>
              </a:rPr>
              <a:t>1 à 3</a:t>
            </a:r>
          </a:p>
        </p:txBody>
      </p:sp>
      <p:sp>
        <p:nvSpPr>
          <p:cNvPr id="10" name="Rectangle 9">
            <a:extLst>
              <a:ext uri="{FF2B5EF4-FFF2-40B4-BE49-F238E27FC236}">
                <a16:creationId xmlns:a16="http://schemas.microsoft.com/office/drawing/2014/main" id="{A66862F5-37F0-4E9E-B93D-B57041F2BBD8}"/>
              </a:ext>
            </a:extLst>
          </p:cNvPr>
          <p:cNvSpPr/>
          <p:nvPr/>
        </p:nvSpPr>
        <p:spPr>
          <a:xfrm>
            <a:off x="5817297" y="2272017"/>
            <a:ext cx="1800000" cy="489397"/>
          </a:xfrm>
          <a:prstGeom prst="rect">
            <a:avLst/>
          </a:prstGeom>
          <a:solidFill>
            <a:srgbClr val="FCF9E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cs typeface="Futura Medium" panose="020B0602020204020303" pitchFamily="34" charset="-79"/>
              </a:rPr>
              <a:t>3 à 4</a:t>
            </a:r>
          </a:p>
        </p:txBody>
      </p:sp>
      <p:sp>
        <p:nvSpPr>
          <p:cNvPr id="11" name="Rectangle 10">
            <a:extLst>
              <a:ext uri="{FF2B5EF4-FFF2-40B4-BE49-F238E27FC236}">
                <a16:creationId xmlns:a16="http://schemas.microsoft.com/office/drawing/2014/main" id="{932D01DF-AD08-D035-F431-6F9001FA5A2C}"/>
              </a:ext>
            </a:extLst>
          </p:cNvPr>
          <p:cNvSpPr/>
          <p:nvPr/>
        </p:nvSpPr>
        <p:spPr>
          <a:xfrm>
            <a:off x="7680400" y="2272016"/>
            <a:ext cx="1800000" cy="489397"/>
          </a:xfrm>
          <a:prstGeom prst="rect">
            <a:avLst/>
          </a:prstGeom>
          <a:solidFill>
            <a:srgbClr val="FCF9E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cs typeface="Futura Medium" panose="020B0602020204020303" pitchFamily="34" charset="-79"/>
              </a:rPr>
              <a:t>4 à 6</a:t>
            </a:r>
          </a:p>
        </p:txBody>
      </p:sp>
      <p:sp>
        <p:nvSpPr>
          <p:cNvPr id="14" name="Rectangle 13">
            <a:extLst>
              <a:ext uri="{FF2B5EF4-FFF2-40B4-BE49-F238E27FC236}">
                <a16:creationId xmlns:a16="http://schemas.microsoft.com/office/drawing/2014/main" id="{D9B883FC-BFC1-9B07-659E-A419434C7193}"/>
              </a:ext>
            </a:extLst>
          </p:cNvPr>
          <p:cNvSpPr/>
          <p:nvPr/>
        </p:nvSpPr>
        <p:spPr>
          <a:xfrm>
            <a:off x="9543503" y="2272016"/>
            <a:ext cx="1800000" cy="489397"/>
          </a:xfrm>
          <a:prstGeom prst="rect">
            <a:avLst/>
          </a:prstGeom>
          <a:solidFill>
            <a:srgbClr val="FCF9E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Jost Medium" pitchFamily="2" charset="77"/>
                <a:ea typeface="Jost Medium" pitchFamily="2" charset="77"/>
                <a:cs typeface="Futura Medium" panose="020B0602020204020303" pitchFamily="34" charset="-79"/>
              </a:rPr>
              <a:t>5 à 7</a:t>
            </a:r>
          </a:p>
        </p:txBody>
      </p:sp>
      <p:sp>
        <p:nvSpPr>
          <p:cNvPr id="17" name="Rectangle 16">
            <a:extLst>
              <a:ext uri="{FF2B5EF4-FFF2-40B4-BE49-F238E27FC236}">
                <a16:creationId xmlns:a16="http://schemas.microsoft.com/office/drawing/2014/main" id="{DFDF1930-4FC1-04D5-2C55-0FA867BABAE4}"/>
              </a:ext>
            </a:extLst>
          </p:cNvPr>
          <p:cNvSpPr/>
          <p:nvPr/>
        </p:nvSpPr>
        <p:spPr>
          <a:xfrm>
            <a:off x="2463123" y="2761412"/>
            <a:ext cx="1052794" cy="489397"/>
          </a:xfrm>
          <a:prstGeom prst="rect">
            <a:avLst/>
          </a:prstGeom>
          <a:solidFill>
            <a:srgbClr val="FCF9E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cs typeface="Futura Medium" panose="020B0602020204020303" pitchFamily="34" charset="-79"/>
              </a:rPr>
              <a:t>Actions</a:t>
            </a:r>
          </a:p>
        </p:txBody>
      </p:sp>
      <p:sp>
        <p:nvSpPr>
          <p:cNvPr id="18" name="Rectangle 17">
            <a:extLst>
              <a:ext uri="{FF2B5EF4-FFF2-40B4-BE49-F238E27FC236}">
                <a16:creationId xmlns:a16="http://schemas.microsoft.com/office/drawing/2014/main" id="{17B640FC-A3AB-A1C6-EABE-B602AA8F9E70}"/>
              </a:ext>
            </a:extLst>
          </p:cNvPr>
          <p:cNvSpPr/>
          <p:nvPr/>
        </p:nvSpPr>
        <p:spPr>
          <a:xfrm>
            <a:off x="2463123" y="3250809"/>
            <a:ext cx="1052794" cy="489397"/>
          </a:xfrm>
          <a:prstGeom prst="rect">
            <a:avLst/>
          </a:prstGeom>
          <a:solidFill>
            <a:srgbClr val="FCF9E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cs typeface="Futura Medium" panose="020B0602020204020303" pitchFamily="34" charset="-79"/>
              </a:rPr>
              <a:t>Produits structurés</a:t>
            </a:r>
          </a:p>
        </p:txBody>
      </p:sp>
      <p:sp>
        <p:nvSpPr>
          <p:cNvPr id="19" name="Rectangle 18">
            <a:extLst>
              <a:ext uri="{FF2B5EF4-FFF2-40B4-BE49-F238E27FC236}">
                <a16:creationId xmlns:a16="http://schemas.microsoft.com/office/drawing/2014/main" id="{CB5FF488-FF6E-C102-66B9-0A6FB25C4217}"/>
              </a:ext>
            </a:extLst>
          </p:cNvPr>
          <p:cNvSpPr/>
          <p:nvPr/>
        </p:nvSpPr>
        <p:spPr>
          <a:xfrm>
            <a:off x="2463123" y="3740205"/>
            <a:ext cx="1052794" cy="489397"/>
          </a:xfrm>
          <a:prstGeom prst="rect">
            <a:avLst/>
          </a:prstGeom>
          <a:solidFill>
            <a:srgbClr val="FCF9E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cs typeface="Futura Medium" panose="020B0602020204020303" pitchFamily="34" charset="-79"/>
              </a:rPr>
              <a:t>Performance absolue</a:t>
            </a:r>
          </a:p>
        </p:txBody>
      </p:sp>
      <p:sp>
        <p:nvSpPr>
          <p:cNvPr id="20" name="Rectangle 19">
            <a:extLst>
              <a:ext uri="{FF2B5EF4-FFF2-40B4-BE49-F238E27FC236}">
                <a16:creationId xmlns:a16="http://schemas.microsoft.com/office/drawing/2014/main" id="{A02DE457-95EC-199B-8D5C-5EC30234F8DD}"/>
              </a:ext>
            </a:extLst>
          </p:cNvPr>
          <p:cNvSpPr/>
          <p:nvPr/>
        </p:nvSpPr>
        <p:spPr>
          <a:xfrm>
            <a:off x="2463123" y="4229602"/>
            <a:ext cx="1052794" cy="489397"/>
          </a:xfrm>
          <a:prstGeom prst="rect">
            <a:avLst/>
          </a:prstGeom>
          <a:solidFill>
            <a:srgbClr val="FCF9E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cs typeface="Futura Medium" panose="020B0602020204020303" pitchFamily="34" charset="-79"/>
              </a:rPr>
              <a:t>Obligations</a:t>
            </a:r>
          </a:p>
        </p:txBody>
      </p:sp>
      <p:sp>
        <p:nvSpPr>
          <p:cNvPr id="21" name="Rectangle 20">
            <a:extLst>
              <a:ext uri="{FF2B5EF4-FFF2-40B4-BE49-F238E27FC236}">
                <a16:creationId xmlns:a16="http://schemas.microsoft.com/office/drawing/2014/main" id="{8CD5654A-45D5-166F-A7B8-09A30CDFFF25}"/>
              </a:ext>
            </a:extLst>
          </p:cNvPr>
          <p:cNvSpPr/>
          <p:nvPr/>
        </p:nvSpPr>
        <p:spPr>
          <a:xfrm>
            <a:off x="2463123" y="4718998"/>
            <a:ext cx="1052794" cy="489397"/>
          </a:xfrm>
          <a:prstGeom prst="rect">
            <a:avLst/>
          </a:prstGeom>
          <a:solidFill>
            <a:srgbClr val="FCF9E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cs typeface="Futura Medium" panose="020B0602020204020303" pitchFamily="34" charset="-79"/>
              </a:rPr>
              <a:t>Cash</a:t>
            </a:r>
          </a:p>
        </p:txBody>
      </p:sp>
      <p:sp>
        <p:nvSpPr>
          <p:cNvPr id="22" name="Rectangle 21">
            <a:extLst>
              <a:ext uri="{FF2B5EF4-FFF2-40B4-BE49-F238E27FC236}">
                <a16:creationId xmlns:a16="http://schemas.microsoft.com/office/drawing/2014/main" id="{79CE3A32-A283-3528-11C9-5020A99E3D63}"/>
              </a:ext>
            </a:extLst>
          </p:cNvPr>
          <p:cNvSpPr/>
          <p:nvPr/>
        </p:nvSpPr>
        <p:spPr>
          <a:xfrm rot="16200000">
            <a:off x="713371" y="3459272"/>
            <a:ext cx="2446985" cy="1051263"/>
          </a:xfrm>
          <a:prstGeom prst="rect">
            <a:avLst/>
          </a:prstGeom>
          <a:solidFill>
            <a:srgbClr val="FCF9E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latin typeface="Jost Medium" pitchFamily="2" charset="77"/>
                <a:ea typeface="Jost Medium" pitchFamily="2" charset="77"/>
                <a:cs typeface="Futura Medium" panose="020B0602020204020303" pitchFamily="34" charset="-79"/>
              </a:rPr>
              <a:t>Classes d’actifs</a:t>
            </a:r>
          </a:p>
        </p:txBody>
      </p:sp>
      <p:sp>
        <p:nvSpPr>
          <p:cNvPr id="23" name="Rectangle 22">
            <a:extLst>
              <a:ext uri="{FF2B5EF4-FFF2-40B4-BE49-F238E27FC236}">
                <a16:creationId xmlns:a16="http://schemas.microsoft.com/office/drawing/2014/main" id="{4A0E25BB-6141-AA1B-AFCF-0DC135BEA48C}"/>
              </a:ext>
            </a:extLst>
          </p:cNvPr>
          <p:cNvSpPr/>
          <p:nvPr/>
        </p:nvSpPr>
        <p:spPr>
          <a:xfrm>
            <a:off x="1411230" y="5208395"/>
            <a:ext cx="2104687" cy="489397"/>
          </a:xfrm>
          <a:prstGeom prst="rect">
            <a:avLst/>
          </a:prstGeom>
          <a:solidFill>
            <a:srgbClr val="A9853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bg1"/>
                </a:solidFill>
                <a:latin typeface="Jost Medium" pitchFamily="2" charset="77"/>
                <a:ea typeface="Jost Medium" pitchFamily="2" charset="77"/>
                <a:cs typeface="Futura Medium" panose="020B0602020204020303" pitchFamily="34" charset="-79"/>
              </a:rPr>
              <a:t>Rendement empirique </a:t>
            </a:r>
            <a:r>
              <a:rPr lang="fr-FR" sz="1000" dirty="0" err="1">
                <a:solidFill>
                  <a:schemeClr val="bg1"/>
                </a:solidFill>
                <a:latin typeface="Jost Medium" pitchFamily="2" charset="77"/>
                <a:ea typeface="Jost Medium" pitchFamily="2" charset="77"/>
                <a:cs typeface="Futura Medium" panose="020B0602020204020303" pitchFamily="34" charset="-79"/>
              </a:rPr>
              <a:t>p.a</a:t>
            </a:r>
            <a:r>
              <a:rPr lang="fr-FR" sz="1000" dirty="0">
                <a:solidFill>
                  <a:schemeClr val="bg1"/>
                </a:solidFill>
                <a:latin typeface="Jost Medium" pitchFamily="2" charset="77"/>
                <a:ea typeface="Jost Medium" pitchFamily="2" charset="77"/>
                <a:cs typeface="Futura Medium" panose="020B0602020204020303" pitchFamily="34" charset="-79"/>
              </a:rPr>
              <a:t>.</a:t>
            </a:r>
          </a:p>
        </p:txBody>
      </p:sp>
      <p:sp>
        <p:nvSpPr>
          <p:cNvPr id="44" name="Rectangle 43">
            <a:extLst>
              <a:ext uri="{FF2B5EF4-FFF2-40B4-BE49-F238E27FC236}">
                <a16:creationId xmlns:a16="http://schemas.microsoft.com/office/drawing/2014/main" id="{CBD644D7-31D4-0CC2-F5D0-D74B0E715F47}"/>
              </a:ext>
            </a:extLst>
          </p:cNvPr>
          <p:cNvSpPr/>
          <p:nvPr/>
        </p:nvSpPr>
        <p:spPr>
          <a:xfrm>
            <a:off x="3952938" y="5216576"/>
            <a:ext cx="1800000" cy="489397"/>
          </a:xfrm>
          <a:prstGeom prst="rect">
            <a:avLst/>
          </a:prstGeom>
          <a:solidFill>
            <a:srgbClr val="A9853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bg1"/>
                </a:solidFill>
                <a:latin typeface="Jost Medium" pitchFamily="2" charset="77"/>
                <a:ea typeface="Jost Medium" pitchFamily="2" charset="77"/>
                <a:cs typeface="Futura Medium" panose="020B0602020204020303" pitchFamily="34" charset="-79"/>
              </a:rPr>
              <a:t>5.3%</a:t>
            </a:r>
          </a:p>
        </p:txBody>
      </p:sp>
      <p:sp>
        <p:nvSpPr>
          <p:cNvPr id="45" name="Rectangle 44">
            <a:extLst>
              <a:ext uri="{FF2B5EF4-FFF2-40B4-BE49-F238E27FC236}">
                <a16:creationId xmlns:a16="http://schemas.microsoft.com/office/drawing/2014/main" id="{F0C35F66-FD72-B19E-5C9A-E0D95FA9B84C}"/>
              </a:ext>
            </a:extLst>
          </p:cNvPr>
          <p:cNvSpPr/>
          <p:nvPr/>
        </p:nvSpPr>
        <p:spPr>
          <a:xfrm>
            <a:off x="5816669" y="5224758"/>
            <a:ext cx="1800000" cy="489397"/>
          </a:xfrm>
          <a:prstGeom prst="rect">
            <a:avLst/>
          </a:prstGeom>
          <a:solidFill>
            <a:srgbClr val="A9853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bg1"/>
                </a:solidFill>
                <a:latin typeface="Jost Medium" pitchFamily="2" charset="77"/>
                <a:ea typeface="Jost Medium" pitchFamily="2" charset="77"/>
                <a:cs typeface="Futura Medium" panose="020B0602020204020303" pitchFamily="34" charset="-79"/>
              </a:rPr>
              <a:t>6.7%</a:t>
            </a:r>
          </a:p>
        </p:txBody>
      </p:sp>
      <p:sp>
        <p:nvSpPr>
          <p:cNvPr id="46" name="Rectangle 45">
            <a:extLst>
              <a:ext uri="{FF2B5EF4-FFF2-40B4-BE49-F238E27FC236}">
                <a16:creationId xmlns:a16="http://schemas.microsoft.com/office/drawing/2014/main" id="{AC9C2F65-ACA4-CBC9-4154-843EE467A850}"/>
              </a:ext>
            </a:extLst>
          </p:cNvPr>
          <p:cNvSpPr/>
          <p:nvPr/>
        </p:nvSpPr>
        <p:spPr>
          <a:xfrm>
            <a:off x="7680400" y="5224758"/>
            <a:ext cx="1800000" cy="489397"/>
          </a:xfrm>
          <a:prstGeom prst="rect">
            <a:avLst/>
          </a:prstGeom>
          <a:solidFill>
            <a:srgbClr val="A9853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bg1"/>
                </a:solidFill>
                <a:latin typeface="Jost Medium" pitchFamily="2" charset="77"/>
                <a:ea typeface="Jost Medium" pitchFamily="2" charset="77"/>
                <a:cs typeface="Futura Medium" panose="020B0602020204020303" pitchFamily="34" charset="-79"/>
              </a:rPr>
              <a:t>8.4%</a:t>
            </a:r>
          </a:p>
        </p:txBody>
      </p:sp>
      <p:sp>
        <p:nvSpPr>
          <p:cNvPr id="47" name="Rectangle 46">
            <a:extLst>
              <a:ext uri="{FF2B5EF4-FFF2-40B4-BE49-F238E27FC236}">
                <a16:creationId xmlns:a16="http://schemas.microsoft.com/office/drawing/2014/main" id="{D5074DA2-B9B7-A462-5141-BB4F70B6CBC9}"/>
              </a:ext>
            </a:extLst>
          </p:cNvPr>
          <p:cNvSpPr/>
          <p:nvPr/>
        </p:nvSpPr>
        <p:spPr>
          <a:xfrm>
            <a:off x="9543503" y="5216576"/>
            <a:ext cx="1800000" cy="489397"/>
          </a:xfrm>
          <a:prstGeom prst="rect">
            <a:avLst/>
          </a:prstGeom>
          <a:solidFill>
            <a:srgbClr val="A9853F"/>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bg1"/>
                </a:solidFill>
                <a:latin typeface="Jost Medium" pitchFamily="2" charset="77"/>
                <a:ea typeface="Jost Medium" pitchFamily="2" charset="77"/>
                <a:cs typeface="Futura Medium" panose="020B0602020204020303" pitchFamily="34" charset="-79"/>
              </a:rPr>
              <a:t>10.1%</a:t>
            </a:r>
          </a:p>
        </p:txBody>
      </p:sp>
      <p:graphicFrame>
        <p:nvGraphicFramePr>
          <p:cNvPr id="55" name="Graphique 54">
            <a:extLst>
              <a:ext uri="{FF2B5EF4-FFF2-40B4-BE49-F238E27FC236}">
                <a16:creationId xmlns:a16="http://schemas.microsoft.com/office/drawing/2014/main" id="{4F743BE4-D79D-9F09-F753-96BB8E194BB7}"/>
              </a:ext>
            </a:extLst>
          </p:cNvPr>
          <p:cNvGraphicFramePr>
            <a:graphicFrameLocks/>
          </p:cNvGraphicFramePr>
          <p:nvPr>
            <p:extLst>
              <p:ext uri="{D42A27DB-BD31-4B8C-83A1-F6EECF244321}">
                <p14:modId xmlns:p14="http://schemas.microsoft.com/office/powerpoint/2010/main" val="169128645"/>
              </p:ext>
            </p:extLst>
          </p:nvPr>
        </p:nvGraphicFramePr>
        <p:xfrm>
          <a:off x="3847651" y="2645057"/>
          <a:ext cx="1716915" cy="269403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6" name="Graphique 55">
            <a:extLst>
              <a:ext uri="{FF2B5EF4-FFF2-40B4-BE49-F238E27FC236}">
                <a16:creationId xmlns:a16="http://schemas.microsoft.com/office/drawing/2014/main" id="{3BA9CDD8-3A8E-DD3A-DE3C-C1EAD7BF9BEB}"/>
              </a:ext>
            </a:extLst>
          </p:cNvPr>
          <p:cNvGraphicFramePr>
            <a:graphicFrameLocks/>
          </p:cNvGraphicFramePr>
          <p:nvPr>
            <p:extLst>
              <p:ext uri="{D42A27DB-BD31-4B8C-83A1-F6EECF244321}">
                <p14:modId xmlns:p14="http://schemas.microsoft.com/office/powerpoint/2010/main" val="2269701138"/>
              </p:ext>
            </p:extLst>
          </p:nvPr>
        </p:nvGraphicFramePr>
        <p:xfrm>
          <a:off x="5720497" y="2643155"/>
          <a:ext cx="1223890" cy="269403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7" name="Graphique 56">
            <a:extLst>
              <a:ext uri="{FF2B5EF4-FFF2-40B4-BE49-F238E27FC236}">
                <a16:creationId xmlns:a16="http://schemas.microsoft.com/office/drawing/2014/main" id="{99B994F2-C998-715B-35F0-8A07F732181A}"/>
              </a:ext>
            </a:extLst>
          </p:cNvPr>
          <p:cNvGraphicFramePr>
            <a:graphicFrameLocks/>
          </p:cNvGraphicFramePr>
          <p:nvPr>
            <p:extLst>
              <p:ext uri="{D42A27DB-BD31-4B8C-83A1-F6EECF244321}">
                <p14:modId xmlns:p14="http://schemas.microsoft.com/office/powerpoint/2010/main" val="1514348460"/>
              </p:ext>
            </p:extLst>
          </p:nvPr>
        </p:nvGraphicFramePr>
        <p:xfrm>
          <a:off x="7581883" y="2637886"/>
          <a:ext cx="1800001" cy="271406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8" name="Graphique 57">
            <a:extLst>
              <a:ext uri="{FF2B5EF4-FFF2-40B4-BE49-F238E27FC236}">
                <a16:creationId xmlns:a16="http://schemas.microsoft.com/office/drawing/2014/main" id="{DE2A15DE-9D70-FECB-4A3C-D6D7A5BAFE8B}"/>
              </a:ext>
            </a:extLst>
          </p:cNvPr>
          <p:cNvGraphicFramePr>
            <a:graphicFrameLocks/>
          </p:cNvGraphicFramePr>
          <p:nvPr>
            <p:extLst>
              <p:ext uri="{D42A27DB-BD31-4B8C-83A1-F6EECF244321}">
                <p14:modId xmlns:p14="http://schemas.microsoft.com/office/powerpoint/2010/main" val="4047134078"/>
              </p:ext>
            </p:extLst>
          </p:nvPr>
        </p:nvGraphicFramePr>
        <p:xfrm>
          <a:off x="9447618" y="2643155"/>
          <a:ext cx="1800000" cy="2705078"/>
        </p:xfrm>
        <a:graphic>
          <a:graphicData uri="http://schemas.openxmlformats.org/drawingml/2006/chart">
            <c:chart xmlns:c="http://schemas.openxmlformats.org/drawingml/2006/chart" xmlns:r="http://schemas.openxmlformats.org/officeDocument/2006/relationships" r:id="rId6"/>
          </a:graphicData>
        </a:graphic>
      </p:graphicFrame>
      <p:pic>
        <p:nvPicPr>
          <p:cNvPr id="59" name="Image 58">
            <a:extLst>
              <a:ext uri="{FF2B5EF4-FFF2-40B4-BE49-F238E27FC236}">
                <a16:creationId xmlns:a16="http://schemas.microsoft.com/office/drawing/2014/main" id="{4E514078-5A4C-4FE9-5CE3-A184C959D7BF}"/>
              </a:ext>
            </a:extLst>
          </p:cNvPr>
          <p:cNvPicPr>
            <a:picLocks noChangeAspect="1"/>
          </p:cNvPicPr>
          <p:nvPr/>
        </p:nvPicPr>
        <p:blipFill>
          <a:blip r:embed="rId7">
            <a:duotone>
              <a:prstClr val="black"/>
              <a:srgbClr val="063527">
                <a:tint val="45000"/>
                <a:satMod val="400000"/>
              </a:srgbClr>
            </a:duotone>
          </a:blip>
          <a:stretch>
            <a:fillRect/>
          </a:stretch>
        </p:blipFill>
        <p:spPr>
          <a:xfrm>
            <a:off x="11005640" y="374477"/>
            <a:ext cx="792892" cy="264297"/>
          </a:xfrm>
          <a:prstGeom prst="rect">
            <a:avLst/>
          </a:prstGeom>
        </p:spPr>
      </p:pic>
      <p:sp>
        <p:nvSpPr>
          <p:cNvPr id="60" name="ZoneTexte 59">
            <a:extLst>
              <a:ext uri="{FF2B5EF4-FFF2-40B4-BE49-F238E27FC236}">
                <a16:creationId xmlns:a16="http://schemas.microsoft.com/office/drawing/2014/main" id="{A2C33F3D-9984-FF30-0BD2-75E00133E290}"/>
              </a:ext>
            </a:extLst>
          </p:cNvPr>
          <p:cNvSpPr txBox="1"/>
          <p:nvPr/>
        </p:nvSpPr>
        <p:spPr>
          <a:xfrm>
            <a:off x="4229714" y="2920390"/>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9%</a:t>
            </a:r>
          </a:p>
        </p:txBody>
      </p:sp>
      <p:sp>
        <p:nvSpPr>
          <p:cNvPr id="61" name="ZoneTexte 60">
            <a:extLst>
              <a:ext uri="{FF2B5EF4-FFF2-40B4-BE49-F238E27FC236}">
                <a16:creationId xmlns:a16="http://schemas.microsoft.com/office/drawing/2014/main" id="{54964798-551B-4BCD-C179-C9EF4748F9FE}"/>
              </a:ext>
            </a:extLst>
          </p:cNvPr>
          <p:cNvSpPr txBox="1"/>
          <p:nvPr/>
        </p:nvSpPr>
        <p:spPr>
          <a:xfrm>
            <a:off x="4417309" y="3401780"/>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19%</a:t>
            </a:r>
          </a:p>
        </p:txBody>
      </p:sp>
      <p:sp>
        <p:nvSpPr>
          <p:cNvPr id="62" name="ZoneTexte 61">
            <a:extLst>
              <a:ext uri="{FF2B5EF4-FFF2-40B4-BE49-F238E27FC236}">
                <a16:creationId xmlns:a16="http://schemas.microsoft.com/office/drawing/2014/main" id="{50FFC12D-8991-8B4B-3BFE-4CB8C9537ACA}"/>
              </a:ext>
            </a:extLst>
          </p:cNvPr>
          <p:cNvSpPr txBox="1"/>
          <p:nvPr/>
        </p:nvSpPr>
        <p:spPr>
          <a:xfrm>
            <a:off x="4503872" y="3903275"/>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22%</a:t>
            </a:r>
          </a:p>
        </p:txBody>
      </p:sp>
      <p:sp>
        <p:nvSpPr>
          <p:cNvPr id="63" name="ZoneTexte 62">
            <a:extLst>
              <a:ext uri="{FF2B5EF4-FFF2-40B4-BE49-F238E27FC236}">
                <a16:creationId xmlns:a16="http://schemas.microsoft.com/office/drawing/2014/main" id="{567662E4-6C8A-A750-055F-8DFDAF3C5A8C}"/>
              </a:ext>
            </a:extLst>
          </p:cNvPr>
          <p:cNvSpPr txBox="1"/>
          <p:nvPr/>
        </p:nvSpPr>
        <p:spPr>
          <a:xfrm>
            <a:off x="5047587" y="4384665"/>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45%</a:t>
            </a:r>
          </a:p>
        </p:txBody>
      </p:sp>
      <p:sp>
        <p:nvSpPr>
          <p:cNvPr id="64" name="ZoneTexte 63">
            <a:extLst>
              <a:ext uri="{FF2B5EF4-FFF2-40B4-BE49-F238E27FC236}">
                <a16:creationId xmlns:a16="http://schemas.microsoft.com/office/drawing/2014/main" id="{4CADF04C-1876-8630-150A-41B400A893D5}"/>
              </a:ext>
            </a:extLst>
          </p:cNvPr>
          <p:cNvSpPr txBox="1"/>
          <p:nvPr/>
        </p:nvSpPr>
        <p:spPr>
          <a:xfrm>
            <a:off x="4078665" y="4857544"/>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5%</a:t>
            </a:r>
          </a:p>
        </p:txBody>
      </p:sp>
      <p:sp>
        <p:nvSpPr>
          <p:cNvPr id="65" name="ZoneTexte 64">
            <a:extLst>
              <a:ext uri="{FF2B5EF4-FFF2-40B4-BE49-F238E27FC236}">
                <a16:creationId xmlns:a16="http://schemas.microsoft.com/office/drawing/2014/main" id="{D2839A12-88CF-2A99-7B66-224A3E12357D}"/>
              </a:ext>
            </a:extLst>
          </p:cNvPr>
          <p:cNvSpPr txBox="1"/>
          <p:nvPr/>
        </p:nvSpPr>
        <p:spPr>
          <a:xfrm>
            <a:off x="6416341" y="2920390"/>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24%</a:t>
            </a:r>
          </a:p>
        </p:txBody>
      </p:sp>
      <p:sp>
        <p:nvSpPr>
          <p:cNvPr id="66" name="ZoneTexte 65">
            <a:extLst>
              <a:ext uri="{FF2B5EF4-FFF2-40B4-BE49-F238E27FC236}">
                <a16:creationId xmlns:a16="http://schemas.microsoft.com/office/drawing/2014/main" id="{53351FB4-EAB1-C82E-4B22-DA1A2D0C224E}"/>
              </a:ext>
            </a:extLst>
          </p:cNvPr>
          <p:cNvSpPr txBox="1"/>
          <p:nvPr/>
        </p:nvSpPr>
        <p:spPr>
          <a:xfrm>
            <a:off x="6357653" y="3417623"/>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22%</a:t>
            </a:r>
          </a:p>
        </p:txBody>
      </p:sp>
      <p:sp>
        <p:nvSpPr>
          <p:cNvPr id="67" name="ZoneTexte 66">
            <a:extLst>
              <a:ext uri="{FF2B5EF4-FFF2-40B4-BE49-F238E27FC236}">
                <a16:creationId xmlns:a16="http://schemas.microsoft.com/office/drawing/2014/main" id="{FBDD20AE-5BA0-3A1A-B0E7-1AF38E06EB48}"/>
              </a:ext>
            </a:extLst>
          </p:cNvPr>
          <p:cNvSpPr txBox="1"/>
          <p:nvPr/>
        </p:nvSpPr>
        <p:spPr>
          <a:xfrm>
            <a:off x="6357653" y="3903275"/>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22%</a:t>
            </a:r>
          </a:p>
        </p:txBody>
      </p:sp>
      <p:sp>
        <p:nvSpPr>
          <p:cNvPr id="68" name="ZoneTexte 67">
            <a:extLst>
              <a:ext uri="{FF2B5EF4-FFF2-40B4-BE49-F238E27FC236}">
                <a16:creationId xmlns:a16="http://schemas.microsoft.com/office/drawing/2014/main" id="{B44EADFC-619F-8417-AFBB-61718011D8A3}"/>
              </a:ext>
            </a:extLst>
          </p:cNvPr>
          <p:cNvSpPr txBox="1"/>
          <p:nvPr/>
        </p:nvSpPr>
        <p:spPr>
          <a:xfrm>
            <a:off x="6464144" y="4384665"/>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27%</a:t>
            </a:r>
          </a:p>
        </p:txBody>
      </p:sp>
      <p:sp>
        <p:nvSpPr>
          <p:cNvPr id="69" name="ZoneTexte 68">
            <a:extLst>
              <a:ext uri="{FF2B5EF4-FFF2-40B4-BE49-F238E27FC236}">
                <a16:creationId xmlns:a16="http://schemas.microsoft.com/office/drawing/2014/main" id="{99A4F695-5BFB-967A-C72C-59AB44C55A79}"/>
              </a:ext>
            </a:extLst>
          </p:cNvPr>
          <p:cNvSpPr txBox="1"/>
          <p:nvPr/>
        </p:nvSpPr>
        <p:spPr>
          <a:xfrm>
            <a:off x="5978716" y="4879876"/>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5%</a:t>
            </a:r>
          </a:p>
        </p:txBody>
      </p:sp>
      <p:sp>
        <p:nvSpPr>
          <p:cNvPr id="70" name="ZoneTexte 69">
            <a:extLst>
              <a:ext uri="{FF2B5EF4-FFF2-40B4-BE49-F238E27FC236}">
                <a16:creationId xmlns:a16="http://schemas.microsoft.com/office/drawing/2014/main" id="{5D541A9F-C27D-F996-AF00-A1EFAB538900}"/>
              </a:ext>
            </a:extLst>
          </p:cNvPr>
          <p:cNvSpPr txBox="1"/>
          <p:nvPr/>
        </p:nvSpPr>
        <p:spPr>
          <a:xfrm>
            <a:off x="8686041" y="2920390"/>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39%</a:t>
            </a:r>
          </a:p>
        </p:txBody>
      </p:sp>
      <p:sp>
        <p:nvSpPr>
          <p:cNvPr id="71" name="ZoneTexte 70">
            <a:extLst>
              <a:ext uri="{FF2B5EF4-FFF2-40B4-BE49-F238E27FC236}">
                <a16:creationId xmlns:a16="http://schemas.microsoft.com/office/drawing/2014/main" id="{3B036571-43F4-4887-88FF-4898AAF59B4C}"/>
              </a:ext>
            </a:extLst>
          </p:cNvPr>
          <p:cNvSpPr txBox="1"/>
          <p:nvPr/>
        </p:nvSpPr>
        <p:spPr>
          <a:xfrm>
            <a:off x="8265602" y="3415686"/>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24%</a:t>
            </a:r>
          </a:p>
        </p:txBody>
      </p:sp>
      <p:sp>
        <p:nvSpPr>
          <p:cNvPr id="72" name="ZoneTexte 71">
            <a:extLst>
              <a:ext uri="{FF2B5EF4-FFF2-40B4-BE49-F238E27FC236}">
                <a16:creationId xmlns:a16="http://schemas.microsoft.com/office/drawing/2014/main" id="{20209E98-8FC5-DE9A-C1CC-B18B5661E0CC}"/>
              </a:ext>
            </a:extLst>
          </p:cNvPr>
          <p:cNvSpPr txBox="1"/>
          <p:nvPr/>
        </p:nvSpPr>
        <p:spPr>
          <a:xfrm>
            <a:off x="8156019" y="3902095"/>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18%</a:t>
            </a:r>
          </a:p>
        </p:txBody>
      </p:sp>
      <p:sp>
        <p:nvSpPr>
          <p:cNvPr id="73" name="ZoneTexte 72">
            <a:extLst>
              <a:ext uri="{FF2B5EF4-FFF2-40B4-BE49-F238E27FC236}">
                <a16:creationId xmlns:a16="http://schemas.microsoft.com/office/drawing/2014/main" id="{20AABB48-7C0B-4606-DE3F-886CD0134BE6}"/>
              </a:ext>
            </a:extLst>
          </p:cNvPr>
          <p:cNvSpPr txBox="1"/>
          <p:nvPr/>
        </p:nvSpPr>
        <p:spPr>
          <a:xfrm>
            <a:off x="8041677" y="4375599"/>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14%</a:t>
            </a:r>
          </a:p>
        </p:txBody>
      </p:sp>
      <p:sp>
        <p:nvSpPr>
          <p:cNvPr id="74" name="ZoneTexte 73">
            <a:extLst>
              <a:ext uri="{FF2B5EF4-FFF2-40B4-BE49-F238E27FC236}">
                <a16:creationId xmlns:a16="http://schemas.microsoft.com/office/drawing/2014/main" id="{B2FA92A8-4C43-FF1B-EE96-AE72C2C72FAB}"/>
              </a:ext>
            </a:extLst>
          </p:cNvPr>
          <p:cNvSpPr txBox="1"/>
          <p:nvPr/>
        </p:nvSpPr>
        <p:spPr>
          <a:xfrm>
            <a:off x="7823173" y="4879876"/>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5%</a:t>
            </a:r>
          </a:p>
        </p:txBody>
      </p:sp>
      <p:sp>
        <p:nvSpPr>
          <p:cNvPr id="75" name="ZoneTexte 74">
            <a:extLst>
              <a:ext uri="{FF2B5EF4-FFF2-40B4-BE49-F238E27FC236}">
                <a16:creationId xmlns:a16="http://schemas.microsoft.com/office/drawing/2014/main" id="{7C555DE0-A7B3-3349-CE15-5075D98CD38D}"/>
              </a:ext>
            </a:extLst>
          </p:cNvPr>
          <p:cNvSpPr txBox="1"/>
          <p:nvPr/>
        </p:nvSpPr>
        <p:spPr>
          <a:xfrm>
            <a:off x="10962715" y="2890445"/>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55%</a:t>
            </a:r>
          </a:p>
        </p:txBody>
      </p:sp>
      <p:sp>
        <p:nvSpPr>
          <p:cNvPr id="76" name="ZoneTexte 75">
            <a:extLst>
              <a:ext uri="{FF2B5EF4-FFF2-40B4-BE49-F238E27FC236}">
                <a16:creationId xmlns:a16="http://schemas.microsoft.com/office/drawing/2014/main" id="{0D78BDB8-9337-5C3A-E799-D2E546DF4DB6}"/>
              </a:ext>
            </a:extLst>
          </p:cNvPr>
          <p:cNvSpPr txBox="1"/>
          <p:nvPr/>
        </p:nvSpPr>
        <p:spPr>
          <a:xfrm>
            <a:off x="10162581" y="3415686"/>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23%</a:t>
            </a:r>
          </a:p>
        </p:txBody>
      </p:sp>
      <p:sp>
        <p:nvSpPr>
          <p:cNvPr id="77" name="ZoneTexte 76">
            <a:extLst>
              <a:ext uri="{FF2B5EF4-FFF2-40B4-BE49-F238E27FC236}">
                <a16:creationId xmlns:a16="http://schemas.microsoft.com/office/drawing/2014/main" id="{6AF67AE5-9C3B-60BB-1386-66774429EEEA}"/>
              </a:ext>
            </a:extLst>
          </p:cNvPr>
          <p:cNvSpPr txBox="1"/>
          <p:nvPr/>
        </p:nvSpPr>
        <p:spPr>
          <a:xfrm>
            <a:off x="9777811" y="3872852"/>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10%</a:t>
            </a:r>
          </a:p>
        </p:txBody>
      </p:sp>
      <p:sp>
        <p:nvSpPr>
          <p:cNvPr id="78" name="ZoneTexte 77">
            <a:extLst>
              <a:ext uri="{FF2B5EF4-FFF2-40B4-BE49-F238E27FC236}">
                <a16:creationId xmlns:a16="http://schemas.microsoft.com/office/drawing/2014/main" id="{48C553DB-8173-BEFC-6096-DE1B75DB1552}"/>
              </a:ext>
            </a:extLst>
          </p:cNvPr>
          <p:cNvSpPr txBox="1"/>
          <p:nvPr/>
        </p:nvSpPr>
        <p:spPr>
          <a:xfrm>
            <a:off x="9747731" y="4372316"/>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7%</a:t>
            </a:r>
          </a:p>
        </p:txBody>
      </p:sp>
      <p:sp>
        <p:nvSpPr>
          <p:cNvPr id="79" name="ZoneTexte 78">
            <a:extLst>
              <a:ext uri="{FF2B5EF4-FFF2-40B4-BE49-F238E27FC236}">
                <a16:creationId xmlns:a16="http://schemas.microsoft.com/office/drawing/2014/main" id="{C0E025D4-621D-1B18-0DBB-C3C65CBF29FF}"/>
              </a:ext>
            </a:extLst>
          </p:cNvPr>
          <p:cNvSpPr txBox="1"/>
          <p:nvPr/>
        </p:nvSpPr>
        <p:spPr>
          <a:xfrm>
            <a:off x="9686534" y="4875692"/>
            <a:ext cx="665692" cy="230832"/>
          </a:xfrm>
          <a:prstGeom prst="rect">
            <a:avLst/>
          </a:prstGeom>
          <a:noFill/>
        </p:spPr>
        <p:txBody>
          <a:bodyPr wrap="square" rtlCol="0">
            <a:spAutoFit/>
          </a:bodyPr>
          <a:lstStyle/>
          <a:p>
            <a:r>
              <a:rPr lang="fr-FR" sz="900" dirty="0">
                <a:latin typeface="Jost Medium" pitchFamily="2" charset="77"/>
                <a:ea typeface="Jost Medium" pitchFamily="2" charset="77"/>
                <a:cs typeface="Futura Medium" panose="020B0602020204020303" pitchFamily="34" charset="-79"/>
              </a:rPr>
              <a:t>5%</a:t>
            </a:r>
          </a:p>
        </p:txBody>
      </p:sp>
    </p:spTree>
    <p:extLst>
      <p:ext uri="{BB962C8B-B14F-4D97-AF65-F5344CB8AC3E}">
        <p14:creationId xmlns:p14="http://schemas.microsoft.com/office/powerpoint/2010/main" val="156870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B89D7-C138-4895-80F2-F7E71E0BAB4E}"/>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23F5B1EA-6769-7ED3-F7E3-454C31CE259C}"/>
              </a:ext>
            </a:extLst>
          </p:cNvPr>
          <p:cNvSpPr/>
          <p:nvPr/>
        </p:nvSpPr>
        <p:spPr>
          <a:xfrm>
            <a:off x="464234" y="351693"/>
            <a:ext cx="9303654" cy="613841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2E3EE8D9-E1D4-626E-BA85-E2A92102FBB3}"/>
              </a:ext>
            </a:extLst>
          </p:cNvPr>
          <p:cNvSpPr txBox="1"/>
          <p:nvPr/>
        </p:nvSpPr>
        <p:spPr>
          <a:xfrm>
            <a:off x="1310516" y="3429000"/>
            <a:ext cx="5139711" cy="1200329"/>
          </a:xfrm>
          <a:prstGeom prst="rect">
            <a:avLst/>
          </a:prstGeom>
          <a:noFill/>
        </p:spPr>
        <p:txBody>
          <a:bodyPr wrap="square" rtlCol="0">
            <a:spAutoFit/>
          </a:bodyPr>
          <a:lstStyle/>
          <a:p>
            <a:r>
              <a:rPr lang="fr-FR" sz="3600" b="1" dirty="0">
                <a:solidFill>
                  <a:srgbClr val="E7DCC7"/>
                </a:solidFill>
                <a:latin typeface="Jost SemiBold" pitchFamily="2" charset="77"/>
                <a:ea typeface="Jost SemiBold" pitchFamily="2" charset="77"/>
                <a:cs typeface="Futura" panose="020B0602020204020303" pitchFamily="34" charset="-79"/>
              </a:rPr>
              <a:t>4. Vous accompagner sur le long terme</a:t>
            </a:r>
          </a:p>
        </p:txBody>
      </p:sp>
      <p:sp>
        <p:nvSpPr>
          <p:cNvPr id="12" name="Shape 8">
            <a:extLst>
              <a:ext uri="{FF2B5EF4-FFF2-40B4-BE49-F238E27FC236}">
                <a16:creationId xmlns:a16="http://schemas.microsoft.com/office/drawing/2014/main" id="{D4F84BA2-186F-3D56-E480-0F166626944B}"/>
              </a:ext>
            </a:extLst>
          </p:cNvPr>
          <p:cNvSpPr/>
          <p:nvPr/>
        </p:nvSpPr>
        <p:spPr>
          <a:xfrm>
            <a:off x="1371476" y="5750000"/>
            <a:ext cx="2009154" cy="0"/>
          </a:xfrm>
          <a:prstGeom prst="line">
            <a:avLst/>
          </a:prstGeom>
          <a:noFill/>
          <a:ln w="19050">
            <a:solidFill>
              <a:srgbClr val="A9853F"/>
            </a:solidFill>
            <a:prstDash val="solid"/>
          </a:ln>
        </p:spPr>
        <p:txBody>
          <a:bodyPr/>
          <a:lstStyle/>
          <a:p>
            <a:endParaRPr lang="fr-FR"/>
          </a:p>
        </p:txBody>
      </p:sp>
      <p:pic>
        <p:nvPicPr>
          <p:cNvPr id="19" name="Image 18">
            <a:extLst>
              <a:ext uri="{FF2B5EF4-FFF2-40B4-BE49-F238E27FC236}">
                <a16:creationId xmlns:a16="http://schemas.microsoft.com/office/drawing/2014/main" id="{D9FF2A72-B5ED-601E-3468-A5B4030F0589}"/>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54583" t="-21403" r="19496" b="-27711"/>
          <a:stretch>
            <a:fillRect/>
          </a:stretch>
        </p:blipFill>
        <p:spPr>
          <a:xfrm>
            <a:off x="9767888" y="156744"/>
            <a:ext cx="2441045" cy="7327940"/>
          </a:xfrm>
          <a:prstGeom prst="rect">
            <a:avLst/>
          </a:prstGeom>
        </p:spPr>
      </p:pic>
      <p:pic>
        <p:nvPicPr>
          <p:cNvPr id="20" name="Image 19">
            <a:extLst>
              <a:ext uri="{FF2B5EF4-FFF2-40B4-BE49-F238E27FC236}">
                <a16:creationId xmlns:a16="http://schemas.microsoft.com/office/drawing/2014/main" id="{042E1A3A-002C-B886-18DD-1205A0D27623}"/>
              </a:ext>
            </a:extLst>
          </p:cNvPr>
          <p:cNvPicPr>
            <a:picLocks noChangeAspect="1"/>
          </p:cNvPicPr>
          <p:nvPr/>
        </p:nvPicPr>
        <p:blipFill>
          <a:blip r:embed="rId4">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3678175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Image 35">
            <a:extLst>
              <a:ext uri="{FF2B5EF4-FFF2-40B4-BE49-F238E27FC236}">
                <a16:creationId xmlns:a16="http://schemas.microsoft.com/office/drawing/2014/main" id="{82BC8F72-A4CE-3273-305A-41A3CD7D4AEC}"/>
              </a:ext>
            </a:extLst>
          </p:cNvPr>
          <p:cNvPicPr>
            <a:picLocks noChangeAspect="1"/>
          </p:cNvPicPr>
          <p:nvPr/>
        </p:nvPicPr>
        <p:blipFill>
          <a:blip r:embed="rId2">
            <a:alphaModFix amt="5000"/>
          </a:blip>
          <a:srcRect l="7522" b="6232"/>
          <a:stretch>
            <a:fillRect/>
          </a:stretch>
        </p:blipFill>
        <p:spPr>
          <a:xfrm rot="10800000">
            <a:off x="170866" y="-1822"/>
            <a:ext cx="12021133" cy="6859822"/>
          </a:xfrm>
          <a:prstGeom prst="rect">
            <a:avLst/>
          </a:prstGeom>
        </p:spPr>
      </p:pic>
      <p:sp>
        <p:nvSpPr>
          <p:cNvPr id="2" name="Rectangle 1">
            <a:extLst>
              <a:ext uri="{FF2B5EF4-FFF2-40B4-BE49-F238E27FC236}">
                <a16:creationId xmlns:a16="http://schemas.microsoft.com/office/drawing/2014/main" id="{6DD7D682-DDBA-8AFA-EC7E-5BAB80437690}"/>
              </a:ext>
            </a:extLst>
          </p:cNvPr>
          <p:cNvSpPr/>
          <p:nvPr/>
        </p:nvSpPr>
        <p:spPr>
          <a:xfrm>
            <a:off x="0" y="0"/>
            <a:ext cx="3021496"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95D1A037-F3D6-6237-3853-9A589CCAF577}"/>
              </a:ext>
            </a:extLst>
          </p:cNvPr>
          <p:cNvSpPr/>
          <p:nvPr/>
        </p:nvSpPr>
        <p:spPr>
          <a:xfrm>
            <a:off x="475488" y="1481328"/>
            <a:ext cx="2057400" cy="2944368"/>
          </a:xfrm>
          <a:prstGeom prst="rect">
            <a:avLst/>
          </a:prstGeom>
          <a:solidFill>
            <a:srgbClr val="FC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5" descr="image5.png">
            <a:extLst>
              <a:ext uri="{FF2B5EF4-FFF2-40B4-BE49-F238E27FC236}">
                <a16:creationId xmlns:a16="http://schemas.microsoft.com/office/drawing/2014/main" id="{9D905A30-F859-AD8F-0E3B-33C18B855328}"/>
              </a:ext>
            </a:extLst>
          </p:cNvPr>
          <p:cNvPicPr>
            <a:picLocks noChangeAspect="1"/>
          </p:cNvPicPr>
          <p:nvPr/>
        </p:nvPicPr>
        <p:blipFill>
          <a:blip r:embed="rId2"/>
          <a:srcRect l="55000" t="2000"/>
          <a:stretch>
            <a:fillRect/>
          </a:stretch>
        </p:blipFill>
        <p:spPr>
          <a:xfrm>
            <a:off x="804672" y="1792224"/>
            <a:ext cx="2697480" cy="3182112"/>
          </a:xfrm>
          <a:prstGeom prst="rect">
            <a:avLst/>
          </a:prstGeom>
        </p:spPr>
      </p:pic>
      <p:cxnSp>
        <p:nvCxnSpPr>
          <p:cNvPr id="7" name="Connecteur droit 6">
            <a:extLst>
              <a:ext uri="{FF2B5EF4-FFF2-40B4-BE49-F238E27FC236}">
                <a16:creationId xmlns:a16="http://schemas.microsoft.com/office/drawing/2014/main" id="{910BBA73-A35F-B9AC-3582-F99579B56E9B}"/>
              </a:ext>
            </a:extLst>
          </p:cNvPr>
          <p:cNvCxnSpPr>
            <a:cxnSpLocks/>
          </p:cNvCxnSpPr>
          <p:nvPr/>
        </p:nvCxnSpPr>
        <p:spPr>
          <a:xfrm>
            <a:off x="4794009" y="2715567"/>
            <a:ext cx="5891039" cy="0"/>
          </a:xfrm>
          <a:prstGeom prst="line">
            <a:avLst/>
          </a:prstGeom>
          <a:ln w="12700">
            <a:solidFill>
              <a:srgbClr val="AA853F"/>
            </a:solidFill>
          </a:ln>
        </p:spPr>
        <p:style>
          <a:lnRef idx="1">
            <a:schemeClr val="accent1"/>
          </a:lnRef>
          <a:fillRef idx="0">
            <a:schemeClr val="accent1"/>
          </a:fillRef>
          <a:effectRef idx="0">
            <a:schemeClr val="accent1"/>
          </a:effectRef>
          <a:fontRef idx="minor">
            <a:schemeClr val="tx1"/>
          </a:fontRef>
        </p:style>
      </p:cxnSp>
      <p:sp>
        <p:nvSpPr>
          <p:cNvPr id="10" name="Ellipse 9">
            <a:extLst>
              <a:ext uri="{FF2B5EF4-FFF2-40B4-BE49-F238E27FC236}">
                <a16:creationId xmlns:a16="http://schemas.microsoft.com/office/drawing/2014/main" id="{D03683C4-6EE9-6D62-1D21-A8A81D93893E}"/>
              </a:ext>
            </a:extLst>
          </p:cNvPr>
          <p:cNvSpPr/>
          <p:nvPr/>
        </p:nvSpPr>
        <p:spPr>
          <a:xfrm>
            <a:off x="5216078" y="2407454"/>
            <a:ext cx="666000" cy="666000"/>
          </a:xfrm>
          <a:prstGeom prst="ellipse">
            <a:avLst/>
          </a:prstGeom>
          <a:solidFill>
            <a:srgbClr val="E7DCC7"/>
          </a:solidFill>
          <a:ln>
            <a:solidFill>
              <a:srgbClr val="AA8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Jost Black" pitchFamily="2" charset="77"/>
                <a:ea typeface="Jost Black" pitchFamily="2" charset="77"/>
              </a:rPr>
              <a:t>1</a:t>
            </a:r>
          </a:p>
        </p:txBody>
      </p:sp>
      <p:sp>
        <p:nvSpPr>
          <p:cNvPr id="11" name="Ellipse 10">
            <a:extLst>
              <a:ext uri="{FF2B5EF4-FFF2-40B4-BE49-F238E27FC236}">
                <a16:creationId xmlns:a16="http://schemas.microsoft.com/office/drawing/2014/main" id="{BC557EC0-B9BE-7B0E-AE3A-3CC21EB741C7}"/>
              </a:ext>
            </a:extLst>
          </p:cNvPr>
          <p:cNvSpPr/>
          <p:nvPr/>
        </p:nvSpPr>
        <p:spPr>
          <a:xfrm>
            <a:off x="6688805" y="2407454"/>
            <a:ext cx="666000" cy="666000"/>
          </a:xfrm>
          <a:prstGeom prst="ellipse">
            <a:avLst/>
          </a:prstGeom>
          <a:solidFill>
            <a:srgbClr val="E6C989"/>
          </a:solidFill>
          <a:ln>
            <a:solidFill>
              <a:srgbClr val="AA8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Jost Black" pitchFamily="2" charset="77"/>
                <a:ea typeface="Jost Black" pitchFamily="2" charset="77"/>
              </a:rPr>
              <a:t>2</a:t>
            </a:r>
          </a:p>
        </p:txBody>
      </p:sp>
      <p:sp>
        <p:nvSpPr>
          <p:cNvPr id="12" name="Ellipse 11">
            <a:extLst>
              <a:ext uri="{FF2B5EF4-FFF2-40B4-BE49-F238E27FC236}">
                <a16:creationId xmlns:a16="http://schemas.microsoft.com/office/drawing/2014/main" id="{8FA21013-BED1-DA5B-5ADB-79137A303F3C}"/>
              </a:ext>
            </a:extLst>
          </p:cNvPr>
          <p:cNvSpPr/>
          <p:nvPr/>
        </p:nvSpPr>
        <p:spPr>
          <a:xfrm>
            <a:off x="8161532" y="2382567"/>
            <a:ext cx="666000" cy="666000"/>
          </a:xfrm>
          <a:prstGeom prst="ellipse">
            <a:avLst/>
          </a:prstGeom>
          <a:solidFill>
            <a:srgbClr val="AA853F"/>
          </a:solidFill>
          <a:ln>
            <a:solidFill>
              <a:srgbClr val="AA8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Jost Black" pitchFamily="2" charset="77"/>
                <a:ea typeface="Jost Black" pitchFamily="2" charset="77"/>
              </a:rPr>
              <a:t>3</a:t>
            </a:r>
          </a:p>
        </p:txBody>
      </p:sp>
      <p:sp>
        <p:nvSpPr>
          <p:cNvPr id="13" name="Ellipse 12">
            <a:extLst>
              <a:ext uri="{FF2B5EF4-FFF2-40B4-BE49-F238E27FC236}">
                <a16:creationId xmlns:a16="http://schemas.microsoft.com/office/drawing/2014/main" id="{1CA13EB3-F4C0-D703-1A78-EEBECA1050E7}"/>
              </a:ext>
            </a:extLst>
          </p:cNvPr>
          <p:cNvSpPr/>
          <p:nvPr/>
        </p:nvSpPr>
        <p:spPr>
          <a:xfrm>
            <a:off x="9634259" y="2407454"/>
            <a:ext cx="666000" cy="666000"/>
          </a:xfrm>
          <a:prstGeom prst="ellipse">
            <a:avLst/>
          </a:prstGeom>
          <a:solidFill>
            <a:srgbClr val="001A00"/>
          </a:solidFill>
          <a:ln>
            <a:solidFill>
              <a:srgbClr val="AA8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latin typeface="Jost Black" pitchFamily="2" charset="77"/>
                <a:ea typeface="Jost Black" pitchFamily="2" charset="77"/>
              </a:rPr>
              <a:t>4</a:t>
            </a:r>
          </a:p>
        </p:txBody>
      </p:sp>
      <p:pic>
        <p:nvPicPr>
          <p:cNvPr id="15" name="Image 14">
            <a:extLst>
              <a:ext uri="{FF2B5EF4-FFF2-40B4-BE49-F238E27FC236}">
                <a16:creationId xmlns:a16="http://schemas.microsoft.com/office/drawing/2014/main" id="{70B49B28-7833-F31B-B9AD-C8012DC25524}"/>
              </a:ext>
            </a:extLst>
          </p:cNvPr>
          <p:cNvPicPr>
            <a:picLocks noChangeAspect="1"/>
          </p:cNvPicPr>
          <p:nvPr/>
        </p:nvPicPr>
        <p:blipFill>
          <a:blip r:embed="rId3">
            <a:duotone>
              <a:prstClr val="black"/>
              <a:srgbClr val="063527">
                <a:tint val="45000"/>
                <a:satMod val="400000"/>
              </a:srgbClr>
            </a:duotone>
          </a:blip>
          <a:stretch>
            <a:fillRect/>
          </a:stretch>
        </p:blipFill>
        <p:spPr>
          <a:xfrm>
            <a:off x="11005640" y="374477"/>
            <a:ext cx="792892" cy="264297"/>
          </a:xfrm>
          <a:prstGeom prst="rect">
            <a:avLst/>
          </a:prstGeom>
        </p:spPr>
      </p:pic>
      <p:sp>
        <p:nvSpPr>
          <p:cNvPr id="16" name="Rectangle 15">
            <a:extLst>
              <a:ext uri="{FF2B5EF4-FFF2-40B4-BE49-F238E27FC236}">
                <a16:creationId xmlns:a16="http://schemas.microsoft.com/office/drawing/2014/main" id="{FEC3B86A-15CD-7D9C-2DD9-9F589BF45562}"/>
              </a:ext>
            </a:extLst>
          </p:cNvPr>
          <p:cNvSpPr/>
          <p:nvPr/>
        </p:nvSpPr>
        <p:spPr>
          <a:xfrm>
            <a:off x="4895213" y="3825026"/>
            <a:ext cx="1371654" cy="1840669"/>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sz="900" dirty="0">
              <a:solidFill>
                <a:schemeClr val="tx1"/>
              </a:solidFill>
              <a:latin typeface="Jost Medium" pitchFamily="2" charset="77"/>
              <a:ea typeface="Jost Medium" pitchFamily="2" charset="77"/>
            </a:endParaRPr>
          </a:p>
          <a:p>
            <a:pPr algn="ctr"/>
            <a:r>
              <a:rPr lang="fr-FR" sz="900" dirty="0">
                <a:solidFill>
                  <a:schemeClr val="tx1"/>
                </a:solidFill>
                <a:latin typeface="Jost Medium" pitchFamily="2" charset="77"/>
                <a:ea typeface="Jost Medium" pitchFamily="2" charset="77"/>
              </a:rPr>
              <a:t>Répondre à vos objectifs :</a:t>
            </a:r>
          </a:p>
          <a:p>
            <a:pPr algn="ctr"/>
            <a:endParaRPr lang="fr-FR" sz="900" dirty="0">
              <a:solidFill>
                <a:schemeClr val="tx1"/>
              </a:solidFill>
              <a:latin typeface="Jost Medium" pitchFamily="2" charset="77"/>
              <a:ea typeface="Jost Medium" pitchFamily="2" charset="77"/>
            </a:endParaRPr>
          </a:p>
          <a:p>
            <a:pPr algn="ctr"/>
            <a:r>
              <a:rPr lang="fr-FR" sz="900" dirty="0">
                <a:solidFill>
                  <a:schemeClr val="tx1"/>
                </a:solidFill>
                <a:latin typeface="Jost Medium" pitchFamily="2" charset="77"/>
                <a:ea typeface="Jost Medium" pitchFamily="2" charset="77"/>
              </a:rPr>
              <a:t>Comprendre votre situation, vos contraintes grâce à l’analyse du bilan patrimonial complet</a:t>
            </a:r>
          </a:p>
          <a:p>
            <a:pPr algn="ctr"/>
            <a:endParaRPr lang="fr-FR" sz="900" dirty="0">
              <a:solidFill>
                <a:schemeClr val="tx1"/>
              </a:solidFill>
              <a:latin typeface="Jost Medium" pitchFamily="2" charset="77"/>
              <a:ea typeface="Jost Medium" pitchFamily="2" charset="77"/>
            </a:endParaRPr>
          </a:p>
        </p:txBody>
      </p:sp>
      <p:sp>
        <p:nvSpPr>
          <p:cNvPr id="18" name="Rectangle 17">
            <a:extLst>
              <a:ext uri="{FF2B5EF4-FFF2-40B4-BE49-F238E27FC236}">
                <a16:creationId xmlns:a16="http://schemas.microsoft.com/office/drawing/2014/main" id="{8B2BE746-F6CD-F8DA-228D-8AFDF0D97FE1}"/>
              </a:ext>
            </a:extLst>
          </p:cNvPr>
          <p:cNvSpPr/>
          <p:nvPr/>
        </p:nvSpPr>
        <p:spPr>
          <a:xfrm>
            <a:off x="6367940" y="3825025"/>
            <a:ext cx="1371654" cy="1840669"/>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rPr>
              <a:t>Formaliser une stratégie patrimoniale claire et adaptée à votre situation et structurée sur-mesure pour vos besoins</a:t>
            </a:r>
          </a:p>
          <a:p>
            <a:pPr algn="ctr"/>
            <a:endParaRPr lang="fr-FR" sz="900" dirty="0">
              <a:solidFill>
                <a:schemeClr val="tx1"/>
              </a:solidFill>
              <a:latin typeface="Jost Medium" pitchFamily="2" charset="77"/>
              <a:ea typeface="Jost Medium" pitchFamily="2" charset="77"/>
            </a:endParaRPr>
          </a:p>
        </p:txBody>
      </p:sp>
      <p:sp>
        <p:nvSpPr>
          <p:cNvPr id="19" name="Rectangle 18">
            <a:extLst>
              <a:ext uri="{FF2B5EF4-FFF2-40B4-BE49-F238E27FC236}">
                <a16:creationId xmlns:a16="http://schemas.microsoft.com/office/drawing/2014/main" id="{05D41391-E593-4D50-8AC4-2EF8F92BAE01}"/>
              </a:ext>
            </a:extLst>
          </p:cNvPr>
          <p:cNvSpPr/>
          <p:nvPr/>
        </p:nvSpPr>
        <p:spPr>
          <a:xfrm>
            <a:off x="7840667" y="3825025"/>
            <a:ext cx="1371654" cy="1840669"/>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rPr>
              <a:t>Coordonner la mise en place des solutions retenues avec les partenaires et s’assurer de leur bon déroulement</a:t>
            </a:r>
          </a:p>
          <a:p>
            <a:pPr algn="ctr"/>
            <a:endParaRPr lang="fr-FR" sz="900" dirty="0">
              <a:solidFill>
                <a:schemeClr val="tx1"/>
              </a:solidFill>
              <a:latin typeface="Jost Medium" pitchFamily="2" charset="77"/>
              <a:ea typeface="Jost Medium" pitchFamily="2" charset="77"/>
            </a:endParaRPr>
          </a:p>
        </p:txBody>
      </p:sp>
      <p:sp>
        <p:nvSpPr>
          <p:cNvPr id="21" name="Rectangle 20">
            <a:extLst>
              <a:ext uri="{FF2B5EF4-FFF2-40B4-BE49-F238E27FC236}">
                <a16:creationId xmlns:a16="http://schemas.microsoft.com/office/drawing/2014/main" id="{2A336900-F025-8EAF-D61C-193E036AF223}"/>
              </a:ext>
            </a:extLst>
          </p:cNvPr>
          <p:cNvSpPr/>
          <p:nvPr/>
        </p:nvSpPr>
        <p:spPr>
          <a:xfrm>
            <a:off x="9313394" y="3825024"/>
            <a:ext cx="1371654" cy="1840669"/>
          </a:xfrm>
          <a:prstGeom prst="rect">
            <a:avLst/>
          </a:prstGeom>
          <a:solidFill>
            <a:srgbClr val="FCF9EF"/>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900" dirty="0">
                <a:solidFill>
                  <a:schemeClr val="tx1"/>
                </a:solidFill>
                <a:latin typeface="Jost Medium" pitchFamily="2" charset="77"/>
                <a:ea typeface="Jost Medium" pitchFamily="2" charset="77"/>
              </a:rPr>
              <a:t>Ajuster votre situation dans la durée avec discipline et proactivité, vous fournir des reportings et des points d’information régulièrement</a:t>
            </a:r>
          </a:p>
          <a:p>
            <a:pPr algn="ctr"/>
            <a:endParaRPr lang="fr-FR" sz="900" dirty="0">
              <a:solidFill>
                <a:schemeClr val="tx1"/>
              </a:solidFill>
              <a:latin typeface="Jost Medium" pitchFamily="2" charset="77"/>
              <a:ea typeface="Jost Medium" pitchFamily="2" charset="77"/>
            </a:endParaRPr>
          </a:p>
        </p:txBody>
      </p:sp>
      <p:sp>
        <p:nvSpPr>
          <p:cNvPr id="22" name="Rectangle : avec coins arrondis en haut 21">
            <a:extLst>
              <a:ext uri="{FF2B5EF4-FFF2-40B4-BE49-F238E27FC236}">
                <a16:creationId xmlns:a16="http://schemas.microsoft.com/office/drawing/2014/main" id="{8E452A5F-106E-C29C-ABF1-6270F2D38CCF}"/>
              </a:ext>
            </a:extLst>
          </p:cNvPr>
          <p:cNvSpPr/>
          <p:nvPr/>
        </p:nvSpPr>
        <p:spPr>
          <a:xfrm>
            <a:off x="4895213" y="3429000"/>
            <a:ext cx="1371654" cy="396024"/>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Diagnostic</a:t>
            </a:r>
          </a:p>
        </p:txBody>
      </p:sp>
      <p:sp>
        <p:nvSpPr>
          <p:cNvPr id="23" name="Rectangle : avec coins arrondis en haut 22">
            <a:extLst>
              <a:ext uri="{FF2B5EF4-FFF2-40B4-BE49-F238E27FC236}">
                <a16:creationId xmlns:a16="http://schemas.microsoft.com/office/drawing/2014/main" id="{3BD11279-A7B2-09A3-573F-F2C7EE1CA1D5}"/>
              </a:ext>
            </a:extLst>
          </p:cNvPr>
          <p:cNvSpPr/>
          <p:nvPr/>
        </p:nvSpPr>
        <p:spPr>
          <a:xfrm>
            <a:off x="6367940" y="3429000"/>
            <a:ext cx="1371654" cy="396024"/>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Proposition</a:t>
            </a:r>
          </a:p>
        </p:txBody>
      </p:sp>
      <p:sp>
        <p:nvSpPr>
          <p:cNvPr id="24" name="Rectangle : avec coins arrondis en haut 23">
            <a:extLst>
              <a:ext uri="{FF2B5EF4-FFF2-40B4-BE49-F238E27FC236}">
                <a16:creationId xmlns:a16="http://schemas.microsoft.com/office/drawing/2014/main" id="{0303CE5E-CB52-131D-EA38-DA88927C9387}"/>
              </a:ext>
            </a:extLst>
          </p:cNvPr>
          <p:cNvSpPr/>
          <p:nvPr/>
        </p:nvSpPr>
        <p:spPr>
          <a:xfrm>
            <a:off x="7848887" y="3429000"/>
            <a:ext cx="1371654" cy="396024"/>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Mise en place</a:t>
            </a:r>
          </a:p>
        </p:txBody>
      </p:sp>
      <p:sp>
        <p:nvSpPr>
          <p:cNvPr id="26" name="Rectangle : avec coins arrondis en haut 25">
            <a:extLst>
              <a:ext uri="{FF2B5EF4-FFF2-40B4-BE49-F238E27FC236}">
                <a16:creationId xmlns:a16="http://schemas.microsoft.com/office/drawing/2014/main" id="{A89F08DF-33E6-80B3-123C-1D2459C8C8F0}"/>
              </a:ext>
            </a:extLst>
          </p:cNvPr>
          <p:cNvSpPr/>
          <p:nvPr/>
        </p:nvSpPr>
        <p:spPr>
          <a:xfrm>
            <a:off x="9313394" y="3429000"/>
            <a:ext cx="1371654" cy="396024"/>
          </a:xfrm>
          <a:prstGeom prst="round2SameRect">
            <a:avLst>
              <a:gd name="adj1" fmla="val 50000"/>
              <a:gd name="adj2" fmla="val 0"/>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sz="1200" b="1" dirty="0">
                <a:latin typeface="Jost Black" pitchFamily="2" charset="77"/>
                <a:ea typeface="Jost Black" pitchFamily="2" charset="77"/>
              </a:rPr>
              <a:t>Suivi</a:t>
            </a:r>
          </a:p>
        </p:txBody>
      </p:sp>
      <p:sp>
        <p:nvSpPr>
          <p:cNvPr id="30" name="Shape 8">
            <a:extLst>
              <a:ext uri="{FF2B5EF4-FFF2-40B4-BE49-F238E27FC236}">
                <a16:creationId xmlns:a16="http://schemas.microsoft.com/office/drawing/2014/main" id="{82D2A0D7-EB1B-EEC4-DB7C-00361B43822C}"/>
              </a:ext>
            </a:extLst>
          </p:cNvPr>
          <p:cNvSpPr/>
          <p:nvPr/>
        </p:nvSpPr>
        <p:spPr>
          <a:xfrm>
            <a:off x="4402157" y="1595145"/>
            <a:ext cx="615451" cy="0"/>
          </a:xfrm>
          <a:prstGeom prst="line">
            <a:avLst/>
          </a:prstGeom>
          <a:noFill/>
          <a:ln w="12700">
            <a:solidFill>
              <a:srgbClr val="A9853F"/>
            </a:solidFill>
            <a:prstDash val="solid"/>
          </a:ln>
        </p:spPr>
        <p:txBody>
          <a:bodyPr/>
          <a:lstStyle/>
          <a:p>
            <a:endParaRPr lang="fr-FR" noProof="0" dirty="0"/>
          </a:p>
        </p:txBody>
      </p:sp>
      <p:sp>
        <p:nvSpPr>
          <p:cNvPr id="34" name="ZoneTexte 33">
            <a:extLst>
              <a:ext uri="{FF2B5EF4-FFF2-40B4-BE49-F238E27FC236}">
                <a16:creationId xmlns:a16="http://schemas.microsoft.com/office/drawing/2014/main" id="{D94852E5-8787-129A-802C-9EEEFD7903BB}"/>
              </a:ext>
            </a:extLst>
          </p:cNvPr>
          <p:cNvSpPr txBox="1"/>
          <p:nvPr/>
        </p:nvSpPr>
        <p:spPr>
          <a:xfrm>
            <a:off x="4320705" y="1094212"/>
            <a:ext cx="1846740" cy="369332"/>
          </a:xfrm>
          <a:prstGeom prst="rect">
            <a:avLst/>
          </a:prstGeom>
          <a:noFill/>
        </p:spPr>
        <p:txBody>
          <a:bodyPr wrap="square" rtlCol="0">
            <a:spAutoFit/>
          </a:bodyPr>
          <a:lstStyle/>
          <a:p>
            <a:r>
              <a:rPr lang="fr-FR" b="1" dirty="0">
                <a:latin typeface="Jost Black" pitchFamily="2" charset="77"/>
                <a:ea typeface="Jost Black" pitchFamily="2" charset="77"/>
              </a:rPr>
              <a:t>La Suite</a:t>
            </a:r>
          </a:p>
        </p:txBody>
      </p:sp>
      <p:sp>
        <p:nvSpPr>
          <p:cNvPr id="35" name="ZoneTexte 34">
            <a:extLst>
              <a:ext uri="{FF2B5EF4-FFF2-40B4-BE49-F238E27FC236}">
                <a16:creationId xmlns:a16="http://schemas.microsoft.com/office/drawing/2014/main" id="{30B1C9F8-D719-A683-7F37-329DCE542DCF}"/>
              </a:ext>
            </a:extLst>
          </p:cNvPr>
          <p:cNvSpPr txBox="1"/>
          <p:nvPr/>
        </p:nvSpPr>
        <p:spPr>
          <a:xfrm>
            <a:off x="4895213" y="6090911"/>
            <a:ext cx="5789836" cy="307777"/>
          </a:xfrm>
          <a:prstGeom prst="rect">
            <a:avLst/>
          </a:prstGeom>
          <a:noFill/>
        </p:spPr>
        <p:txBody>
          <a:bodyPr wrap="square" rtlCol="0">
            <a:spAutoFit/>
          </a:bodyPr>
          <a:lstStyle/>
          <a:p>
            <a:pPr algn="ctr"/>
            <a:r>
              <a:rPr lang="fr-FR" sz="1400" i="1" dirty="0">
                <a:solidFill>
                  <a:srgbClr val="002B0C"/>
                </a:solidFill>
                <a:latin typeface="Cormorant Garamond" pitchFamily="2" charset="77"/>
                <a:ea typeface="Cormorant Garamond" pitchFamily="2" charset="77"/>
                <a:cs typeface="Cormorant Garamond" pitchFamily="2" charset="77"/>
              </a:rPr>
              <a:t>Notre ambition : devenir votre interlocuteur patrimonial de référence.</a:t>
            </a:r>
          </a:p>
        </p:txBody>
      </p:sp>
    </p:spTree>
    <p:extLst>
      <p:ext uri="{BB962C8B-B14F-4D97-AF65-F5344CB8AC3E}">
        <p14:creationId xmlns:p14="http://schemas.microsoft.com/office/powerpoint/2010/main" val="1641801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5551F1-4176-42ED-9C26-DE890CEAFFE1}"/>
              </a:ext>
            </a:extLst>
          </p:cNvPr>
          <p:cNvSpPr/>
          <p:nvPr/>
        </p:nvSpPr>
        <p:spPr>
          <a:xfrm>
            <a:off x="0" y="0"/>
            <a:ext cx="553453" cy="6858000"/>
          </a:xfrm>
          <a:prstGeom prst="rect">
            <a:avLst/>
          </a:prstGeom>
          <a:solidFill>
            <a:srgbClr val="001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22F3B458-C7FA-D3B1-CA7E-B9309EB4413F}"/>
              </a:ext>
            </a:extLst>
          </p:cNvPr>
          <p:cNvSpPr txBox="1"/>
          <p:nvPr/>
        </p:nvSpPr>
        <p:spPr>
          <a:xfrm>
            <a:off x="789405" y="537845"/>
            <a:ext cx="11072395" cy="6017032"/>
          </a:xfrm>
          <a:prstGeom prst="rect">
            <a:avLst/>
          </a:prstGeom>
          <a:noFill/>
        </p:spPr>
        <p:txBody>
          <a:bodyPr wrap="square" rtlCol="0">
            <a:spAutoFit/>
          </a:bodyPr>
          <a:lstStyle/>
          <a:p>
            <a:pPr algn="just"/>
            <a:r>
              <a:rPr lang="fr-FR" sz="1100" b="1" dirty="0">
                <a:latin typeface="Jost Black" pitchFamily="2" charset="77"/>
                <a:ea typeface="Jost Black" pitchFamily="2" charset="77"/>
              </a:rPr>
              <a:t>Informations importantes</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Risques liés aux investissements</a:t>
            </a:r>
          </a:p>
          <a:p>
            <a:pPr algn="just"/>
            <a:r>
              <a:rPr lang="fr-FR" sz="1100" dirty="0">
                <a:latin typeface="Jost ExtraLight" pitchFamily="2" charset="77"/>
                <a:ea typeface="Jost ExtraLight" pitchFamily="2" charset="77"/>
              </a:rPr>
              <a:t>Tout investissement comporte des risques, notamment un risque de perte partielle ou totale du capital investi. La valeur des investissements et les revenus qui en découlent peuvent évoluer à la hausse comme à la baisse. Les performances passées, historiques, simulées ou présentées à titre illustratif ne constituent pas un indicateur fiable des performances futures et ne préjugent pas des résultats futurs. Avant toute décision d’investissement, il convient d’apprécier l’adéquation de la solution envisagée avec la situation financière, les objectifs, l’horizon d’investissement, les connaissances, l’expérience et la tolérance au risque de l’investisseur. Le document source reprend déjà ce principe d’adéquation au profil et aux objectifs du client.</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Nature du document</a:t>
            </a:r>
          </a:p>
          <a:p>
            <a:pPr algn="just"/>
            <a:r>
              <a:rPr lang="fr-FR" sz="1100" dirty="0">
                <a:latin typeface="Jost ExtraLight" pitchFamily="2" charset="77"/>
                <a:ea typeface="Jost ExtraLight" pitchFamily="2" charset="77"/>
              </a:rPr>
              <a:t>Le présent document est communiqué exclusivement à titre informatif et pédagogique. Il ne constitue ni une offre, ni une sollicitation, ni une recommandation personnalisée d’achat, de souscription, de vente ou d’arbitrage d’un instrument financier ou d’un produit d’investissement. Toute décision d’investissement doit être prise sur la base de la documentation juridique et réglementaire officielle du produit concerné et, le cas échéant, après remise d’un conseil adapté à la situation de l’investisseur. Cette logique est également celle du disclaimer du document de référence, qui précise que seuls les documents officiels des partenaires font foi.</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Données, simulations et objectifs de rendement</a:t>
            </a:r>
          </a:p>
          <a:p>
            <a:pPr algn="just"/>
            <a:r>
              <a:rPr lang="fr-FR" sz="1100" dirty="0">
                <a:latin typeface="Jost ExtraLight" pitchFamily="2" charset="77"/>
                <a:ea typeface="Jost ExtraLight" pitchFamily="2" charset="77"/>
              </a:rPr>
              <a:t>Les données, exemples, projections, objectifs de rendement, scénarios et illustrations figurant dans cette présentation sont fournis à titre indicatif. Lorsqu’ils reposent sur des hypothèses, celles-ci peuvent ne pas se réaliser. Sauf mention contraire, les illustrations peuvent ne pas tenir compte de l’ensemble des frais, de la fiscalité, de l’inflation ou des conditions particulières propres à chaque investisseur. Aucun objectif de rendement ne constitue une garantie de performance.</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Informations fiscales et juridiques</a:t>
            </a:r>
          </a:p>
          <a:p>
            <a:pPr algn="just"/>
            <a:r>
              <a:rPr lang="fr-FR" sz="1100" dirty="0">
                <a:latin typeface="Jost ExtraLight" pitchFamily="2" charset="77"/>
                <a:ea typeface="Jost ExtraLight" pitchFamily="2" charset="77"/>
              </a:rPr>
              <a:t>Les informations d’ordre fiscal, juridique ou patrimonial présentées dans ce document sont générales et susceptibles d’évoluer en fonction de la réglementation applicable. Elles ne sauraient se substituer à un conseil juridique, fiscal, comptable ou notarial individualisé. Les conséquences d’une opération dépendent notamment de la situation personnelle et patrimoniale de chaque client.</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Sources et responsabilité</a:t>
            </a:r>
          </a:p>
          <a:p>
            <a:pPr algn="just"/>
            <a:r>
              <a:rPr lang="fr-FR" sz="1100" dirty="0">
                <a:latin typeface="Jost ExtraLight" pitchFamily="2" charset="77"/>
                <a:ea typeface="Jost ExtraLight" pitchFamily="2" charset="77"/>
              </a:rPr>
              <a:t>Les informations utilisées sont issues de sources considérées comme fiables à la date de rédaction. Toutefois, leur exactitude, leur exhaustivité ou leur actualisation ne peuvent être garanties. La Financière de Rochechouart ne saurait être tenue responsable d’une décision prise sur le seul fondement des informations générales figurant dans ce document.</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Confidentialité</a:t>
            </a:r>
          </a:p>
          <a:p>
            <a:pPr algn="just"/>
            <a:r>
              <a:rPr lang="fr-FR" sz="1100" dirty="0">
                <a:latin typeface="Jost ExtraLight" pitchFamily="2" charset="77"/>
                <a:ea typeface="Jost ExtraLight" pitchFamily="2" charset="77"/>
              </a:rPr>
              <a:t>Ce document et les informations qu’il contient sont confidentiels et exclusivement destinés à leurs destinataires. Toute reproduction, modification, transmission ou diffusion, totale ou partielle, sans autorisation préalable de La Financière de Rochechouart est interdite. Le document de référence utilise lui aussi une clause de confidentialité et de restriction de diffusion de cette nature.</a:t>
            </a:r>
          </a:p>
          <a:p>
            <a:pPr algn="just"/>
            <a:endParaRPr lang="fr-FR" sz="1100" dirty="0">
              <a:latin typeface="Jost Medium" pitchFamily="2" charset="77"/>
              <a:ea typeface="Jost Medium" pitchFamily="2" charset="77"/>
            </a:endParaRPr>
          </a:p>
          <a:p>
            <a:pPr algn="just"/>
            <a:r>
              <a:rPr lang="fr-FR" sz="1100" dirty="0">
                <a:latin typeface="Jost Medium" pitchFamily="2" charset="77"/>
                <a:ea typeface="Jost Medium" pitchFamily="2" charset="77"/>
              </a:rPr>
              <a:t>Restrictions de distribution</a:t>
            </a:r>
          </a:p>
          <a:p>
            <a:pPr algn="just"/>
            <a:r>
              <a:rPr lang="fr-FR" sz="1100" dirty="0">
                <a:latin typeface="Jost ExtraLight" pitchFamily="2" charset="77"/>
                <a:ea typeface="Jost ExtraLight" pitchFamily="2" charset="77"/>
              </a:rPr>
              <a:t>Ce document n’est pas destiné à être distribué ou utilisé dans une juridiction dans laquelle une telle distribution ou utilisation serait contraire aux dispositions légales ou réglementaires applicables. Toute restriction particulière applicable à certaines catégories d’investisseurs ou à certains territoires doit être respectée.</a:t>
            </a:r>
          </a:p>
        </p:txBody>
      </p:sp>
      <p:pic>
        <p:nvPicPr>
          <p:cNvPr id="9" name="Image 8">
            <a:extLst>
              <a:ext uri="{FF2B5EF4-FFF2-40B4-BE49-F238E27FC236}">
                <a16:creationId xmlns:a16="http://schemas.microsoft.com/office/drawing/2014/main" id="{F452B377-90AA-998C-0649-8649DB532650}"/>
              </a:ext>
            </a:extLst>
          </p:cNvPr>
          <p:cNvPicPr>
            <a:picLocks noChangeAspect="1"/>
          </p:cNvPicPr>
          <p:nvPr/>
        </p:nvPicPr>
        <p:blipFill>
          <a:blip r:embed="rId2">
            <a:duotone>
              <a:prstClr val="black"/>
              <a:srgbClr val="063527">
                <a:tint val="45000"/>
                <a:satMod val="400000"/>
              </a:srgbClr>
            </a:duotone>
          </a:blip>
          <a:stretch>
            <a:fillRect/>
          </a:stretch>
        </p:blipFill>
        <p:spPr>
          <a:xfrm>
            <a:off x="11005640" y="374477"/>
            <a:ext cx="792892" cy="264297"/>
          </a:xfrm>
          <a:prstGeom prst="rect">
            <a:avLst/>
          </a:prstGeom>
        </p:spPr>
      </p:pic>
    </p:spTree>
    <p:extLst>
      <p:ext uri="{BB962C8B-B14F-4D97-AF65-F5344CB8AC3E}">
        <p14:creationId xmlns:p14="http://schemas.microsoft.com/office/powerpoint/2010/main" val="3044991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7684AA85-5B5B-D8C3-5B9A-0045E6A07CA7}"/>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66000"/>
                    </a14:imgEffect>
                  </a14:imgLayer>
                </a14:imgProps>
              </a:ext>
            </a:extLst>
          </a:blip>
          <a:srcRect l="15343" t="56914" r="5513" b="11750"/>
          <a:stretch>
            <a:fillRect/>
          </a:stretch>
        </p:blipFill>
        <p:spPr>
          <a:xfrm>
            <a:off x="-1" y="-1"/>
            <a:ext cx="12192001" cy="2518995"/>
          </a:xfrm>
          <a:prstGeom prst="rect">
            <a:avLst/>
          </a:prstGeom>
        </p:spPr>
      </p:pic>
      <p:pic>
        <p:nvPicPr>
          <p:cNvPr id="3" name="Image 2">
            <a:extLst>
              <a:ext uri="{FF2B5EF4-FFF2-40B4-BE49-F238E27FC236}">
                <a16:creationId xmlns:a16="http://schemas.microsoft.com/office/drawing/2014/main" id="{C2F3ADF2-10C4-DF44-DFA6-707D03D6C37D}"/>
              </a:ext>
            </a:extLst>
          </p:cNvPr>
          <p:cNvPicPr>
            <a:picLocks noChangeAspect="1"/>
          </p:cNvPicPr>
          <p:nvPr/>
        </p:nvPicPr>
        <p:blipFill>
          <a:blip r:embed="rId4">
            <a:duotone>
              <a:prstClr val="black"/>
              <a:srgbClr val="063527">
                <a:tint val="45000"/>
                <a:satMod val="400000"/>
              </a:srgbClr>
            </a:duotone>
          </a:blip>
          <a:stretch>
            <a:fillRect/>
          </a:stretch>
        </p:blipFill>
        <p:spPr>
          <a:xfrm>
            <a:off x="4271041" y="2820682"/>
            <a:ext cx="3649911" cy="1216635"/>
          </a:xfrm>
          <a:prstGeom prst="rect">
            <a:avLst/>
          </a:prstGeom>
        </p:spPr>
      </p:pic>
      <p:sp>
        <p:nvSpPr>
          <p:cNvPr id="6" name="ZoneTexte 5">
            <a:extLst>
              <a:ext uri="{FF2B5EF4-FFF2-40B4-BE49-F238E27FC236}">
                <a16:creationId xmlns:a16="http://schemas.microsoft.com/office/drawing/2014/main" id="{FBFA2D28-AED9-3DB5-6B26-8D54CD2A4D08}"/>
              </a:ext>
            </a:extLst>
          </p:cNvPr>
          <p:cNvSpPr txBox="1"/>
          <p:nvPr/>
        </p:nvSpPr>
        <p:spPr>
          <a:xfrm>
            <a:off x="468083" y="6115071"/>
            <a:ext cx="11255829" cy="577081"/>
          </a:xfrm>
          <a:prstGeom prst="rect">
            <a:avLst/>
          </a:prstGeom>
          <a:noFill/>
        </p:spPr>
        <p:txBody>
          <a:bodyPr wrap="square" rtlCol="0">
            <a:spAutoFit/>
          </a:bodyPr>
          <a:lstStyle/>
          <a:p>
            <a:pPr algn="ctr"/>
            <a:r>
              <a:rPr lang="fr-FR" sz="1050" dirty="0">
                <a:solidFill>
                  <a:schemeClr val="bg1">
                    <a:lumMod val="65000"/>
                  </a:schemeClr>
                </a:solidFill>
                <a:latin typeface="Jost Light" pitchFamily="2" charset="77"/>
                <a:ea typeface="Jost Light" pitchFamily="2" charset="77"/>
              </a:rPr>
              <a:t>La Financière de Rochechouart - 58 rue de Monceau, 75008 Paris CEDEX 08. Site internet : </a:t>
            </a:r>
            <a:r>
              <a:rPr lang="fr-FR" sz="1050" dirty="0" err="1">
                <a:solidFill>
                  <a:schemeClr val="bg1">
                    <a:lumMod val="65000"/>
                  </a:schemeClr>
                </a:solidFill>
                <a:latin typeface="Jost Light" pitchFamily="2" charset="77"/>
                <a:ea typeface="Jost Light" pitchFamily="2" charset="77"/>
              </a:rPr>
              <a:t>www.lafinancierederochechouart.com</a:t>
            </a:r>
            <a:r>
              <a:rPr lang="fr-FR" sz="1050" dirty="0">
                <a:solidFill>
                  <a:schemeClr val="bg1">
                    <a:lumMod val="65000"/>
                  </a:schemeClr>
                </a:solidFill>
                <a:latin typeface="Jost Light" pitchFamily="2" charset="77"/>
                <a:ea typeface="Jost Light" pitchFamily="2" charset="77"/>
              </a:rPr>
              <a:t> - Société par actions simplifiées au capital de 10 000 euros - 108 029 570 RCS Paris - TVA : FR 82 108 029 570 - Établissement agréé par l’ORIAS sous le numéro </a:t>
            </a:r>
            <a:r>
              <a:rPr lang="fr-FR" sz="1050" dirty="0">
                <a:solidFill>
                  <a:schemeClr val="bg1">
                    <a:lumMod val="65000"/>
                  </a:schemeClr>
                </a:solidFill>
                <a:latin typeface="Jost Light" pitchFamily="2" charset="77"/>
                <a:ea typeface="Jost Light" pitchFamily="2" charset="77"/>
              </a:rPr>
              <a:t>26011474</a:t>
            </a:r>
            <a:r>
              <a:rPr lang="fr-FR" sz="1050" dirty="0">
                <a:solidFill>
                  <a:schemeClr val="bg1">
                    <a:lumMod val="65000"/>
                  </a:schemeClr>
                </a:solidFill>
                <a:latin typeface="Jost Light" pitchFamily="2" charset="77"/>
                <a:ea typeface="Jost Light" pitchFamily="2" charset="77"/>
              </a:rPr>
              <a:t> (</a:t>
            </a:r>
            <a:r>
              <a:rPr lang="fr-FR" sz="1050" dirty="0" err="1">
                <a:solidFill>
                  <a:schemeClr val="bg1">
                    <a:lumMod val="65000"/>
                  </a:schemeClr>
                </a:solidFill>
                <a:latin typeface="Jost Light" pitchFamily="2" charset="77"/>
                <a:ea typeface="Jost Light" pitchFamily="2" charset="77"/>
              </a:rPr>
              <a:t>www.orias.fr</a:t>
            </a:r>
            <a:r>
              <a:rPr lang="fr-FR" sz="1050" dirty="0">
                <a:solidFill>
                  <a:schemeClr val="bg1">
                    <a:lumMod val="65000"/>
                  </a:schemeClr>
                </a:solidFill>
                <a:latin typeface="Jost Light" pitchFamily="2" charset="77"/>
                <a:ea typeface="Jost Light" pitchFamily="2" charset="77"/>
              </a:rPr>
              <a:t>) en qualité de conseiller en investissements financiers (adhésion à l’ANACOFI-CIF), courtier en assurance (IAS - adhésion à l'ANACOFI Courtage) - Siège social : 58 rue de Monceau, 75008 Paris.</a:t>
            </a:r>
          </a:p>
        </p:txBody>
      </p:sp>
    </p:spTree>
    <p:extLst>
      <p:ext uri="{BB962C8B-B14F-4D97-AF65-F5344CB8AC3E}">
        <p14:creationId xmlns:p14="http://schemas.microsoft.com/office/powerpoint/2010/main" val="2104913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1868</TotalTime>
  <Words>1610</Words>
  <Application>Microsoft Macintosh PowerPoint</Application>
  <PresentationFormat>Grand écran</PresentationFormat>
  <Paragraphs>191</Paragraphs>
  <Slides>14</Slides>
  <Notes>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14</vt:i4>
      </vt:variant>
    </vt:vector>
  </HeadingPairs>
  <TitlesOfParts>
    <vt:vector size="24" baseType="lpstr">
      <vt:lpstr>Aptos</vt:lpstr>
      <vt:lpstr>Arial</vt:lpstr>
      <vt:lpstr>Cormorant Garamond</vt:lpstr>
      <vt:lpstr>Cormorant Garamond SemiBold</vt:lpstr>
      <vt:lpstr>Jost Black</vt:lpstr>
      <vt:lpstr>Jost ExtraLight</vt:lpstr>
      <vt:lpstr>Jost Light</vt:lpstr>
      <vt:lpstr>Jost Medium</vt:lpstr>
      <vt:lpstr>Jost SemiBold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La Financière de Rochechouart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Financière de Rochechouart - première page paysage</dc:title>
  <dc:subject>Cover slide</dc:subject>
  <dc:creator>OpenAI</dc:creator>
  <cp:lastModifiedBy>Pierre Barbe</cp:lastModifiedBy>
  <cp:revision>25</cp:revision>
  <dcterms:created xsi:type="dcterms:W3CDTF">2026-09-15T15:19:33Z</dcterms:created>
  <dcterms:modified xsi:type="dcterms:W3CDTF">2026-09-21T16:26:40Z</dcterms:modified>
</cp:coreProperties>
</file>