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notesSlides/notesSlide4.xml" ContentType="application/vnd.openxmlformats-officedocument.presentationml.notesSlide+xml"/>
  <Override PartName="/ppt/charts/chart18.xml" ContentType="application/vnd.openxmlformats-officedocument.drawingml.chart+xml"/>
  <Override PartName="/ppt/charts/chart19.xml" ContentType="application/vnd.openxmlformats-officedocument.drawingml.chart+xml"/>
  <Override PartName="/ppt/notesSlides/notesSlide5.xml" ContentType="application/vnd.openxmlformats-officedocument.presentationml.notesSlide+xml"/>
  <Override PartName="/ppt/charts/chart20.xml" ContentType="application/vnd.openxmlformats-officedocument.drawingml.chart+xml"/>
  <Override PartName="/ppt/charts/chart21.xml" ContentType="application/vnd.openxmlformats-officedocument.drawingml.chart+xml"/>
  <Override PartName="/ppt/notesSlides/notesSlide6.xml" ContentType="application/vnd.openxmlformats-officedocument.presentationml.notesSlide+xml"/>
  <Override PartName="/ppt/charts/chart22.xml" ContentType="application/vnd.openxmlformats-officedocument.drawingml.chart+xml"/>
  <Override PartName="/ppt/charts/chart23.xml" ContentType="application/vnd.openxmlformats-officedocument.drawingml.chart+xml"/>
  <Override PartName="/ppt/notesSlides/notesSlide7.xml" ContentType="application/vnd.openxmlformats-officedocument.presentationml.notesSlide+xml"/>
  <Override PartName="/ppt/charts/chart24.xml" ContentType="application/vnd.openxmlformats-officedocument.drawingml.chart+xml"/>
  <Override PartName="/ppt/charts/chart25.xml" ContentType="application/vnd.openxmlformats-officedocument.drawingml.chart+xml"/>
  <Override PartName="/ppt/notesSlides/notesSlide8.xml" ContentType="application/vnd.openxmlformats-officedocument.presentationml.notesSlide+xml"/>
  <Override PartName="/ppt/charts/chart26.xml" ContentType="application/vnd.openxmlformats-officedocument.drawingml.chart+xml"/>
  <Override PartName="/ppt/charts/chart27.xml" ContentType="application/vnd.openxmlformats-officedocument.drawingml.chart+xml"/>
  <Override PartName="/ppt/notesSlides/notesSlide9.xml" ContentType="application/vnd.openxmlformats-officedocument.presentationml.notesSlide+xml"/>
  <Override PartName="/ppt/charts/chart28.xml" ContentType="application/vnd.openxmlformats-officedocument.drawingml.chart+xml"/>
  <Override PartName="/ppt/charts/chart29.xml" ContentType="application/vnd.openxmlformats-officedocument.drawingml.chart+xml"/>
  <Override PartName="/ppt/notesSlides/notesSlide10.xml" ContentType="application/vnd.openxmlformats-officedocument.presentationml.notesSlide+xml"/>
  <Override PartName="/ppt/charts/chart30.xml" ContentType="application/vnd.openxmlformats-officedocument.drawingml.chart+xml"/>
  <Override PartName="/ppt/charts/chart3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charts/chart33.xml" ContentType="application/vnd.openxmlformats-officedocument.drawingml.chart+xml"/>
  <Override PartName="/ppt/notesSlides/notesSlide14.xml" ContentType="application/vnd.openxmlformats-officedocument.presentationml.notesSlide+xml"/>
  <Override PartName="/ppt/charts/chart34.xml" ContentType="application/vnd.openxmlformats-officedocument.drawingml.chart+xml"/>
  <Override PartName="/ppt/drawings/drawing1.xml" ContentType="application/vnd.openxmlformats-officedocument.drawingml.chartshape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35.xml" ContentType="application/vnd.openxmlformats-officedocument.drawingml.chart+xml"/>
  <Override PartName="/ppt/charts/chart36.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37.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8.xml" ContentType="application/vnd.openxmlformats-officedocument.presentationml.notesSlide+xml"/>
  <Override PartName="/ppt/charts/chart38.xml" ContentType="application/vnd.openxmlformats-officedocument.drawingml.chart+xml"/>
  <Override PartName="/ppt/notesSlides/notesSlide29.xml" ContentType="application/vnd.openxmlformats-officedocument.presentationml.notesSlide+xml"/>
  <Override PartName="/ppt/charts/chart39.xml" ContentType="application/vnd.openxmlformats-officedocument.drawingml.chart+xml"/>
  <Override PartName="/ppt/drawings/drawing2.xml" ContentType="application/vnd.openxmlformats-officedocument.drawingml.chartshapes+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4"/>
  </p:notesMasterIdLst>
  <p:sldIdLst>
    <p:sldId id="260" r:id="rId2"/>
    <p:sldId id="258" r:id="rId3"/>
    <p:sldId id="262" r:id="rId4"/>
    <p:sldId id="263" r:id="rId5"/>
    <p:sldId id="261" r:id="rId6"/>
    <p:sldId id="292" r:id="rId7"/>
    <p:sldId id="293" r:id="rId8"/>
    <p:sldId id="294" r:id="rId9"/>
    <p:sldId id="295" r:id="rId10"/>
    <p:sldId id="280" r:id="rId11"/>
    <p:sldId id="282" r:id="rId12"/>
    <p:sldId id="303" r:id="rId13"/>
    <p:sldId id="284" r:id="rId14"/>
    <p:sldId id="304" r:id="rId15"/>
    <p:sldId id="305" r:id="rId16"/>
    <p:sldId id="286" r:id="rId17"/>
    <p:sldId id="306" r:id="rId18"/>
    <p:sldId id="256" r:id="rId19"/>
    <p:sldId id="307" r:id="rId20"/>
    <p:sldId id="308" r:id="rId21"/>
    <p:sldId id="309" r:id="rId22"/>
    <p:sldId id="310" r:id="rId23"/>
    <p:sldId id="311" r:id="rId24"/>
    <p:sldId id="259" r:id="rId25"/>
    <p:sldId id="300" r:id="rId26"/>
    <p:sldId id="312" r:id="rId27"/>
    <p:sldId id="281" r:id="rId28"/>
    <p:sldId id="313" r:id="rId29"/>
    <p:sldId id="314" r:id="rId30"/>
    <p:sldId id="285" r:id="rId31"/>
    <p:sldId id="318" r:id="rId32"/>
    <p:sldId id="319" r:id="rId33"/>
    <p:sldId id="320" r:id="rId34"/>
    <p:sldId id="273" r:id="rId35"/>
    <p:sldId id="274" r:id="rId36"/>
    <p:sldId id="275" r:id="rId37"/>
    <p:sldId id="276" r:id="rId38"/>
    <p:sldId id="277" r:id="rId39"/>
    <p:sldId id="278" r:id="rId40"/>
    <p:sldId id="279" r:id="rId41"/>
    <p:sldId id="321" r:id="rId42"/>
    <p:sldId id="266" r:id="rId43"/>
    <p:sldId id="322" r:id="rId44"/>
    <p:sldId id="264" r:id="rId45"/>
    <p:sldId id="323" r:id="rId46"/>
    <p:sldId id="265" r:id="rId47"/>
    <p:sldId id="324" r:id="rId48"/>
    <p:sldId id="267" r:id="rId49"/>
    <p:sldId id="325" r:id="rId50"/>
    <p:sldId id="271" r:id="rId51"/>
    <p:sldId id="326" r:id="rId52"/>
    <p:sldId id="327" r:id="rId53"/>
    <p:sldId id="328" r:id="rId54"/>
    <p:sldId id="329" r:id="rId55"/>
    <p:sldId id="330" r:id="rId56"/>
    <p:sldId id="331" r:id="rId57"/>
    <p:sldId id="332" r:id="rId58"/>
    <p:sldId id="333" r:id="rId59"/>
    <p:sldId id="334" r:id="rId60"/>
    <p:sldId id="335" r:id="rId61"/>
    <p:sldId id="336" r:id="rId62"/>
    <p:sldId id="337" r:id="rId63"/>
    <p:sldId id="338" r:id="rId64"/>
    <p:sldId id="296" r:id="rId65"/>
    <p:sldId id="297" r:id="rId66"/>
    <p:sldId id="287" r:id="rId67"/>
    <p:sldId id="289" r:id="rId68"/>
    <p:sldId id="290" r:id="rId69"/>
    <p:sldId id="291" r:id="rId70"/>
    <p:sldId id="298" r:id="rId71"/>
    <p:sldId id="339" r:id="rId72"/>
    <p:sldId id="340" r:id="rId73"/>
    <p:sldId id="268" r:id="rId74"/>
    <p:sldId id="257" r:id="rId75"/>
    <p:sldId id="315" r:id="rId76"/>
    <p:sldId id="316" r:id="rId77"/>
    <p:sldId id="317" r:id="rId78"/>
    <p:sldId id="301" r:id="rId79"/>
    <p:sldId id="299" r:id="rId80"/>
    <p:sldId id="302" r:id="rId81"/>
    <p:sldId id="269" r:id="rId82"/>
    <p:sldId id="270" r:id="rId8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9853E"/>
    <a:srgbClr val="063527"/>
    <a:srgbClr val="FCF9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6"/>
  </p:normalViewPr>
  <p:slideViewPr>
    <p:cSldViewPr snapToGrid="0" showGuides="1">
      <p:cViewPr>
        <p:scale>
          <a:sx n="97" d="100"/>
          <a:sy n="97" d="100"/>
        </p:scale>
        <p:origin x="1184" y="4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charts/_rels/chart1.xml.rels><?xml version="1.0" encoding="UTF-8" standalone="yes"?>
<Relationships xmlns="http://schemas.openxmlformats.org/package/2006/relationships"><Relationship Id="rId1" Type="http://schemas.openxmlformats.org/officeDocument/2006/relationships/oleObject" Target="file:////Users/hugoflippe/Downloads/simulateur_credit_lombard.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Users/pierrebarbe/Downloads/Corum%20Origin%20-%20Repartition%20LFDR%20(1).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Users/pierrebarbe/Downloads/Corum%20Origin%20-%20Repartition%20LFDR%20(1).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Users/pierrebarbe/Downloads/Transitions%20Europe%20-%20Repartition%20LFDR.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Users/pierrebarbe/Downloads/Transitions%20Europe%20-%20Repartition%20LFDR.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Users/pierrebarbe/Downloads/MomenTime%20-%20Repartition%20LFDR.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Users/pierrebarbe/Downloads/MomenTime%20-%20Repartition%20LFDR.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Users/pierrebarbe/Downloads/Iroko%20Zen%20-%20Repartition%20LFDR.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Users/pierrebarbe/Downloads/Iroko%20Zen%20-%20Repartition%20LFDR.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Users/pierrebarbe/Downloads/Iroko%20Atlas%20-%20Repartition%20LFDR.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Users/pierrebarbe/Downloads/Iroko%20Atlas%20-%20Repartition%20LFDR.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Users/pierrebarbe/Downloads/Comete%20-%20Repartition%20LFDR.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Users/pierrebarbe/Downloads/Comete%20-%20Repartition%20LFDR.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Users/pierrebarbe/Downloads/NCap%20Continent%20-%20Repartition%20LFDR.xlsx"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file:////Users/pierrebarbe/Downloads/NCap%20Continent%20-%20Repartition%20LFDR.xlsx"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file:////Users/pierrebarbe/Downloads/EDR%20Europa%20-%20Repartition%20LFDR%20(1).xlsx"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file:////Users/pierrebarbe/Downloads/EDR%20Europa%20-%20Repartition%20LFDR%20(1).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file:////Users/hugoflippe/Downloads/Allocations_AV_Lux_Fr_camemberts%20(5).xlsx"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file:////Users/hugoflippe/Downloads/LFDR_scenarios_synthetiques_20_ans_v4%20(1).xlsx" TargetMode="External"/></Relationships>
</file>

<file path=ppt/charts/_rels/chart20.xml.rels><?xml version="1.0" encoding="UTF-8" standalone="yes"?>
<Relationships xmlns="http://schemas.openxmlformats.org/package/2006/relationships"><Relationship Id="rId1" Type="http://schemas.openxmlformats.org/officeDocument/2006/relationships/oleObject" Target="file:////Users/hugoflippe/Downloads/Allocations_AV_Lux_Fr_camemberts%20(5).xlsx" TargetMode="External"/></Relationships>
</file>

<file path=ppt/charts/_rels/chart21.xml.rels><?xml version="1.0" encoding="UTF-8" standalone="yes"?>
<Relationships xmlns="http://schemas.openxmlformats.org/package/2006/relationships"><Relationship Id="rId1" Type="http://schemas.openxmlformats.org/officeDocument/2006/relationships/oleObject" Target="file:////Users/hugoflippe/Downloads/LFDR_scenarios_synthetiques_20_ans_v4%20(1).xlsx" TargetMode="External"/></Relationships>
</file>

<file path=ppt/charts/_rels/chart22.xml.rels><?xml version="1.0" encoding="UTF-8" standalone="yes"?>
<Relationships xmlns="http://schemas.openxmlformats.org/package/2006/relationships"><Relationship Id="rId1" Type="http://schemas.openxmlformats.org/officeDocument/2006/relationships/oleObject" Target="file:////Users/hugoflippe/Downloads/Allocations_AV_Lux_Fr_camemberts%20(5).xlsx" TargetMode="External"/></Relationships>
</file>

<file path=ppt/charts/_rels/chart23.xml.rels><?xml version="1.0" encoding="UTF-8" standalone="yes"?>
<Relationships xmlns="http://schemas.openxmlformats.org/package/2006/relationships"><Relationship Id="rId1" Type="http://schemas.openxmlformats.org/officeDocument/2006/relationships/oleObject" Target="file:////Users/hugoflippe/Downloads/LFDR_scenarios_synthetiques_20_ans_v4%20(1).xlsx" TargetMode="External"/></Relationships>
</file>

<file path=ppt/charts/_rels/chart24.xml.rels><?xml version="1.0" encoding="UTF-8" standalone="yes"?>
<Relationships xmlns="http://schemas.openxmlformats.org/package/2006/relationships"><Relationship Id="rId1" Type="http://schemas.openxmlformats.org/officeDocument/2006/relationships/oleObject" Target="file:////Users/hugoflippe/Downloads/Allocations_AV_Lux_Fr_camemberts%20(5).xlsx" TargetMode="External"/></Relationships>
</file>

<file path=ppt/charts/_rels/chart25.xml.rels><?xml version="1.0" encoding="UTF-8" standalone="yes"?>
<Relationships xmlns="http://schemas.openxmlformats.org/package/2006/relationships"><Relationship Id="rId1" Type="http://schemas.openxmlformats.org/officeDocument/2006/relationships/oleObject" Target="file:////Users/hugoflippe/Downloads/LFDR_scenarios_synthetiques_20_ans_v4%20(1).xlsx" TargetMode="External"/></Relationships>
</file>

<file path=ppt/charts/_rels/chart26.xml.rels><?xml version="1.0" encoding="UTF-8" standalone="yes"?>
<Relationships xmlns="http://schemas.openxmlformats.org/package/2006/relationships"><Relationship Id="rId1" Type="http://schemas.openxmlformats.org/officeDocument/2006/relationships/oleObject" Target="file:////Users/hugoflippe/Downloads/Allocations_AV_Lux_Fr_camemberts%20(5).xlsx" TargetMode="External"/></Relationships>
</file>

<file path=ppt/charts/_rels/chart27.xml.rels><?xml version="1.0" encoding="UTF-8" standalone="yes"?>
<Relationships xmlns="http://schemas.openxmlformats.org/package/2006/relationships"><Relationship Id="rId1" Type="http://schemas.openxmlformats.org/officeDocument/2006/relationships/oleObject" Target="file:////Users/hugoflippe/Downloads/LFDR_scenarios_synthetiques_20_ans_v4%20(1).xlsx" TargetMode="External"/></Relationships>
</file>

<file path=ppt/charts/_rels/chart28.xml.rels><?xml version="1.0" encoding="UTF-8" standalone="yes"?>
<Relationships xmlns="http://schemas.openxmlformats.org/package/2006/relationships"><Relationship Id="rId1" Type="http://schemas.openxmlformats.org/officeDocument/2006/relationships/oleObject" Target="file:////Users/hugoflippe/Downloads/Allocations_AV_Lux_Fr_camemberts%20(5).xlsx" TargetMode="External"/></Relationships>
</file>

<file path=ppt/charts/_rels/chart29.xml.rels><?xml version="1.0" encoding="UTF-8" standalone="yes"?>
<Relationships xmlns="http://schemas.openxmlformats.org/package/2006/relationships"><Relationship Id="rId1" Type="http://schemas.openxmlformats.org/officeDocument/2006/relationships/oleObject" Target="file:////Users/hugoflippe/Downloads/LFDR_scenarios_synthetiques_20_ans_v4%20(1).xlsx" TargetMode="External"/></Relationships>
</file>

<file path=ppt/charts/_rels/chart30.xml.rels><?xml version="1.0" encoding="UTF-8" standalone="yes"?>
<Relationships xmlns="http://schemas.openxmlformats.org/package/2006/relationships"><Relationship Id="rId1" Type="http://schemas.openxmlformats.org/officeDocument/2006/relationships/oleObject" Target="file:////Users/hugoflippe/Downloads/Allocations_AV_Lux_Fr_camemberts%20(5).xlsx" TargetMode="External"/></Relationships>
</file>

<file path=ppt/charts/_rels/chart31.xml.rels><?xml version="1.0" encoding="UTF-8" standalone="yes"?>
<Relationships xmlns="http://schemas.openxmlformats.org/package/2006/relationships"><Relationship Id="rId1" Type="http://schemas.openxmlformats.org/officeDocument/2006/relationships/oleObject" Target="file:////Users/hugoflippe/Downloads/LFDR_scenarios_synthetiques_20_ans_v4%20(1).xlsx" TargetMode="External"/></Relationships>
</file>

<file path=ppt/charts/_rels/chart32.xml.rels><?xml version="1.0" encoding="UTF-8" standalone="yes"?>
<Relationships xmlns="http://schemas.openxmlformats.org/package/2006/relationships"><Relationship Id="rId3" Type="http://schemas.openxmlformats.org/officeDocument/2006/relationships/oleObject" Target="file:////Users/hugoflippe/Downloads/HMG%20vs%20Cac%20(1).xlsx" TargetMode="External"/><Relationship Id="rId2" Type="http://schemas.microsoft.com/office/2011/relationships/chartColorStyle" Target="colors1.xml"/><Relationship Id="rId1" Type="http://schemas.microsoft.com/office/2011/relationships/chartStyle" Target="style1.xml"/></Relationships>
</file>

<file path=ppt/charts/_rels/chart33.xml.rels><?xml version="1.0" encoding="UTF-8" standalone="yes"?>
<Relationships xmlns="http://schemas.openxmlformats.org/package/2006/relationships"><Relationship Id="rId1" Type="http://schemas.openxmlformats.org/officeDocument/2006/relationships/oleObject" Target="file:////Users/hugoflippe/Downloads/Matrice_obligataire_LFDR.xlsx" TargetMode="External"/></Relationships>
</file>

<file path=ppt/charts/_rels/chart3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 Id="rId5" Type="http://schemas.openxmlformats.org/officeDocument/2006/relationships/chartUserShapes" Target="../drawings/drawing1.xml"/><Relationship Id="rId4" Type="http://schemas.openxmlformats.org/officeDocument/2006/relationships/oleObject" Target="file:////Users/hugoflippe/Downloads/Matrice_obligataire_LFDR.xlsx" TargetMode="External"/></Relationships>
</file>

<file path=ppt/charts/_rels/chart35.xml.rels><?xml version="1.0" encoding="UTF-8" standalone="yes"?>
<Relationships xmlns="http://schemas.openxmlformats.org/package/2006/relationships"><Relationship Id="rId1" Type="http://schemas.openxmlformats.org/officeDocument/2006/relationships/oleObject" Target="file:////Users/hugoflippe/Downloads/Allocations_AV_Lux_Fr_camemberts%20(5).xlsx" TargetMode="External"/></Relationships>
</file>

<file path=ppt/charts/_rels/chart36.xml.rels><?xml version="1.0" encoding="UTF-8" standalone="yes"?>
<Relationships xmlns="http://schemas.openxmlformats.org/package/2006/relationships"><Relationship Id="rId1" Type="http://schemas.openxmlformats.org/officeDocument/2006/relationships/oleObject" Target="file:////Users/hugoflippe/Downloads/LFDR_scenarios_synthetiques_20_ans_v4%20(1).xlsx" TargetMode="External"/></Relationships>
</file>

<file path=ppt/charts/_rels/chart37.xml.rels><?xml version="1.0" encoding="UTF-8" standalone="yes"?>
<Relationships xmlns="http://schemas.openxmlformats.org/package/2006/relationships"><Relationship Id="rId3" Type="http://schemas.openxmlformats.org/officeDocument/2006/relationships/oleObject" Target="file:////Users/hugoflippe/Downloads/HMG%20vs%20Cac%20(1).xlsx" TargetMode="External"/><Relationship Id="rId2" Type="http://schemas.microsoft.com/office/2011/relationships/chartColorStyle" Target="colors2.xml"/><Relationship Id="rId1" Type="http://schemas.microsoft.com/office/2011/relationships/chartStyle" Target="style2.xml"/></Relationships>
</file>

<file path=ppt/charts/_rels/chart38.xml.rels><?xml version="1.0" encoding="UTF-8" standalone="yes"?>
<Relationships xmlns="http://schemas.openxmlformats.org/package/2006/relationships"><Relationship Id="rId1" Type="http://schemas.openxmlformats.org/officeDocument/2006/relationships/oleObject" Target="file:////Users/hugoflippe/Downloads/Matrice_obligataire_LFDR.xlsx" TargetMode="External"/></Relationships>
</file>

<file path=ppt/charts/_rels/chart3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 Id="rId5" Type="http://schemas.openxmlformats.org/officeDocument/2006/relationships/chartUserShapes" Target="../drawings/drawing2.xml"/><Relationship Id="rId4" Type="http://schemas.openxmlformats.org/officeDocument/2006/relationships/oleObject" Target="file:////Users/hugoflippe/Downloads/Matrice_obligataire_LFDR.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716620611596889"/>
          <c:y val="4.3156471091960663E-2"/>
          <c:w val="0.87656810497505366"/>
          <c:h val="0.71311396026886142"/>
        </c:manualLayout>
      </c:layout>
      <c:lineChart>
        <c:grouping val="standard"/>
        <c:varyColors val="0"/>
        <c:ser>
          <c:idx val="0"/>
          <c:order val="0"/>
          <c:tx>
            <c:v>Sans crédit lombard</c:v>
          </c:tx>
          <c:spPr>
            <a:ln w="12700">
              <a:solidFill>
                <a:srgbClr val="15462A"/>
              </a:solidFill>
              <a:round/>
            </a:ln>
          </c:spPr>
          <c:marker>
            <c:symbol val="none"/>
          </c:marker>
          <c:dLbls>
            <c:spPr>
              <a:noFill/>
              <a:ln>
                <a:noFill/>
              </a:ln>
              <a:effectLst/>
            </c:spPr>
            <c:txPr>
              <a:bodyPr wrap="none"/>
              <a:lstStyle/>
              <a:p>
                <a:pPr>
                  <a:defRPr sz="1000" b="0" strike="noStrike" spc="-1">
                    <a:latin typeface="Arial"/>
                  </a:defRPr>
                </a:pPr>
                <a:endParaRPr lang="fr-FR"/>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numRef>
              <c:f>Simulation!$A$4:$A$24</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Simulation!$C$4:$C$24</c:f>
              <c:numCache>
                <c:formatCode>#\ ##0" €";\(#\ ##0" €)";\-</c:formatCode>
                <c:ptCount val="21"/>
                <c:pt idx="0">
                  <c:v>500000</c:v>
                </c:pt>
                <c:pt idx="1">
                  <c:v>586801.02777640801</c:v>
                </c:pt>
                <c:pt idx="2">
                  <c:v>669217.07034146378</c:v>
                </c:pt>
                <c:pt idx="3">
                  <c:v>779139.78830814583</c:v>
                </c:pt>
                <c:pt idx="4">
                  <c:v>755462.14034353313</c:v>
                </c:pt>
                <c:pt idx="5">
                  <c:v>759125.97772235482</c:v>
                </c:pt>
                <c:pt idx="6">
                  <c:v>813972.07209341275</c:v>
                </c:pt>
                <c:pt idx="7">
                  <c:v>852668.28830397525</c:v>
                </c:pt>
                <c:pt idx="8">
                  <c:v>888882.92920449667</c:v>
                </c:pt>
                <c:pt idx="9">
                  <c:v>977156.22632313496</c:v>
                </c:pt>
                <c:pt idx="10">
                  <c:v>1074033.8579025227</c:v>
                </c:pt>
                <c:pt idx="11">
                  <c:v>1117299.7359927499</c:v>
                </c:pt>
                <c:pt idx="12">
                  <c:v>1374276.6398020058</c:v>
                </c:pt>
                <c:pt idx="13">
                  <c:v>1487327.8416960547</c:v>
                </c:pt>
                <c:pt idx="14">
                  <c:v>1510146.733018375</c:v>
                </c:pt>
                <c:pt idx="15">
                  <c:v>1632167.8546126876</c:v>
                </c:pt>
                <c:pt idx="16">
                  <c:v>1786985.4365682239</c:v>
                </c:pt>
                <c:pt idx="17">
                  <c:v>2176217.0901875463</c:v>
                </c:pt>
                <c:pt idx="18">
                  <c:v>2178932.247188428</c:v>
                </c:pt>
                <c:pt idx="19">
                  <c:v>2288107.9592924761</c:v>
                </c:pt>
                <c:pt idx="20">
                  <c:v>2238794.8393079429</c:v>
                </c:pt>
              </c:numCache>
            </c:numRef>
          </c:val>
          <c:smooth val="0"/>
          <c:extLst>
            <c:ext xmlns:c16="http://schemas.microsoft.com/office/drawing/2014/chart" uri="{C3380CC4-5D6E-409C-BE32-E72D297353CC}">
              <c16:uniqueId val="{00000000-63A5-4B42-AD89-AA81ACF70F70}"/>
            </c:ext>
          </c:extLst>
        </c:ser>
        <c:ser>
          <c:idx val="1"/>
          <c:order val="1"/>
          <c:tx>
            <c:v>Avec crédit lombard (NAV, net de l'emprunt)</c:v>
          </c:tx>
          <c:spPr>
            <a:ln w="12700">
              <a:solidFill>
                <a:srgbClr val="AA853F"/>
              </a:solidFill>
              <a:round/>
            </a:ln>
          </c:spPr>
          <c:marker>
            <c:symbol val="none"/>
          </c:marker>
          <c:dLbls>
            <c:spPr>
              <a:noFill/>
              <a:ln>
                <a:noFill/>
              </a:ln>
              <a:effectLst/>
            </c:spPr>
            <c:txPr>
              <a:bodyPr wrap="none"/>
              <a:lstStyle/>
              <a:p>
                <a:pPr>
                  <a:defRPr sz="1000" b="0" strike="noStrike" spc="-1">
                    <a:latin typeface="Arial"/>
                  </a:defRPr>
                </a:pPr>
                <a:endParaRPr lang="fr-FR"/>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numRef>
              <c:f>Simulation!$A$4:$A$24</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Simulation!$M$4:$M$24</c:f>
              <c:numCache>
                <c:formatCode>#\ ##0" €";\(#\ ##0" €)";\-</c:formatCode>
                <c:ptCount val="21"/>
                <c:pt idx="0">
                  <c:v>500000</c:v>
                </c:pt>
                <c:pt idx="1">
                  <c:v>629881.6444422527</c:v>
                </c:pt>
                <c:pt idx="2">
                  <c:v>751483.26502772002</c:v>
                </c:pt>
                <c:pt idx="3">
                  <c:v>915195.38417517859</c:v>
                </c:pt>
                <c:pt idx="4">
                  <c:v>869266.23622702807</c:v>
                </c:pt>
                <c:pt idx="5">
                  <c:v>865936.93911643373</c:v>
                </c:pt>
                <c:pt idx="6">
                  <c:v>941174.71949821711</c:v>
                </c:pt>
                <c:pt idx="7">
                  <c:v>991180.14111822983</c:v>
                </c:pt>
                <c:pt idx="8">
                  <c:v>1037019.3157303054</c:v>
                </c:pt>
                <c:pt idx="9">
                  <c:v>1160796.1971768241</c:v>
                </c:pt>
                <c:pt idx="10">
                  <c:v>1296623.0651743561</c:v>
                </c:pt>
                <c:pt idx="11">
                  <c:v>1351940.6827109053</c:v>
                </c:pt>
                <c:pt idx="12">
                  <c:v>1722884.0302696587</c:v>
                </c:pt>
                <c:pt idx="13">
                  <c:v>1880291.1889820485</c:v>
                </c:pt>
                <c:pt idx="14">
                  <c:v>1904741.6672812109</c:v>
                </c:pt>
                <c:pt idx="15">
                  <c:v>2073886.6416637069</c:v>
                </c:pt>
                <c:pt idx="16">
                  <c:v>2290059.1866689725</c:v>
                </c:pt>
                <c:pt idx="17">
                  <c:v>2845212.0888521755</c:v>
                </c:pt>
                <c:pt idx="18">
                  <c:v>2840136.2123510716</c:v>
                </c:pt>
                <c:pt idx="19">
                  <c:v>2988473.1867014677</c:v>
                </c:pt>
                <c:pt idx="20">
                  <c:v>2908600.2752362792</c:v>
                </c:pt>
              </c:numCache>
            </c:numRef>
          </c:val>
          <c:smooth val="0"/>
          <c:extLst>
            <c:ext xmlns:c16="http://schemas.microsoft.com/office/drawing/2014/chart" uri="{C3380CC4-5D6E-409C-BE32-E72D297353CC}">
              <c16:uniqueId val="{00000001-63A5-4B42-AD89-AA81ACF70F70}"/>
            </c:ext>
          </c:extLst>
        </c:ser>
        <c:dLbls>
          <c:showLegendKey val="0"/>
          <c:showVal val="0"/>
          <c:showCatName val="0"/>
          <c:showSerName val="0"/>
          <c:showPercent val="0"/>
          <c:showBubbleSize val="0"/>
        </c:dLbls>
        <c:hiLowLines>
          <c:spPr>
            <a:ln w="0">
              <a:noFill/>
            </a:ln>
          </c:spPr>
        </c:hiLowLines>
        <c:smooth val="0"/>
        <c:axId val="614566"/>
        <c:axId val="68840943"/>
      </c:lineChart>
      <c:catAx>
        <c:axId val="614566"/>
        <c:scaling>
          <c:orientation val="minMax"/>
        </c:scaling>
        <c:delete val="0"/>
        <c:axPos val="b"/>
        <c:title>
          <c:tx>
            <c:rich>
              <a:bodyPr rot="0"/>
              <a:lstStyle/>
              <a:p>
                <a:pPr>
                  <a:defRPr sz="800" b="0" i="0" strike="noStrike" spc="-1">
                    <a:solidFill>
                      <a:srgbClr val="000000"/>
                    </a:solidFill>
                    <a:latin typeface="Jost Medium" pitchFamily="2" charset="77"/>
                    <a:ea typeface="Jost Medium" pitchFamily="2" charset="77"/>
                  </a:defRPr>
                </a:pPr>
                <a:r>
                  <a:rPr lang="fr-FR" sz="800" b="0" i="0" strike="noStrike" spc="-1" dirty="0">
                    <a:solidFill>
                      <a:srgbClr val="000000"/>
                    </a:solidFill>
                    <a:latin typeface="Jost Medium" pitchFamily="2" charset="77"/>
                    <a:ea typeface="Jost Medium" pitchFamily="2" charset="77"/>
                  </a:rPr>
                  <a:t>Années</a:t>
                </a:r>
              </a:p>
            </c:rich>
          </c:tx>
          <c:layout>
            <c:manualLayout>
              <c:xMode val="edge"/>
              <c:yMode val="edge"/>
              <c:x val="0.49014691631297236"/>
              <c:y val="0.84534040374521147"/>
            </c:manualLayout>
          </c:layout>
          <c:overlay val="0"/>
          <c:spPr>
            <a:noFill/>
            <a:ln w="0">
              <a:noFill/>
            </a:ln>
          </c:spPr>
        </c:title>
        <c:numFmt formatCode="General" sourceLinked="1"/>
        <c:majorTickMark val="none"/>
        <c:minorTickMark val="none"/>
        <c:tickLblPos val="nextTo"/>
        <c:spPr>
          <a:ln w="9360">
            <a:solidFill>
              <a:srgbClr val="878787"/>
            </a:solidFill>
            <a:round/>
          </a:ln>
        </c:spPr>
        <c:txPr>
          <a:bodyPr/>
          <a:lstStyle/>
          <a:p>
            <a:pPr>
              <a:defRPr sz="800" b="0" i="0" strike="noStrike" spc="-1">
                <a:solidFill>
                  <a:srgbClr val="000000"/>
                </a:solidFill>
                <a:latin typeface="Jost Light" pitchFamily="2" charset="77"/>
                <a:ea typeface="Jost Light" pitchFamily="2" charset="77"/>
              </a:defRPr>
            </a:pPr>
            <a:endParaRPr lang="fr-FR"/>
          </a:p>
        </c:txPr>
        <c:crossAx val="68840943"/>
        <c:crosses val="autoZero"/>
        <c:auto val="1"/>
        <c:lblAlgn val="ctr"/>
        <c:lblOffset val="100"/>
        <c:noMultiLvlLbl val="0"/>
      </c:catAx>
      <c:valAx>
        <c:axId val="68840943"/>
        <c:scaling>
          <c:orientation val="minMax"/>
          <c:min val="300000"/>
        </c:scaling>
        <c:delete val="0"/>
        <c:axPos val="l"/>
        <c:majorGridlines>
          <c:spPr>
            <a:ln w="2540">
              <a:solidFill>
                <a:srgbClr val="878787"/>
              </a:solidFill>
              <a:round/>
            </a:ln>
          </c:spPr>
        </c:majorGridlines>
        <c:title>
          <c:tx>
            <c:rich>
              <a:bodyPr rot="-5400000"/>
              <a:lstStyle/>
              <a:p>
                <a:pPr>
                  <a:defRPr sz="800" b="0" i="0" strike="noStrike" spc="-1">
                    <a:solidFill>
                      <a:srgbClr val="000000"/>
                    </a:solidFill>
                    <a:latin typeface="Jost Medium" pitchFamily="2" charset="77"/>
                    <a:ea typeface="Jost Medium" pitchFamily="2" charset="77"/>
                  </a:defRPr>
                </a:pPr>
                <a:r>
                  <a:rPr lang="fr-FR" sz="800" b="0" i="0" strike="noStrike" spc="-1" dirty="0">
                    <a:solidFill>
                      <a:srgbClr val="000000"/>
                    </a:solidFill>
                    <a:latin typeface="Jost Medium" pitchFamily="2" charset="77"/>
                    <a:ea typeface="Jost Medium" pitchFamily="2" charset="77"/>
                  </a:rPr>
                  <a:t>Valeur du portefeuille (EUR)</a:t>
                </a:r>
              </a:p>
            </c:rich>
          </c:tx>
          <c:layout>
            <c:manualLayout>
              <c:xMode val="edge"/>
              <c:yMode val="edge"/>
              <c:x val="2.9573979834504474E-3"/>
              <c:y val="0.18755224651519992"/>
            </c:manualLayout>
          </c:layout>
          <c:overlay val="0"/>
          <c:spPr>
            <a:noFill/>
            <a:ln w="0">
              <a:noFill/>
            </a:ln>
          </c:spPr>
        </c:title>
        <c:numFmt formatCode="###\ ###\ ###" sourceLinked="0"/>
        <c:majorTickMark val="none"/>
        <c:minorTickMark val="none"/>
        <c:tickLblPos val="nextTo"/>
        <c:spPr>
          <a:ln w="9360">
            <a:solidFill>
              <a:srgbClr val="878787"/>
            </a:solidFill>
            <a:round/>
          </a:ln>
        </c:spPr>
        <c:txPr>
          <a:bodyPr/>
          <a:lstStyle/>
          <a:p>
            <a:pPr>
              <a:defRPr sz="800" b="0" i="0" strike="noStrike" spc="-1">
                <a:solidFill>
                  <a:srgbClr val="000000"/>
                </a:solidFill>
                <a:latin typeface="Jost Light" pitchFamily="2" charset="77"/>
                <a:ea typeface="Jost Light" pitchFamily="2" charset="77"/>
              </a:defRPr>
            </a:pPr>
            <a:endParaRPr lang="fr-FR"/>
          </a:p>
        </c:txPr>
        <c:crossAx val="614566"/>
        <c:crosses val="autoZero"/>
        <c:crossBetween val="between"/>
        <c:majorUnit val="1000000"/>
      </c:valAx>
      <c:spPr>
        <a:pattFill prst="ltHorz">
          <a:fgClr>
            <a:srgbClr val="E7DCC7"/>
          </a:fgClr>
          <a:bgClr>
            <a:schemeClr val="bg1"/>
          </a:bgClr>
        </a:pattFill>
        <a:ln w="0">
          <a:noFill/>
        </a:ln>
      </c:spPr>
    </c:plotArea>
    <c:legend>
      <c:legendPos val="b"/>
      <c:overlay val="0"/>
      <c:spPr>
        <a:noFill/>
        <a:ln w="0">
          <a:noFill/>
        </a:ln>
      </c:spPr>
      <c:txPr>
        <a:bodyPr/>
        <a:lstStyle/>
        <a:p>
          <a:pPr>
            <a:defRPr sz="800" b="0" strike="noStrike" spc="-1">
              <a:solidFill>
                <a:srgbClr val="000000"/>
              </a:solidFill>
              <a:latin typeface="Jost Medium" pitchFamily="2" charset="77"/>
              <a:ea typeface="Jost Medium" pitchFamily="2" charset="77"/>
            </a:defRPr>
          </a:pPr>
          <a:endParaRPr lang="fr-FR"/>
        </a:p>
      </c:txPr>
    </c:legend>
    <c:plotVisOnly val="1"/>
    <c:dispBlanksAs val="gap"/>
    <c:showDLblsOverMax val="1"/>
  </c:chart>
  <c:spPr>
    <a:noFill/>
    <a:ln w="9360">
      <a:noFill/>
      <a:roun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géographique'!$C$5</c:f>
              <c:strCache>
                <c:ptCount val="1"/>
                <c:pt idx="0">
                  <c:v>% du patrimoine</c:v>
                </c:pt>
              </c:strCache>
            </c:strRef>
          </c:tx>
          <c:spPr>
            <a:solidFill>
              <a:srgbClr val="4F81BD"/>
            </a:solidFill>
            <a:ln w="0">
              <a:noFill/>
            </a:ln>
          </c:spPr>
          <c:explosion val="14"/>
          <c:dPt>
            <c:idx val="0"/>
            <c:bubble3D val="0"/>
            <c:spPr>
              <a:solidFill>
                <a:srgbClr val="001B00"/>
              </a:solidFill>
              <a:ln w="22320">
                <a:solidFill>
                  <a:srgbClr val="FFFFFF"/>
                </a:solidFill>
                <a:round/>
              </a:ln>
            </c:spPr>
            <c:extLst>
              <c:ext xmlns:c16="http://schemas.microsoft.com/office/drawing/2014/chart" uri="{C3380CC4-5D6E-409C-BE32-E72D297353CC}">
                <c16:uniqueId val="{00000001-554E-244B-8BE9-75F1D1949485}"/>
              </c:ext>
            </c:extLst>
          </c:dPt>
          <c:dPt>
            <c:idx val="1"/>
            <c:bubble3D val="0"/>
            <c:spPr>
              <a:solidFill>
                <a:srgbClr val="02220A"/>
              </a:solidFill>
              <a:ln w="22320">
                <a:solidFill>
                  <a:srgbClr val="FFFFFF"/>
                </a:solidFill>
                <a:round/>
              </a:ln>
            </c:spPr>
            <c:extLst>
              <c:ext xmlns:c16="http://schemas.microsoft.com/office/drawing/2014/chart" uri="{C3380CC4-5D6E-409C-BE32-E72D297353CC}">
                <c16:uniqueId val="{00000003-554E-244B-8BE9-75F1D1949485}"/>
              </c:ext>
            </c:extLst>
          </c:dPt>
          <c:dPt>
            <c:idx val="2"/>
            <c:bubble3D val="0"/>
            <c:spPr>
              <a:solidFill>
                <a:srgbClr val="042814"/>
              </a:solidFill>
              <a:ln w="22320">
                <a:solidFill>
                  <a:srgbClr val="FFFFFF"/>
                </a:solidFill>
                <a:round/>
              </a:ln>
            </c:spPr>
            <c:extLst>
              <c:ext xmlns:c16="http://schemas.microsoft.com/office/drawing/2014/chart" uri="{C3380CC4-5D6E-409C-BE32-E72D297353CC}">
                <c16:uniqueId val="{00000005-554E-244B-8BE9-75F1D1949485}"/>
              </c:ext>
            </c:extLst>
          </c:dPt>
          <c:dPt>
            <c:idx val="3"/>
            <c:bubble3D val="0"/>
            <c:spPr>
              <a:solidFill>
                <a:srgbClr val="052E1D"/>
              </a:solidFill>
              <a:ln w="22320">
                <a:solidFill>
                  <a:srgbClr val="FFFFFF"/>
                </a:solidFill>
                <a:round/>
              </a:ln>
            </c:spPr>
            <c:extLst>
              <c:ext xmlns:c16="http://schemas.microsoft.com/office/drawing/2014/chart" uri="{C3380CC4-5D6E-409C-BE32-E72D297353CC}">
                <c16:uniqueId val="{00000007-554E-244B-8BE9-75F1D1949485}"/>
              </c:ext>
            </c:extLst>
          </c:dPt>
          <c:dPt>
            <c:idx val="4"/>
            <c:bubble3D val="0"/>
            <c:spPr>
              <a:solidFill>
                <a:srgbClr val="073527"/>
              </a:solidFill>
              <a:ln w="22320">
                <a:solidFill>
                  <a:srgbClr val="FFFFFF"/>
                </a:solidFill>
                <a:round/>
              </a:ln>
            </c:spPr>
            <c:extLst>
              <c:ext xmlns:c16="http://schemas.microsoft.com/office/drawing/2014/chart" uri="{C3380CC4-5D6E-409C-BE32-E72D297353CC}">
                <c16:uniqueId val="{00000009-554E-244B-8BE9-75F1D1949485}"/>
              </c:ext>
            </c:extLst>
          </c:dPt>
          <c:dPt>
            <c:idx val="5"/>
            <c:bubble3D val="0"/>
            <c:spPr>
              <a:solidFill>
                <a:srgbClr val="30492D"/>
              </a:solidFill>
              <a:ln w="22320">
                <a:solidFill>
                  <a:srgbClr val="FFFFFF"/>
                </a:solidFill>
                <a:round/>
              </a:ln>
            </c:spPr>
            <c:extLst>
              <c:ext xmlns:c16="http://schemas.microsoft.com/office/drawing/2014/chart" uri="{C3380CC4-5D6E-409C-BE32-E72D297353CC}">
                <c16:uniqueId val="{0000000B-554E-244B-8BE9-75F1D1949485}"/>
              </c:ext>
            </c:extLst>
          </c:dPt>
          <c:dPt>
            <c:idx val="6"/>
            <c:bubble3D val="0"/>
            <c:spPr>
              <a:solidFill>
                <a:srgbClr val="585D33"/>
              </a:solidFill>
              <a:ln w="22320">
                <a:solidFill>
                  <a:srgbClr val="FFFFFF"/>
                </a:solidFill>
                <a:round/>
              </a:ln>
            </c:spPr>
            <c:extLst>
              <c:ext xmlns:c16="http://schemas.microsoft.com/office/drawing/2014/chart" uri="{C3380CC4-5D6E-409C-BE32-E72D297353CC}">
                <c16:uniqueId val="{0000000D-554E-244B-8BE9-75F1D1949485}"/>
              </c:ext>
            </c:extLst>
          </c:dPt>
          <c:dPt>
            <c:idx val="7"/>
            <c:bubble3D val="0"/>
            <c:spPr>
              <a:solidFill>
                <a:srgbClr val="807139"/>
              </a:solidFill>
              <a:ln w="22320">
                <a:solidFill>
                  <a:srgbClr val="FFFFFF"/>
                </a:solidFill>
                <a:round/>
              </a:ln>
            </c:spPr>
            <c:extLst>
              <c:ext xmlns:c16="http://schemas.microsoft.com/office/drawing/2014/chart" uri="{C3380CC4-5D6E-409C-BE32-E72D297353CC}">
                <c16:uniqueId val="{0000000F-554E-244B-8BE9-75F1D1949485}"/>
              </c:ext>
            </c:extLst>
          </c:dPt>
          <c:dPt>
            <c:idx val="8"/>
            <c:bubble3D val="0"/>
            <c:spPr>
              <a:solidFill>
                <a:srgbClr val="A9853F"/>
              </a:solidFill>
              <a:ln w="22320">
                <a:solidFill>
                  <a:srgbClr val="FFFFFF"/>
                </a:solidFill>
                <a:round/>
              </a:ln>
            </c:spPr>
            <c:extLst>
              <c:ext xmlns:c16="http://schemas.microsoft.com/office/drawing/2014/chart" uri="{C3380CC4-5D6E-409C-BE32-E72D297353CC}">
                <c16:uniqueId val="{00000011-554E-244B-8BE9-75F1D1949485}"/>
              </c:ext>
            </c:extLst>
          </c:dPt>
          <c:dPt>
            <c:idx val="9"/>
            <c:bubble3D val="0"/>
            <c:spPr>
              <a:solidFill>
                <a:srgbClr val="B89B61"/>
              </a:solidFill>
              <a:ln w="22320">
                <a:solidFill>
                  <a:srgbClr val="FFFFFF"/>
                </a:solidFill>
                <a:round/>
              </a:ln>
            </c:spPr>
            <c:extLst>
              <c:ext xmlns:c16="http://schemas.microsoft.com/office/drawing/2014/chart" uri="{C3380CC4-5D6E-409C-BE32-E72D297353CC}">
                <c16:uniqueId val="{00000013-554E-244B-8BE9-75F1D1949485}"/>
              </c:ext>
            </c:extLst>
          </c:dPt>
          <c:dPt>
            <c:idx val="10"/>
            <c:bubble3D val="0"/>
            <c:spPr>
              <a:solidFill>
                <a:srgbClr val="C8B083"/>
              </a:solidFill>
              <a:ln w="22320">
                <a:solidFill>
                  <a:srgbClr val="FFFFFF"/>
                </a:solidFill>
                <a:round/>
              </a:ln>
            </c:spPr>
            <c:extLst>
              <c:ext xmlns:c16="http://schemas.microsoft.com/office/drawing/2014/chart" uri="{C3380CC4-5D6E-409C-BE32-E72D297353CC}">
                <c16:uniqueId val="{00000015-554E-244B-8BE9-75F1D1949485}"/>
              </c:ext>
            </c:extLst>
          </c:dPt>
          <c:dPt>
            <c:idx val="11"/>
            <c:bubble3D val="0"/>
            <c:spPr>
              <a:solidFill>
                <a:srgbClr val="D8C6A5"/>
              </a:solidFill>
              <a:ln w="22320">
                <a:solidFill>
                  <a:srgbClr val="FFFFFF"/>
                </a:solidFill>
                <a:round/>
              </a:ln>
            </c:spPr>
            <c:extLst>
              <c:ext xmlns:c16="http://schemas.microsoft.com/office/drawing/2014/chart" uri="{C3380CC4-5D6E-409C-BE32-E72D297353CC}">
                <c16:uniqueId val="{00000017-554E-244B-8BE9-75F1D1949485}"/>
              </c:ext>
            </c:extLst>
          </c:dPt>
          <c:dPt>
            <c:idx val="12"/>
            <c:bubble3D val="0"/>
            <c:spPr>
              <a:solidFill>
                <a:srgbClr val="E7DCC7"/>
              </a:solidFill>
              <a:ln w="22320">
                <a:solidFill>
                  <a:srgbClr val="FFFFFF"/>
                </a:solidFill>
                <a:round/>
              </a:ln>
            </c:spPr>
            <c:extLst>
              <c:ext xmlns:c16="http://schemas.microsoft.com/office/drawing/2014/chart" uri="{C3380CC4-5D6E-409C-BE32-E72D297353CC}">
                <c16:uniqueId val="{00000019-554E-244B-8BE9-75F1D1949485}"/>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554E-244B-8BE9-75F1D1949485}"/>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554E-244B-8BE9-75F1D1949485}"/>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554E-244B-8BE9-75F1D1949485}"/>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554E-244B-8BE9-75F1D1949485}"/>
                </c:ext>
              </c:extLst>
            </c:dLbl>
            <c:dLbl>
              <c:idx val="4"/>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9-554E-244B-8BE9-75F1D1949485}"/>
                </c:ext>
              </c:extLst>
            </c:dLbl>
            <c:dLbl>
              <c:idx val="5"/>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B-554E-244B-8BE9-75F1D1949485}"/>
                </c:ext>
              </c:extLst>
            </c:dLbl>
            <c:dLbl>
              <c:idx val="6"/>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D-554E-244B-8BE9-75F1D1949485}"/>
                </c:ext>
              </c:extLst>
            </c:dLbl>
            <c:dLbl>
              <c:idx val="7"/>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F-554E-244B-8BE9-75F1D1949485}"/>
                </c:ext>
              </c:extLst>
            </c:dLbl>
            <c:dLbl>
              <c:idx val="8"/>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11-554E-244B-8BE9-75F1D1949485}"/>
                </c:ext>
              </c:extLst>
            </c:dLbl>
            <c:dLbl>
              <c:idx val="9"/>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13-554E-244B-8BE9-75F1D1949485}"/>
                </c:ext>
              </c:extLst>
            </c:dLbl>
            <c:dLbl>
              <c:idx val="1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15-554E-244B-8BE9-75F1D1949485}"/>
                </c:ext>
              </c:extLst>
            </c:dLbl>
            <c:dLbl>
              <c:idx val="1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17-554E-244B-8BE9-75F1D1949485}"/>
                </c:ext>
              </c:extLst>
            </c:dLbl>
            <c:dLbl>
              <c:idx val="1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19-554E-244B-8BE9-75F1D1949485}"/>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géographique'!$B$6:$B$18</c:f>
              <c:strCache>
                <c:ptCount val="13"/>
                <c:pt idx="0">
                  <c:v>Pays-Bas</c:v>
                </c:pt>
                <c:pt idx="1">
                  <c:v>Italie</c:v>
                </c:pt>
                <c:pt idx="2">
                  <c:v>Irlande</c:v>
                </c:pt>
                <c:pt idx="3">
                  <c:v>Espagne</c:v>
                </c:pt>
                <c:pt idx="4">
                  <c:v>Finlande</c:v>
                </c:pt>
                <c:pt idx="5">
                  <c:v>Belgique</c:v>
                </c:pt>
                <c:pt idx="6">
                  <c:v>France</c:v>
                </c:pt>
                <c:pt idx="7">
                  <c:v>Allemagne</c:v>
                </c:pt>
                <c:pt idx="8">
                  <c:v>Lituanie</c:v>
                </c:pt>
                <c:pt idx="9">
                  <c:v>Slovénie</c:v>
                </c:pt>
                <c:pt idx="10">
                  <c:v>Portugal</c:v>
                </c:pt>
                <c:pt idx="11">
                  <c:v>Estonie</c:v>
                </c:pt>
                <c:pt idx="12">
                  <c:v>Lettonie</c:v>
                </c:pt>
              </c:strCache>
            </c:strRef>
          </c:cat>
          <c:val>
            <c:numRef>
              <c:f>'Répartition géographique'!$C$6:$C$18</c:f>
              <c:numCache>
                <c:formatCode>0.0%</c:formatCode>
                <c:ptCount val="13"/>
                <c:pt idx="0">
                  <c:v>0.27</c:v>
                </c:pt>
                <c:pt idx="1">
                  <c:v>0.16</c:v>
                </c:pt>
                <c:pt idx="2">
                  <c:v>0.12</c:v>
                </c:pt>
                <c:pt idx="3">
                  <c:v>0.09</c:v>
                </c:pt>
                <c:pt idx="4">
                  <c:v>0.09</c:v>
                </c:pt>
                <c:pt idx="5">
                  <c:v>7.0000000000000007E-2</c:v>
                </c:pt>
                <c:pt idx="6">
                  <c:v>7.0000000000000007E-2</c:v>
                </c:pt>
                <c:pt idx="7">
                  <c:v>0.05</c:v>
                </c:pt>
                <c:pt idx="8">
                  <c:v>0.02</c:v>
                </c:pt>
                <c:pt idx="9">
                  <c:v>0.02</c:v>
                </c:pt>
                <c:pt idx="10">
                  <c:v>0.02</c:v>
                </c:pt>
                <c:pt idx="11">
                  <c:v>0.01</c:v>
                </c:pt>
                <c:pt idx="12">
                  <c:v>0.01</c:v>
                </c:pt>
              </c:numCache>
            </c:numRef>
          </c:val>
          <c:extLst>
            <c:ext xmlns:c16="http://schemas.microsoft.com/office/drawing/2014/chart" uri="{C3380CC4-5D6E-409C-BE32-E72D297353CC}">
              <c16:uniqueId val="{0000001A-554E-244B-8BE9-75F1D1949485}"/>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sectorielle'!$C$5</c:f>
              <c:strCache>
                <c:ptCount val="1"/>
                <c:pt idx="0">
                  <c:v>% du patrimoine</c:v>
                </c:pt>
              </c:strCache>
            </c:strRef>
          </c:tx>
          <c:spPr>
            <a:solidFill>
              <a:srgbClr val="4F81BD"/>
            </a:solidFill>
            <a:ln w="0">
              <a:noFill/>
            </a:ln>
          </c:spPr>
          <c:explosion val="22"/>
          <c:dPt>
            <c:idx val="0"/>
            <c:bubble3D val="0"/>
            <c:explosion val="2"/>
            <c:spPr>
              <a:solidFill>
                <a:srgbClr val="001B00"/>
              </a:solidFill>
              <a:ln w="22320">
                <a:solidFill>
                  <a:srgbClr val="FFFFFF"/>
                </a:solidFill>
                <a:round/>
              </a:ln>
            </c:spPr>
            <c:extLst>
              <c:ext xmlns:c16="http://schemas.microsoft.com/office/drawing/2014/chart" uri="{C3380CC4-5D6E-409C-BE32-E72D297353CC}">
                <c16:uniqueId val="{00000001-730C-654B-9D5F-48140BFC0C0E}"/>
              </c:ext>
            </c:extLst>
          </c:dPt>
          <c:dPt>
            <c:idx val="1"/>
            <c:bubble3D val="0"/>
            <c:explosion val="16"/>
            <c:spPr>
              <a:solidFill>
                <a:srgbClr val="042814"/>
              </a:solidFill>
              <a:ln w="22320">
                <a:solidFill>
                  <a:srgbClr val="FFFFFF"/>
                </a:solidFill>
                <a:round/>
              </a:ln>
            </c:spPr>
            <c:extLst>
              <c:ext xmlns:c16="http://schemas.microsoft.com/office/drawing/2014/chart" uri="{C3380CC4-5D6E-409C-BE32-E72D297353CC}">
                <c16:uniqueId val="{00000003-730C-654B-9D5F-48140BFC0C0E}"/>
              </c:ext>
            </c:extLst>
          </c:dPt>
          <c:dPt>
            <c:idx val="2"/>
            <c:bubble3D val="0"/>
            <c:spPr>
              <a:solidFill>
                <a:srgbClr val="073527"/>
              </a:solidFill>
              <a:ln w="22320">
                <a:solidFill>
                  <a:srgbClr val="FFFFFF"/>
                </a:solidFill>
                <a:round/>
              </a:ln>
            </c:spPr>
            <c:extLst>
              <c:ext xmlns:c16="http://schemas.microsoft.com/office/drawing/2014/chart" uri="{C3380CC4-5D6E-409C-BE32-E72D297353CC}">
                <c16:uniqueId val="{00000005-730C-654B-9D5F-48140BFC0C0E}"/>
              </c:ext>
            </c:extLst>
          </c:dPt>
          <c:dPt>
            <c:idx val="3"/>
            <c:bubble3D val="0"/>
            <c:spPr>
              <a:solidFill>
                <a:srgbClr val="585D33"/>
              </a:solidFill>
              <a:ln w="22320">
                <a:solidFill>
                  <a:srgbClr val="FFFFFF"/>
                </a:solidFill>
                <a:round/>
              </a:ln>
            </c:spPr>
            <c:extLst>
              <c:ext xmlns:c16="http://schemas.microsoft.com/office/drawing/2014/chart" uri="{C3380CC4-5D6E-409C-BE32-E72D297353CC}">
                <c16:uniqueId val="{00000007-730C-654B-9D5F-48140BFC0C0E}"/>
              </c:ext>
            </c:extLst>
          </c:dPt>
          <c:dPt>
            <c:idx val="4"/>
            <c:bubble3D val="0"/>
            <c:spPr>
              <a:solidFill>
                <a:srgbClr val="A9853F"/>
              </a:solidFill>
              <a:ln w="22320">
                <a:solidFill>
                  <a:srgbClr val="FFFFFF"/>
                </a:solidFill>
                <a:round/>
              </a:ln>
            </c:spPr>
            <c:extLst>
              <c:ext xmlns:c16="http://schemas.microsoft.com/office/drawing/2014/chart" uri="{C3380CC4-5D6E-409C-BE32-E72D297353CC}">
                <c16:uniqueId val="{00000009-730C-654B-9D5F-48140BFC0C0E}"/>
              </c:ext>
            </c:extLst>
          </c:dPt>
          <c:dPt>
            <c:idx val="5"/>
            <c:bubble3D val="0"/>
            <c:spPr>
              <a:solidFill>
                <a:srgbClr val="C8B083"/>
              </a:solidFill>
              <a:ln w="22320">
                <a:solidFill>
                  <a:srgbClr val="FFFFFF"/>
                </a:solidFill>
                <a:round/>
              </a:ln>
            </c:spPr>
            <c:extLst>
              <c:ext xmlns:c16="http://schemas.microsoft.com/office/drawing/2014/chart" uri="{C3380CC4-5D6E-409C-BE32-E72D297353CC}">
                <c16:uniqueId val="{0000000B-730C-654B-9D5F-48140BFC0C0E}"/>
              </c:ext>
            </c:extLst>
          </c:dPt>
          <c:dPt>
            <c:idx val="6"/>
            <c:bubble3D val="0"/>
            <c:spPr>
              <a:solidFill>
                <a:srgbClr val="E7DCC7"/>
              </a:solidFill>
              <a:ln w="22320">
                <a:solidFill>
                  <a:srgbClr val="FFFFFF"/>
                </a:solidFill>
                <a:round/>
              </a:ln>
            </c:spPr>
            <c:extLst>
              <c:ext xmlns:c16="http://schemas.microsoft.com/office/drawing/2014/chart" uri="{C3380CC4-5D6E-409C-BE32-E72D297353CC}">
                <c16:uniqueId val="{0000000D-730C-654B-9D5F-48140BFC0C0E}"/>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730C-654B-9D5F-48140BFC0C0E}"/>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730C-654B-9D5F-48140BFC0C0E}"/>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730C-654B-9D5F-48140BFC0C0E}"/>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730C-654B-9D5F-48140BFC0C0E}"/>
                </c:ext>
              </c:extLst>
            </c:dLbl>
            <c:dLbl>
              <c:idx val="4"/>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9-730C-654B-9D5F-48140BFC0C0E}"/>
                </c:ext>
              </c:extLst>
            </c:dLbl>
            <c:dLbl>
              <c:idx val="5"/>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B-730C-654B-9D5F-48140BFC0C0E}"/>
                </c:ext>
              </c:extLst>
            </c:dLbl>
            <c:dLbl>
              <c:idx val="6"/>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D-730C-654B-9D5F-48140BFC0C0E}"/>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sectorielle'!$B$6:$B$12</c:f>
              <c:strCache>
                <c:ptCount val="7"/>
                <c:pt idx="0">
                  <c:v>Bureaux</c:v>
                </c:pt>
                <c:pt idx="1">
                  <c:v>Commerces</c:v>
                </c:pt>
                <c:pt idx="2">
                  <c:v>Hôtellerie</c:v>
                </c:pt>
                <c:pt idx="3">
                  <c:v>Logistique</c:v>
                </c:pt>
                <c:pt idx="4">
                  <c:v>Locaux d'activité</c:v>
                </c:pt>
                <c:pt idx="5">
                  <c:v>Santé</c:v>
                </c:pt>
                <c:pt idx="6">
                  <c:v>Éducation et loisirs</c:v>
                </c:pt>
              </c:strCache>
            </c:strRef>
          </c:cat>
          <c:val>
            <c:numRef>
              <c:f>'Répartition sectorielle'!$C$6:$C$12</c:f>
              <c:numCache>
                <c:formatCode>0.0%</c:formatCode>
                <c:ptCount val="7"/>
                <c:pt idx="0">
                  <c:v>0.6</c:v>
                </c:pt>
                <c:pt idx="1">
                  <c:v>0.24</c:v>
                </c:pt>
                <c:pt idx="2">
                  <c:v>0.08</c:v>
                </c:pt>
                <c:pt idx="3">
                  <c:v>0.04</c:v>
                </c:pt>
                <c:pt idx="4">
                  <c:v>0.02</c:v>
                </c:pt>
                <c:pt idx="5">
                  <c:v>0.01</c:v>
                </c:pt>
                <c:pt idx="6">
                  <c:v>0.01</c:v>
                </c:pt>
              </c:numCache>
            </c:numRef>
          </c:val>
          <c:extLst>
            <c:ext xmlns:c16="http://schemas.microsoft.com/office/drawing/2014/chart" uri="{C3380CC4-5D6E-409C-BE32-E72D297353CC}">
              <c16:uniqueId val="{0000000E-730C-654B-9D5F-48140BFC0C0E}"/>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sectorielle'!$C$5</c:f>
              <c:strCache>
                <c:ptCount val="1"/>
                <c:pt idx="0">
                  <c:v>% du patrimoine</c:v>
                </c:pt>
              </c:strCache>
            </c:strRef>
          </c:tx>
          <c:spPr>
            <a:solidFill>
              <a:srgbClr val="4F81BD"/>
            </a:solidFill>
            <a:ln w="0">
              <a:noFill/>
            </a:ln>
          </c:spPr>
          <c:explosion val="7"/>
          <c:dPt>
            <c:idx val="0"/>
            <c:bubble3D val="0"/>
            <c:spPr>
              <a:solidFill>
                <a:srgbClr val="001B00"/>
              </a:solidFill>
              <a:ln w="22320">
                <a:solidFill>
                  <a:srgbClr val="FFFFFF"/>
                </a:solidFill>
                <a:round/>
              </a:ln>
            </c:spPr>
            <c:extLst>
              <c:ext xmlns:c16="http://schemas.microsoft.com/office/drawing/2014/chart" uri="{C3380CC4-5D6E-409C-BE32-E72D297353CC}">
                <c16:uniqueId val="{00000001-5ACC-DB40-A676-99223FE90094}"/>
              </c:ext>
            </c:extLst>
          </c:dPt>
          <c:dPt>
            <c:idx val="1"/>
            <c:bubble3D val="0"/>
            <c:spPr>
              <a:solidFill>
                <a:srgbClr val="042814"/>
              </a:solidFill>
              <a:ln w="22320">
                <a:solidFill>
                  <a:srgbClr val="FFFFFF"/>
                </a:solidFill>
                <a:round/>
              </a:ln>
            </c:spPr>
            <c:extLst>
              <c:ext xmlns:c16="http://schemas.microsoft.com/office/drawing/2014/chart" uri="{C3380CC4-5D6E-409C-BE32-E72D297353CC}">
                <c16:uniqueId val="{00000003-5ACC-DB40-A676-99223FE90094}"/>
              </c:ext>
            </c:extLst>
          </c:dPt>
          <c:dPt>
            <c:idx val="2"/>
            <c:bubble3D val="0"/>
            <c:spPr>
              <a:solidFill>
                <a:srgbClr val="073527"/>
              </a:solidFill>
              <a:ln w="22320">
                <a:solidFill>
                  <a:srgbClr val="FFFFFF"/>
                </a:solidFill>
                <a:round/>
              </a:ln>
            </c:spPr>
            <c:extLst>
              <c:ext xmlns:c16="http://schemas.microsoft.com/office/drawing/2014/chart" uri="{C3380CC4-5D6E-409C-BE32-E72D297353CC}">
                <c16:uniqueId val="{00000005-5ACC-DB40-A676-99223FE90094}"/>
              </c:ext>
            </c:extLst>
          </c:dPt>
          <c:dPt>
            <c:idx val="3"/>
            <c:bubble3D val="0"/>
            <c:spPr>
              <a:solidFill>
                <a:srgbClr val="585D33"/>
              </a:solidFill>
              <a:ln w="22320">
                <a:solidFill>
                  <a:srgbClr val="FFFFFF"/>
                </a:solidFill>
                <a:round/>
              </a:ln>
            </c:spPr>
            <c:extLst>
              <c:ext xmlns:c16="http://schemas.microsoft.com/office/drawing/2014/chart" uri="{C3380CC4-5D6E-409C-BE32-E72D297353CC}">
                <c16:uniqueId val="{00000007-5ACC-DB40-A676-99223FE90094}"/>
              </c:ext>
            </c:extLst>
          </c:dPt>
          <c:dPt>
            <c:idx val="4"/>
            <c:bubble3D val="0"/>
            <c:spPr>
              <a:solidFill>
                <a:srgbClr val="A9853F"/>
              </a:solidFill>
              <a:ln w="22320">
                <a:solidFill>
                  <a:srgbClr val="FFFFFF"/>
                </a:solidFill>
                <a:round/>
              </a:ln>
            </c:spPr>
            <c:extLst>
              <c:ext xmlns:c16="http://schemas.microsoft.com/office/drawing/2014/chart" uri="{C3380CC4-5D6E-409C-BE32-E72D297353CC}">
                <c16:uniqueId val="{00000009-5ACC-DB40-A676-99223FE90094}"/>
              </c:ext>
            </c:extLst>
          </c:dPt>
          <c:dPt>
            <c:idx val="5"/>
            <c:bubble3D val="0"/>
            <c:spPr>
              <a:solidFill>
                <a:srgbClr val="C8B083"/>
              </a:solidFill>
              <a:ln w="22320">
                <a:solidFill>
                  <a:srgbClr val="FFFFFF"/>
                </a:solidFill>
                <a:round/>
              </a:ln>
            </c:spPr>
            <c:extLst>
              <c:ext xmlns:c16="http://schemas.microsoft.com/office/drawing/2014/chart" uri="{C3380CC4-5D6E-409C-BE32-E72D297353CC}">
                <c16:uniqueId val="{0000000B-5ACC-DB40-A676-99223FE90094}"/>
              </c:ext>
            </c:extLst>
          </c:dPt>
          <c:dPt>
            <c:idx val="6"/>
            <c:bubble3D val="0"/>
            <c:spPr>
              <a:solidFill>
                <a:srgbClr val="E7DCC7"/>
              </a:solidFill>
              <a:ln w="22320">
                <a:solidFill>
                  <a:srgbClr val="FFFFFF"/>
                </a:solidFill>
                <a:round/>
              </a:ln>
            </c:spPr>
            <c:extLst>
              <c:ext xmlns:c16="http://schemas.microsoft.com/office/drawing/2014/chart" uri="{C3380CC4-5D6E-409C-BE32-E72D297353CC}">
                <c16:uniqueId val="{0000000D-5ACC-DB40-A676-99223FE90094}"/>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5ACC-DB40-A676-99223FE90094}"/>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5ACC-DB40-A676-99223FE90094}"/>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5ACC-DB40-A676-99223FE90094}"/>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5ACC-DB40-A676-99223FE90094}"/>
                </c:ext>
              </c:extLst>
            </c:dLbl>
            <c:dLbl>
              <c:idx val="4"/>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9-5ACC-DB40-A676-99223FE90094}"/>
                </c:ext>
              </c:extLst>
            </c:dLbl>
            <c:dLbl>
              <c:idx val="5"/>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B-5ACC-DB40-A676-99223FE90094}"/>
                </c:ext>
              </c:extLst>
            </c:dLbl>
            <c:dLbl>
              <c:idx val="6"/>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D-5ACC-DB40-A676-99223FE90094}"/>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sectorielle'!$D$6:$D$12</c:f>
              <c:strCache>
                <c:ptCount val="7"/>
                <c:pt idx="0">
                  <c:v>Bureaux (3.1%)</c:v>
                </c:pt>
                <c:pt idx="1">
                  <c:v>Commerces (2.7%)</c:v>
                </c:pt>
                <c:pt idx="2">
                  <c:v>Logistique (1.6%)</c:v>
                </c:pt>
                <c:pt idx="3">
                  <c:v>Santé (1.2%)</c:v>
                </c:pt>
                <c:pt idx="4">
                  <c:v>Hôtellerie (0.6%)</c:v>
                </c:pt>
                <c:pt idx="5">
                  <c:v>Locaux d'activité (0.5%)</c:v>
                </c:pt>
                <c:pt idx="6">
                  <c:v>Éducation (0.3%)</c:v>
                </c:pt>
              </c:strCache>
            </c:strRef>
          </c:cat>
          <c:val>
            <c:numRef>
              <c:f>'Répartition sectorielle'!$C$6:$C$12</c:f>
              <c:numCache>
                <c:formatCode>0.0%</c:formatCode>
                <c:ptCount val="7"/>
                <c:pt idx="0">
                  <c:v>0.31</c:v>
                </c:pt>
                <c:pt idx="1">
                  <c:v>0.27</c:v>
                </c:pt>
                <c:pt idx="2">
                  <c:v>0.16</c:v>
                </c:pt>
                <c:pt idx="3">
                  <c:v>0.12</c:v>
                </c:pt>
                <c:pt idx="4">
                  <c:v>0.06</c:v>
                </c:pt>
                <c:pt idx="5">
                  <c:v>0.05</c:v>
                </c:pt>
                <c:pt idx="6">
                  <c:v>0.03</c:v>
                </c:pt>
              </c:numCache>
            </c:numRef>
          </c:val>
          <c:extLst>
            <c:ext xmlns:c16="http://schemas.microsoft.com/office/drawing/2014/chart" uri="{C3380CC4-5D6E-409C-BE32-E72D297353CC}">
              <c16:uniqueId val="{0000000E-5ACC-DB40-A676-99223FE90094}"/>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géographique'!$C$5</c:f>
              <c:strCache>
                <c:ptCount val="1"/>
                <c:pt idx="0">
                  <c:v>% du patrimoine</c:v>
                </c:pt>
              </c:strCache>
            </c:strRef>
          </c:tx>
          <c:spPr>
            <a:solidFill>
              <a:srgbClr val="4F81BD"/>
            </a:solidFill>
            <a:ln w="0">
              <a:noFill/>
            </a:ln>
          </c:spPr>
          <c:explosion val="4"/>
          <c:dPt>
            <c:idx val="0"/>
            <c:bubble3D val="0"/>
            <c:explosion val="6"/>
            <c:spPr>
              <a:solidFill>
                <a:srgbClr val="001B00"/>
              </a:solidFill>
              <a:ln w="22320">
                <a:solidFill>
                  <a:srgbClr val="FFFFFF"/>
                </a:solidFill>
                <a:round/>
              </a:ln>
            </c:spPr>
            <c:extLst>
              <c:ext xmlns:c16="http://schemas.microsoft.com/office/drawing/2014/chart" uri="{C3380CC4-5D6E-409C-BE32-E72D297353CC}">
                <c16:uniqueId val="{00000001-2CFA-7C49-8858-3F0EB0584D95}"/>
              </c:ext>
            </c:extLst>
          </c:dPt>
          <c:dPt>
            <c:idx val="1"/>
            <c:bubble3D val="0"/>
            <c:spPr>
              <a:solidFill>
                <a:srgbClr val="042814"/>
              </a:solidFill>
              <a:ln w="22320">
                <a:solidFill>
                  <a:srgbClr val="FFFFFF"/>
                </a:solidFill>
                <a:round/>
              </a:ln>
            </c:spPr>
            <c:extLst>
              <c:ext xmlns:c16="http://schemas.microsoft.com/office/drawing/2014/chart" uri="{C3380CC4-5D6E-409C-BE32-E72D297353CC}">
                <c16:uniqueId val="{00000003-2CFA-7C49-8858-3F0EB0584D95}"/>
              </c:ext>
            </c:extLst>
          </c:dPt>
          <c:dPt>
            <c:idx val="2"/>
            <c:bubble3D val="0"/>
            <c:spPr>
              <a:solidFill>
                <a:srgbClr val="073527"/>
              </a:solidFill>
              <a:ln w="22320">
                <a:solidFill>
                  <a:srgbClr val="FFFFFF"/>
                </a:solidFill>
                <a:round/>
              </a:ln>
            </c:spPr>
            <c:extLst>
              <c:ext xmlns:c16="http://schemas.microsoft.com/office/drawing/2014/chart" uri="{C3380CC4-5D6E-409C-BE32-E72D297353CC}">
                <c16:uniqueId val="{00000005-2CFA-7C49-8858-3F0EB0584D95}"/>
              </c:ext>
            </c:extLst>
          </c:dPt>
          <c:dPt>
            <c:idx val="3"/>
            <c:bubble3D val="0"/>
            <c:explosion val="8"/>
            <c:spPr>
              <a:solidFill>
                <a:srgbClr val="585D33"/>
              </a:solidFill>
              <a:ln w="22320">
                <a:solidFill>
                  <a:srgbClr val="FFFFFF"/>
                </a:solidFill>
                <a:round/>
              </a:ln>
            </c:spPr>
            <c:extLst>
              <c:ext xmlns:c16="http://schemas.microsoft.com/office/drawing/2014/chart" uri="{C3380CC4-5D6E-409C-BE32-E72D297353CC}">
                <c16:uniqueId val="{00000007-2CFA-7C49-8858-3F0EB0584D95}"/>
              </c:ext>
            </c:extLst>
          </c:dPt>
          <c:dPt>
            <c:idx val="4"/>
            <c:bubble3D val="0"/>
            <c:explosion val="8"/>
            <c:spPr>
              <a:solidFill>
                <a:srgbClr val="A9853F"/>
              </a:solidFill>
              <a:ln w="22320">
                <a:solidFill>
                  <a:srgbClr val="FFFFFF"/>
                </a:solidFill>
                <a:round/>
              </a:ln>
            </c:spPr>
            <c:extLst>
              <c:ext xmlns:c16="http://schemas.microsoft.com/office/drawing/2014/chart" uri="{C3380CC4-5D6E-409C-BE32-E72D297353CC}">
                <c16:uniqueId val="{00000009-2CFA-7C49-8858-3F0EB0584D95}"/>
              </c:ext>
            </c:extLst>
          </c:dPt>
          <c:dPt>
            <c:idx val="5"/>
            <c:bubble3D val="0"/>
            <c:explosion val="8"/>
            <c:spPr>
              <a:solidFill>
                <a:srgbClr val="C8B083"/>
              </a:solidFill>
              <a:ln w="22320">
                <a:solidFill>
                  <a:srgbClr val="FFFFFF"/>
                </a:solidFill>
                <a:round/>
              </a:ln>
            </c:spPr>
            <c:extLst>
              <c:ext xmlns:c16="http://schemas.microsoft.com/office/drawing/2014/chart" uri="{C3380CC4-5D6E-409C-BE32-E72D297353CC}">
                <c16:uniqueId val="{0000000B-2CFA-7C49-8858-3F0EB0584D95}"/>
              </c:ext>
            </c:extLst>
          </c:dPt>
          <c:dPt>
            <c:idx val="6"/>
            <c:bubble3D val="0"/>
            <c:explosion val="8"/>
            <c:spPr>
              <a:solidFill>
                <a:srgbClr val="E7DCC7"/>
              </a:solidFill>
              <a:ln w="22320">
                <a:solidFill>
                  <a:srgbClr val="FFFFFF"/>
                </a:solidFill>
                <a:round/>
              </a:ln>
            </c:spPr>
            <c:extLst>
              <c:ext xmlns:c16="http://schemas.microsoft.com/office/drawing/2014/chart" uri="{C3380CC4-5D6E-409C-BE32-E72D297353CC}">
                <c16:uniqueId val="{0000000D-2CFA-7C49-8858-3F0EB0584D95}"/>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2CFA-7C49-8858-3F0EB0584D95}"/>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2CFA-7C49-8858-3F0EB0584D95}"/>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2CFA-7C49-8858-3F0EB0584D95}"/>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2CFA-7C49-8858-3F0EB0584D95}"/>
                </c:ext>
              </c:extLst>
            </c:dLbl>
            <c:dLbl>
              <c:idx val="4"/>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9-2CFA-7C49-8858-3F0EB0584D95}"/>
                </c:ext>
              </c:extLst>
            </c:dLbl>
            <c:dLbl>
              <c:idx val="5"/>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B-2CFA-7C49-8858-3F0EB0584D95}"/>
                </c:ext>
              </c:extLst>
            </c:dLbl>
            <c:dLbl>
              <c:idx val="6"/>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D-2CFA-7C49-8858-3F0EB0584D95}"/>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géographique'!$D$6:$D$12</c:f>
              <c:strCache>
                <c:ptCount val="7"/>
                <c:pt idx="0">
                  <c:v>Espagne (3.4%)</c:v>
                </c:pt>
                <c:pt idx="1">
                  <c:v>Allemagne (2.0%)</c:v>
                </c:pt>
                <c:pt idx="2">
                  <c:v>Pays-Bas (1.4%)</c:v>
                </c:pt>
                <c:pt idx="3">
                  <c:v>Italie (1.2%)</c:v>
                </c:pt>
                <c:pt idx="4">
                  <c:v>Irlande (1.0%)</c:v>
                </c:pt>
                <c:pt idx="5">
                  <c:v>Pologne (0.7%)</c:v>
                </c:pt>
                <c:pt idx="6">
                  <c:v>Belgique (0.3%)</c:v>
                </c:pt>
              </c:strCache>
            </c:strRef>
          </c:cat>
          <c:val>
            <c:numRef>
              <c:f>'Répartition géographique'!$C$6:$C$12</c:f>
              <c:numCache>
                <c:formatCode>0.0%</c:formatCode>
                <c:ptCount val="7"/>
                <c:pt idx="0">
                  <c:v>0.34</c:v>
                </c:pt>
                <c:pt idx="1">
                  <c:v>0.2</c:v>
                </c:pt>
                <c:pt idx="2">
                  <c:v>0.14000000000000001</c:v>
                </c:pt>
                <c:pt idx="3">
                  <c:v>0.12</c:v>
                </c:pt>
                <c:pt idx="4">
                  <c:v>0.1</c:v>
                </c:pt>
                <c:pt idx="5">
                  <c:v>7.0000000000000007E-2</c:v>
                </c:pt>
                <c:pt idx="6">
                  <c:v>0.03</c:v>
                </c:pt>
              </c:numCache>
            </c:numRef>
          </c:val>
          <c:extLst>
            <c:ext xmlns:c16="http://schemas.microsoft.com/office/drawing/2014/chart" uri="{C3380CC4-5D6E-409C-BE32-E72D297353CC}">
              <c16:uniqueId val="{0000000E-2CFA-7C49-8858-3F0EB0584D95}"/>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sectorielle'!$C$5</c:f>
              <c:strCache>
                <c:ptCount val="1"/>
                <c:pt idx="0">
                  <c:v>% du patrimoine</c:v>
                </c:pt>
              </c:strCache>
            </c:strRef>
          </c:tx>
          <c:spPr>
            <a:solidFill>
              <a:srgbClr val="4F81BD"/>
            </a:solidFill>
            <a:ln w="0">
              <a:noFill/>
            </a:ln>
          </c:spPr>
          <c:dPt>
            <c:idx val="0"/>
            <c:bubble3D val="0"/>
            <c:spPr>
              <a:solidFill>
                <a:srgbClr val="001B00"/>
              </a:solidFill>
              <a:ln w="22320">
                <a:solidFill>
                  <a:srgbClr val="FFFFFF"/>
                </a:solidFill>
                <a:round/>
              </a:ln>
            </c:spPr>
            <c:extLst>
              <c:ext xmlns:c16="http://schemas.microsoft.com/office/drawing/2014/chart" uri="{C3380CC4-5D6E-409C-BE32-E72D297353CC}">
                <c16:uniqueId val="{00000001-2A5E-F84B-9EC8-74535BEC9B69}"/>
              </c:ext>
            </c:extLst>
          </c:dPt>
          <c:dPt>
            <c:idx val="1"/>
            <c:bubble3D val="0"/>
            <c:explosion val="7"/>
            <c:spPr>
              <a:solidFill>
                <a:srgbClr val="A9853F"/>
              </a:solidFill>
              <a:ln w="22320">
                <a:solidFill>
                  <a:srgbClr val="FFFFFF"/>
                </a:solidFill>
                <a:round/>
              </a:ln>
            </c:spPr>
            <c:extLst>
              <c:ext xmlns:c16="http://schemas.microsoft.com/office/drawing/2014/chart" uri="{C3380CC4-5D6E-409C-BE32-E72D297353CC}">
                <c16:uniqueId val="{00000003-2A5E-F84B-9EC8-74535BEC9B69}"/>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2A5E-F84B-9EC8-74535BEC9B69}"/>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2A5E-F84B-9EC8-74535BEC9B69}"/>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sectorielle'!$D$6:$D$7</c:f>
              <c:strCache>
                <c:ptCount val="2"/>
                <c:pt idx="0">
                  <c:v>Commerces (5.7%)</c:v>
                </c:pt>
                <c:pt idx="1">
                  <c:v>Bureaux (4.3%)</c:v>
                </c:pt>
              </c:strCache>
            </c:strRef>
          </c:cat>
          <c:val>
            <c:numRef>
              <c:f>'Répartition sectorielle'!$C$6:$C$7</c:f>
              <c:numCache>
                <c:formatCode>0.0%</c:formatCode>
                <c:ptCount val="2"/>
                <c:pt idx="0">
                  <c:v>0.56999999999999995</c:v>
                </c:pt>
                <c:pt idx="1">
                  <c:v>0.43</c:v>
                </c:pt>
              </c:numCache>
            </c:numRef>
          </c:val>
          <c:extLst>
            <c:ext xmlns:c16="http://schemas.microsoft.com/office/drawing/2014/chart" uri="{C3380CC4-5D6E-409C-BE32-E72D297353CC}">
              <c16:uniqueId val="{00000004-2A5E-F84B-9EC8-74535BEC9B69}"/>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géographique'!$C$5</c:f>
              <c:strCache>
                <c:ptCount val="1"/>
                <c:pt idx="0">
                  <c:v>% du patrimoine</c:v>
                </c:pt>
              </c:strCache>
            </c:strRef>
          </c:tx>
          <c:spPr>
            <a:solidFill>
              <a:srgbClr val="4F81BD"/>
            </a:solidFill>
            <a:ln w="0">
              <a:noFill/>
            </a:ln>
          </c:spPr>
          <c:dPt>
            <c:idx val="0"/>
            <c:bubble3D val="0"/>
            <c:explosion val="5"/>
            <c:spPr>
              <a:solidFill>
                <a:srgbClr val="001B00"/>
              </a:solidFill>
              <a:ln w="22320">
                <a:solidFill>
                  <a:srgbClr val="FFFFFF"/>
                </a:solidFill>
                <a:round/>
              </a:ln>
            </c:spPr>
            <c:extLst>
              <c:ext xmlns:c16="http://schemas.microsoft.com/office/drawing/2014/chart" uri="{C3380CC4-5D6E-409C-BE32-E72D297353CC}">
                <c16:uniqueId val="{00000001-623C-044E-AE89-8120A19451A6}"/>
              </c:ext>
            </c:extLst>
          </c:dPt>
          <c:dPt>
            <c:idx val="1"/>
            <c:bubble3D val="0"/>
            <c:explosion val="5"/>
            <c:spPr>
              <a:solidFill>
                <a:srgbClr val="A9853F"/>
              </a:solidFill>
              <a:ln w="22320">
                <a:solidFill>
                  <a:srgbClr val="FFFFFF"/>
                </a:solidFill>
                <a:round/>
              </a:ln>
            </c:spPr>
            <c:extLst>
              <c:ext xmlns:c16="http://schemas.microsoft.com/office/drawing/2014/chart" uri="{C3380CC4-5D6E-409C-BE32-E72D297353CC}">
                <c16:uniqueId val="{00000003-623C-044E-AE89-8120A19451A6}"/>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623C-044E-AE89-8120A19451A6}"/>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623C-044E-AE89-8120A19451A6}"/>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géographique'!$D$6:$D$7</c:f>
              <c:strCache>
                <c:ptCount val="2"/>
                <c:pt idx="0">
                  <c:v>Royaume-Uni (7.5%)</c:v>
                </c:pt>
                <c:pt idx="1">
                  <c:v>France (2.5%)</c:v>
                </c:pt>
              </c:strCache>
            </c:strRef>
          </c:cat>
          <c:val>
            <c:numRef>
              <c:f>'Répartition géographique'!$C$6:$C$7</c:f>
              <c:numCache>
                <c:formatCode>0.0%</c:formatCode>
                <c:ptCount val="2"/>
                <c:pt idx="0">
                  <c:v>0.75</c:v>
                </c:pt>
                <c:pt idx="1">
                  <c:v>0.25</c:v>
                </c:pt>
              </c:numCache>
            </c:numRef>
          </c:val>
          <c:extLst>
            <c:ext xmlns:c16="http://schemas.microsoft.com/office/drawing/2014/chart" uri="{C3380CC4-5D6E-409C-BE32-E72D297353CC}">
              <c16:uniqueId val="{00000004-623C-044E-AE89-8120A19451A6}"/>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sectorielle'!$C$5</c:f>
              <c:strCache>
                <c:ptCount val="1"/>
                <c:pt idx="0">
                  <c:v>% du patrimoine</c:v>
                </c:pt>
              </c:strCache>
            </c:strRef>
          </c:tx>
          <c:spPr>
            <a:solidFill>
              <a:srgbClr val="4F81BD"/>
            </a:solidFill>
            <a:ln w="0">
              <a:noFill/>
            </a:ln>
          </c:spPr>
          <c:dPt>
            <c:idx val="0"/>
            <c:bubble3D val="0"/>
            <c:explosion val="4"/>
            <c:spPr>
              <a:solidFill>
                <a:srgbClr val="001B00"/>
              </a:solidFill>
              <a:ln w="22320">
                <a:solidFill>
                  <a:srgbClr val="FFFFFF"/>
                </a:solidFill>
                <a:round/>
              </a:ln>
            </c:spPr>
            <c:extLst>
              <c:ext xmlns:c16="http://schemas.microsoft.com/office/drawing/2014/chart" uri="{C3380CC4-5D6E-409C-BE32-E72D297353CC}">
                <c16:uniqueId val="{00000001-7F6C-544C-BC18-68214263E8DC}"/>
              </c:ext>
            </c:extLst>
          </c:dPt>
          <c:dPt>
            <c:idx val="1"/>
            <c:bubble3D val="0"/>
            <c:explosion val="5"/>
            <c:spPr>
              <a:solidFill>
                <a:srgbClr val="042B17"/>
              </a:solidFill>
              <a:ln w="22320">
                <a:solidFill>
                  <a:srgbClr val="FFFFFF"/>
                </a:solidFill>
                <a:round/>
              </a:ln>
            </c:spPr>
            <c:extLst>
              <c:ext xmlns:c16="http://schemas.microsoft.com/office/drawing/2014/chart" uri="{C3380CC4-5D6E-409C-BE32-E72D297353CC}">
                <c16:uniqueId val="{00000003-7F6C-544C-BC18-68214263E8DC}"/>
              </c:ext>
            </c:extLst>
          </c:dPt>
          <c:dPt>
            <c:idx val="2"/>
            <c:bubble3D val="0"/>
            <c:explosion val="5"/>
            <c:spPr>
              <a:solidFill>
                <a:srgbClr val="27452C"/>
              </a:solidFill>
              <a:ln w="22320">
                <a:solidFill>
                  <a:srgbClr val="FFFFFF"/>
                </a:solidFill>
                <a:round/>
              </a:ln>
            </c:spPr>
            <c:extLst>
              <c:ext xmlns:c16="http://schemas.microsoft.com/office/drawing/2014/chart" uri="{C3380CC4-5D6E-409C-BE32-E72D297353CC}">
                <c16:uniqueId val="{00000005-7F6C-544C-BC18-68214263E8DC}"/>
              </c:ext>
            </c:extLst>
          </c:dPt>
          <c:dPt>
            <c:idx val="3"/>
            <c:bubble3D val="0"/>
            <c:explosion val="5"/>
            <c:spPr>
              <a:solidFill>
                <a:srgbClr val="89753A"/>
              </a:solidFill>
              <a:ln w="22320">
                <a:solidFill>
                  <a:srgbClr val="FFFFFF"/>
                </a:solidFill>
                <a:round/>
              </a:ln>
            </c:spPr>
            <c:extLst>
              <c:ext xmlns:c16="http://schemas.microsoft.com/office/drawing/2014/chart" uri="{C3380CC4-5D6E-409C-BE32-E72D297353CC}">
                <c16:uniqueId val="{00000007-7F6C-544C-BC18-68214263E8DC}"/>
              </c:ext>
            </c:extLst>
          </c:dPt>
          <c:dPt>
            <c:idx val="4"/>
            <c:bubble3D val="0"/>
            <c:explosion val="4"/>
            <c:spPr>
              <a:solidFill>
                <a:srgbClr val="C2A875"/>
              </a:solidFill>
              <a:ln w="22320">
                <a:solidFill>
                  <a:srgbClr val="FFFFFF"/>
                </a:solidFill>
                <a:round/>
              </a:ln>
            </c:spPr>
            <c:extLst>
              <c:ext xmlns:c16="http://schemas.microsoft.com/office/drawing/2014/chart" uri="{C3380CC4-5D6E-409C-BE32-E72D297353CC}">
                <c16:uniqueId val="{00000009-7F6C-544C-BC18-68214263E8DC}"/>
              </c:ext>
            </c:extLst>
          </c:dPt>
          <c:dPt>
            <c:idx val="5"/>
            <c:bubble3D val="0"/>
            <c:explosion val="2"/>
            <c:spPr>
              <a:solidFill>
                <a:srgbClr val="E7DCC7"/>
              </a:solidFill>
              <a:ln w="22320">
                <a:solidFill>
                  <a:srgbClr val="FFFFFF"/>
                </a:solidFill>
                <a:round/>
              </a:ln>
            </c:spPr>
            <c:extLst>
              <c:ext xmlns:c16="http://schemas.microsoft.com/office/drawing/2014/chart" uri="{C3380CC4-5D6E-409C-BE32-E72D297353CC}">
                <c16:uniqueId val="{0000000B-7F6C-544C-BC18-68214263E8DC}"/>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7F6C-544C-BC18-68214263E8DC}"/>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7F6C-544C-BC18-68214263E8DC}"/>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7F6C-544C-BC18-68214263E8DC}"/>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7F6C-544C-BC18-68214263E8DC}"/>
                </c:ext>
              </c:extLst>
            </c:dLbl>
            <c:dLbl>
              <c:idx val="4"/>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9-7F6C-544C-BC18-68214263E8DC}"/>
                </c:ext>
              </c:extLst>
            </c:dLbl>
            <c:dLbl>
              <c:idx val="5"/>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B-7F6C-544C-BC18-68214263E8DC}"/>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sectorielle'!$D$6:$D$11</c:f>
              <c:strCache>
                <c:ptCount val="6"/>
                <c:pt idx="0">
                  <c:v>Commerces (3.6%)</c:v>
                </c:pt>
                <c:pt idx="1">
                  <c:v>Bureaux (3.2%)</c:v>
                </c:pt>
                <c:pt idx="2">
                  <c:v>Locaux d'activités (1.2%)</c:v>
                </c:pt>
                <c:pt idx="3">
                  <c:v>Santé / Hôtellerie / Autres (1.1%)</c:v>
                </c:pt>
                <c:pt idx="4">
                  <c:v>Entrepôts (0.8%)</c:v>
                </c:pt>
                <c:pt idx="5">
                  <c:v>Logistique (0.2%)</c:v>
                </c:pt>
              </c:strCache>
            </c:strRef>
          </c:cat>
          <c:val>
            <c:numRef>
              <c:f>'Répartition sectorielle'!$C$6:$C$11</c:f>
              <c:numCache>
                <c:formatCode>0.0%</c:formatCode>
                <c:ptCount val="6"/>
                <c:pt idx="0">
                  <c:v>0.36299999999999999</c:v>
                </c:pt>
                <c:pt idx="1">
                  <c:v>0.316</c:v>
                </c:pt>
                <c:pt idx="2">
                  <c:v>0.11600000000000001</c:v>
                </c:pt>
                <c:pt idx="3">
                  <c:v>0.106</c:v>
                </c:pt>
                <c:pt idx="4">
                  <c:v>7.6999999999999999E-2</c:v>
                </c:pt>
                <c:pt idx="5">
                  <c:v>2.1999999999999999E-2</c:v>
                </c:pt>
              </c:numCache>
            </c:numRef>
          </c:val>
          <c:extLst>
            <c:ext xmlns:c16="http://schemas.microsoft.com/office/drawing/2014/chart" uri="{C3380CC4-5D6E-409C-BE32-E72D297353CC}">
              <c16:uniqueId val="{0000000C-7F6C-544C-BC18-68214263E8DC}"/>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géographique'!$C$5</c:f>
              <c:strCache>
                <c:ptCount val="1"/>
                <c:pt idx="0">
                  <c:v>% du patrimoine</c:v>
                </c:pt>
              </c:strCache>
            </c:strRef>
          </c:tx>
          <c:spPr>
            <a:solidFill>
              <a:srgbClr val="4F81BD"/>
            </a:solidFill>
            <a:ln w="0">
              <a:noFill/>
            </a:ln>
          </c:spPr>
          <c:explosion val="8"/>
          <c:dPt>
            <c:idx val="0"/>
            <c:bubble3D val="0"/>
            <c:spPr>
              <a:solidFill>
                <a:srgbClr val="001B00"/>
              </a:solidFill>
              <a:ln w="22320">
                <a:solidFill>
                  <a:srgbClr val="FFFFFF"/>
                </a:solidFill>
                <a:round/>
              </a:ln>
            </c:spPr>
            <c:extLst>
              <c:ext xmlns:c16="http://schemas.microsoft.com/office/drawing/2014/chart" uri="{C3380CC4-5D6E-409C-BE32-E72D297353CC}">
                <c16:uniqueId val="{00000001-1C5A-AB42-B97A-77CF88C8A243}"/>
              </c:ext>
            </c:extLst>
          </c:dPt>
          <c:dPt>
            <c:idx val="1"/>
            <c:bubble3D val="0"/>
            <c:spPr>
              <a:solidFill>
                <a:srgbClr val="032611"/>
              </a:solidFill>
              <a:ln w="22320">
                <a:solidFill>
                  <a:srgbClr val="FFFFFF"/>
                </a:solidFill>
                <a:round/>
              </a:ln>
            </c:spPr>
            <c:extLst>
              <c:ext xmlns:c16="http://schemas.microsoft.com/office/drawing/2014/chart" uri="{C3380CC4-5D6E-409C-BE32-E72D297353CC}">
                <c16:uniqueId val="{00000003-1C5A-AB42-B97A-77CF88C8A243}"/>
              </c:ext>
            </c:extLst>
          </c:dPt>
          <c:dPt>
            <c:idx val="2"/>
            <c:bubble3D val="0"/>
            <c:spPr>
              <a:solidFill>
                <a:srgbClr val="063121"/>
              </a:solidFill>
              <a:ln w="22320">
                <a:solidFill>
                  <a:srgbClr val="FFFFFF"/>
                </a:solidFill>
                <a:round/>
              </a:ln>
            </c:spPr>
            <c:extLst>
              <c:ext xmlns:c16="http://schemas.microsoft.com/office/drawing/2014/chart" uri="{C3380CC4-5D6E-409C-BE32-E72D297353CC}">
                <c16:uniqueId val="{00000005-1C5A-AB42-B97A-77CF88C8A243}"/>
              </c:ext>
            </c:extLst>
          </c:dPt>
          <c:dPt>
            <c:idx val="3"/>
            <c:bubble3D val="0"/>
            <c:spPr>
              <a:solidFill>
                <a:srgbClr val="354C2E"/>
              </a:solidFill>
              <a:ln w="22320">
                <a:solidFill>
                  <a:srgbClr val="FFFFFF"/>
                </a:solidFill>
                <a:round/>
              </a:ln>
            </c:spPr>
            <c:extLst>
              <c:ext xmlns:c16="http://schemas.microsoft.com/office/drawing/2014/chart" uri="{C3380CC4-5D6E-409C-BE32-E72D297353CC}">
                <c16:uniqueId val="{00000007-1C5A-AB42-B97A-77CF88C8A243}"/>
              </c:ext>
            </c:extLst>
          </c:dPt>
          <c:dPt>
            <c:idx val="4"/>
            <c:bubble3D val="0"/>
            <c:spPr>
              <a:solidFill>
                <a:srgbClr val="7B6E38"/>
              </a:solidFill>
              <a:ln w="22320">
                <a:solidFill>
                  <a:srgbClr val="FFFFFF"/>
                </a:solidFill>
                <a:round/>
              </a:ln>
            </c:spPr>
            <c:extLst>
              <c:ext xmlns:c16="http://schemas.microsoft.com/office/drawing/2014/chart" uri="{C3380CC4-5D6E-409C-BE32-E72D297353CC}">
                <c16:uniqueId val="{00000009-1C5A-AB42-B97A-77CF88C8A243}"/>
              </c:ext>
            </c:extLst>
          </c:dPt>
          <c:dPt>
            <c:idx val="5"/>
            <c:bubble3D val="0"/>
            <c:spPr>
              <a:solidFill>
                <a:srgbClr val="B29152"/>
              </a:solidFill>
              <a:ln w="22320">
                <a:solidFill>
                  <a:srgbClr val="FFFFFF"/>
                </a:solidFill>
                <a:round/>
              </a:ln>
            </c:spPr>
            <c:extLst>
              <c:ext xmlns:c16="http://schemas.microsoft.com/office/drawing/2014/chart" uri="{C3380CC4-5D6E-409C-BE32-E72D297353CC}">
                <c16:uniqueId val="{0000000B-1C5A-AB42-B97A-77CF88C8A243}"/>
              </c:ext>
            </c:extLst>
          </c:dPt>
          <c:dPt>
            <c:idx val="6"/>
            <c:bubble3D val="0"/>
            <c:spPr>
              <a:solidFill>
                <a:srgbClr val="CCB78D"/>
              </a:solidFill>
              <a:ln w="22320">
                <a:solidFill>
                  <a:srgbClr val="FFFFFF"/>
                </a:solidFill>
                <a:round/>
              </a:ln>
            </c:spPr>
            <c:extLst>
              <c:ext xmlns:c16="http://schemas.microsoft.com/office/drawing/2014/chart" uri="{C3380CC4-5D6E-409C-BE32-E72D297353CC}">
                <c16:uniqueId val="{0000000D-1C5A-AB42-B97A-77CF88C8A243}"/>
              </c:ext>
            </c:extLst>
          </c:dPt>
          <c:dPt>
            <c:idx val="7"/>
            <c:bubble3D val="0"/>
            <c:spPr>
              <a:solidFill>
                <a:srgbClr val="E7DCC7"/>
              </a:solidFill>
              <a:ln w="22320">
                <a:solidFill>
                  <a:srgbClr val="FFFFFF"/>
                </a:solidFill>
                <a:round/>
              </a:ln>
            </c:spPr>
            <c:extLst>
              <c:ext xmlns:c16="http://schemas.microsoft.com/office/drawing/2014/chart" uri="{C3380CC4-5D6E-409C-BE32-E72D297353CC}">
                <c16:uniqueId val="{0000000F-1C5A-AB42-B97A-77CF88C8A243}"/>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1C5A-AB42-B97A-77CF88C8A243}"/>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1C5A-AB42-B97A-77CF88C8A243}"/>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1C5A-AB42-B97A-77CF88C8A243}"/>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1C5A-AB42-B97A-77CF88C8A243}"/>
                </c:ext>
              </c:extLst>
            </c:dLbl>
            <c:dLbl>
              <c:idx val="4"/>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9-1C5A-AB42-B97A-77CF88C8A243}"/>
                </c:ext>
              </c:extLst>
            </c:dLbl>
            <c:dLbl>
              <c:idx val="5"/>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B-1C5A-AB42-B97A-77CF88C8A243}"/>
                </c:ext>
              </c:extLst>
            </c:dLbl>
            <c:dLbl>
              <c:idx val="6"/>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D-1C5A-AB42-B97A-77CF88C8A243}"/>
                </c:ext>
              </c:extLst>
            </c:dLbl>
            <c:dLbl>
              <c:idx val="7"/>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F-1C5A-AB42-B97A-77CF88C8A243}"/>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géographique'!$D$6:$D$13</c:f>
              <c:strCache>
                <c:ptCount val="8"/>
                <c:pt idx="0">
                  <c:v>France (2.7%)</c:v>
                </c:pt>
                <c:pt idx="1">
                  <c:v>Royaume-Uni (2.7%)</c:v>
                </c:pt>
                <c:pt idx="2">
                  <c:v>Irlande (1.6%)</c:v>
                </c:pt>
                <c:pt idx="3">
                  <c:v>Espagne (1.1%)</c:v>
                </c:pt>
                <c:pt idx="4">
                  <c:v>Allemagne (1.0%)</c:v>
                </c:pt>
                <c:pt idx="5">
                  <c:v>Pays-Bas (0.7%)</c:v>
                </c:pt>
                <c:pt idx="6">
                  <c:v>Belgique (0.2%)</c:v>
                </c:pt>
                <c:pt idx="7">
                  <c:v>Italie (0.1%)</c:v>
                </c:pt>
              </c:strCache>
            </c:strRef>
          </c:cat>
          <c:val>
            <c:numRef>
              <c:f>'Répartition géographique'!$C$6:$C$13</c:f>
              <c:numCache>
                <c:formatCode>0.0%</c:formatCode>
                <c:ptCount val="8"/>
                <c:pt idx="0">
                  <c:v>0.27300000000000002</c:v>
                </c:pt>
                <c:pt idx="1">
                  <c:v>0.26700000000000002</c:v>
                </c:pt>
                <c:pt idx="2">
                  <c:v>0.156</c:v>
                </c:pt>
                <c:pt idx="3">
                  <c:v>0.105</c:v>
                </c:pt>
                <c:pt idx="4">
                  <c:v>9.7000000000000003E-2</c:v>
                </c:pt>
                <c:pt idx="5">
                  <c:v>7.1999999999999995E-2</c:v>
                </c:pt>
                <c:pt idx="6">
                  <c:v>2.1999999999999999E-2</c:v>
                </c:pt>
                <c:pt idx="7">
                  <c:v>8.0000000000000002E-3</c:v>
                </c:pt>
              </c:numCache>
            </c:numRef>
          </c:val>
          <c:extLst>
            <c:ext xmlns:c16="http://schemas.microsoft.com/office/drawing/2014/chart" uri="{C3380CC4-5D6E-409C-BE32-E72D297353CC}">
              <c16:uniqueId val="{00000010-1C5A-AB42-B97A-77CF88C8A243}"/>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sectorielle'!$C$5</c:f>
              <c:strCache>
                <c:ptCount val="1"/>
                <c:pt idx="0">
                  <c:v>% du patrimoine</c:v>
                </c:pt>
              </c:strCache>
            </c:strRef>
          </c:tx>
          <c:spPr>
            <a:solidFill>
              <a:srgbClr val="4F81BD"/>
            </a:solidFill>
            <a:ln w="0">
              <a:noFill/>
            </a:ln>
          </c:spPr>
          <c:dPt>
            <c:idx val="0"/>
            <c:bubble3D val="0"/>
            <c:explosion val="7"/>
            <c:spPr>
              <a:solidFill>
                <a:srgbClr val="001B00"/>
              </a:solidFill>
              <a:ln w="22320">
                <a:solidFill>
                  <a:srgbClr val="FFFFFF"/>
                </a:solidFill>
                <a:round/>
              </a:ln>
            </c:spPr>
            <c:extLst>
              <c:ext xmlns:c16="http://schemas.microsoft.com/office/drawing/2014/chart" uri="{C3380CC4-5D6E-409C-BE32-E72D297353CC}">
                <c16:uniqueId val="{00000001-9E41-9542-9B40-758DAA214CB8}"/>
              </c:ext>
            </c:extLst>
          </c:dPt>
          <c:dPt>
            <c:idx val="1"/>
            <c:bubble3D val="0"/>
            <c:explosion val="6"/>
            <c:spPr>
              <a:solidFill>
                <a:srgbClr val="073527"/>
              </a:solidFill>
              <a:ln w="22320">
                <a:solidFill>
                  <a:srgbClr val="FFFFFF"/>
                </a:solidFill>
                <a:round/>
              </a:ln>
            </c:spPr>
            <c:extLst>
              <c:ext xmlns:c16="http://schemas.microsoft.com/office/drawing/2014/chart" uri="{C3380CC4-5D6E-409C-BE32-E72D297353CC}">
                <c16:uniqueId val="{00000003-9E41-9542-9B40-758DAA214CB8}"/>
              </c:ext>
            </c:extLst>
          </c:dPt>
          <c:dPt>
            <c:idx val="2"/>
            <c:bubble3D val="0"/>
            <c:explosion val="10"/>
            <c:spPr>
              <a:solidFill>
                <a:srgbClr val="A9853F"/>
              </a:solidFill>
              <a:ln w="22320">
                <a:solidFill>
                  <a:srgbClr val="FFFFFF"/>
                </a:solidFill>
                <a:round/>
              </a:ln>
            </c:spPr>
            <c:extLst>
              <c:ext xmlns:c16="http://schemas.microsoft.com/office/drawing/2014/chart" uri="{C3380CC4-5D6E-409C-BE32-E72D297353CC}">
                <c16:uniqueId val="{00000005-9E41-9542-9B40-758DAA214CB8}"/>
              </c:ext>
            </c:extLst>
          </c:dPt>
          <c:dPt>
            <c:idx val="3"/>
            <c:bubble3D val="0"/>
            <c:explosion val="2"/>
            <c:spPr>
              <a:solidFill>
                <a:srgbClr val="E7DCC7"/>
              </a:solidFill>
              <a:ln w="22320">
                <a:solidFill>
                  <a:srgbClr val="FFFFFF"/>
                </a:solidFill>
                <a:round/>
              </a:ln>
            </c:spPr>
            <c:extLst>
              <c:ext xmlns:c16="http://schemas.microsoft.com/office/drawing/2014/chart" uri="{C3380CC4-5D6E-409C-BE32-E72D297353CC}">
                <c16:uniqueId val="{00000007-9E41-9542-9B40-758DAA214CB8}"/>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9E41-9542-9B40-758DAA214CB8}"/>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9E41-9542-9B40-758DAA214CB8}"/>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9E41-9542-9B40-758DAA214CB8}"/>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9E41-9542-9B40-758DAA214CB8}"/>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sectorielle'!$D$6:$D$9</c:f>
              <c:strCache>
                <c:ptCount val="4"/>
                <c:pt idx="0">
                  <c:v>Commerces (5.6%)</c:v>
                </c:pt>
                <c:pt idx="1">
                  <c:v>Locaux d'activité (1.9%)</c:v>
                </c:pt>
                <c:pt idx="2">
                  <c:v>Santé (1.4%)</c:v>
                </c:pt>
                <c:pt idx="3">
                  <c:v>Bureaux (1.1%)</c:v>
                </c:pt>
              </c:strCache>
            </c:strRef>
          </c:cat>
          <c:val>
            <c:numRef>
              <c:f>'Répartition sectorielle'!$C$6:$C$9</c:f>
              <c:numCache>
                <c:formatCode>0.0%</c:formatCode>
                <c:ptCount val="4"/>
                <c:pt idx="0">
                  <c:v>0.56000000000000005</c:v>
                </c:pt>
                <c:pt idx="1">
                  <c:v>0.19</c:v>
                </c:pt>
                <c:pt idx="2">
                  <c:v>0.14000000000000001</c:v>
                </c:pt>
                <c:pt idx="3">
                  <c:v>0.11</c:v>
                </c:pt>
              </c:numCache>
            </c:numRef>
          </c:val>
          <c:extLst>
            <c:ext xmlns:c16="http://schemas.microsoft.com/office/drawing/2014/chart" uri="{C3380CC4-5D6E-409C-BE32-E72D297353CC}">
              <c16:uniqueId val="{00000008-9E41-9542-9B40-758DAA214CB8}"/>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géographique'!$C$5</c:f>
              <c:strCache>
                <c:ptCount val="1"/>
                <c:pt idx="0">
                  <c:v>% du patrimoine</c:v>
                </c:pt>
              </c:strCache>
            </c:strRef>
          </c:tx>
          <c:spPr>
            <a:solidFill>
              <a:srgbClr val="4F81BD"/>
            </a:solidFill>
            <a:ln w="0">
              <a:noFill/>
            </a:ln>
          </c:spPr>
          <c:dPt>
            <c:idx val="0"/>
            <c:bubble3D val="0"/>
            <c:explosion val="2"/>
            <c:spPr>
              <a:solidFill>
                <a:srgbClr val="001B00"/>
              </a:solidFill>
              <a:ln w="22320">
                <a:solidFill>
                  <a:srgbClr val="FFFFFF"/>
                </a:solidFill>
                <a:round/>
              </a:ln>
            </c:spPr>
            <c:extLst>
              <c:ext xmlns:c16="http://schemas.microsoft.com/office/drawing/2014/chart" uri="{C3380CC4-5D6E-409C-BE32-E72D297353CC}">
                <c16:uniqueId val="{00000001-6E40-1843-A9C5-760DA4EA0818}"/>
              </c:ext>
            </c:extLst>
          </c:dPt>
          <c:dPt>
            <c:idx val="1"/>
            <c:bubble3D val="0"/>
            <c:explosion val="1"/>
            <c:spPr>
              <a:solidFill>
                <a:srgbClr val="032611"/>
              </a:solidFill>
              <a:ln w="22320">
                <a:solidFill>
                  <a:srgbClr val="FFFFFF"/>
                </a:solidFill>
                <a:round/>
              </a:ln>
            </c:spPr>
            <c:extLst>
              <c:ext xmlns:c16="http://schemas.microsoft.com/office/drawing/2014/chart" uri="{C3380CC4-5D6E-409C-BE32-E72D297353CC}">
                <c16:uniqueId val="{00000003-6E40-1843-A9C5-760DA4EA0818}"/>
              </c:ext>
            </c:extLst>
          </c:dPt>
          <c:dPt>
            <c:idx val="2"/>
            <c:bubble3D val="0"/>
            <c:explosion val="6"/>
            <c:spPr>
              <a:solidFill>
                <a:srgbClr val="063121"/>
              </a:solidFill>
              <a:ln w="22320">
                <a:solidFill>
                  <a:srgbClr val="FFFFFF"/>
                </a:solidFill>
                <a:round/>
              </a:ln>
            </c:spPr>
            <c:extLst>
              <c:ext xmlns:c16="http://schemas.microsoft.com/office/drawing/2014/chart" uri="{C3380CC4-5D6E-409C-BE32-E72D297353CC}">
                <c16:uniqueId val="{00000005-6E40-1843-A9C5-760DA4EA0818}"/>
              </c:ext>
            </c:extLst>
          </c:dPt>
          <c:dPt>
            <c:idx val="3"/>
            <c:bubble3D val="0"/>
            <c:explosion val="6"/>
            <c:spPr>
              <a:solidFill>
                <a:srgbClr val="354C2E"/>
              </a:solidFill>
              <a:ln w="22320">
                <a:solidFill>
                  <a:srgbClr val="FFFFFF"/>
                </a:solidFill>
                <a:round/>
              </a:ln>
            </c:spPr>
            <c:extLst>
              <c:ext xmlns:c16="http://schemas.microsoft.com/office/drawing/2014/chart" uri="{C3380CC4-5D6E-409C-BE32-E72D297353CC}">
                <c16:uniqueId val="{00000007-6E40-1843-A9C5-760DA4EA0818}"/>
              </c:ext>
            </c:extLst>
          </c:dPt>
          <c:dPt>
            <c:idx val="4"/>
            <c:bubble3D val="0"/>
            <c:explosion val="8"/>
            <c:spPr>
              <a:solidFill>
                <a:srgbClr val="7B6E38"/>
              </a:solidFill>
              <a:ln w="22320">
                <a:solidFill>
                  <a:srgbClr val="FFFFFF"/>
                </a:solidFill>
                <a:round/>
              </a:ln>
            </c:spPr>
            <c:extLst>
              <c:ext xmlns:c16="http://schemas.microsoft.com/office/drawing/2014/chart" uri="{C3380CC4-5D6E-409C-BE32-E72D297353CC}">
                <c16:uniqueId val="{00000009-6E40-1843-A9C5-760DA4EA0818}"/>
              </c:ext>
            </c:extLst>
          </c:dPt>
          <c:dPt>
            <c:idx val="5"/>
            <c:bubble3D val="0"/>
            <c:explosion val="4"/>
            <c:spPr>
              <a:solidFill>
                <a:srgbClr val="B29152"/>
              </a:solidFill>
              <a:ln w="22320">
                <a:solidFill>
                  <a:srgbClr val="FFFFFF"/>
                </a:solidFill>
                <a:round/>
              </a:ln>
            </c:spPr>
            <c:extLst>
              <c:ext xmlns:c16="http://schemas.microsoft.com/office/drawing/2014/chart" uri="{C3380CC4-5D6E-409C-BE32-E72D297353CC}">
                <c16:uniqueId val="{0000000B-6E40-1843-A9C5-760DA4EA0818}"/>
              </c:ext>
            </c:extLst>
          </c:dPt>
          <c:dPt>
            <c:idx val="6"/>
            <c:bubble3D val="0"/>
            <c:explosion val="6"/>
            <c:spPr>
              <a:solidFill>
                <a:srgbClr val="CCB78D"/>
              </a:solidFill>
              <a:ln w="22320">
                <a:solidFill>
                  <a:srgbClr val="FFFFFF"/>
                </a:solidFill>
                <a:round/>
              </a:ln>
            </c:spPr>
            <c:extLst>
              <c:ext xmlns:c16="http://schemas.microsoft.com/office/drawing/2014/chart" uri="{C3380CC4-5D6E-409C-BE32-E72D297353CC}">
                <c16:uniqueId val="{0000000D-6E40-1843-A9C5-760DA4EA0818}"/>
              </c:ext>
            </c:extLst>
          </c:dPt>
          <c:dPt>
            <c:idx val="7"/>
            <c:bubble3D val="0"/>
            <c:explosion val="5"/>
            <c:spPr>
              <a:solidFill>
                <a:srgbClr val="E7DCC7"/>
              </a:solidFill>
              <a:ln w="22320">
                <a:solidFill>
                  <a:srgbClr val="FFFFFF"/>
                </a:solidFill>
                <a:round/>
              </a:ln>
            </c:spPr>
            <c:extLst>
              <c:ext xmlns:c16="http://schemas.microsoft.com/office/drawing/2014/chart" uri="{C3380CC4-5D6E-409C-BE32-E72D297353CC}">
                <c16:uniqueId val="{0000000F-6E40-1843-A9C5-760DA4EA0818}"/>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6E40-1843-A9C5-760DA4EA0818}"/>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6E40-1843-A9C5-760DA4EA0818}"/>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6E40-1843-A9C5-760DA4EA0818}"/>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6E40-1843-A9C5-760DA4EA0818}"/>
                </c:ext>
              </c:extLst>
            </c:dLbl>
            <c:dLbl>
              <c:idx val="4"/>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9-6E40-1843-A9C5-760DA4EA0818}"/>
                </c:ext>
              </c:extLst>
            </c:dLbl>
            <c:dLbl>
              <c:idx val="5"/>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B-6E40-1843-A9C5-760DA4EA0818}"/>
                </c:ext>
              </c:extLst>
            </c:dLbl>
            <c:dLbl>
              <c:idx val="6"/>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D-6E40-1843-A9C5-760DA4EA0818}"/>
                </c:ext>
              </c:extLst>
            </c:dLbl>
            <c:dLbl>
              <c:idx val="7"/>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F-6E40-1843-A9C5-760DA4EA0818}"/>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géographique'!$D$6:$D$13</c:f>
              <c:strCache>
                <c:ptCount val="8"/>
                <c:pt idx="0">
                  <c:v>Espagne (2.7%)</c:v>
                </c:pt>
                <c:pt idx="1">
                  <c:v>Royaume-Uni (2.3%)</c:v>
                </c:pt>
                <c:pt idx="2">
                  <c:v>Pays-Bas (1.9%)</c:v>
                </c:pt>
                <c:pt idx="3">
                  <c:v>Pologne (1.2%)</c:v>
                </c:pt>
                <c:pt idx="4">
                  <c:v>Allemagne (1.2%)</c:v>
                </c:pt>
                <c:pt idx="5">
                  <c:v>Irlande (0.4%)</c:v>
                </c:pt>
                <c:pt idx="6">
                  <c:v>Tchéquie (0.3%)</c:v>
                </c:pt>
                <c:pt idx="7">
                  <c:v>Portugal (0.2%)</c:v>
                </c:pt>
              </c:strCache>
            </c:strRef>
          </c:cat>
          <c:val>
            <c:numRef>
              <c:f>'Répartition géographique'!$C$6:$C$13</c:f>
              <c:numCache>
                <c:formatCode>0.0%</c:formatCode>
                <c:ptCount val="8"/>
                <c:pt idx="0">
                  <c:v>0.26500000000000001</c:v>
                </c:pt>
                <c:pt idx="1">
                  <c:v>0.22600000000000001</c:v>
                </c:pt>
                <c:pt idx="2">
                  <c:v>0.189</c:v>
                </c:pt>
                <c:pt idx="3">
                  <c:v>0.11700000000000001</c:v>
                </c:pt>
                <c:pt idx="4">
                  <c:v>0.115</c:v>
                </c:pt>
                <c:pt idx="5">
                  <c:v>3.5999999999999997E-2</c:v>
                </c:pt>
                <c:pt idx="6">
                  <c:v>0.03</c:v>
                </c:pt>
                <c:pt idx="7">
                  <c:v>2.1999999999999999E-2</c:v>
                </c:pt>
              </c:numCache>
            </c:numRef>
          </c:val>
          <c:extLst>
            <c:ext xmlns:c16="http://schemas.microsoft.com/office/drawing/2014/chart" uri="{C3380CC4-5D6E-409C-BE32-E72D297353CC}">
              <c16:uniqueId val="{00000010-6E40-1843-A9C5-760DA4EA0818}"/>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sectorielle'!$C$5</c:f>
              <c:strCache>
                <c:ptCount val="1"/>
                <c:pt idx="0">
                  <c:v>% du patrimoine</c:v>
                </c:pt>
              </c:strCache>
            </c:strRef>
          </c:tx>
          <c:spPr>
            <a:solidFill>
              <a:srgbClr val="4F81BD"/>
            </a:solidFill>
            <a:ln w="0">
              <a:noFill/>
            </a:ln>
          </c:spPr>
          <c:dPt>
            <c:idx val="0"/>
            <c:bubble3D val="0"/>
            <c:explosion val="3"/>
            <c:spPr>
              <a:solidFill>
                <a:srgbClr val="001B00"/>
              </a:solidFill>
              <a:ln w="22320">
                <a:solidFill>
                  <a:srgbClr val="FFFFFF"/>
                </a:solidFill>
                <a:round/>
              </a:ln>
            </c:spPr>
            <c:extLst>
              <c:ext xmlns:c16="http://schemas.microsoft.com/office/drawing/2014/chart" uri="{C3380CC4-5D6E-409C-BE32-E72D297353CC}">
                <c16:uniqueId val="{00000001-57F3-4649-B607-AEAA010D8FD6}"/>
              </c:ext>
            </c:extLst>
          </c:dPt>
          <c:dPt>
            <c:idx val="1"/>
            <c:bubble3D val="0"/>
            <c:explosion val="3"/>
            <c:spPr>
              <a:solidFill>
                <a:srgbClr val="042814"/>
              </a:solidFill>
              <a:ln w="22320">
                <a:solidFill>
                  <a:srgbClr val="FFFFFF"/>
                </a:solidFill>
                <a:round/>
              </a:ln>
            </c:spPr>
            <c:extLst>
              <c:ext xmlns:c16="http://schemas.microsoft.com/office/drawing/2014/chart" uri="{C3380CC4-5D6E-409C-BE32-E72D297353CC}">
                <c16:uniqueId val="{00000003-57F3-4649-B607-AEAA010D8FD6}"/>
              </c:ext>
            </c:extLst>
          </c:dPt>
          <c:dPt>
            <c:idx val="2"/>
            <c:bubble3D val="0"/>
            <c:explosion val="3"/>
            <c:spPr>
              <a:solidFill>
                <a:srgbClr val="073527"/>
              </a:solidFill>
              <a:ln w="22320">
                <a:solidFill>
                  <a:srgbClr val="FFFFFF"/>
                </a:solidFill>
                <a:round/>
              </a:ln>
            </c:spPr>
            <c:extLst>
              <c:ext xmlns:c16="http://schemas.microsoft.com/office/drawing/2014/chart" uri="{C3380CC4-5D6E-409C-BE32-E72D297353CC}">
                <c16:uniqueId val="{00000005-57F3-4649-B607-AEAA010D8FD6}"/>
              </c:ext>
            </c:extLst>
          </c:dPt>
          <c:dPt>
            <c:idx val="3"/>
            <c:bubble3D val="0"/>
            <c:explosion val="4"/>
            <c:spPr>
              <a:solidFill>
                <a:srgbClr val="585D33"/>
              </a:solidFill>
              <a:ln w="22320">
                <a:solidFill>
                  <a:srgbClr val="FFFFFF"/>
                </a:solidFill>
                <a:round/>
              </a:ln>
            </c:spPr>
            <c:extLst>
              <c:ext xmlns:c16="http://schemas.microsoft.com/office/drawing/2014/chart" uri="{C3380CC4-5D6E-409C-BE32-E72D297353CC}">
                <c16:uniqueId val="{00000007-57F3-4649-B607-AEAA010D8FD6}"/>
              </c:ext>
            </c:extLst>
          </c:dPt>
          <c:dPt>
            <c:idx val="4"/>
            <c:bubble3D val="0"/>
            <c:explosion val="2"/>
            <c:spPr>
              <a:solidFill>
                <a:srgbClr val="A9853F"/>
              </a:solidFill>
              <a:ln w="22320">
                <a:solidFill>
                  <a:srgbClr val="FFFFFF"/>
                </a:solidFill>
                <a:round/>
              </a:ln>
            </c:spPr>
            <c:extLst>
              <c:ext xmlns:c16="http://schemas.microsoft.com/office/drawing/2014/chart" uri="{C3380CC4-5D6E-409C-BE32-E72D297353CC}">
                <c16:uniqueId val="{00000009-57F3-4649-B607-AEAA010D8FD6}"/>
              </c:ext>
            </c:extLst>
          </c:dPt>
          <c:dPt>
            <c:idx val="5"/>
            <c:bubble3D val="0"/>
            <c:explosion val="5"/>
            <c:spPr>
              <a:solidFill>
                <a:srgbClr val="C8B083"/>
              </a:solidFill>
              <a:ln w="22320">
                <a:solidFill>
                  <a:srgbClr val="FFFFFF"/>
                </a:solidFill>
                <a:round/>
              </a:ln>
            </c:spPr>
            <c:extLst>
              <c:ext xmlns:c16="http://schemas.microsoft.com/office/drawing/2014/chart" uri="{C3380CC4-5D6E-409C-BE32-E72D297353CC}">
                <c16:uniqueId val="{0000000B-57F3-4649-B607-AEAA010D8FD6}"/>
              </c:ext>
            </c:extLst>
          </c:dPt>
          <c:dPt>
            <c:idx val="6"/>
            <c:bubble3D val="0"/>
            <c:explosion val="3"/>
            <c:spPr>
              <a:solidFill>
                <a:srgbClr val="E7DCC7"/>
              </a:solidFill>
              <a:ln w="22320">
                <a:solidFill>
                  <a:srgbClr val="FFFFFF"/>
                </a:solidFill>
                <a:round/>
              </a:ln>
            </c:spPr>
            <c:extLst>
              <c:ext xmlns:c16="http://schemas.microsoft.com/office/drawing/2014/chart" uri="{C3380CC4-5D6E-409C-BE32-E72D297353CC}">
                <c16:uniqueId val="{0000000D-57F3-4649-B607-AEAA010D8FD6}"/>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57F3-4649-B607-AEAA010D8FD6}"/>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57F3-4649-B607-AEAA010D8FD6}"/>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57F3-4649-B607-AEAA010D8FD6}"/>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57F3-4649-B607-AEAA010D8FD6}"/>
                </c:ext>
              </c:extLst>
            </c:dLbl>
            <c:dLbl>
              <c:idx val="4"/>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9-57F3-4649-B607-AEAA010D8FD6}"/>
                </c:ext>
              </c:extLst>
            </c:dLbl>
            <c:dLbl>
              <c:idx val="5"/>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B-57F3-4649-B607-AEAA010D8FD6}"/>
                </c:ext>
              </c:extLst>
            </c:dLbl>
            <c:dLbl>
              <c:idx val="6"/>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D-57F3-4649-B607-AEAA010D8FD6}"/>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sectorielle'!$D$6:$D$12</c:f>
              <c:strCache>
                <c:ptCount val="7"/>
                <c:pt idx="0">
                  <c:v>Commerce (2.8%)</c:v>
                </c:pt>
                <c:pt idx="1">
                  <c:v>Logistique (2.4%)</c:v>
                </c:pt>
                <c:pt idx="2">
                  <c:v>Hôtellerie (1.6%)</c:v>
                </c:pt>
                <c:pt idx="3">
                  <c:v>Bureau (1.3%)</c:v>
                </c:pt>
                <c:pt idx="4">
                  <c:v>Mixte (1.1%)</c:v>
                </c:pt>
                <c:pt idx="5">
                  <c:v>Loisir (0.6%)</c:v>
                </c:pt>
                <c:pt idx="6">
                  <c:v>Éducation (0.2%)</c:v>
                </c:pt>
              </c:strCache>
            </c:strRef>
          </c:cat>
          <c:val>
            <c:numRef>
              <c:f>'Répartition sectorielle'!$C$6:$C$12</c:f>
              <c:numCache>
                <c:formatCode>0.0%</c:formatCode>
                <c:ptCount val="7"/>
                <c:pt idx="0">
                  <c:v>0.28000000000000003</c:v>
                </c:pt>
                <c:pt idx="1">
                  <c:v>0.24</c:v>
                </c:pt>
                <c:pt idx="2">
                  <c:v>0.16</c:v>
                </c:pt>
                <c:pt idx="3">
                  <c:v>0.13</c:v>
                </c:pt>
                <c:pt idx="4">
                  <c:v>0.11</c:v>
                </c:pt>
                <c:pt idx="5">
                  <c:v>0.06</c:v>
                </c:pt>
                <c:pt idx="6">
                  <c:v>0.02</c:v>
                </c:pt>
              </c:numCache>
            </c:numRef>
          </c:val>
          <c:extLst>
            <c:ext xmlns:c16="http://schemas.microsoft.com/office/drawing/2014/chart" uri="{C3380CC4-5D6E-409C-BE32-E72D297353CC}">
              <c16:uniqueId val="{0000000E-57F3-4649-B607-AEAA010D8FD6}"/>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géographique'!$C$5</c:f>
              <c:strCache>
                <c:ptCount val="1"/>
                <c:pt idx="0">
                  <c:v>% du patrimoine</c:v>
                </c:pt>
              </c:strCache>
            </c:strRef>
          </c:tx>
          <c:spPr>
            <a:solidFill>
              <a:srgbClr val="4F81BD"/>
            </a:solidFill>
            <a:ln w="0">
              <a:noFill/>
            </a:ln>
          </c:spPr>
          <c:dPt>
            <c:idx val="0"/>
            <c:bubble3D val="0"/>
            <c:explosion val="3"/>
            <c:spPr>
              <a:solidFill>
                <a:srgbClr val="001B00"/>
              </a:solidFill>
              <a:ln w="22320">
                <a:solidFill>
                  <a:srgbClr val="FFFFFF"/>
                </a:solidFill>
                <a:round/>
              </a:ln>
            </c:spPr>
            <c:extLst>
              <c:ext xmlns:c16="http://schemas.microsoft.com/office/drawing/2014/chart" uri="{C3380CC4-5D6E-409C-BE32-E72D297353CC}">
                <c16:uniqueId val="{00000001-F7DD-4144-BDAB-FA99F71278AB}"/>
              </c:ext>
            </c:extLst>
          </c:dPt>
          <c:dPt>
            <c:idx val="1"/>
            <c:bubble3D val="0"/>
            <c:explosion val="4"/>
            <c:spPr>
              <a:solidFill>
                <a:srgbClr val="042814"/>
              </a:solidFill>
              <a:ln w="22320">
                <a:solidFill>
                  <a:srgbClr val="FFFFFF"/>
                </a:solidFill>
                <a:round/>
              </a:ln>
            </c:spPr>
            <c:extLst>
              <c:ext xmlns:c16="http://schemas.microsoft.com/office/drawing/2014/chart" uri="{C3380CC4-5D6E-409C-BE32-E72D297353CC}">
                <c16:uniqueId val="{00000003-F7DD-4144-BDAB-FA99F71278AB}"/>
              </c:ext>
            </c:extLst>
          </c:dPt>
          <c:dPt>
            <c:idx val="2"/>
            <c:bubble3D val="0"/>
            <c:explosion val="5"/>
            <c:spPr>
              <a:solidFill>
                <a:srgbClr val="073527"/>
              </a:solidFill>
              <a:ln w="22320">
                <a:solidFill>
                  <a:srgbClr val="FFFFFF"/>
                </a:solidFill>
                <a:round/>
              </a:ln>
            </c:spPr>
            <c:extLst>
              <c:ext xmlns:c16="http://schemas.microsoft.com/office/drawing/2014/chart" uri="{C3380CC4-5D6E-409C-BE32-E72D297353CC}">
                <c16:uniqueId val="{00000005-F7DD-4144-BDAB-FA99F71278AB}"/>
              </c:ext>
            </c:extLst>
          </c:dPt>
          <c:dPt>
            <c:idx val="3"/>
            <c:bubble3D val="0"/>
            <c:explosion val="8"/>
            <c:spPr>
              <a:solidFill>
                <a:srgbClr val="585D33"/>
              </a:solidFill>
              <a:ln w="22320">
                <a:solidFill>
                  <a:srgbClr val="FFFFFF"/>
                </a:solidFill>
                <a:round/>
              </a:ln>
            </c:spPr>
            <c:extLst>
              <c:ext xmlns:c16="http://schemas.microsoft.com/office/drawing/2014/chart" uri="{C3380CC4-5D6E-409C-BE32-E72D297353CC}">
                <c16:uniqueId val="{00000007-F7DD-4144-BDAB-FA99F71278AB}"/>
              </c:ext>
            </c:extLst>
          </c:dPt>
          <c:dPt>
            <c:idx val="4"/>
            <c:bubble3D val="0"/>
            <c:explosion val="4"/>
            <c:spPr>
              <a:solidFill>
                <a:srgbClr val="A9853F"/>
              </a:solidFill>
              <a:ln w="22320">
                <a:solidFill>
                  <a:srgbClr val="FFFFFF"/>
                </a:solidFill>
                <a:round/>
              </a:ln>
            </c:spPr>
            <c:extLst>
              <c:ext xmlns:c16="http://schemas.microsoft.com/office/drawing/2014/chart" uri="{C3380CC4-5D6E-409C-BE32-E72D297353CC}">
                <c16:uniqueId val="{00000009-F7DD-4144-BDAB-FA99F71278AB}"/>
              </c:ext>
            </c:extLst>
          </c:dPt>
          <c:dPt>
            <c:idx val="5"/>
            <c:bubble3D val="0"/>
            <c:explosion val="6"/>
            <c:spPr>
              <a:solidFill>
                <a:srgbClr val="C8B083"/>
              </a:solidFill>
              <a:ln w="22320">
                <a:solidFill>
                  <a:srgbClr val="FFFFFF"/>
                </a:solidFill>
                <a:round/>
              </a:ln>
            </c:spPr>
            <c:extLst>
              <c:ext xmlns:c16="http://schemas.microsoft.com/office/drawing/2014/chart" uri="{C3380CC4-5D6E-409C-BE32-E72D297353CC}">
                <c16:uniqueId val="{0000000B-F7DD-4144-BDAB-FA99F71278AB}"/>
              </c:ext>
            </c:extLst>
          </c:dPt>
          <c:dPt>
            <c:idx val="6"/>
            <c:bubble3D val="0"/>
            <c:explosion val="4"/>
            <c:spPr>
              <a:solidFill>
                <a:srgbClr val="E7DCC7"/>
              </a:solidFill>
              <a:ln w="22320">
                <a:solidFill>
                  <a:srgbClr val="FFFFFF"/>
                </a:solidFill>
                <a:round/>
              </a:ln>
            </c:spPr>
            <c:extLst>
              <c:ext xmlns:c16="http://schemas.microsoft.com/office/drawing/2014/chart" uri="{C3380CC4-5D6E-409C-BE32-E72D297353CC}">
                <c16:uniqueId val="{0000000D-F7DD-4144-BDAB-FA99F71278AB}"/>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F7DD-4144-BDAB-FA99F71278AB}"/>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F7DD-4144-BDAB-FA99F71278AB}"/>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F7DD-4144-BDAB-FA99F71278AB}"/>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F7DD-4144-BDAB-FA99F71278AB}"/>
                </c:ext>
              </c:extLst>
            </c:dLbl>
            <c:dLbl>
              <c:idx val="4"/>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9-F7DD-4144-BDAB-FA99F71278AB}"/>
                </c:ext>
              </c:extLst>
            </c:dLbl>
            <c:dLbl>
              <c:idx val="5"/>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B-F7DD-4144-BDAB-FA99F71278AB}"/>
                </c:ext>
              </c:extLst>
            </c:dLbl>
            <c:dLbl>
              <c:idx val="6"/>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D-F7DD-4144-BDAB-FA99F71278AB}"/>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géographique'!$D$6:$D$12</c:f>
              <c:strCache>
                <c:ptCount val="7"/>
                <c:pt idx="0">
                  <c:v>Royaume-Uni (4.3%)</c:v>
                </c:pt>
                <c:pt idx="1">
                  <c:v>Canada (1.6%)</c:v>
                </c:pt>
                <c:pt idx="2">
                  <c:v>Espagne (1.5%)</c:v>
                </c:pt>
                <c:pt idx="3">
                  <c:v>Italie (0.9%)</c:v>
                </c:pt>
                <c:pt idx="4">
                  <c:v>Pays-Bas (0.8%)</c:v>
                </c:pt>
                <c:pt idx="5">
                  <c:v>Pologne (0.6%)</c:v>
                </c:pt>
                <c:pt idx="6">
                  <c:v>Irlande (0.3%)</c:v>
                </c:pt>
              </c:strCache>
            </c:strRef>
          </c:cat>
          <c:val>
            <c:numRef>
              <c:f>'Répartition géographique'!$C$6:$C$12</c:f>
              <c:numCache>
                <c:formatCode>0.0%</c:formatCode>
                <c:ptCount val="7"/>
                <c:pt idx="0">
                  <c:v>0.433</c:v>
                </c:pt>
                <c:pt idx="1">
                  <c:v>0.16200000000000001</c:v>
                </c:pt>
                <c:pt idx="2">
                  <c:v>0.152</c:v>
                </c:pt>
                <c:pt idx="3">
                  <c:v>9.0999999999999998E-2</c:v>
                </c:pt>
                <c:pt idx="4">
                  <c:v>7.8E-2</c:v>
                </c:pt>
                <c:pt idx="5">
                  <c:v>5.7000000000000002E-2</c:v>
                </c:pt>
                <c:pt idx="6">
                  <c:v>2.7E-2</c:v>
                </c:pt>
              </c:numCache>
            </c:numRef>
          </c:val>
          <c:extLst>
            <c:ext xmlns:c16="http://schemas.microsoft.com/office/drawing/2014/chart" uri="{C3380CC4-5D6E-409C-BE32-E72D297353CC}">
              <c16:uniqueId val="{0000000E-F7DD-4144-BDAB-FA99F71278AB}"/>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sectorielle'!$C$5</c:f>
              <c:strCache>
                <c:ptCount val="1"/>
                <c:pt idx="0">
                  <c:v>% du patrimoine</c:v>
                </c:pt>
              </c:strCache>
            </c:strRef>
          </c:tx>
          <c:spPr>
            <a:solidFill>
              <a:srgbClr val="4F81BD"/>
            </a:solidFill>
            <a:ln w="0">
              <a:noFill/>
            </a:ln>
          </c:spPr>
          <c:explosion val="6"/>
          <c:dPt>
            <c:idx val="0"/>
            <c:bubble3D val="0"/>
            <c:spPr>
              <a:solidFill>
                <a:srgbClr val="001B00"/>
              </a:solidFill>
              <a:ln w="22320">
                <a:solidFill>
                  <a:srgbClr val="FFFFFF"/>
                </a:solidFill>
                <a:round/>
              </a:ln>
            </c:spPr>
            <c:extLst>
              <c:ext xmlns:c16="http://schemas.microsoft.com/office/drawing/2014/chart" uri="{C3380CC4-5D6E-409C-BE32-E72D297353CC}">
                <c16:uniqueId val="{00000001-E81F-D94B-8F34-777F95616EB2}"/>
              </c:ext>
            </c:extLst>
          </c:dPt>
          <c:dPt>
            <c:idx val="1"/>
            <c:bubble3D val="0"/>
            <c:spPr>
              <a:solidFill>
                <a:srgbClr val="073527"/>
              </a:solidFill>
              <a:ln w="22320">
                <a:solidFill>
                  <a:srgbClr val="FFFFFF"/>
                </a:solidFill>
                <a:round/>
              </a:ln>
            </c:spPr>
            <c:extLst>
              <c:ext xmlns:c16="http://schemas.microsoft.com/office/drawing/2014/chart" uri="{C3380CC4-5D6E-409C-BE32-E72D297353CC}">
                <c16:uniqueId val="{00000003-E81F-D94B-8F34-777F95616EB2}"/>
              </c:ext>
            </c:extLst>
          </c:dPt>
          <c:dPt>
            <c:idx val="2"/>
            <c:bubble3D val="0"/>
            <c:spPr>
              <a:solidFill>
                <a:srgbClr val="A9853F"/>
              </a:solidFill>
              <a:ln w="22320">
                <a:solidFill>
                  <a:srgbClr val="FFFFFF"/>
                </a:solidFill>
                <a:round/>
              </a:ln>
            </c:spPr>
            <c:extLst>
              <c:ext xmlns:c16="http://schemas.microsoft.com/office/drawing/2014/chart" uri="{C3380CC4-5D6E-409C-BE32-E72D297353CC}">
                <c16:uniqueId val="{00000005-E81F-D94B-8F34-777F95616EB2}"/>
              </c:ext>
            </c:extLst>
          </c:dPt>
          <c:dPt>
            <c:idx val="3"/>
            <c:bubble3D val="0"/>
            <c:spPr>
              <a:solidFill>
                <a:srgbClr val="E7DCC7"/>
              </a:solidFill>
              <a:ln w="22320">
                <a:solidFill>
                  <a:srgbClr val="FFFFFF"/>
                </a:solidFill>
                <a:round/>
              </a:ln>
            </c:spPr>
            <c:extLst>
              <c:ext xmlns:c16="http://schemas.microsoft.com/office/drawing/2014/chart" uri="{C3380CC4-5D6E-409C-BE32-E72D297353CC}">
                <c16:uniqueId val="{00000007-E81F-D94B-8F34-777F95616EB2}"/>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E81F-D94B-8F34-777F95616EB2}"/>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E81F-D94B-8F34-777F95616EB2}"/>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E81F-D94B-8F34-777F95616EB2}"/>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E81F-D94B-8F34-777F95616EB2}"/>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sectorielle'!$D$6:$D$9</c:f>
              <c:strCache>
                <c:ptCount val="4"/>
                <c:pt idx="0">
                  <c:v>Commerce (6.0%)</c:v>
                </c:pt>
                <c:pt idx="1">
                  <c:v>Bureaux (1.7%)</c:v>
                </c:pt>
                <c:pt idx="2">
                  <c:v>Éducation (1.5%)</c:v>
                </c:pt>
                <c:pt idx="3">
                  <c:v>Activités (0.8%)</c:v>
                </c:pt>
              </c:strCache>
            </c:strRef>
          </c:cat>
          <c:val>
            <c:numRef>
              <c:f>'Répartition sectorielle'!$C$6:$C$9</c:f>
              <c:numCache>
                <c:formatCode>0.0%</c:formatCode>
                <c:ptCount val="4"/>
                <c:pt idx="0">
                  <c:v>0.6</c:v>
                </c:pt>
                <c:pt idx="1">
                  <c:v>0.17</c:v>
                </c:pt>
                <c:pt idx="2">
                  <c:v>0.15</c:v>
                </c:pt>
                <c:pt idx="3">
                  <c:v>0.08</c:v>
                </c:pt>
              </c:numCache>
            </c:numRef>
          </c:val>
          <c:extLst>
            <c:ext xmlns:c16="http://schemas.microsoft.com/office/drawing/2014/chart" uri="{C3380CC4-5D6E-409C-BE32-E72D297353CC}">
              <c16:uniqueId val="{00000008-E81F-D94B-8F34-777F95616EB2}"/>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géographique'!$C$5</c:f>
              <c:strCache>
                <c:ptCount val="1"/>
                <c:pt idx="0">
                  <c:v>% du patrimoine</c:v>
                </c:pt>
              </c:strCache>
            </c:strRef>
          </c:tx>
          <c:spPr>
            <a:solidFill>
              <a:srgbClr val="4F81BD"/>
            </a:solidFill>
            <a:ln w="0">
              <a:noFill/>
            </a:ln>
          </c:spPr>
          <c:dPt>
            <c:idx val="0"/>
            <c:bubble3D val="0"/>
            <c:explosion val="4"/>
            <c:spPr>
              <a:solidFill>
                <a:srgbClr val="001B00"/>
              </a:solidFill>
              <a:ln w="22320">
                <a:solidFill>
                  <a:srgbClr val="FFFFFF"/>
                </a:solidFill>
                <a:round/>
              </a:ln>
            </c:spPr>
            <c:extLst>
              <c:ext xmlns:c16="http://schemas.microsoft.com/office/drawing/2014/chart" uri="{C3380CC4-5D6E-409C-BE32-E72D297353CC}">
                <c16:uniqueId val="{00000001-6633-5449-B1A7-6CD489441250}"/>
              </c:ext>
            </c:extLst>
          </c:dPt>
          <c:dPt>
            <c:idx val="1"/>
            <c:bubble3D val="0"/>
            <c:spPr>
              <a:solidFill>
                <a:srgbClr val="A9853F"/>
              </a:solidFill>
              <a:ln w="22320">
                <a:solidFill>
                  <a:srgbClr val="FFFFFF"/>
                </a:solidFill>
                <a:round/>
              </a:ln>
            </c:spPr>
            <c:extLst>
              <c:ext xmlns:c16="http://schemas.microsoft.com/office/drawing/2014/chart" uri="{C3380CC4-5D6E-409C-BE32-E72D297353CC}">
                <c16:uniqueId val="{00000003-6633-5449-B1A7-6CD489441250}"/>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6633-5449-B1A7-6CD489441250}"/>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6633-5449-B1A7-6CD489441250}"/>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géographique'!$D$6:$D$7</c:f>
              <c:strCache>
                <c:ptCount val="2"/>
                <c:pt idx="0">
                  <c:v>Espagne (6.0%)</c:v>
                </c:pt>
                <c:pt idx="1">
                  <c:v>Royaume-Uni (4.0%)</c:v>
                </c:pt>
              </c:strCache>
            </c:strRef>
          </c:cat>
          <c:val>
            <c:numRef>
              <c:f>'Répartition géographique'!$C$6:$C$7</c:f>
              <c:numCache>
                <c:formatCode>0.0%</c:formatCode>
                <c:ptCount val="2"/>
                <c:pt idx="0">
                  <c:v>0.6</c:v>
                </c:pt>
                <c:pt idx="1">
                  <c:v>0.4</c:v>
                </c:pt>
              </c:numCache>
            </c:numRef>
          </c:val>
          <c:extLst>
            <c:ext xmlns:c16="http://schemas.microsoft.com/office/drawing/2014/chart" uri="{C3380CC4-5D6E-409C-BE32-E72D297353CC}">
              <c16:uniqueId val="{00000004-6633-5449-B1A7-6CD489441250}"/>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sectorielle'!$C$5</c:f>
              <c:strCache>
                <c:ptCount val="1"/>
                <c:pt idx="0">
                  <c:v>% du patrimoine</c:v>
                </c:pt>
              </c:strCache>
            </c:strRef>
          </c:tx>
          <c:spPr>
            <a:solidFill>
              <a:srgbClr val="4F81BD"/>
            </a:solidFill>
            <a:ln w="0">
              <a:noFill/>
            </a:ln>
          </c:spPr>
          <c:dPt>
            <c:idx val="0"/>
            <c:bubble3D val="0"/>
            <c:explosion val="4"/>
            <c:spPr>
              <a:solidFill>
                <a:srgbClr val="001B00"/>
              </a:solidFill>
              <a:ln w="22320">
                <a:solidFill>
                  <a:srgbClr val="FFFFFF"/>
                </a:solidFill>
                <a:round/>
              </a:ln>
            </c:spPr>
            <c:extLst>
              <c:ext xmlns:c16="http://schemas.microsoft.com/office/drawing/2014/chart" uri="{C3380CC4-5D6E-409C-BE32-E72D297353CC}">
                <c16:uniqueId val="{00000001-B420-C648-AC5C-3194A04E7D20}"/>
              </c:ext>
            </c:extLst>
          </c:dPt>
          <c:dPt>
            <c:idx val="1"/>
            <c:bubble3D val="0"/>
            <c:explosion val="2"/>
            <c:spPr>
              <a:solidFill>
                <a:srgbClr val="052E1D"/>
              </a:solidFill>
              <a:ln w="22320">
                <a:solidFill>
                  <a:srgbClr val="FFFFFF"/>
                </a:solidFill>
                <a:round/>
              </a:ln>
            </c:spPr>
            <c:extLst>
              <c:ext xmlns:c16="http://schemas.microsoft.com/office/drawing/2014/chart" uri="{C3380CC4-5D6E-409C-BE32-E72D297353CC}">
                <c16:uniqueId val="{00000003-B420-C648-AC5C-3194A04E7D20}"/>
              </c:ext>
            </c:extLst>
          </c:dPt>
          <c:dPt>
            <c:idx val="2"/>
            <c:bubble3D val="0"/>
            <c:explosion val="6"/>
            <c:spPr>
              <a:solidFill>
                <a:srgbClr val="585D33"/>
              </a:solidFill>
              <a:ln w="22320">
                <a:solidFill>
                  <a:srgbClr val="FFFFFF"/>
                </a:solidFill>
                <a:round/>
              </a:ln>
            </c:spPr>
            <c:extLst>
              <c:ext xmlns:c16="http://schemas.microsoft.com/office/drawing/2014/chart" uri="{C3380CC4-5D6E-409C-BE32-E72D297353CC}">
                <c16:uniqueId val="{00000005-B420-C648-AC5C-3194A04E7D20}"/>
              </c:ext>
            </c:extLst>
          </c:dPt>
          <c:dPt>
            <c:idx val="3"/>
            <c:bubble3D val="0"/>
            <c:explosion val="7"/>
            <c:spPr>
              <a:solidFill>
                <a:srgbClr val="B89B61"/>
              </a:solidFill>
              <a:ln w="22320">
                <a:solidFill>
                  <a:srgbClr val="FFFFFF"/>
                </a:solidFill>
                <a:round/>
              </a:ln>
            </c:spPr>
            <c:extLst>
              <c:ext xmlns:c16="http://schemas.microsoft.com/office/drawing/2014/chart" uri="{C3380CC4-5D6E-409C-BE32-E72D297353CC}">
                <c16:uniqueId val="{00000007-B420-C648-AC5C-3194A04E7D20}"/>
              </c:ext>
            </c:extLst>
          </c:dPt>
          <c:dPt>
            <c:idx val="4"/>
            <c:bubble3D val="0"/>
            <c:explosion val="3"/>
            <c:spPr>
              <a:solidFill>
                <a:srgbClr val="E7DCC7"/>
              </a:solidFill>
              <a:ln w="22320">
                <a:solidFill>
                  <a:srgbClr val="FFFFFF"/>
                </a:solidFill>
                <a:round/>
              </a:ln>
            </c:spPr>
            <c:extLst>
              <c:ext xmlns:c16="http://schemas.microsoft.com/office/drawing/2014/chart" uri="{C3380CC4-5D6E-409C-BE32-E72D297353CC}">
                <c16:uniqueId val="{00000009-B420-C648-AC5C-3194A04E7D20}"/>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B420-C648-AC5C-3194A04E7D20}"/>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B420-C648-AC5C-3194A04E7D20}"/>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B420-C648-AC5C-3194A04E7D20}"/>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B420-C648-AC5C-3194A04E7D20}"/>
                </c:ext>
              </c:extLst>
            </c:dLbl>
            <c:dLbl>
              <c:idx val="4"/>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9-B420-C648-AC5C-3194A04E7D20}"/>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sectorielle'!$D$6:$D$10</c:f>
              <c:strCache>
                <c:ptCount val="5"/>
                <c:pt idx="0">
                  <c:v>Locaux d'activités (4.5%)</c:v>
                </c:pt>
                <c:pt idx="1">
                  <c:v>Commerces (2.5%)</c:v>
                </c:pt>
                <c:pt idx="2">
                  <c:v>Logistique (1.2%)</c:v>
                </c:pt>
                <c:pt idx="3">
                  <c:v>Hôtellerie (1.0%)</c:v>
                </c:pt>
                <c:pt idx="4">
                  <c:v>Bureaux (0.8%)</c:v>
                </c:pt>
              </c:strCache>
            </c:strRef>
          </c:cat>
          <c:val>
            <c:numRef>
              <c:f>'Répartition sectorielle'!$C$6:$C$10</c:f>
              <c:numCache>
                <c:formatCode>0.0%</c:formatCode>
                <c:ptCount val="5"/>
                <c:pt idx="0">
                  <c:v>0.45</c:v>
                </c:pt>
                <c:pt idx="1">
                  <c:v>0.25</c:v>
                </c:pt>
                <c:pt idx="2">
                  <c:v>0.12</c:v>
                </c:pt>
                <c:pt idx="3">
                  <c:v>0.1</c:v>
                </c:pt>
                <c:pt idx="4">
                  <c:v>0.08</c:v>
                </c:pt>
              </c:numCache>
            </c:numRef>
          </c:val>
          <c:extLst>
            <c:ext xmlns:c16="http://schemas.microsoft.com/office/drawing/2014/chart" uri="{C3380CC4-5D6E-409C-BE32-E72D297353CC}">
              <c16:uniqueId val="{0000000A-B420-C648-AC5C-3194A04E7D20}"/>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'Répartition géographique'!$C$5</c:f>
              <c:strCache>
                <c:ptCount val="1"/>
                <c:pt idx="0">
                  <c:v>% du patrimoine</c:v>
                </c:pt>
              </c:strCache>
            </c:strRef>
          </c:tx>
          <c:spPr>
            <a:solidFill>
              <a:srgbClr val="4F81BD"/>
            </a:solidFill>
            <a:ln w="0">
              <a:noFill/>
            </a:ln>
          </c:spPr>
          <c:dPt>
            <c:idx val="0"/>
            <c:bubble3D val="0"/>
            <c:explosion val="5"/>
            <c:spPr>
              <a:solidFill>
                <a:srgbClr val="001B00"/>
              </a:solidFill>
              <a:ln w="22320">
                <a:solidFill>
                  <a:srgbClr val="FFFFFF"/>
                </a:solidFill>
                <a:round/>
              </a:ln>
            </c:spPr>
            <c:extLst>
              <c:ext xmlns:c16="http://schemas.microsoft.com/office/drawing/2014/chart" uri="{C3380CC4-5D6E-409C-BE32-E72D297353CC}">
                <c16:uniqueId val="{00000001-6464-9745-B216-FB60B240BECB}"/>
              </c:ext>
            </c:extLst>
          </c:dPt>
          <c:dPt>
            <c:idx val="1"/>
            <c:bubble3D val="0"/>
            <c:explosion val="1"/>
            <c:spPr>
              <a:solidFill>
                <a:srgbClr val="073527"/>
              </a:solidFill>
              <a:ln w="22320">
                <a:solidFill>
                  <a:srgbClr val="FFFFFF"/>
                </a:solidFill>
                <a:round/>
              </a:ln>
            </c:spPr>
            <c:extLst>
              <c:ext xmlns:c16="http://schemas.microsoft.com/office/drawing/2014/chart" uri="{C3380CC4-5D6E-409C-BE32-E72D297353CC}">
                <c16:uniqueId val="{00000003-6464-9745-B216-FB60B240BECB}"/>
              </c:ext>
            </c:extLst>
          </c:dPt>
          <c:dPt>
            <c:idx val="2"/>
            <c:bubble3D val="0"/>
            <c:explosion val="2"/>
            <c:spPr>
              <a:solidFill>
                <a:srgbClr val="A9853F"/>
              </a:solidFill>
              <a:ln w="22320">
                <a:solidFill>
                  <a:srgbClr val="FFFFFF"/>
                </a:solidFill>
                <a:round/>
              </a:ln>
            </c:spPr>
            <c:extLst>
              <c:ext xmlns:c16="http://schemas.microsoft.com/office/drawing/2014/chart" uri="{C3380CC4-5D6E-409C-BE32-E72D297353CC}">
                <c16:uniqueId val="{00000005-6464-9745-B216-FB60B240BECB}"/>
              </c:ext>
            </c:extLst>
          </c:dPt>
          <c:dPt>
            <c:idx val="3"/>
            <c:bubble3D val="0"/>
            <c:explosion val="5"/>
            <c:spPr>
              <a:solidFill>
                <a:srgbClr val="E7DCC7"/>
              </a:solidFill>
              <a:ln w="22320">
                <a:solidFill>
                  <a:srgbClr val="FFFFFF"/>
                </a:solidFill>
                <a:round/>
              </a:ln>
            </c:spPr>
            <c:extLst>
              <c:ext xmlns:c16="http://schemas.microsoft.com/office/drawing/2014/chart" uri="{C3380CC4-5D6E-409C-BE32-E72D297353CC}">
                <c16:uniqueId val="{00000007-6464-9745-B216-FB60B240BECB}"/>
              </c:ext>
            </c:extLst>
          </c:dPt>
          <c:dLbls>
            <c:dLbl>
              <c:idx val="0"/>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6464-9745-B216-FB60B240BECB}"/>
                </c:ext>
              </c:extLst>
            </c:dLbl>
            <c:dLbl>
              <c:idx val="1"/>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6464-9745-B216-FB60B240BECB}"/>
                </c:ext>
              </c:extLst>
            </c:dLbl>
            <c:dLbl>
              <c:idx val="2"/>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6464-9745-B216-FB60B240BECB}"/>
                </c:ext>
              </c:extLst>
            </c:dLbl>
            <c:dLbl>
              <c:idx val="3"/>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7-6464-9745-B216-FB60B240BECB}"/>
                </c:ext>
              </c:extLst>
            </c:dLbl>
            <c:spPr>
              <a:noFill/>
              <a:ln>
                <a:noFill/>
              </a:ln>
              <a:effectLst/>
            </c:spPr>
            <c:txPr>
              <a:bodyPr wrap="square"/>
              <a:lstStyle/>
              <a:p>
                <a:pPr>
                  <a:defRPr sz="1000" b="0" strike="noStrike" spc="-1">
                    <a:solidFill>
                      <a:srgbClr val="000000"/>
                    </a:solidFill>
                    <a:latin typeface="Calibri"/>
                  </a:defRPr>
                </a:pPr>
                <a:endParaRPr lang="fr-FR"/>
              </a:p>
            </c:txPr>
            <c:dLblPos val="bestFit"/>
            <c:showLegendKey val="0"/>
            <c:showVal val="0"/>
            <c:showCatName val="0"/>
            <c:showSerName val="0"/>
            <c:showPercent val="0"/>
            <c:showBubbleSize val="1"/>
            <c:separator>; </c:separator>
            <c:showLeaderLines val="1"/>
            <c:extLst>
              <c:ext xmlns:c15="http://schemas.microsoft.com/office/drawing/2012/chart" uri="{CE6537A1-D6FC-4f65-9D91-7224C49458BB}"/>
            </c:extLst>
          </c:dLbls>
          <c:cat>
            <c:strRef>
              <c:f>'Répartition géographique'!$D$6:$D$9</c:f>
              <c:strCache>
                <c:ptCount val="4"/>
                <c:pt idx="0">
                  <c:v>Pays-Bas (5.0%)</c:v>
                </c:pt>
                <c:pt idx="1">
                  <c:v>Allemagne (2.2%)</c:v>
                </c:pt>
                <c:pt idx="2">
                  <c:v>Royaume-Uni (2.1%)</c:v>
                </c:pt>
                <c:pt idx="3">
                  <c:v>France (0.7%)</c:v>
                </c:pt>
              </c:strCache>
            </c:strRef>
          </c:cat>
          <c:val>
            <c:numRef>
              <c:f>'Répartition géographique'!$C$6:$C$9</c:f>
              <c:numCache>
                <c:formatCode>0.0%</c:formatCode>
                <c:ptCount val="4"/>
                <c:pt idx="0">
                  <c:v>0.5</c:v>
                </c:pt>
                <c:pt idx="1">
                  <c:v>0.22</c:v>
                </c:pt>
                <c:pt idx="2">
                  <c:v>0.21</c:v>
                </c:pt>
                <c:pt idx="3">
                  <c:v>7.0000000000000007E-2</c:v>
                </c:pt>
              </c:numCache>
            </c:numRef>
          </c:val>
          <c:extLst>
            <c:ext xmlns:c16="http://schemas.microsoft.com/office/drawing/2014/chart" uri="{C3380CC4-5D6E-409C-BE32-E72D297353CC}">
              <c16:uniqueId val="{00000008-6464-9745-B216-FB60B240BECB}"/>
            </c:ext>
          </c:extLst>
        </c:ser>
        <c:dLbls>
          <c:showLegendKey val="0"/>
          <c:showVal val="0"/>
          <c:showCatName val="0"/>
          <c:showSerName val="0"/>
          <c:showPercent val="0"/>
          <c:showBubbleSize val="0"/>
          <c:showLeaderLines val="1"/>
        </c:dLbls>
        <c:firstSliceAng val="0"/>
      </c:pieChart>
      <c:spPr>
        <a:noFill/>
        <a:ln w="0">
          <a:noFill/>
        </a:ln>
      </c:spPr>
    </c:plotArea>
    <c:plotVisOnly val="1"/>
    <c:dispBlanksAs val="gap"/>
    <c:showDLblsOverMax val="1"/>
  </c:chart>
  <c:spPr>
    <a:noFill/>
    <a:ln w="9360">
      <a:noFill/>
      <a:round/>
    </a:ln>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ln>
              <a:prstDash val="solid"/>
            </a:ln>
          </c:spPr>
          <c:dPt>
            <c:idx val="0"/>
            <c:bubble3D val="0"/>
            <c:spPr>
              <a:solidFill>
                <a:srgbClr val="102D1A"/>
              </a:solidFill>
              <a:ln w="15875">
                <a:solidFill>
                  <a:srgbClr val="FFFFFF"/>
                </a:solidFill>
                <a:prstDash val="solid"/>
              </a:ln>
            </c:spPr>
            <c:extLst>
              <c:ext xmlns:c16="http://schemas.microsoft.com/office/drawing/2014/chart" uri="{C3380CC4-5D6E-409C-BE32-E72D297353CC}">
                <c16:uniqueId val="{00000001-DBEF-2A4D-8F52-C3C1F09F7FF2}"/>
              </c:ext>
            </c:extLst>
          </c:dPt>
          <c:dPt>
            <c:idx val="1"/>
            <c:bubble3D val="0"/>
            <c:spPr>
              <a:solidFill>
                <a:srgbClr val="102D1A"/>
              </a:solidFill>
              <a:ln w="15875">
                <a:solidFill>
                  <a:srgbClr val="FFFFFF"/>
                </a:solidFill>
                <a:prstDash val="solid"/>
              </a:ln>
            </c:spPr>
            <c:extLst>
              <c:ext xmlns:c16="http://schemas.microsoft.com/office/drawing/2014/chart" uri="{C3380CC4-5D6E-409C-BE32-E72D297353CC}">
                <c16:uniqueId val="{00000003-DBEF-2A4D-8F52-C3C1F09F7FF2}"/>
              </c:ext>
            </c:extLst>
          </c:dPt>
          <c:dPt>
            <c:idx val="2"/>
            <c:bubble3D val="0"/>
            <c:spPr>
              <a:solidFill>
                <a:srgbClr val="102D1A"/>
              </a:solidFill>
              <a:ln w="15875">
                <a:solidFill>
                  <a:srgbClr val="FFFFFF"/>
                </a:solidFill>
                <a:prstDash val="solid"/>
              </a:ln>
            </c:spPr>
            <c:extLst>
              <c:ext xmlns:c16="http://schemas.microsoft.com/office/drawing/2014/chart" uri="{C3380CC4-5D6E-409C-BE32-E72D297353CC}">
                <c16:uniqueId val="{00000005-DBEF-2A4D-8F52-C3C1F09F7FF2}"/>
              </c:ext>
            </c:extLst>
          </c:dPt>
          <c:dPt>
            <c:idx val="3"/>
            <c:bubble3D val="0"/>
            <c:spPr>
              <a:solidFill>
                <a:srgbClr val="A8823F"/>
              </a:solidFill>
              <a:ln w="15875">
                <a:solidFill>
                  <a:srgbClr val="FFFFFF"/>
                </a:solidFill>
                <a:prstDash val="solid"/>
              </a:ln>
            </c:spPr>
            <c:extLst>
              <c:ext xmlns:c16="http://schemas.microsoft.com/office/drawing/2014/chart" uri="{C3380CC4-5D6E-409C-BE32-E72D297353CC}">
                <c16:uniqueId val="{00000007-DBEF-2A4D-8F52-C3C1F09F7FF2}"/>
              </c:ext>
            </c:extLst>
          </c:dPt>
          <c:dPt>
            <c:idx val="4"/>
            <c:bubble3D val="0"/>
            <c:spPr>
              <a:solidFill>
                <a:srgbClr val="A8823F"/>
              </a:solidFill>
              <a:ln w="15875">
                <a:solidFill>
                  <a:srgbClr val="FFFFFF"/>
                </a:solidFill>
                <a:prstDash val="solid"/>
              </a:ln>
            </c:spPr>
            <c:extLst>
              <c:ext xmlns:c16="http://schemas.microsoft.com/office/drawing/2014/chart" uri="{C3380CC4-5D6E-409C-BE32-E72D297353CC}">
                <c16:uniqueId val="{00000009-DBEF-2A4D-8F52-C3C1F09F7FF2}"/>
              </c:ext>
            </c:extLst>
          </c:dPt>
          <c:dPt>
            <c:idx val="5"/>
            <c:bubble3D val="0"/>
            <c:spPr>
              <a:solidFill>
                <a:srgbClr val="B3A792"/>
              </a:solidFill>
              <a:ln w="15875">
                <a:solidFill>
                  <a:srgbClr val="FFFFFF"/>
                </a:solidFill>
                <a:prstDash val="solid"/>
              </a:ln>
            </c:spPr>
            <c:extLst>
              <c:ext xmlns:c16="http://schemas.microsoft.com/office/drawing/2014/chart" uri="{C3380CC4-5D6E-409C-BE32-E72D297353CC}">
                <c16:uniqueId val="{0000000B-DBEF-2A4D-8F52-C3C1F09F7FF2}"/>
              </c:ext>
            </c:extLst>
          </c:dPt>
          <c:dPt>
            <c:idx val="6"/>
            <c:bubble3D val="0"/>
            <c:spPr>
              <a:solidFill>
                <a:srgbClr val="B3A792"/>
              </a:solidFill>
              <a:ln w="15875">
                <a:solidFill>
                  <a:srgbClr val="FFFFFF"/>
                </a:solidFill>
                <a:prstDash val="solid"/>
              </a:ln>
            </c:spPr>
            <c:extLst>
              <c:ext xmlns:c16="http://schemas.microsoft.com/office/drawing/2014/chart" uri="{C3380CC4-5D6E-409C-BE32-E72D297353CC}">
                <c16:uniqueId val="{0000000D-DBEF-2A4D-8F52-C3C1F09F7FF2}"/>
              </c:ext>
            </c:extLst>
          </c:dPt>
          <c:dPt>
            <c:idx val="7"/>
            <c:bubble3D val="0"/>
            <c:spPr>
              <a:solidFill>
                <a:srgbClr val="B3A792"/>
              </a:solidFill>
              <a:ln w="15875">
                <a:solidFill>
                  <a:srgbClr val="FFFFFF"/>
                </a:solidFill>
                <a:prstDash val="solid"/>
              </a:ln>
            </c:spPr>
            <c:extLst>
              <c:ext xmlns:c16="http://schemas.microsoft.com/office/drawing/2014/chart" uri="{C3380CC4-5D6E-409C-BE32-E72D297353CC}">
                <c16:uniqueId val="{0000000F-DBEF-2A4D-8F52-C3C1F09F7FF2}"/>
              </c:ext>
            </c:extLst>
          </c:dPt>
          <c:dPt>
            <c:idx val="8"/>
            <c:bubble3D val="0"/>
            <c:spPr>
              <a:solidFill>
                <a:srgbClr val="183E26"/>
              </a:solidFill>
              <a:ln w="15875">
                <a:solidFill>
                  <a:srgbClr val="FFFFFF"/>
                </a:solidFill>
                <a:prstDash val="solid"/>
              </a:ln>
            </c:spPr>
            <c:extLst>
              <c:ext xmlns:c16="http://schemas.microsoft.com/office/drawing/2014/chart" uri="{C3380CC4-5D6E-409C-BE32-E72D297353CC}">
                <c16:uniqueId val="{00000011-DBEF-2A4D-8F52-C3C1F09F7FF2}"/>
              </c:ext>
            </c:extLst>
          </c:dPt>
          <c:dLbls>
            <c:dLbl>
              <c:idx val="8"/>
              <c:layout>
                <c:manualLayout>
                  <c:x val="0.34454701492764206"/>
                  <c:y val="3.9365097613888976E-2"/>
                </c:manualLayout>
              </c:layout>
              <c:tx>
                <c:rich>
                  <a:bodyPr/>
                  <a:lstStyle/>
                  <a:p>
                    <a:pPr>
                      <a:defRPr sz="1050" b="1">
                        <a:solidFill>
                          <a:srgbClr val="183E26"/>
                        </a:solidFill>
                        <a:latin typeface="Arial"/>
                      </a:defRPr>
                    </a:pPr>
                    <a:r>
                      <a:rPr lang="en-US" b="0" i="0">
                        <a:latin typeface="Jost Light" pitchFamily="2" charset="77"/>
                        <a:ea typeface="Jost Light" pitchFamily="2" charset="77"/>
                      </a:rPr>
                      <a:t>Fonds</a:t>
                    </a:r>
                    <a:r>
                      <a:rPr lang="en-US" b="0" i="0" baseline="0">
                        <a:latin typeface="Jost Light" pitchFamily="2" charset="77"/>
                        <a:ea typeface="Jost Light" pitchFamily="2" charset="77"/>
                      </a:rPr>
                      <a:t> euro</a:t>
                    </a:r>
                  </a:p>
                  <a:p>
                    <a:pPr>
                      <a:defRPr sz="1050" b="1">
                        <a:solidFill>
                          <a:srgbClr val="183E26"/>
                        </a:solidFill>
                        <a:latin typeface="Arial"/>
                      </a:defRPr>
                    </a:pPr>
                    <a:r>
                      <a:rPr lang="en-US" sz="1400" b="0" i="0" baseline="0">
                        <a:latin typeface="Jost Medium" pitchFamily="2" charset="77"/>
                        <a:ea typeface="Jost Medium" pitchFamily="2" charset="77"/>
                      </a:rPr>
                      <a:t>100%</a:t>
                    </a:r>
                    <a:endParaRPr lang="en-US" sz="1400" b="0" i="0">
                      <a:latin typeface="Jost Medium" pitchFamily="2" charset="77"/>
                      <a:ea typeface="Jost Medium" pitchFamily="2" charset="77"/>
                    </a:endParaRPr>
                  </a:p>
                </c:rich>
              </c:tx>
              <c:spPr/>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DBEF-2A4D-8F52-C3C1F09F7FF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Données!$L$3:$L$11</c:f>
              <c:strCache>
                <c:ptCount val="9"/>
                <c:pt idx="8">
                  <c:v>Fonds euro
100%</c:v>
                </c:pt>
              </c:strCache>
            </c:strRef>
          </c:cat>
          <c:val>
            <c:numRef>
              <c:f>Données!$B$3:$B$11</c:f>
              <c:numCache>
                <c:formatCode>0%</c:formatCode>
                <c:ptCount val="9"/>
                <c:pt idx="0">
                  <c:v>0</c:v>
                </c:pt>
                <c:pt idx="1">
                  <c:v>0</c:v>
                </c:pt>
                <c:pt idx="2">
                  <c:v>0</c:v>
                </c:pt>
                <c:pt idx="3">
                  <c:v>0</c:v>
                </c:pt>
                <c:pt idx="4">
                  <c:v>0</c:v>
                </c:pt>
                <c:pt idx="5">
                  <c:v>0</c:v>
                </c:pt>
                <c:pt idx="6">
                  <c:v>0</c:v>
                </c:pt>
                <c:pt idx="7">
                  <c:v>0</c:v>
                </c:pt>
                <c:pt idx="8">
                  <c:v>1</c:v>
                </c:pt>
              </c:numCache>
            </c:numRef>
          </c:val>
          <c:extLst>
            <c:ext xmlns:c16="http://schemas.microsoft.com/office/drawing/2014/chart" uri="{C3380CC4-5D6E-409C-BE32-E72D297353CC}">
              <c16:uniqueId val="{00000012-DBEF-2A4D-8F52-C3C1F09F7FF2}"/>
            </c:ext>
          </c:extLst>
        </c:ser>
        <c:dLbls>
          <c:showLegendKey val="0"/>
          <c:showVal val="0"/>
          <c:showCatName val="0"/>
          <c:showSerName val="0"/>
          <c:showPercent val="0"/>
          <c:showBubbleSize val="0"/>
          <c:showLeaderLines val="1"/>
        </c:dLbls>
        <c:firstSliceAng val="0"/>
        <c:holeSize val="81"/>
      </c:doughnutChart>
    </c:plotArea>
    <c:plotVisOnly val="1"/>
    <c:dispBlanksAs val="gap"/>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Trajectoire</c:v>
          </c:tx>
          <c:spPr>
            <a:ln w="12700">
              <a:solidFill>
                <a:srgbClr val="AB853F"/>
              </a:solidFill>
            </a:ln>
          </c:spPr>
          <c:marker>
            <c:symbol val="none"/>
          </c:marker>
          <c:cat>
            <c:numRef>
              <c:f>'2.9%'!$B$5:$B$245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'2.9%'!$D$5:$D$245</c:f>
              <c:numCache>
                <c:formatCode>0.0</c:formatCode>
                <c:ptCount val="241"/>
                <c:pt idx="0">
                  <c:v>100</c:v>
                </c:pt>
                <c:pt idx="1">
                  <c:v>100.37449978493784</c:v>
                </c:pt>
                <c:pt idx="2">
                  <c:v>100.54834548296357</c:v>
                </c:pt>
                <c:pt idx="3">
                  <c:v>100.78786692387996</c:v>
                </c:pt>
                <c:pt idx="4">
                  <c:v>100.95439630249186</c:v>
                </c:pt>
                <c:pt idx="5">
                  <c:v>101.14662707431872</c:v>
                </c:pt>
                <c:pt idx="6">
                  <c:v>101.42041202363956</c:v>
                </c:pt>
                <c:pt idx="7">
                  <c:v>101.65104659190793</c:v>
                </c:pt>
                <c:pt idx="8">
                  <c:v>101.84192413605771</c:v>
                </c:pt>
                <c:pt idx="9">
                  <c:v>102.10343717029264</c:v>
                </c:pt>
                <c:pt idx="10">
                  <c:v>102.33509196558916</c:v>
                </c:pt>
                <c:pt idx="11">
                  <c:v>102.57364264760156</c:v>
                </c:pt>
                <c:pt idx="12">
                  <c:v>102.81939098607157</c:v>
                </c:pt>
                <c:pt idx="13">
                  <c:v>103.06192277936836</c:v>
                </c:pt>
                <c:pt idx="14">
                  <c:v>103.256493125709</c:v>
                </c:pt>
                <c:pt idx="15">
                  <c:v>103.47680598327942</c:v>
                </c:pt>
                <c:pt idx="16">
                  <c:v>103.7031065450025</c:v>
                </c:pt>
                <c:pt idx="17">
                  <c:v>104.05652578084178</c:v>
                </c:pt>
                <c:pt idx="18">
                  <c:v>104.39023185078238</c:v>
                </c:pt>
                <c:pt idx="19">
                  <c:v>104.53895317190393</c:v>
                </c:pt>
                <c:pt idx="20">
                  <c:v>104.76008216038278</c:v>
                </c:pt>
                <c:pt idx="21">
                  <c:v>104.99411936796012</c:v>
                </c:pt>
                <c:pt idx="22">
                  <c:v>105.20326154531911</c:v>
                </c:pt>
                <c:pt idx="23">
                  <c:v>105.44080338253214</c:v>
                </c:pt>
                <c:pt idx="24">
                  <c:v>105.65772778428301</c:v>
                </c:pt>
                <c:pt idx="25">
                  <c:v>105.97662439624955</c:v>
                </c:pt>
                <c:pt idx="26">
                  <c:v>106.24804534639409</c:v>
                </c:pt>
                <c:pt idx="27">
                  <c:v>106.597819166316</c:v>
                </c:pt>
                <c:pt idx="28">
                  <c:v>106.81007000310056</c:v>
                </c:pt>
                <c:pt idx="29">
                  <c:v>107.00760236253592</c:v>
                </c:pt>
                <c:pt idx="30">
                  <c:v>107.29291850211385</c:v>
                </c:pt>
                <c:pt idx="31">
                  <c:v>107.47664776113722</c:v>
                </c:pt>
                <c:pt idx="32">
                  <c:v>107.67589360784841</c:v>
                </c:pt>
                <c:pt idx="33">
                  <c:v>107.93611922024617</c:v>
                </c:pt>
                <c:pt idx="34">
                  <c:v>108.25110282512723</c:v>
                </c:pt>
                <c:pt idx="35">
                  <c:v>108.51466165542142</c:v>
                </c:pt>
                <c:pt idx="36">
                  <c:v>108.7617077203424</c:v>
                </c:pt>
                <c:pt idx="37">
                  <c:v>109.0201837826127</c:v>
                </c:pt>
                <c:pt idx="38">
                  <c:v>109.1239289083057</c:v>
                </c:pt>
                <c:pt idx="39">
                  <c:v>109.35084188006523</c:v>
                </c:pt>
                <c:pt idx="40">
                  <c:v>109.63291390476677</c:v>
                </c:pt>
                <c:pt idx="41">
                  <c:v>109.91356671317176</c:v>
                </c:pt>
                <c:pt idx="42">
                  <c:v>110.20564646326177</c:v>
                </c:pt>
                <c:pt idx="43">
                  <c:v>110.438966237751</c:v>
                </c:pt>
                <c:pt idx="44">
                  <c:v>110.77263529162201</c:v>
                </c:pt>
                <c:pt idx="45">
                  <c:v>111.00727410861977</c:v>
                </c:pt>
                <c:pt idx="46">
                  <c:v>111.20654116524571</c:v>
                </c:pt>
                <c:pt idx="47">
                  <c:v>111.47533222621047</c:v>
                </c:pt>
                <c:pt idx="48">
                  <c:v>111.80855801763893</c:v>
                </c:pt>
                <c:pt idx="49">
                  <c:v>112.11678952755231</c:v>
                </c:pt>
                <c:pt idx="50">
                  <c:v>112.33363026667223</c:v>
                </c:pt>
                <c:pt idx="51">
                  <c:v>112.6295567941132</c:v>
                </c:pt>
                <c:pt idx="52">
                  <c:v>112.85676291751612</c:v>
                </c:pt>
                <c:pt idx="53">
                  <c:v>113.23183300809673</c:v>
                </c:pt>
                <c:pt idx="54">
                  <c:v>113.58525360831364</c:v>
                </c:pt>
                <c:pt idx="55">
                  <c:v>113.70786280935441</c:v>
                </c:pt>
                <c:pt idx="56">
                  <c:v>113.98443372845946</c:v>
                </c:pt>
                <c:pt idx="57">
                  <c:v>114.25071802288535</c:v>
                </c:pt>
                <c:pt idx="58">
                  <c:v>114.54531137514947</c:v>
                </c:pt>
                <c:pt idx="59">
                  <c:v>114.75474109179301</c:v>
                </c:pt>
                <c:pt idx="60">
                  <c:v>115.0241395337986</c:v>
                </c:pt>
                <c:pt idx="61">
                  <c:v>115.27551009147895</c:v>
                </c:pt>
                <c:pt idx="62">
                  <c:v>115.49767218961813</c:v>
                </c:pt>
                <c:pt idx="63">
                  <c:v>115.673373322782</c:v>
                </c:pt>
                <c:pt idx="64">
                  <c:v>115.91206558692701</c:v>
                </c:pt>
                <c:pt idx="65">
                  <c:v>116.27638863254823</c:v>
                </c:pt>
                <c:pt idx="66">
                  <c:v>116.61150359138497</c:v>
                </c:pt>
                <c:pt idx="67">
                  <c:v>116.83871128371734</c:v>
                </c:pt>
                <c:pt idx="68">
                  <c:v>117.20410758545079</c:v>
                </c:pt>
                <c:pt idx="69">
                  <c:v>117.45093250014639</c:v>
                </c:pt>
                <c:pt idx="70">
                  <c:v>117.71298880340072</c:v>
                </c:pt>
                <c:pt idx="71">
                  <c:v>117.94307326988205</c:v>
                </c:pt>
                <c:pt idx="72">
                  <c:v>118.19303187828552</c:v>
                </c:pt>
                <c:pt idx="73">
                  <c:v>118.52194022033306</c:v>
                </c:pt>
                <c:pt idx="74">
                  <c:v>118.88750098331073</c:v>
                </c:pt>
                <c:pt idx="75">
                  <c:v>119.13570493146274</c:v>
                </c:pt>
                <c:pt idx="76">
                  <c:v>119.42463495703184</c:v>
                </c:pt>
                <c:pt idx="77">
                  <c:v>119.75103173540614</c:v>
                </c:pt>
                <c:pt idx="78">
                  <c:v>120.07924649276323</c:v>
                </c:pt>
                <c:pt idx="79">
                  <c:v>120.49490717894432</c:v>
                </c:pt>
                <c:pt idx="80">
                  <c:v>120.67457736656935</c:v>
                </c:pt>
                <c:pt idx="81">
                  <c:v>121.00887401984625</c:v>
                </c:pt>
                <c:pt idx="82">
                  <c:v>121.27316723331174</c:v>
                </c:pt>
                <c:pt idx="83">
                  <c:v>121.5270862626143</c:v>
                </c:pt>
                <c:pt idx="84">
                  <c:v>121.83221782735673</c:v>
                </c:pt>
                <c:pt idx="85">
                  <c:v>122.20622468914512</c:v>
                </c:pt>
                <c:pt idx="86">
                  <c:v>122.4212793870422</c:v>
                </c:pt>
                <c:pt idx="87">
                  <c:v>122.64455346680141</c:v>
                </c:pt>
                <c:pt idx="88">
                  <c:v>122.94796646215049</c:v>
                </c:pt>
                <c:pt idx="89">
                  <c:v>123.180022351342</c:v>
                </c:pt>
                <c:pt idx="90">
                  <c:v>123.59194785995089</c:v>
                </c:pt>
                <c:pt idx="91">
                  <c:v>123.78820930509856</c:v>
                </c:pt>
                <c:pt idx="92">
                  <c:v>124.19024673634867</c:v>
                </c:pt>
                <c:pt idx="93">
                  <c:v>124.46998836094059</c:v>
                </c:pt>
                <c:pt idx="94">
                  <c:v>124.69267258355603</c:v>
                </c:pt>
                <c:pt idx="95">
                  <c:v>124.98249648691447</c:v>
                </c:pt>
                <c:pt idx="96">
                  <c:v>125.26632835525912</c:v>
                </c:pt>
                <c:pt idx="97">
                  <c:v>125.53694856425136</c:v>
                </c:pt>
                <c:pt idx="98">
                  <c:v>125.92758679979792</c:v>
                </c:pt>
                <c:pt idx="99">
                  <c:v>126.15148642231517</c:v>
                </c:pt>
                <c:pt idx="100">
                  <c:v>126.45152000676772</c:v>
                </c:pt>
                <c:pt idx="101">
                  <c:v>126.63943581841107</c:v>
                </c:pt>
                <c:pt idx="102">
                  <c:v>126.90718248447915</c:v>
                </c:pt>
                <c:pt idx="103">
                  <c:v>127.12512291922211</c:v>
                </c:pt>
                <c:pt idx="104">
                  <c:v>127.39464306682935</c:v>
                </c:pt>
                <c:pt idx="105">
                  <c:v>127.71197093207822</c:v>
                </c:pt>
                <c:pt idx="106">
                  <c:v>128.00256781294098</c:v>
                </c:pt>
                <c:pt idx="107">
                  <c:v>128.40717607995703</c:v>
                </c:pt>
                <c:pt idx="108">
                  <c:v>128.69586563719824</c:v>
                </c:pt>
                <c:pt idx="109">
                  <c:v>128.99379262578955</c:v>
                </c:pt>
                <c:pt idx="110">
                  <c:v>129.32073979308058</c:v>
                </c:pt>
                <c:pt idx="111">
                  <c:v>129.59393800861901</c:v>
                </c:pt>
                <c:pt idx="112">
                  <c:v>129.86470442799353</c:v>
                </c:pt>
                <c:pt idx="113">
                  <c:v>130.15677994838052</c:v>
                </c:pt>
                <c:pt idx="114">
                  <c:v>130.39376948664741</c:v>
                </c:pt>
                <c:pt idx="115">
                  <c:v>130.62933042719541</c:v>
                </c:pt>
                <c:pt idx="116">
                  <c:v>130.84079694317518</c:v>
                </c:pt>
                <c:pt idx="117">
                  <c:v>131.11798526892795</c:v>
                </c:pt>
                <c:pt idx="118">
                  <c:v>131.52676808500053</c:v>
                </c:pt>
                <c:pt idx="119">
                  <c:v>131.87216652680911</c:v>
                </c:pt>
                <c:pt idx="120">
                  <c:v>132.22528292424968</c:v>
                </c:pt>
                <c:pt idx="121">
                  <c:v>132.60402109302274</c:v>
                </c:pt>
                <c:pt idx="122">
                  <c:v>132.86088789295744</c:v>
                </c:pt>
                <c:pt idx="123">
                  <c:v>133.08482729738913</c:v>
                </c:pt>
                <c:pt idx="124">
                  <c:v>133.39465469381719</c:v>
                </c:pt>
                <c:pt idx="125">
                  <c:v>133.67859796923375</c:v>
                </c:pt>
                <c:pt idx="126">
                  <c:v>133.96149160925873</c:v>
                </c:pt>
                <c:pt idx="127">
                  <c:v>134.3584048440953</c:v>
                </c:pt>
                <c:pt idx="128">
                  <c:v>134.65761155543188</c:v>
                </c:pt>
                <c:pt idx="129">
                  <c:v>134.90487796135099</c:v>
                </c:pt>
                <c:pt idx="130">
                  <c:v>135.30412134299576</c:v>
                </c:pt>
                <c:pt idx="131">
                  <c:v>135.55691481316438</c:v>
                </c:pt>
                <c:pt idx="132">
                  <c:v>135.92741125001638</c:v>
                </c:pt>
                <c:pt idx="133">
                  <c:v>136.18455435563399</c:v>
                </c:pt>
                <c:pt idx="134">
                  <c:v>136.47049407253044</c:v>
                </c:pt>
                <c:pt idx="135">
                  <c:v>136.74730329983635</c:v>
                </c:pt>
                <c:pt idx="136">
                  <c:v>137.1205638677115</c:v>
                </c:pt>
                <c:pt idx="137">
                  <c:v>137.38669425915921</c:v>
                </c:pt>
                <c:pt idx="138">
                  <c:v>137.75785187507873</c:v>
                </c:pt>
                <c:pt idx="139">
                  <c:v>137.97830830847008</c:v>
                </c:pt>
                <c:pt idx="140">
                  <c:v>138.27592300948643</c:v>
                </c:pt>
                <c:pt idx="141">
                  <c:v>138.55046370573541</c:v>
                </c:pt>
                <c:pt idx="142">
                  <c:v>138.97140644864129</c:v>
                </c:pt>
                <c:pt idx="143">
                  <c:v>139.23214640495587</c:v>
                </c:pt>
                <c:pt idx="144">
                  <c:v>139.62306402805359</c:v>
                </c:pt>
                <c:pt idx="145">
                  <c:v>139.92333287787213</c:v>
                </c:pt>
                <c:pt idx="146">
                  <c:v>140.29138903048602</c:v>
                </c:pt>
                <c:pt idx="147">
                  <c:v>140.6664402049143</c:v>
                </c:pt>
                <c:pt idx="148">
                  <c:v>140.8507564385055</c:v>
                </c:pt>
                <c:pt idx="149">
                  <c:v>141.28670031597377</c:v>
                </c:pt>
                <c:pt idx="150">
                  <c:v>141.57470804340767</c:v>
                </c:pt>
                <c:pt idx="151">
                  <c:v>141.89476387467894</c:v>
                </c:pt>
                <c:pt idx="152">
                  <c:v>142.06013372368986</c:v>
                </c:pt>
                <c:pt idx="153">
                  <c:v>142.28166871366659</c:v>
                </c:pt>
                <c:pt idx="154">
                  <c:v>142.63461163333213</c:v>
                </c:pt>
                <c:pt idx="155">
                  <c:v>143.00573657030927</c:v>
                </c:pt>
                <c:pt idx="156">
                  <c:v>143.48466954190297</c:v>
                </c:pt>
                <c:pt idx="157">
                  <c:v>143.73338755380973</c:v>
                </c:pt>
                <c:pt idx="158">
                  <c:v>144.0438192690863</c:v>
                </c:pt>
                <c:pt idx="159">
                  <c:v>144.52023149585574</c:v>
                </c:pt>
                <c:pt idx="160">
                  <c:v>144.91290063255749</c:v>
                </c:pt>
                <c:pt idx="161">
                  <c:v>145.385154134353</c:v>
                </c:pt>
                <c:pt idx="162">
                  <c:v>145.7136550991936</c:v>
                </c:pt>
                <c:pt idx="163">
                  <c:v>146.05156480465772</c:v>
                </c:pt>
                <c:pt idx="164">
                  <c:v>146.50888034187574</c:v>
                </c:pt>
                <c:pt idx="165">
                  <c:v>146.98101608820113</c:v>
                </c:pt>
                <c:pt idx="166">
                  <c:v>147.4082427060641</c:v>
                </c:pt>
                <c:pt idx="167">
                  <c:v>147.77044877523954</c:v>
                </c:pt>
                <c:pt idx="168">
                  <c:v>148.14997052747302</c:v>
                </c:pt>
                <c:pt idx="169">
                  <c:v>148.42112981986389</c:v>
                </c:pt>
                <c:pt idx="170">
                  <c:v>148.78596924454973</c:v>
                </c:pt>
                <c:pt idx="171">
                  <c:v>149.21342594136053</c:v>
                </c:pt>
                <c:pt idx="172">
                  <c:v>149.57604202662347</c:v>
                </c:pt>
                <c:pt idx="173">
                  <c:v>149.95666297936035</c:v>
                </c:pt>
                <c:pt idx="174">
                  <c:v>150.39709510490025</c:v>
                </c:pt>
                <c:pt idx="175">
                  <c:v>150.84575228878722</c:v>
                </c:pt>
                <c:pt idx="176">
                  <c:v>151.22216721516227</c:v>
                </c:pt>
                <c:pt idx="177">
                  <c:v>151.575053896269</c:v>
                </c:pt>
                <c:pt idx="178">
                  <c:v>152.01529287218412</c:v>
                </c:pt>
                <c:pt idx="179">
                  <c:v>152.46557050779606</c:v>
                </c:pt>
                <c:pt idx="180">
                  <c:v>152.88702495959382</c:v>
                </c:pt>
                <c:pt idx="181">
                  <c:v>153.28947945765</c:v>
                </c:pt>
                <c:pt idx="182">
                  <c:v>153.67798225029932</c:v>
                </c:pt>
                <c:pt idx="183">
                  <c:v>154.03070425460098</c:v>
                </c:pt>
                <c:pt idx="184">
                  <c:v>154.43862206525338</c:v>
                </c:pt>
                <c:pt idx="185">
                  <c:v>154.93458783595582</c:v>
                </c:pt>
                <c:pt idx="186">
                  <c:v>155.42638201553919</c:v>
                </c:pt>
                <c:pt idx="187">
                  <c:v>155.69177360657707</c:v>
                </c:pt>
                <c:pt idx="188">
                  <c:v>156.0893440425919</c:v>
                </c:pt>
                <c:pt idx="189">
                  <c:v>156.38895017643534</c:v>
                </c:pt>
                <c:pt idx="190">
                  <c:v>156.88289183526376</c:v>
                </c:pt>
                <c:pt idx="191">
                  <c:v>157.40861446534888</c:v>
                </c:pt>
                <c:pt idx="192">
                  <c:v>157.80692657069099</c:v>
                </c:pt>
                <c:pt idx="193">
                  <c:v>158.23644873235861</c:v>
                </c:pt>
                <c:pt idx="194">
                  <c:v>158.58245389456064</c:v>
                </c:pt>
                <c:pt idx="195">
                  <c:v>158.9585000738</c:v>
                </c:pt>
                <c:pt idx="196">
                  <c:v>159.43591442647528</c:v>
                </c:pt>
                <c:pt idx="197">
                  <c:v>159.7680023787542</c:v>
                </c:pt>
                <c:pt idx="198">
                  <c:v>160.06101812013458</c:v>
                </c:pt>
                <c:pt idx="199">
                  <c:v>160.51261112823852</c:v>
                </c:pt>
                <c:pt idx="200">
                  <c:v>160.94835432581965</c:v>
                </c:pt>
                <c:pt idx="201">
                  <c:v>161.33480380281352</c:v>
                </c:pt>
                <c:pt idx="202">
                  <c:v>161.68529167563932</c:v>
                </c:pt>
                <c:pt idx="203">
                  <c:v>162.13353092772385</c:v>
                </c:pt>
                <c:pt idx="204">
                  <c:v>162.54499344441263</c:v>
                </c:pt>
                <c:pt idx="205">
                  <c:v>162.87684163942112</c:v>
                </c:pt>
                <c:pt idx="206">
                  <c:v>163.45456187161011</c:v>
                </c:pt>
                <c:pt idx="207">
                  <c:v>164.03100242184249</c:v>
                </c:pt>
                <c:pt idx="208">
                  <c:v>164.37233129482365</c:v>
                </c:pt>
                <c:pt idx="209">
                  <c:v>164.83557221776294</c:v>
                </c:pt>
                <c:pt idx="210">
                  <c:v>165.12510987676288</c:v>
                </c:pt>
                <c:pt idx="211">
                  <c:v>165.74190688231394</c:v>
                </c:pt>
                <c:pt idx="212">
                  <c:v>166.12648537657535</c:v>
                </c:pt>
                <c:pt idx="213">
                  <c:v>166.3504742227436</c:v>
                </c:pt>
                <c:pt idx="214">
                  <c:v>166.68055795659316</c:v>
                </c:pt>
                <c:pt idx="215">
                  <c:v>167.0980068437797</c:v>
                </c:pt>
                <c:pt idx="216">
                  <c:v>167.57298966952695</c:v>
                </c:pt>
                <c:pt idx="217">
                  <c:v>168.05724845549574</c:v>
                </c:pt>
                <c:pt idx="218">
                  <c:v>168.59667110319916</c:v>
                </c:pt>
                <c:pt idx="219">
                  <c:v>168.83797002645795</c:v>
                </c:pt>
                <c:pt idx="220">
                  <c:v>169.05203582348489</c:v>
                </c:pt>
                <c:pt idx="221">
                  <c:v>169.3886687090409</c:v>
                </c:pt>
                <c:pt idx="222">
                  <c:v>169.64603988696089</c:v>
                </c:pt>
                <c:pt idx="223">
                  <c:v>170.01281105063387</c:v>
                </c:pt>
                <c:pt idx="224">
                  <c:v>170.42619461379593</c:v>
                </c:pt>
                <c:pt idx="225">
                  <c:v>170.96299625604101</c:v>
                </c:pt>
                <c:pt idx="226">
                  <c:v>171.32880558886725</c:v>
                </c:pt>
                <c:pt idx="227">
                  <c:v>171.69264238916011</c:v>
                </c:pt>
                <c:pt idx="228">
                  <c:v>172.22648450774594</c:v>
                </c:pt>
                <c:pt idx="229">
                  <c:v>172.66621587456643</c:v>
                </c:pt>
                <c:pt idx="230">
                  <c:v>173.04766144788087</c:v>
                </c:pt>
                <c:pt idx="231">
                  <c:v>173.28722808474046</c:v>
                </c:pt>
                <c:pt idx="232">
                  <c:v>173.7524424212516</c:v>
                </c:pt>
                <c:pt idx="233">
                  <c:v>174.26475230611774</c:v>
                </c:pt>
                <c:pt idx="234">
                  <c:v>174.68669718347104</c:v>
                </c:pt>
                <c:pt idx="235">
                  <c:v>175.01780062070986</c:v>
                </c:pt>
                <c:pt idx="236">
                  <c:v>175.47682665694393</c:v>
                </c:pt>
                <c:pt idx="237">
                  <c:v>175.93535087026453</c:v>
                </c:pt>
                <c:pt idx="238">
                  <c:v>176.32830521796745</c:v>
                </c:pt>
                <c:pt idx="239">
                  <c:v>176.85801849680777</c:v>
                </c:pt>
                <c:pt idx="240">
                  <c:v>177.13626993939062</c:v>
                </c:pt>
              </c:numCache>
            </c:numRef>
          </c:val>
          <c:smooth val="1"/>
          <c:extLst>
            <c:ext xmlns:c16="http://schemas.microsoft.com/office/drawing/2014/chart" uri="{C3380CC4-5D6E-409C-BE32-E72D297353CC}">
              <c16:uniqueId val="{00000000-87E1-484D-8C68-A922572A60D3}"/>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majorGridlines>
          <c:spPr>
            <a:ln w="1270">
              <a:solidFill>
                <a:srgbClr val="AB853F">
                  <a:alpha val="9000"/>
                </a:srgbClr>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72768"/>
        <c:crosses val="autoZero"/>
        <c:auto val="1"/>
        <c:lblAlgn val="ctr"/>
        <c:lblOffset val="100"/>
        <c:tickLblSkip val="60"/>
        <c:noMultiLvlLbl val="0"/>
      </c:catAx>
      <c:valAx>
        <c:axId val="48672768"/>
        <c:scaling>
          <c:orientation val="minMax"/>
          <c:min val="100"/>
        </c:scaling>
        <c:delete val="0"/>
        <c:axPos val="l"/>
        <c:majorGridlines>
          <c:spPr>
            <a:ln w="9525">
              <a:solidFill>
                <a:srgbClr val="CCCCCC"/>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50112"/>
        <c:crosses val="autoZero"/>
        <c:crossBetween val="between"/>
        <c:majorUnit val="25"/>
      </c:valAx>
    </c:plotArea>
    <c:plotVisOnly val="1"/>
    <c:dispBlanksAs val="zero"/>
    <c:showDLblsOverMax val="1"/>
  </c:chart>
  <c:spPr>
    <a:solidFill>
      <a:srgbClr val="FCF9EF"/>
    </a:solidFill>
    <a:ln w="9525">
      <a:noFill/>
      <a:prstDash val="solid"/>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849937318832822"/>
          <c:y val="0.14507220409304389"/>
          <c:w val="0.63643957630269232"/>
          <c:h val="0.76046441830365841"/>
        </c:manualLayout>
      </c:layout>
      <c:doughnutChart>
        <c:varyColors val="1"/>
        <c:ser>
          <c:idx val="0"/>
          <c:order val="0"/>
          <c:spPr>
            <a:ln>
              <a:prstDash val="solid"/>
            </a:ln>
          </c:spPr>
          <c:dPt>
            <c:idx val="0"/>
            <c:bubble3D val="0"/>
            <c:spPr>
              <a:solidFill>
                <a:srgbClr val="102D1A"/>
              </a:solidFill>
              <a:ln w="15875">
                <a:solidFill>
                  <a:srgbClr val="FFFFFF"/>
                </a:solidFill>
                <a:prstDash val="solid"/>
              </a:ln>
            </c:spPr>
            <c:extLst>
              <c:ext xmlns:c16="http://schemas.microsoft.com/office/drawing/2014/chart" uri="{C3380CC4-5D6E-409C-BE32-E72D297353CC}">
                <c16:uniqueId val="{00000001-4E34-BD4F-9D56-F777FCF0B4A4}"/>
              </c:ext>
            </c:extLst>
          </c:dPt>
          <c:dPt>
            <c:idx val="1"/>
            <c:bubble3D val="0"/>
            <c:spPr>
              <a:solidFill>
                <a:srgbClr val="102D1A"/>
              </a:solidFill>
              <a:ln w="15875">
                <a:solidFill>
                  <a:srgbClr val="FFFFFF"/>
                </a:solidFill>
                <a:prstDash val="solid"/>
              </a:ln>
            </c:spPr>
            <c:extLst>
              <c:ext xmlns:c16="http://schemas.microsoft.com/office/drawing/2014/chart" uri="{C3380CC4-5D6E-409C-BE32-E72D297353CC}">
                <c16:uniqueId val="{00000003-4E34-BD4F-9D56-F777FCF0B4A4}"/>
              </c:ext>
            </c:extLst>
          </c:dPt>
          <c:dPt>
            <c:idx val="2"/>
            <c:bubble3D val="0"/>
            <c:spPr>
              <a:solidFill>
                <a:srgbClr val="102D1A"/>
              </a:solidFill>
              <a:ln w="15875">
                <a:solidFill>
                  <a:srgbClr val="FFFFFF"/>
                </a:solidFill>
                <a:prstDash val="solid"/>
              </a:ln>
            </c:spPr>
            <c:extLst>
              <c:ext xmlns:c16="http://schemas.microsoft.com/office/drawing/2014/chart" uri="{C3380CC4-5D6E-409C-BE32-E72D297353CC}">
                <c16:uniqueId val="{00000005-4E34-BD4F-9D56-F777FCF0B4A4}"/>
              </c:ext>
            </c:extLst>
          </c:dPt>
          <c:dPt>
            <c:idx val="3"/>
            <c:bubble3D val="0"/>
            <c:spPr>
              <a:solidFill>
                <a:srgbClr val="144629"/>
              </a:solidFill>
              <a:ln w="15875">
                <a:solidFill>
                  <a:srgbClr val="FFFFFF"/>
                </a:solidFill>
                <a:prstDash val="solid"/>
              </a:ln>
            </c:spPr>
            <c:extLst>
              <c:ext xmlns:c16="http://schemas.microsoft.com/office/drawing/2014/chart" uri="{C3380CC4-5D6E-409C-BE32-E72D297353CC}">
                <c16:uniqueId val="{00000007-4E34-BD4F-9D56-F777FCF0B4A4}"/>
              </c:ext>
            </c:extLst>
          </c:dPt>
          <c:dPt>
            <c:idx val="4"/>
            <c:bubble3D val="0"/>
            <c:spPr>
              <a:solidFill>
                <a:srgbClr val="144629"/>
              </a:solidFill>
              <a:ln w="15875">
                <a:solidFill>
                  <a:srgbClr val="FFFFFF"/>
                </a:solidFill>
                <a:prstDash val="solid"/>
              </a:ln>
            </c:spPr>
            <c:extLst>
              <c:ext xmlns:c16="http://schemas.microsoft.com/office/drawing/2014/chart" uri="{C3380CC4-5D6E-409C-BE32-E72D297353CC}">
                <c16:uniqueId val="{00000009-4E34-BD4F-9D56-F777FCF0B4A4}"/>
              </c:ext>
            </c:extLst>
          </c:dPt>
          <c:dPt>
            <c:idx val="5"/>
            <c:bubble3D val="0"/>
            <c:spPr>
              <a:solidFill>
                <a:srgbClr val="B3A792"/>
              </a:solidFill>
              <a:ln w="15875">
                <a:solidFill>
                  <a:srgbClr val="FFFFFF"/>
                </a:solidFill>
                <a:prstDash val="solid"/>
              </a:ln>
            </c:spPr>
            <c:extLst>
              <c:ext xmlns:c16="http://schemas.microsoft.com/office/drawing/2014/chart" uri="{C3380CC4-5D6E-409C-BE32-E72D297353CC}">
                <c16:uniqueId val="{0000000B-4E34-BD4F-9D56-F777FCF0B4A4}"/>
              </c:ext>
            </c:extLst>
          </c:dPt>
          <c:dPt>
            <c:idx val="6"/>
            <c:bubble3D val="0"/>
            <c:spPr>
              <a:solidFill>
                <a:srgbClr val="B3A792"/>
              </a:solidFill>
              <a:ln w="15875">
                <a:solidFill>
                  <a:srgbClr val="FFFFFF"/>
                </a:solidFill>
                <a:prstDash val="solid"/>
              </a:ln>
            </c:spPr>
            <c:extLst>
              <c:ext xmlns:c16="http://schemas.microsoft.com/office/drawing/2014/chart" uri="{C3380CC4-5D6E-409C-BE32-E72D297353CC}">
                <c16:uniqueId val="{0000000D-4E34-BD4F-9D56-F777FCF0B4A4}"/>
              </c:ext>
            </c:extLst>
          </c:dPt>
          <c:dPt>
            <c:idx val="7"/>
            <c:bubble3D val="0"/>
            <c:spPr>
              <a:solidFill>
                <a:srgbClr val="AB853F"/>
              </a:solidFill>
              <a:ln w="15875">
                <a:solidFill>
                  <a:srgbClr val="FFFFFF"/>
                </a:solidFill>
                <a:prstDash val="solid"/>
              </a:ln>
            </c:spPr>
            <c:extLst>
              <c:ext xmlns:c16="http://schemas.microsoft.com/office/drawing/2014/chart" uri="{C3380CC4-5D6E-409C-BE32-E72D297353CC}">
                <c16:uniqueId val="{0000000F-4E34-BD4F-9D56-F777FCF0B4A4}"/>
              </c:ext>
            </c:extLst>
          </c:dPt>
          <c:dPt>
            <c:idx val="8"/>
            <c:bubble3D val="0"/>
            <c:spPr>
              <a:solidFill>
                <a:srgbClr val="183E26"/>
              </a:solidFill>
              <a:ln w="15875">
                <a:solidFill>
                  <a:srgbClr val="FFFFFF"/>
                </a:solidFill>
                <a:prstDash val="solid"/>
              </a:ln>
            </c:spPr>
            <c:extLst>
              <c:ext xmlns:c16="http://schemas.microsoft.com/office/drawing/2014/chart" uri="{C3380CC4-5D6E-409C-BE32-E72D297353CC}">
                <c16:uniqueId val="{00000011-4E34-BD4F-9D56-F777FCF0B4A4}"/>
              </c:ext>
            </c:extLst>
          </c:dPt>
          <c:dLbls>
            <c:dLbl>
              <c:idx val="4"/>
              <c:layout>
                <c:manualLayout>
                  <c:x val="0.37470877558638654"/>
                  <c:y val="5.6958491439419313E-2"/>
                </c:manualLayout>
              </c:layout>
              <c:tx>
                <c:rich>
                  <a:bodyPr/>
                  <a:lstStyle/>
                  <a:p>
                    <a:pPr>
                      <a:defRPr sz="1050" b="1">
                        <a:solidFill>
                          <a:srgbClr val="144629"/>
                        </a:solidFill>
                        <a:latin typeface="Arial"/>
                      </a:defRPr>
                    </a:pPr>
                    <a:r>
                      <a:rPr lang="en-US" b="0" i="0">
                        <a:solidFill>
                          <a:srgbClr val="144629"/>
                        </a:solidFill>
                        <a:latin typeface="Jost Light" pitchFamily="2" charset="77"/>
                        <a:ea typeface="Jost Light" pitchFamily="2" charset="77"/>
                      </a:rPr>
                      <a:t>Exposition </a:t>
                    </a:r>
                    <a:r>
                      <a:rPr lang="en-US" b="0" i="0" err="1">
                        <a:solidFill>
                          <a:srgbClr val="144629"/>
                        </a:solidFill>
                        <a:latin typeface="Jost Light" pitchFamily="2" charset="77"/>
                        <a:ea typeface="Jost Light" pitchFamily="2" charset="77"/>
                      </a:rPr>
                      <a:t>obligataire</a:t>
                    </a:r>
                    <a:endParaRPr lang="en-US" b="0" i="0">
                      <a:solidFill>
                        <a:srgbClr val="144629"/>
                      </a:solidFill>
                      <a:latin typeface="Jost Light" pitchFamily="2" charset="77"/>
                      <a:ea typeface="Jost Light" pitchFamily="2" charset="77"/>
                    </a:endParaRPr>
                  </a:p>
                  <a:p>
                    <a:pPr>
                      <a:defRPr sz="1050" b="1">
                        <a:solidFill>
                          <a:srgbClr val="144629"/>
                        </a:solidFill>
                        <a:latin typeface="Arial"/>
                      </a:defRPr>
                    </a:pPr>
                    <a:r>
                      <a:rPr lang="en-US" sz="1400" b="0" i="0">
                        <a:solidFill>
                          <a:srgbClr val="144629"/>
                        </a:solidFill>
                        <a:latin typeface="Jost Medium" pitchFamily="2" charset="77"/>
                        <a:ea typeface="Jost Medium" pitchFamily="2" charset="77"/>
                      </a:rPr>
                      <a:t>72%</a:t>
                    </a:r>
                  </a:p>
                </c:rich>
              </c:tx>
              <c:spPr/>
              <c:showLegendKey val="0"/>
              <c:showVal val="0"/>
              <c:showCatName val="1"/>
              <c:showSerName val="0"/>
              <c:showPercent val="0"/>
              <c:showBubbleSize val="0"/>
              <c:extLst>
                <c:ext xmlns:c15="http://schemas.microsoft.com/office/drawing/2012/chart" uri="{CE6537A1-D6FC-4f65-9D91-7224C49458BB}">
                  <c15:layout>
                    <c:manualLayout>
                      <c:w val="0.24485552789619114"/>
                      <c:h val="0.12921232489566256"/>
                    </c:manualLayout>
                  </c15:layout>
                  <c15:showDataLabelsRange val="0"/>
                </c:ext>
                <c:ext xmlns:c16="http://schemas.microsoft.com/office/drawing/2014/chart" uri="{C3380CC4-5D6E-409C-BE32-E72D297353CC}">
                  <c16:uniqueId val="{00000009-4E34-BD4F-9D56-F777FCF0B4A4}"/>
                </c:ext>
              </c:extLst>
            </c:dLbl>
            <c:dLbl>
              <c:idx val="7"/>
              <c:layout>
                <c:manualLayout>
                  <c:x val="-0.18493537357463996"/>
                  <c:y val="-9.2712193114342048E-2"/>
                </c:manualLayout>
              </c:layout>
              <c:tx>
                <c:rich>
                  <a:bodyPr/>
                  <a:lstStyle/>
                  <a:p>
                    <a:pPr>
                      <a:defRPr sz="1050" b="1">
                        <a:solidFill>
                          <a:srgbClr val="AB853F"/>
                        </a:solidFill>
                        <a:latin typeface="Arial"/>
                      </a:defRPr>
                    </a:pPr>
                    <a:r>
                      <a:rPr lang="en-US" b="0" i="0">
                        <a:solidFill>
                          <a:srgbClr val="AB853F"/>
                        </a:solidFill>
                        <a:latin typeface="Jost Light" pitchFamily="2" charset="77"/>
                        <a:ea typeface="Jost Light" pitchFamily="2" charset="77"/>
                      </a:rPr>
                      <a:t>Exposition mixte</a:t>
                    </a:r>
                  </a:p>
                  <a:p>
                    <a:pPr>
                      <a:defRPr sz="1050" b="1">
                        <a:solidFill>
                          <a:srgbClr val="AB853F"/>
                        </a:solidFill>
                        <a:latin typeface="Arial"/>
                      </a:defRPr>
                    </a:pPr>
                    <a:r>
                      <a:rPr lang="en-US" sz="1400" b="0" i="0">
                        <a:solidFill>
                          <a:srgbClr val="AB853F"/>
                        </a:solidFill>
                        <a:latin typeface="Jost Medium" pitchFamily="2" charset="77"/>
                        <a:ea typeface="Jost Medium" pitchFamily="2" charset="77"/>
                      </a:rPr>
                      <a:t>28%</a:t>
                    </a:r>
                  </a:p>
                </c:rich>
              </c:tx>
              <c:spPr/>
              <c:showLegendKey val="0"/>
              <c:showVal val="0"/>
              <c:showCatName val="1"/>
              <c:showSerName val="0"/>
              <c:showPercent val="0"/>
              <c:showBubbleSize val="0"/>
              <c:extLst>
                <c:ext xmlns:c15="http://schemas.microsoft.com/office/drawing/2012/chart" uri="{CE6537A1-D6FC-4f65-9D91-7224C49458BB}">
                  <c15:layout>
                    <c:manualLayout>
                      <c:w val="0.20435159257889512"/>
                      <c:h val="0.14451087639289831"/>
                    </c:manualLayout>
                  </c15:layout>
                  <c15:showDataLabelsRange val="0"/>
                </c:ext>
                <c:ext xmlns:c16="http://schemas.microsoft.com/office/drawing/2014/chart" uri="{C3380CC4-5D6E-409C-BE32-E72D297353CC}">
                  <c16:uniqueId val="{0000000F-4E34-BD4F-9D56-F777FCF0B4A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Données!$M$3:$M$11</c:f>
              <c:strCache>
                <c:ptCount val="8"/>
                <c:pt idx="4">
                  <c:v>Exposition obligataire
72%</c:v>
                </c:pt>
                <c:pt idx="7">
                  <c:v>Exposition mixte
28%</c:v>
                </c:pt>
              </c:strCache>
            </c:strRef>
          </c:cat>
          <c:val>
            <c:numRef>
              <c:f>Données!$C$3:$C$11</c:f>
              <c:numCache>
                <c:formatCode>0%</c:formatCode>
                <c:ptCount val="9"/>
                <c:pt idx="0">
                  <c:v>0</c:v>
                </c:pt>
                <c:pt idx="1">
                  <c:v>0</c:v>
                </c:pt>
                <c:pt idx="2">
                  <c:v>0</c:v>
                </c:pt>
                <c:pt idx="3">
                  <c:v>0.35</c:v>
                </c:pt>
                <c:pt idx="4">
                  <c:v>0.37</c:v>
                </c:pt>
                <c:pt idx="5">
                  <c:v>0</c:v>
                </c:pt>
                <c:pt idx="6">
                  <c:v>0</c:v>
                </c:pt>
                <c:pt idx="7">
                  <c:v>0.28000000000000003</c:v>
                </c:pt>
                <c:pt idx="8">
                  <c:v>0</c:v>
                </c:pt>
              </c:numCache>
            </c:numRef>
          </c:val>
          <c:extLst>
            <c:ext xmlns:c16="http://schemas.microsoft.com/office/drawing/2014/chart" uri="{C3380CC4-5D6E-409C-BE32-E72D297353CC}">
              <c16:uniqueId val="{00000012-4E34-BD4F-9D56-F777FCF0B4A4}"/>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Optimiste</c:v>
          </c:tx>
          <c:spPr>
            <a:ln w="12700">
              <a:solidFill>
                <a:srgbClr val="144629"/>
              </a:solidFill>
            </a:ln>
          </c:spPr>
          <c:marker>
            <c:symbol val="none"/>
          </c:marker>
          <c:cat>
            <c:numRef>
              <c:f>'4.1%'!$B$5:$B$245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'4.1%'!$D$5:$D$245</c:f>
              <c:numCache>
                <c:formatCode>0.0</c:formatCode>
                <c:ptCount val="241"/>
                <c:pt idx="0">
                  <c:v>100</c:v>
                </c:pt>
                <c:pt idx="1">
                  <c:v>99.971579249624284</c:v>
                </c:pt>
                <c:pt idx="2">
                  <c:v>99.972797242246273</c:v>
                </c:pt>
                <c:pt idx="3">
                  <c:v>99.996792831513631</c:v>
                </c:pt>
                <c:pt idx="4">
                  <c:v>100.28628192146039</c:v>
                </c:pt>
                <c:pt idx="5">
                  <c:v>101.35046860012623</c:v>
                </c:pt>
                <c:pt idx="6">
                  <c:v>102.29097212753078</c:v>
                </c:pt>
                <c:pt idx="7">
                  <c:v>103.16516450606332</c:v>
                </c:pt>
                <c:pt idx="8">
                  <c:v>103.99738438664944</c:v>
                </c:pt>
                <c:pt idx="9">
                  <c:v>104.7817815682931</c:v>
                </c:pt>
                <c:pt idx="10">
                  <c:v>105.3204398871973</c:v>
                </c:pt>
                <c:pt idx="11">
                  <c:v>105.65113971671028</c:v>
                </c:pt>
                <c:pt idx="12">
                  <c:v>105.99084091188921</c:v>
                </c:pt>
                <c:pt idx="13">
                  <c:v>106.80264721901557</c:v>
                </c:pt>
                <c:pt idx="14">
                  <c:v>107.57397598212617</c:v>
                </c:pt>
                <c:pt idx="15">
                  <c:v>107.98907556193936</c:v>
                </c:pt>
                <c:pt idx="16">
                  <c:v>108.28153033337247</c:v>
                </c:pt>
                <c:pt idx="17">
                  <c:v>108.82436031349599</c:v>
                </c:pt>
                <c:pt idx="18">
                  <c:v>109.2505710303077</c:v>
                </c:pt>
                <c:pt idx="19">
                  <c:v>110.02451184103511</c:v>
                </c:pt>
                <c:pt idx="20">
                  <c:v>111.31320601655466</c:v>
                </c:pt>
                <c:pt idx="21">
                  <c:v>112.98348564073538</c:v>
                </c:pt>
                <c:pt idx="22">
                  <c:v>114.69017110865963</c:v>
                </c:pt>
                <c:pt idx="23">
                  <c:v>116.24262307650545</c:v>
                </c:pt>
                <c:pt idx="24">
                  <c:v>117.35638690678334</c:v>
                </c:pt>
                <c:pt idx="25">
                  <c:v>118.44832295916218</c:v>
                </c:pt>
                <c:pt idx="26">
                  <c:v>119.82041087184388</c:v>
                </c:pt>
                <c:pt idx="27">
                  <c:v>121.10690811175981</c:v>
                </c:pt>
                <c:pt idx="28">
                  <c:v>122.05514023937157</c:v>
                </c:pt>
                <c:pt idx="29">
                  <c:v>122.93748022001965</c:v>
                </c:pt>
                <c:pt idx="30">
                  <c:v>123.56857574937501</c:v>
                </c:pt>
                <c:pt idx="31">
                  <c:v>124.18129474289093</c:v>
                </c:pt>
                <c:pt idx="32">
                  <c:v>124.2538952668814</c:v>
                </c:pt>
                <c:pt idx="33">
                  <c:v>124.33523558408157</c:v>
                </c:pt>
                <c:pt idx="34">
                  <c:v>124.7015092749177</c:v>
                </c:pt>
                <c:pt idx="35">
                  <c:v>124.86028353763874</c:v>
                </c:pt>
                <c:pt idx="36">
                  <c:v>124.47451414257932</c:v>
                </c:pt>
                <c:pt idx="37">
                  <c:v>124.34417595312273</c:v>
                </c:pt>
                <c:pt idx="38">
                  <c:v>124.44683572038142</c:v>
                </c:pt>
                <c:pt idx="39">
                  <c:v>124.35881926518394</c:v>
                </c:pt>
                <c:pt idx="40">
                  <c:v>124.14393603719945</c:v>
                </c:pt>
                <c:pt idx="41">
                  <c:v>124.02238627898856</c:v>
                </c:pt>
                <c:pt idx="42">
                  <c:v>124.27999208942896</c:v>
                </c:pt>
                <c:pt idx="43">
                  <c:v>123.50968371863686</c:v>
                </c:pt>
                <c:pt idx="44">
                  <c:v>123.03650755417438</c:v>
                </c:pt>
                <c:pt idx="45">
                  <c:v>122.97135037111977</c:v>
                </c:pt>
                <c:pt idx="46">
                  <c:v>124.06839599411303</c:v>
                </c:pt>
                <c:pt idx="47">
                  <c:v>125.37540769805697</c:v>
                </c:pt>
                <c:pt idx="48">
                  <c:v>125.8508457259848</c:v>
                </c:pt>
                <c:pt idx="49">
                  <c:v>126.27244184325905</c:v>
                </c:pt>
                <c:pt idx="50">
                  <c:v>126.47919894196552</c:v>
                </c:pt>
                <c:pt idx="51">
                  <c:v>126.91230292300021</c:v>
                </c:pt>
                <c:pt idx="52">
                  <c:v>127.13358733319137</c:v>
                </c:pt>
                <c:pt idx="53">
                  <c:v>127.43457341051787</c:v>
                </c:pt>
                <c:pt idx="54">
                  <c:v>128.06320058650087</c:v>
                </c:pt>
                <c:pt idx="55">
                  <c:v>128.65521389023115</c:v>
                </c:pt>
                <c:pt idx="56">
                  <c:v>129.05873235339601</c:v>
                </c:pt>
                <c:pt idx="57">
                  <c:v>129.2403362825905</c:v>
                </c:pt>
                <c:pt idx="58">
                  <c:v>129.60648013486832</c:v>
                </c:pt>
                <c:pt idx="59">
                  <c:v>129.59979915650499</c:v>
                </c:pt>
                <c:pt idx="60">
                  <c:v>129.79149164508271</c:v>
                </c:pt>
                <c:pt idx="61">
                  <c:v>130.48239972284736</c:v>
                </c:pt>
                <c:pt idx="62">
                  <c:v>130.86468963660266</c:v>
                </c:pt>
                <c:pt idx="63">
                  <c:v>130.56958303742522</c:v>
                </c:pt>
                <c:pt idx="64">
                  <c:v>129.91470426709915</c:v>
                </c:pt>
                <c:pt idx="65">
                  <c:v>129.54307524276658</c:v>
                </c:pt>
                <c:pt idx="66">
                  <c:v>128.6842151381758</c:v>
                </c:pt>
                <c:pt idx="67">
                  <c:v>127.90852265010996</c:v>
                </c:pt>
                <c:pt idx="68">
                  <c:v>127.73089468680331</c:v>
                </c:pt>
                <c:pt idx="69">
                  <c:v>128.3047995878936</c:v>
                </c:pt>
                <c:pt idx="70">
                  <c:v>128.96278655045029</c:v>
                </c:pt>
                <c:pt idx="71">
                  <c:v>130.44384158789643</c:v>
                </c:pt>
                <c:pt idx="72">
                  <c:v>132.16736221250926</c:v>
                </c:pt>
                <c:pt idx="73">
                  <c:v>134.06401004617516</c:v>
                </c:pt>
                <c:pt idx="74">
                  <c:v>135.62979416101024</c:v>
                </c:pt>
                <c:pt idx="75">
                  <c:v>137.68520378572373</c:v>
                </c:pt>
                <c:pt idx="76">
                  <c:v>138.86969766418514</c:v>
                </c:pt>
                <c:pt idx="77">
                  <c:v>140.11389294174381</c:v>
                </c:pt>
                <c:pt idx="78">
                  <c:v>141.04791651398767</c:v>
                </c:pt>
                <c:pt idx="79">
                  <c:v>141.88834398434102</c:v>
                </c:pt>
                <c:pt idx="80">
                  <c:v>141.74344932776481</c:v>
                </c:pt>
                <c:pt idx="81">
                  <c:v>141.78936111599833</c:v>
                </c:pt>
                <c:pt idx="82">
                  <c:v>141.5634461614147</c:v>
                </c:pt>
                <c:pt idx="83">
                  <c:v>141.38796909635963</c:v>
                </c:pt>
                <c:pt idx="84">
                  <c:v>140.95076104564166</c:v>
                </c:pt>
                <c:pt idx="85">
                  <c:v>141.19255186664853</c:v>
                </c:pt>
                <c:pt idx="86">
                  <c:v>141.39588560812223</c:v>
                </c:pt>
                <c:pt idx="87">
                  <c:v>141.84908398648938</c:v>
                </c:pt>
                <c:pt idx="88">
                  <c:v>142.6990687076858</c:v>
                </c:pt>
                <c:pt idx="89">
                  <c:v>143.94072524636587</c:v>
                </c:pt>
                <c:pt idx="90">
                  <c:v>144.76934327716845</c:v>
                </c:pt>
                <c:pt idx="91">
                  <c:v>145.6223383058508</c:v>
                </c:pt>
                <c:pt idx="92">
                  <c:v>146.63532451686388</c:v>
                </c:pt>
                <c:pt idx="93">
                  <c:v>147.18327402193771</c:v>
                </c:pt>
                <c:pt idx="94">
                  <c:v>147.55350000129351</c:v>
                </c:pt>
                <c:pt idx="95">
                  <c:v>148.11111600205766</c:v>
                </c:pt>
                <c:pt idx="96">
                  <c:v>148.50259342820632</c:v>
                </c:pt>
                <c:pt idx="97">
                  <c:v>148.74997176218289</c:v>
                </c:pt>
                <c:pt idx="98">
                  <c:v>146.92955832761902</c:v>
                </c:pt>
                <c:pt idx="99">
                  <c:v>145.24338296679213</c:v>
                </c:pt>
                <c:pt idx="100">
                  <c:v>143.81837241612564</c:v>
                </c:pt>
                <c:pt idx="101">
                  <c:v>145.1247608966645</c:v>
                </c:pt>
                <c:pt idx="102">
                  <c:v>146.36781441901093</c:v>
                </c:pt>
                <c:pt idx="103">
                  <c:v>147.34854068834647</c:v>
                </c:pt>
                <c:pt idx="104">
                  <c:v>148.14071432400252</c:v>
                </c:pt>
                <c:pt idx="105">
                  <c:v>149.16160815543628</c:v>
                </c:pt>
                <c:pt idx="106">
                  <c:v>149.87004145270274</c:v>
                </c:pt>
                <c:pt idx="107">
                  <c:v>150.46713190389016</c:v>
                </c:pt>
                <c:pt idx="108">
                  <c:v>151.42564009198279</c:v>
                </c:pt>
                <c:pt idx="109">
                  <c:v>152.09174289804193</c:v>
                </c:pt>
                <c:pt idx="110">
                  <c:v>152.81116982853987</c:v>
                </c:pt>
                <c:pt idx="111">
                  <c:v>153.37083487579537</c:v>
                </c:pt>
                <c:pt idx="112">
                  <c:v>153.4702165320825</c:v>
                </c:pt>
                <c:pt idx="113">
                  <c:v>153.63989051342159</c:v>
                </c:pt>
                <c:pt idx="114">
                  <c:v>153.75297878298159</c:v>
                </c:pt>
                <c:pt idx="115">
                  <c:v>154.04238927941267</c:v>
                </c:pt>
                <c:pt idx="116">
                  <c:v>154.60224679626805</c:v>
                </c:pt>
                <c:pt idx="117">
                  <c:v>155.43272740593969</c:v>
                </c:pt>
                <c:pt idx="118">
                  <c:v>156.02931753077536</c:v>
                </c:pt>
                <c:pt idx="119">
                  <c:v>157.00712951462367</c:v>
                </c:pt>
                <c:pt idx="120">
                  <c:v>158.13467214579364</c:v>
                </c:pt>
                <c:pt idx="121">
                  <c:v>159.51045861988001</c:v>
                </c:pt>
                <c:pt idx="122">
                  <c:v>161.30391470642235</c:v>
                </c:pt>
                <c:pt idx="123">
                  <c:v>162.49145264083498</c:v>
                </c:pt>
                <c:pt idx="124">
                  <c:v>163.17431880092664</c:v>
                </c:pt>
                <c:pt idx="125">
                  <c:v>163.27148797203327</c:v>
                </c:pt>
                <c:pt idx="126">
                  <c:v>163.39073025602482</c:v>
                </c:pt>
                <c:pt idx="127">
                  <c:v>163.09183714685204</c:v>
                </c:pt>
                <c:pt idx="128">
                  <c:v>163.37765379049179</c:v>
                </c:pt>
                <c:pt idx="129">
                  <c:v>163.74274804756743</c:v>
                </c:pt>
                <c:pt idx="130">
                  <c:v>164.537094241853</c:v>
                </c:pt>
                <c:pt idx="131">
                  <c:v>164.64780251403295</c:v>
                </c:pt>
                <c:pt idx="132">
                  <c:v>164.90290240674594</c:v>
                </c:pt>
                <c:pt idx="133">
                  <c:v>165.20074265183598</c:v>
                </c:pt>
                <c:pt idx="134">
                  <c:v>166.04924038562834</c:v>
                </c:pt>
                <c:pt idx="135">
                  <c:v>166.83819340574846</c:v>
                </c:pt>
                <c:pt idx="136">
                  <c:v>167.70587632931651</c:v>
                </c:pt>
                <c:pt idx="137">
                  <c:v>168.51182635127591</c:v>
                </c:pt>
                <c:pt idx="138">
                  <c:v>169.26109214732276</c:v>
                </c:pt>
                <c:pt idx="139">
                  <c:v>169.36682444438927</c:v>
                </c:pt>
                <c:pt idx="140">
                  <c:v>169.1227539020349</c:v>
                </c:pt>
                <c:pt idx="141">
                  <c:v>169.13486056141741</c:v>
                </c:pt>
                <c:pt idx="142">
                  <c:v>169.34475539665877</c:v>
                </c:pt>
                <c:pt idx="143">
                  <c:v>169.44259405528604</c:v>
                </c:pt>
                <c:pt idx="144">
                  <c:v>169.62892616755386</c:v>
                </c:pt>
                <c:pt idx="145">
                  <c:v>170.104326875873</c:v>
                </c:pt>
                <c:pt idx="146">
                  <c:v>170.58754395417353</c:v>
                </c:pt>
                <c:pt idx="147">
                  <c:v>170.9787075243193</c:v>
                </c:pt>
                <c:pt idx="148">
                  <c:v>171.08490552845555</c:v>
                </c:pt>
                <c:pt idx="149">
                  <c:v>171.27353491375882</c:v>
                </c:pt>
                <c:pt idx="150">
                  <c:v>171.73036012099305</c:v>
                </c:pt>
                <c:pt idx="151">
                  <c:v>171.91177066932045</c:v>
                </c:pt>
                <c:pt idx="152">
                  <c:v>171.59893893788418</c:v>
                </c:pt>
                <c:pt idx="153">
                  <c:v>171.90634950435478</c:v>
                </c:pt>
                <c:pt idx="154">
                  <c:v>170.43333130054296</c:v>
                </c:pt>
                <c:pt idx="155">
                  <c:v>168.99182569071363</c:v>
                </c:pt>
                <c:pt idx="156">
                  <c:v>169.64564600212699</c:v>
                </c:pt>
                <c:pt idx="157">
                  <c:v>170.41265779829519</c:v>
                </c:pt>
                <c:pt idx="158">
                  <c:v>170.26341654349312</c:v>
                </c:pt>
                <c:pt idx="159">
                  <c:v>170.08321183465603</c:v>
                </c:pt>
                <c:pt idx="160">
                  <c:v>169.88043350688531</c:v>
                </c:pt>
                <c:pt idx="161">
                  <c:v>170.03797055655718</c:v>
                </c:pt>
                <c:pt idx="162">
                  <c:v>170.43396138581167</c:v>
                </c:pt>
                <c:pt idx="163">
                  <c:v>170.83178430426747</c:v>
                </c:pt>
                <c:pt idx="164">
                  <c:v>171.35431283484027</c:v>
                </c:pt>
                <c:pt idx="165">
                  <c:v>172.21544908543055</c:v>
                </c:pt>
                <c:pt idx="166">
                  <c:v>173.38992124222517</c:v>
                </c:pt>
                <c:pt idx="167">
                  <c:v>174.34908055075809</c:v>
                </c:pt>
                <c:pt idx="168">
                  <c:v>175.26787417987452</c:v>
                </c:pt>
                <c:pt idx="169">
                  <c:v>176.30137758991339</c:v>
                </c:pt>
                <c:pt idx="170">
                  <c:v>177.43361680254205</c:v>
                </c:pt>
                <c:pt idx="171">
                  <c:v>178.48756759158829</c:v>
                </c:pt>
                <c:pt idx="172">
                  <c:v>179.72630915018044</c:v>
                </c:pt>
                <c:pt idx="173">
                  <c:v>180.80976360834219</c:v>
                </c:pt>
                <c:pt idx="174">
                  <c:v>181.56672697656447</c:v>
                </c:pt>
                <c:pt idx="175">
                  <c:v>181.99413441852775</c:v>
                </c:pt>
                <c:pt idx="176">
                  <c:v>182.8033635945086</c:v>
                </c:pt>
                <c:pt idx="177">
                  <c:v>183.36315165113569</c:v>
                </c:pt>
                <c:pt idx="178">
                  <c:v>184.28665288792683</c:v>
                </c:pt>
                <c:pt idx="179">
                  <c:v>185.80930484991376</c:v>
                </c:pt>
                <c:pt idx="180">
                  <c:v>187.39893815051073</c:v>
                </c:pt>
                <c:pt idx="181">
                  <c:v>188.49383195397056</c:v>
                </c:pt>
                <c:pt idx="182">
                  <c:v>189.65096052264281</c:v>
                </c:pt>
                <c:pt idx="183">
                  <c:v>190.31380656471174</c:v>
                </c:pt>
                <c:pt idx="184">
                  <c:v>191.15278882350788</c:v>
                </c:pt>
                <c:pt idx="185">
                  <c:v>191.88221962686373</c:v>
                </c:pt>
                <c:pt idx="186">
                  <c:v>192.50519422004038</c:v>
                </c:pt>
                <c:pt idx="187">
                  <c:v>192.91530417789892</c:v>
                </c:pt>
                <c:pt idx="188">
                  <c:v>193.21190658980581</c:v>
                </c:pt>
                <c:pt idx="189">
                  <c:v>193.70261598475361</c:v>
                </c:pt>
                <c:pt idx="190">
                  <c:v>193.9766987812194</c:v>
                </c:pt>
                <c:pt idx="191">
                  <c:v>194.39038543293893</c:v>
                </c:pt>
                <c:pt idx="192">
                  <c:v>195.1975272481281</c:v>
                </c:pt>
                <c:pt idx="193">
                  <c:v>196.57646504985917</c:v>
                </c:pt>
                <c:pt idx="194">
                  <c:v>197.08532916164182</c:v>
                </c:pt>
                <c:pt idx="195">
                  <c:v>198.42563660488867</c:v>
                </c:pt>
                <c:pt idx="196">
                  <c:v>199.8881403756813</c:v>
                </c:pt>
                <c:pt idx="197">
                  <c:v>201.0323140898636</c:v>
                </c:pt>
                <c:pt idx="198">
                  <c:v>202.43268680661041</c:v>
                </c:pt>
                <c:pt idx="199">
                  <c:v>204.33056383605927</c:v>
                </c:pt>
                <c:pt idx="200">
                  <c:v>205.94463218879395</c:v>
                </c:pt>
                <c:pt idx="201">
                  <c:v>207.78785959746031</c:v>
                </c:pt>
                <c:pt idx="202">
                  <c:v>209.96028596628662</c:v>
                </c:pt>
                <c:pt idx="203">
                  <c:v>211.2667970264751</c:v>
                </c:pt>
                <c:pt idx="204">
                  <c:v>212.83501732120308</c:v>
                </c:pt>
                <c:pt idx="205">
                  <c:v>214.54739099645394</c:v>
                </c:pt>
                <c:pt idx="206">
                  <c:v>216.11683257289363</c:v>
                </c:pt>
                <c:pt idx="207">
                  <c:v>213.02428975881574</c:v>
                </c:pt>
                <c:pt idx="208">
                  <c:v>211.91522556814212</c:v>
                </c:pt>
                <c:pt idx="209">
                  <c:v>210.96426195014274</c:v>
                </c:pt>
                <c:pt idx="210">
                  <c:v>213.1237934970822</c:v>
                </c:pt>
                <c:pt idx="211">
                  <c:v>215.17072738973584</c:v>
                </c:pt>
                <c:pt idx="212">
                  <c:v>218.28839108600863</c:v>
                </c:pt>
                <c:pt idx="213">
                  <c:v>220.01763151238023</c:v>
                </c:pt>
                <c:pt idx="214">
                  <c:v>221.96163633499432</c:v>
                </c:pt>
                <c:pt idx="215">
                  <c:v>224.13173342547472</c:v>
                </c:pt>
                <c:pt idx="216">
                  <c:v>226.03292161850729</c:v>
                </c:pt>
                <c:pt idx="217">
                  <c:v>226.52109027856613</c:v>
                </c:pt>
                <c:pt idx="218">
                  <c:v>226.99781828885222</c:v>
                </c:pt>
                <c:pt idx="219">
                  <c:v>228.4317254999788</c:v>
                </c:pt>
                <c:pt idx="220">
                  <c:v>230.06242923771285</c:v>
                </c:pt>
                <c:pt idx="221">
                  <c:v>231.61619611562466</c:v>
                </c:pt>
                <c:pt idx="222">
                  <c:v>234.30424350334775</c:v>
                </c:pt>
                <c:pt idx="223">
                  <c:v>236.34794874947056</c:v>
                </c:pt>
                <c:pt idx="224">
                  <c:v>237.49709842948155</c:v>
                </c:pt>
                <c:pt idx="225">
                  <c:v>238.7407592058475</c:v>
                </c:pt>
                <c:pt idx="226">
                  <c:v>240.10696205528347</c:v>
                </c:pt>
                <c:pt idx="227">
                  <c:v>241.01678430862586</c:v>
                </c:pt>
                <c:pt idx="228">
                  <c:v>242.43114896238731</c:v>
                </c:pt>
                <c:pt idx="229">
                  <c:v>244.20699159378478</c:v>
                </c:pt>
                <c:pt idx="230">
                  <c:v>245.72621575637385</c:v>
                </c:pt>
                <c:pt idx="231">
                  <c:v>246.69906112761788</c:v>
                </c:pt>
                <c:pt idx="232">
                  <c:v>248.02013131724863</c:v>
                </c:pt>
                <c:pt idx="233">
                  <c:v>249.76629879456146</c:v>
                </c:pt>
                <c:pt idx="234">
                  <c:v>250.76414581866266</c:v>
                </c:pt>
                <c:pt idx="235">
                  <c:v>251.83536288585705</c:v>
                </c:pt>
                <c:pt idx="236">
                  <c:v>253.70173796936524</c:v>
                </c:pt>
                <c:pt idx="237">
                  <c:v>255.40617390080976</c:v>
                </c:pt>
                <c:pt idx="238">
                  <c:v>255.88303822988823</c:v>
                </c:pt>
                <c:pt idx="239">
                  <c:v>256.88910850360628</c:v>
                </c:pt>
                <c:pt idx="240">
                  <c:v>257.85092637623239</c:v>
                </c:pt>
              </c:numCache>
            </c:numRef>
          </c:val>
          <c:smooth val="1"/>
          <c:extLst>
            <c:ext xmlns:c16="http://schemas.microsoft.com/office/drawing/2014/chart" uri="{C3380CC4-5D6E-409C-BE32-E72D297353CC}">
              <c16:uniqueId val="{00000000-14B9-C34A-A309-54AB4A871851}"/>
            </c:ext>
          </c:extLst>
        </c:ser>
        <c:ser>
          <c:idx val="1"/>
          <c:order val="1"/>
          <c:tx>
            <c:v>Médian</c:v>
          </c:tx>
          <c:spPr>
            <a:ln w="12700">
              <a:solidFill>
                <a:srgbClr val="AB853F"/>
              </a:solidFill>
            </a:ln>
          </c:spPr>
          <c:marker>
            <c:symbol val="none"/>
          </c:marker>
          <c:cat>
            <c:numRef>
              <c:f>'4.1%'!$B$5:$B$245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'4.1%'!$H$5:$H$245</c:f>
              <c:numCache>
                <c:formatCode>0.0</c:formatCode>
                <c:ptCount val="241"/>
                <c:pt idx="0">
                  <c:v>100</c:v>
                </c:pt>
                <c:pt idx="1">
                  <c:v>99.901957722993231</c:v>
                </c:pt>
                <c:pt idx="2">
                  <c:v>99.769511956067987</c:v>
                </c:pt>
                <c:pt idx="3">
                  <c:v>99.647429982022999</c:v>
                </c:pt>
                <c:pt idx="4">
                  <c:v>99.804036386541981</c:v>
                </c:pt>
                <c:pt idx="5">
                  <c:v>100.72578717963088</c:v>
                </c:pt>
                <c:pt idx="6">
                  <c:v>101.50167046577917</c:v>
                </c:pt>
                <c:pt idx="7">
                  <c:v>102.28094709606364</c:v>
                </c:pt>
                <c:pt idx="8">
                  <c:v>103.07573923490821</c:v>
                </c:pt>
                <c:pt idx="9">
                  <c:v>103.84661293158662</c:v>
                </c:pt>
                <c:pt idx="10">
                  <c:v>104.40275355312264</c:v>
                </c:pt>
                <c:pt idx="11">
                  <c:v>104.77481351983447</c:v>
                </c:pt>
                <c:pt idx="12">
                  <c:v>105.15980309458294</c:v>
                </c:pt>
                <c:pt idx="13">
                  <c:v>105.97014390487301</c:v>
                </c:pt>
                <c:pt idx="14">
                  <c:v>106.72426268965251</c:v>
                </c:pt>
                <c:pt idx="15">
                  <c:v>107.05561730060454</c:v>
                </c:pt>
                <c:pt idx="16">
                  <c:v>107.26819847780119</c:v>
                </c:pt>
                <c:pt idx="17">
                  <c:v>107.67495579272322</c:v>
                </c:pt>
                <c:pt idx="18">
                  <c:v>107.94683593914776</c:v>
                </c:pt>
                <c:pt idx="19">
                  <c:v>108.60950502937271</c:v>
                </c:pt>
                <c:pt idx="20">
                  <c:v>109.84083254707518</c:v>
                </c:pt>
                <c:pt idx="21">
                  <c:v>111.42776281039731</c:v>
                </c:pt>
                <c:pt idx="22">
                  <c:v>113.08412106763966</c:v>
                </c:pt>
                <c:pt idx="23">
                  <c:v>114.5868080549527</c:v>
                </c:pt>
                <c:pt idx="24">
                  <c:v>115.57288715653371</c:v>
                </c:pt>
                <c:pt idx="25">
                  <c:v>116.50504610309092</c:v>
                </c:pt>
                <c:pt idx="26">
                  <c:v>117.74807476139831</c:v>
                </c:pt>
                <c:pt idx="27">
                  <c:v>118.90682688915226</c:v>
                </c:pt>
                <c:pt idx="28">
                  <c:v>119.8098814151892</c:v>
                </c:pt>
                <c:pt idx="29">
                  <c:v>120.67887945249646</c:v>
                </c:pt>
                <c:pt idx="30">
                  <c:v>121.26672689357787</c:v>
                </c:pt>
                <c:pt idx="31">
                  <c:v>121.8330487548949</c:v>
                </c:pt>
                <c:pt idx="32">
                  <c:v>121.8926144239651</c:v>
                </c:pt>
                <c:pt idx="33">
                  <c:v>121.91559450847616</c:v>
                </c:pt>
                <c:pt idx="34">
                  <c:v>122.21686805885834</c:v>
                </c:pt>
                <c:pt idx="35">
                  <c:v>122.36976813074465</c:v>
                </c:pt>
                <c:pt idx="36">
                  <c:v>121.97634103450898</c:v>
                </c:pt>
                <c:pt idx="37">
                  <c:v>121.82185093072242</c:v>
                </c:pt>
                <c:pt idx="38">
                  <c:v>121.8660131035069</c:v>
                </c:pt>
                <c:pt idx="39">
                  <c:v>121.67893658001735</c:v>
                </c:pt>
                <c:pt idx="40">
                  <c:v>121.35224013291815</c:v>
                </c:pt>
                <c:pt idx="41">
                  <c:v>121.11194028233241</c:v>
                </c:pt>
                <c:pt idx="42">
                  <c:v>121.25863391133798</c:v>
                </c:pt>
                <c:pt idx="43">
                  <c:v>120.4545074227255</c:v>
                </c:pt>
                <c:pt idx="44">
                  <c:v>119.99214122036101</c:v>
                </c:pt>
                <c:pt idx="45">
                  <c:v>119.9621663039979</c:v>
                </c:pt>
                <c:pt idx="46">
                  <c:v>121.0374967492052</c:v>
                </c:pt>
                <c:pt idx="47">
                  <c:v>122.31395469680686</c:v>
                </c:pt>
                <c:pt idx="48">
                  <c:v>122.72611251027966</c:v>
                </c:pt>
                <c:pt idx="49">
                  <c:v>123.05831716546584</c:v>
                </c:pt>
                <c:pt idx="50">
                  <c:v>123.14668465775867</c:v>
                </c:pt>
                <c:pt idx="51">
                  <c:v>123.4821335714164</c:v>
                </c:pt>
                <c:pt idx="52">
                  <c:v>123.5888031820209</c:v>
                </c:pt>
                <c:pt idx="53">
                  <c:v>123.80159854656603</c:v>
                </c:pt>
                <c:pt idx="54">
                  <c:v>124.31279481043222</c:v>
                </c:pt>
                <c:pt idx="55">
                  <c:v>124.78268841984487</c:v>
                </c:pt>
                <c:pt idx="56">
                  <c:v>125.11216142629605</c:v>
                </c:pt>
                <c:pt idx="57">
                  <c:v>125.21536684703231</c:v>
                </c:pt>
                <c:pt idx="58">
                  <c:v>125.53433194836281</c:v>
                </c:pt>
                <c:pt idx="59">
                  <c:v>125.50849678767159</c:v>
                </c:pt>
                <c:pt idx="60">
                  <c:v>125.64787806298072</c:v>
                </c:pt>
                <c:pt idx="61">
                  <c:v>126.24925975161807</c:v>
                </c:pt>
                <c:pt idx="62">
                  <c:v>126.58380936006215</c:v>
                </c:pt>
                <c:pt idx="63">
                  <c:v>126.22464011072286</c:v>
                </c:pt>
                <c:pt idx="64">
                  <c:v>125.47108373118127</c:v>
                </c:pt>
                <c:pt idx="65">
                  <c:v>125.07266736924636</c:v>
                </c:pt>
                <c:pt idx="66">
                  <c:v>124.26386531823398</c:v>
                </c:pt>
                <c:pt idx="67">
                  <c:v>123.49251692533734</c:v>
                </c:pt>
                <c:pt idx="68">
                  <c:v>123.29961438913554</c:v>
                </c:pt>
                <c:pt idx="69">
                  <c:v>123.95369286198094</c:v>
                </c:pt>
                <c:pt idx="70">
                  <c:v>124.68438927137369</c:v>
                </c:pt>
                <c:pt idx="71">
                  <c:v>126.11619575316446</c:v>
                </c:pt>
                <c:pt idx="72">
                  <c:v>127.76800569797493</c:v>
                </c:pt>
                <c:pt idx="73">
                  <c:v>129.54842868987336</c:v>
                </c:pt>
                <c:pt idx="74">
                  <c:v>130.96264682393004</c:v>
                </c:pt>
                <c:pt idx="75">
                  <c:v>132.78910790963045</c:v>
                </c:pt>
                <c:pt idx="76">
                  <c:v>133.81744671461814</c:v>
                </c:pt>
                <c:pt idx="77">
                  <c:v>134.9598188968703</c:v>
                </c:pt>
                <c:pt idx="78">
                  <c:v>135.85697186217635</c:v>
                </c:pt>
                <c:pt idx="79">
                  <c:v>136.63471750545531</c:v>
                </c:pt>
                <c:pt idx="80">
                  <c:v>136.51272054451732</c:v>
                </c:pt>
                <c:pt idx="81">
                  <c:v>136.52890492154157</c:v>
                </c:pt>
                <c:pt idx="82">
                  <c:v>136.21327639474913</c:v>
                </c:pt>
                <c:pt idx="83">
                  <c:v>135.91016356880735</c:v>
                </c:pt>
                <c:pt idx="84">
                  <c:v>135.43130807110978</c:v>
                </c:pt>
                <c:pt idx="85">
                  <c:v>135.48714434531087</c:v>
                </c:pt>
                <c:pt idx="86">
                  <c:v>135.49792821862926</c:v>
                </c:pt>
                <c:pt idx="87">
                  <c:v>135.78933566073391</c:v>
                </c:pt>
                <c:pt idx="88">
                  <c:v>136.54936362358291</c:v>
                </c:pt>
                <c:pt idx="89">
                  <c:v>137.68093332334487</c:v>
                </c:pt>
                <c:pt idx="90">
                  <c:v>138.50830833803747</c:v>
                </c:pt>
                <c:pt idx="91">
                  <c:v>139.41194607434579</c:v>
                </c:pt>
                <c:pt idx="92">
                  <c:v>140.45617682952124</c:v>
                </c:pt>
                <c:pt idx="93">
                  <c:v>140.98588844840518</c:v>
                </c:pt>
                <c:pt idx="94">
                  <c:v>141.28705776848017</c:v>
                </c:pt>
                <c:pt idx="95">
                  <c:v>141.7052798014347</c:v>
                </c:pt>
                <c:pt idx="96">
                  <c:v>141.99279037664289</c:v>
                </c:pt>
                <c:pt idx="97">
                  <c:v>142.16260051810232</c:v>
                </c:pt>
                <c:pt idx="98">
                  <c:v>140.36225520470637</c:v>
                </c:pt>
                <c:pt idx="99">
                  <c:v>138.71091716418354</c:v>
                </c:pt>
                <c:pt idx="100">
                  <c:v>137.37184167687167</c:v>
                </c:pt>
                <c:pt idx="101">
                  <c:v>138.57943496451577</c:v>
                </c:pt>
                <c:pt idx="102">
                  <c:v>139.71562685416959</c:v>
                </c:pt>
                <c:pt idx="103">
                  <c:v>140.59870900491251</c:v>
                </c:pt>
                <c:pt idx="104">
                  <c:v>141.28992455654378</c:v>
                </c:pt>
                <c:pt idx="105">
                  <c:v>142.21970125108353</c:v>
                </c:pt>
                <c:pt idx="106">
                  <c:v>142.79712929914132</c:v>
                </c:pt>
                <c:pt idx="107">
                  <c:v>143.24072729086714</c:v>
                </c:pt>
                <c:pt idx="108">
                  <c:v>143.97754167074388</c:v>
                </c:pt>
                <c:pt idx="109">
                  <c:v>144.34936809415603</c:v>
                </c:pt>
                <c:pt idx="110">
                  <c:v>144.75880258002778</c:v>
                </c:pt>
                <c:pt idx="111">
                  <c:v>145.04752430772567</c:v>
                </c:pt>
                <c:pt idx="112">
                  <c:v>144.94010502481552</c:v>
                </c:pt>
                <c:pt idx="113">
                  <c:v>144.95400126320916</c:v>
                </c:pt>
                <c:pt idx="114">
                  <c:v>144.98733128334993</c:v>
                </c:pt>
                <c:pt idx="115">
                  <c:v>145.16665972792805</c:v>
                </c:pt>
                <c:pt idx="116">
                  <c:v>145.64618268528551</c:v>
                </c:pt>
                <c:pt idx="117">
                  <c:v>146.37564094603346</c:v>
                </c:pt>
                <c:pt idx="118">
                  <c:v>146.8485300870455</c:v>
                </c:pt>
                <c:pt idx="119">
                  <c:v>147.63592816462997</c:v>
                </c:pt>
                <c:pt idx="120">
                  <c:v>148.62749115358474</c:v>
                </c:pt>
                <c:pt idx="121">
                  <c:v>149.83070213339619</c:v>
                </c:pt>
                <c:pt idx="122">
                  <c:v>151.38603685472341</c:v>
                </c:pt>
                <c:pt idx="123">
                  <c:v>152.40445741816529</c:v>
                </c:pt>
                <c:pt idx="124">
                  <c:v>152.96008575965516</c:v>
                </c:pt>
                <c:pt idx="125">
                  <c:v>152.87887322654981</c:v>
                </c:pt>
                <c:pt idx="126">
                  <c:v>152.77679226235207</c:v>
                </c:pt>
                <c:pt idx="127">
                  <c:v>152.37199140170299</c:v>
                </c:pt>
                <c:pt idx="128">
                  <c:v>152.52867160906041</c:v>
                </c:pt>
                <c:pt idx="129">
                  <c:v>152.75584172244726</c:v>
                </c:pt>
                <c:pt idx="130">
                  <c:v>153.40887464651925</c:v>
                </c:pt>
                <c:pt idx="131">
                  <c:v>153.50310683196054</c:v>
                </c:pt>
                <c:pt idx="132">
                  <c:v>153.62482768850663</c:v>
                </c:pt>
                <c:pt idx="133">
                  <c:v>153.75335117617956</c:v>
                </c:pt>
                <c:pt idx="134">
                  <c:v>154.37755952920475</c:v>
                </c:pt>
                <c:pt idx="135">
                  <c:v>154.89413607972784</c:v>
                </c:pt>
                <c:pt idx="136">
                  <c:v>155.42438078121421</c:v>
                </c:pt>
                <c:pt idx="137">
                  <c:v>155.98725498817393</c:v>
                </c:pt>
                <c:pt idx="138">
                  <c:v>156.51345929583999</c:v>
                </c:pt>
                <c:pt idx="139">
                  <c:v>156.47580571867579</c:v>
                </c:pt>
                <c:pt idx="140">
                  <c:v>156.15829007884474</c:v>
                </c:pt>
                <c:pt idx="141">
                  <c:v>156.11905618053547</c:v>
                </c:pt>
                <c:pt idx="142">
                  <c:v>156.19733649221183</c:v>
                </c:pt>
                <c:pt idx="143">
                  <c:v>156.15323148168977</c:v>
                </c:pt>
                <c:pt idx="144">
                  <c:v>156.16890220193181</c:v>
                </c:pt>
                <c:pt idx="145">
                  <c:v>156.43565282025989</c:v>
                </c:pt>
                <c:pt idx="146">
                  <c:v>156.66827060688809</c:v>
                </c:pt>
                <c:pt idx="147">
                  <c:v>156.846412866582</c:v>
                </c:pt>
                <c:pt idx="148">
                  <c:v>156.81774773994832</c:v>
                </c:pt>
                <c:pt idx="149">
                  <c:v>156.90789103120389</c:v>
                </c:pt>
                <c:pt idx="150">
                  <c:v>157.18980179569587</c:v>
                </c:pt>
                <c:pt idx="151">
                  <c:v>157.27798131541513</c:v>
                </c:pt>
                <c:pt idx="152">
                  <c:v>156.89885674594862</c:v>
                </c:pt>
                <c:pt idx="153">
                  <c:v>157.04606826668316</c:v>
                </c:pt>
                <c:pt idx="154">
                  <c:v>155.58282992044784</c:v>
                </c:pt>
                <c:pt idx="155">
                  <c:v>154.20666975102392</c:v>
                </c:pt>
                <c:pt idx="156">
                  <c:v>154.72908630221977</c:v>
                </c:pt>
                <c:pt idx="157">
                  <c:v>155.35392068720847</c:v>
                </c:pt>
                <c:pt idx="158">
                  <c:v>155.10054052618656</c:v>
                </c:pt>
                <c:pt idx="159">
                  <c:v>154.83315097476469</c:v>
                </c:pt>
                <c:pt idx="160">
                  <c:v>154.58528136422868</c:v>
                </c:pt>
                <c:pt idx="161">
                  <c:v>154.4844651995069</c:v>
                </c:pt>
                <c:pt idx="162">
                  <c:v>154.63368969117025</c:v>
                </c:pt>
                <c:pt idx="163">
                  <c:v>154.80741109023012</c:v>
                </c:pt>
                <c:pt idx="164">
                  <c:v>155.069841132866</c:v>
                </c:pt>
                <c:pt idx="165">
                  <c:v>155.59386074023632</c:v>
                </c:pt>
                <c:pt idx="166">
                  <c:v>156.58899374521221</c:v>
                </c:pt>
                <c:pt idx="167">
                  <c:v>157.38405991712878</c:v>
                </c:pt>
                <c:pt idx="168">
                  <c:v>158.12149451628747</c:v>
                </c:pt>
                <c:pt idx="169">
                  <c:v>158.98869033845583</c:v>
                </c:pt>
                <c:pt idx="170">
                  <c:v>159.99292193257941</c:v>
                </c:pt>
                <c:pt idx="171">
                  <c:v>160.89433064549604</c:v>
                </c:pt>
                <c:pt idx="172">
                  <c:v>161.9454064655306</c:v>
                </c:pt>
                <c:pt idx="173">
                  <c:v>162.98627337739967</c:v>
                </c:pt>
                <c:pt idx="174">
                  <c:v>163.72346350319899</c:v>
                </c:pt>
                <c:pt idx="175">
                  <c:v>164.15832096720732</c:v>
                </c:pt>
                <c:pt idx="176">
                  <c:v>164.86827568310446</c:v>
                </c:pt>
                <c:pt idx="177">
                  <c:v>165.31375634429514</c:v>
                </c:pt>
                <c:pt idx="178">
                  <c:v>165.98095675940124</c:v>
                </c:pt>
                <c:pt idx="179">
                  <c:v>167.14068093415577</c:v>
                </c:pt>
                <c:pt idx="180">
                  <c:v>168.38414918610871</c:v>
                </c:pt>
                <c:pt idx="181">
                  <c:v>169.29505537396858</c:v>
                </c:pt>
                <c:pt idx="182">
                  <c:v>170.24843913422293</c:v>
                </c:pt>
                <c:pt idx="183">
                  <c:v>170.7697219163048</c:v>
                </c:pt>
                <c:pt idx="184">
                  <c:v>171.55764160746224</c:v>
                </c:pt>
                <c:pt idx="185">
                  <c:v>172.24160308996872</c:v>
                </c:pt>
                <c:pt idx="186">
                  <c:v>172.82595444673547</c:v>
                </c:pt>
                <c:pt idx="187">
                  <c:v>173.29235886407275</c:v>
                </c:pt>
                <c:pt idx="188">
                  <c:v>173.67852278033632</c:v>
                </c:pt>
                <c:pt idx="189">
                  <c:v>174.13102446818633</c:v>
                </c:pt>
                <c:pt idx="190">
                  <c:v>174.26633326024177</c:v>
                </c:pt>
                <c:pt idx="191">
                  <c:v>174.43513963500382</c:v>
                </c:pt>
                <c:pt idx="192">
                  <c:v>175.01157990814309</c:v>
                </c:pt>
                <c:pt idx="193">
                  <c:v>176.104764396652</c:v>
                </c:pt>
                <c:pt idx="194">
                  <c:v>176.43192655965859</c:v>
                </c:pt>
                <c:pt idx="195">
                  <c:v>177.5655571026374</c:v>
                </c:pt>
                <c:pt idx="196">
                  <c:v>178.89126076380398</c:v>
                </c:pt>
                <c:pt idx="197">
                  <c:v>179.79935789482394</c:v>
                </c:pt>
                <c:pt idx="198">
                  <c:v>180.90106406085789</c:v>
                </c:pt>
                <c:pt idx="199">
                  <c:v>182.4795314073921</c:v>
                </c:pt>
                <c:pt idx="200">
                  <c:v>183.87057393391564</c:v>
                </c:pt>
                <c:pt idx="201">
                  <c:v>185.39953962095368</c:v>
                </c:pt>
                <c:pt idx="202">
                  <c:v>187.24318982509894</c:v>
                </c:pt>
                <c:pt idx="203">
                  <c:v>188.37504827335272</c:v>
                </c:pt>
                <c:pt idx="204">
                  <c:v>189.72153218250349</c:v>
                </c:pt>
                <c:pt idx="205">
                  <c:v>191.13253022134597</c:v>
                </c:pt>
                <c:pt idx="206">
                  <c:v>192.4765763424632</c:v>
                </c:pt>
                <c:pt idx="207">
                  <c:v>189.69560000444565</c:v>
                </c:pt>
                <c:pt idx="208">
                  <c:v>188.72590650699314</c:v>
                </c:pt>
                <c:pt idx="209">
                  <c:v>187.9033425050749</c:v>
                </c:pt>
                <c:pt idx="210">
                  <c:v>189.90393480853683</c:v>
                </c:pt>
                <c:pt idx="211">
                  <c:v>191.76813054919822</c:v>
                </c:pt>
                <c:pt idx="212">
                  <c:v>194.55169059606681</c:v>
                </c:pt>
                <c:pt idx="213">
                  <c:v>196.01795008197362</c:v>
                </c:pt>
                <c:pt idx="214">
                  <c:v>197.64026734377791</c:v>
                </c:pt>
                <c:pt idx="215">
                  <c:v>199.3922238377281</c:v>
                </c:pt>
                <c:pt idx="216">
                  <c:v>200.94929409386464</c:v>
                </c:pt>
                <c:pt idx="217">
                  <c:v>201.31313161209533</c:v>
                </c:pt>
                <c:pt idx="218">
                  <c:v>201.5712806517013</c:v>
                </c:pt>
                <c:pt idx="219">
                  <c:v>202.71128605412221</c:v>
                </c:pt>
                <c:pt idx="220">
                  <c:v>203.93510735680931</c:v>
                </c:pt>
                <c:pt idx="221">
                  <c:v>204.99735198281252</c:v>
                </c:pt>
                <c:pt idx="222">
                  <c:v>206.98518914340031</c:v>
                </c:pt>
                <c:pt idx="223">
                  <c:v>208.38540357923773</c:v>
                </c:pt>
                <c:pt idx="224">
                  <c:v>209.00453926824116</c:v>
                </c:pt>
                <c:pt idx="225">
                  <c:v>209.71095198648086</c:v>
                </c:pt>
                <c:pt idx="226">
                  <c:v>210.54912811455711</c:v>
                </c:pt>
                <c:pt idx="227">
                  <c:v>210.9118910007023</c:v>
                </c:pt>
                <c:pt idx="228">
                  <c:v>211.80023810167711</c:v>
                </c:pt>
                <c:pt idx="229">
                  <c:v>212.94060755770471</c:v>
                </c:pt>
                <c:pt idx="230">
                  <c:v>213.92021550761169</c:v>
                </c:pt>
                <c:pt idx="231">
                  <c:v>214.46818445513324</c:v>
                </c:pt>
                <c:pt idx="232">
                  <c:v>215.43714380837085</c:v>
                </c:pt>
                <c:pt idx="233">
                  <c:v>216.79638327749905</c:v>
                </c:pt>
                <c:pt idx="234">
                  <c:v>217.5522861946279</c:v>
                </c:pt>
                <c:pt idx="235">
                  <c:v>218.44299601582011</c:v>
                </c:pt>
                <c:pt idx="236">
                  <c:v>220.03204683175147</c:v>
                </c:pt>
                <c:pt idx="237">
                  <c:v>221.48376593216329</c:v>
                </c:pt>
                <c:pt idx="238">
                  <c:v>221.84469062969305</c:v>
                </c:pt>
                <c:pt idx="239">
                  <c:v>222.64946103792093</c:v>
                </c:pt>
                <c:pt idx="240">
                  <c:v>223.36472614003642</c:v>
                </c:pt>
              </c:numCache>
            </c:numRef>
          </c:val>
          <c:smooth val="1"/>
          <c:extLst>
            <c:ext xmlns:c16="http://schemas.microsoft.com/office/drawing/2014/chart" uri="{C3380CC4-5D6E-409C-BE32-E72D297353CC}">
              <c16:uniqueId val="{00000001-14B9-C34A-A309-54AB4A871851}"/>
            </c:ext>
          </c:extLst>
        </c:ser>
        <c:ser>
          <c:idx val="2"/>
          <c:order val="2"/>
          <c:tx>
            <c:v>Pessimiste</c:v>
          </c:tx>
          <c:spPr>
            <a:ln w="12700">
              <a:solidFill>
                <a:schemeClr val="tx1"/>
              </a:solidFill>
            </a:ln>
          </c:spPr>
          <c:marker>
            <c:symbol val="none"/>
          </c:marker>
          <c:cat>
            <c:numRef>
              <c:f>'4.1%'!$B$5:$B$245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'4.1%'!$L$5:$L$245</c:f>
              <c:numCache>
                <c:formatCode>0.0</c:formatCode>
                <c:ptCount val="241"/>
                <c:pt idx="0">
                  <c:v>100</c:v>
                </c:pt>
                <c:pt idx="1">
                  <c:v>99.943379200883854</c:v>
                </c:pt>
                <c:pt idx="2">
                  <c:v>99.841851330437663</c:v>
                </c:pt>
                <c:pt idx="3">
                  <c:v>99.759799956452227</c:v>
                </c:pt>
                <c:pt idx="4">
                  <c:v>99.957982108078937</c:v>
                </c:pt>
                <c:pt idx="5">
                  <c:v>100.88429423320315</c:v>
                </c:pt>
                <c:pt idx="6">
                  <c:v>101.65165210212798</c:v>
                </c:pt>
                <c:pt idx="7">
                  <c:v>102.41948475862681</c:v>
                </c:pt>
                <c:pt idx="8">
                  <c:v>103.14552452677349</c:v>
                </c:pt>
                <c:pt idx="9">
                  <c:v>103.79653762918716</c:v>
                </c:pt>
                <c:pt idx="10">
                  <c:v>104.20549102739542</c:v>
                </c:pt>
                <c:pt idx="11">
                  <c:v>104.44217155600317</c:v>
                </c:pt>
                <c:pt idx="12">
                  <c:v>104.70160333911157</c:v>
                </c:pt>
                <c:pt idx="13">
                  <c:v>105.4019348922813</c:v>
                </c:pt>
                <c:pt idx="14">
                  <c:v>106.06462091988682</c:v>
                </c:pt>
                <c:pt idx="15">
                  <c:v>106.33370886256999</c:v>
                </c:pt>
                <c:pt idx="16">
                  <c:v>106.47612986253858</c:v>
                </c:pt>
                <c:pt idx="17">
                  <c:v>106.83686180627313</c:v>
                </c:pt>
                <c:pt idx="18">
                  <c:v>107.07580289193696</c:v>
                </c:pt>
                <c:pt idx="19">
                  <c:v>107.66776492369344</c:v>
                </c:pt>
                <c:pt idx="20">
                  <c:v>108.80514297557528</c:v>
                </c:pt>
                <c:pt idx="21">
                  <c:v>110.32495027463871</c:v>
                </c:pt>
                <c:pt idx="22">
                  <c:v>111.8950648292777</c:v>
                </c:pt>
                <c:pt idx="23">
                  <c:v>113.33619889816399</c:v>
                </c:pt>
                <c:pt idx="24">
                  <c:v>114.33948380145064</c:v>
                </c:pt>
                <c:pt idx="25">
                  <c:v>115.26516702144902</c:v>
                </c:pt>
                <c:pt idx="26">
                  <c:v>116.45629497955395</c:v>
                </c:pt>
                <c:pt idx="27">
                  <c:v>117.49436220006372</c:v>
                </c:pt>
                <c:pt idx="28">
                  <c:v>118.28520876264898</c:v>
                </c:pt>
                <c:pt idx="29">
                  <c:v>119.05317257524339</c:v>
                </c:pt>
                <c:pt idx="30">
                  <c:v>119.64643065738025</c:v>
                </c:pt>
                <c:pt idx="31">
                  <c:v>120.16816845800737</c:v>
                </c:pt>
                <c:pt idx="32">
                  <c:v>120.22141779953606</c:v>
                </c:pt>
                <c:pt idx="33">
                  <c:v>120.22483611651073</c:v>
                </c:pt>
                <c:pt idx="34">
                  <c:v>120.45923572416328</c:v>
                </c:pt>
                <c:pt idx="35">
                  <c:v>120.45271647988437</c:v>
                </c:pt>
                <c:pt idx="36">
                  <c:v>119.99988900781514</c:v>
                </c:pt>
                <c:pt idx="37">
                  <c:v>119.80056763723871</c:v>
                </c:pt>
                <c:pt idx="38">
                  <c:v>119.76647396027928</c:v>
                </c:pt>
                <c:pt idx="39">
                  <c:v>119.52331587211371</c:v>
                </c:pt>
                <c:pt idx="40">
                  <c:v>119.18063299335797</c:v>
                </c:pt>
                <c:pt idx="41">
                  <c:v>118.85458158074931</c:v>
                </c:pt>
                <c:pt idx="42">
                  <c:v>118.85375564829646</c:v>
                </c:pt>
                <c:pt idx="43">
                  <c:v>117.91298741705972</c:v>
                </c:pt>
                <c:pt idx="44">
                  <c:v>117.29077611411596</c:v>
                </c:pt>
                <c:pt idx="45">
                  <c:v>117.07311008319944</c:v>
                </c:pt>
                <c:pt idx="46">
                  <c:v>117.97512634718898</c:v>
                </c:pt>
                <c:pt idx="47">
                  <c:v>119.10626413029013</c:v>
                </c:pt>
                <c:pt idx="48">
                  <c:v>119.45954337569336</c:v>
                </c:pt>
                <c:pt idx="49">
                  <c:v>119.81189926370722</c:v>
                </c:pt>
                <c:pt idx="50">
                  <c:v>119.92051060627772</c:v>
                </c:pt>
                <c:pt idx="51">
                  <c:v>120.24923573337551</c:v>
                </c:pt>
                <c:pt idx="52">
                  <c:v>120.38166794169706</c:v>
                </c:pt>
                <c:pt idx="53">
                  <c:v>120.59900035607812</c:v>
                </c:pt>
                <c:pt idx="54">
                  <c:v>121.10250699934153</c:v>
                </c:pt>
                <c:pt idx="55">
                  <c:v>121.5439176248269</c:v>
                </c:pt>
                <c:pt idx="56">
                  <c:v>121.87227752664054</c:v>
                </c:pt>
                <c:pt idx="57">
                  <c:v>121.95208877273959</c:v>
                </c:pt>
                <c:pt idx="58">
                  <c:v>122.26410205324795</c:v>
                </c:pt>
                <c:pt idx="59">
                  <c:v>122.17268311716616</c:v>
                </c:pt>
                <c:pt idx="60">
                  <c:v>122.30696241071796</c:v>
                </c:pt>
                <c:pt idx="61">
                  <c:v>122.81025207199677</c:v>
                </c:pt>
                <c:pt idx="62">
                  <c:v>123.05651105866561</c:v>
                </c:pt>
                <c:pt idx="63">
                  <c:v>122.55448123943744</c:v>
                </c:pt>
                <c:pt idx="64">
                  <c:v>121.74528259332912</c:v>
                </c:pt>
                <c:pt idx="65">
                  <c:v>121.18753451971372</c:v>
                </c:pt>
                <c:pt idx="66">
                  <c:v>120.21742256373714</c:v>
                </c:pt>
                <c:pt idx="67">
                  <c:v>119.3047404430059</c:v>
                </c:pt>
                <c:pt idx="68">
                  <c:v>118.99256173189455</c:v>
                </c:pt>
                <c:pt idx="69">
                  <c:v>119.41561466840415</c:v>
                </c:pt>
                <c:pt idx="70">
                  <c:v>119.95423210975137</c:v>
                </c:pt>
                <c:pt idx="71">
                  <c:v>121.28332767741503</c:v>
                </c:pt>
                <c:pt idx="72">
                  <c:v>122.82650250597621</c:v>
                </c:pt>
                <c:pt idx="73">
                  <c:v>124.49897280093933</c:v>
                </c:pt>
                <c:pt idx="74">
                  <c:v>125.83654605662916</c:v>
                </c:pt>
                <c:pt idx="75">
                  <c:v>127.64569724182667</c:v>
                </c:pt>
                <c:pt idx="76">
                  <c:v>128.60294286023569</c:v>
                </c:pt>
                <c:pt idx="77">
                  <c:v>129.62280125465003</c:v>
                </c:pt>
                <c:pt idx="78">
                  <c:v>130.3823556563581</c:v>
                </c:pt>
                <c:pt idx="79">
                  <c:v>131.01814666774311</c:v>
                </c:pt>
                <c:pt idx="80">
                  <c:v>130.71021737034442</c:v>
                </c:pt>
                <c:pt idx="81">
                  <c:v>130.5458888133733</c:v>
                </c:pt>
                <c:pt idx="82">
                  <c:v>130.12887982114444</c:v>
                </c:pt>
                <c:pt idx="83">
                  <c:v>129.67641536766698</c:v>
                </c:pt>
                <c:pt idx="84">
                  <c:v>129.04884887256327</c:v>
                </c:pt>
                <c:pt idx="85">
                  <c:v>128.93542144191423</c:v>
                </c:pt>
                <c:pt idx="86">
                  <c:v>128.81235971676213</c:v>
                </c:pt>
                <c:pt idx="87">
                  <c:v>128.94181221234459</c:v>
                </c:pt>
                <c:pt idx="88">
                  <c:v>129.51846035898569</c:v>
                </c:pt>
                <c:pt idx="89">
                  <c:v>130.43946262588304</c:v>
                </c:pt>
                <c:pt idx="90">
                  <c:v>131.0744861116624</c:v>
                </c:pt>
                <c:pt idx="91">
                  <c:v>131.77834152984181</c:v>
                </c:pt>
                <c:pt idx="92">
                  <c:v>132.64771143716638</c:v>
                </c:pt>
                <c:pt idx="93">
                  <c:v>133.10973830831742</c:v>
                </c:pt>
                <c:pt idx="94">
                  <c:v>133.39204067981922</c:v>
                </c:pt>
                <c:pt idx="95">
                  <c:v>133.83493329067974</c:v>
                </c:pt>
                <c:pt idx="96">
                  <c:v>134.13443259053776</c:v>
                </c:pt>
                <c:pt idx="97">
                  <c:v>134.28376262627094</c:v>
                </c:pt>
                <c:pt idx="98">
                  <c:v>132.56385898203115</c:v>
                </c:pt>
                <c:pt idx="99">
                  <c:v>131.03384146386148</c:v>
                </c:pt>
                <c:pt idx="100">
                  <c:v>129.71940149806943</c:v>
                </c:pt>
                <c:pt idx="101">
                  <c:v>130.8438122142737</c:v>
                </c:pt>
                <c:pt idx="102">
                  <c:v>131.86148458084097</c:v>
                </c:pt>
                <c:pt idx="103">
                  <c:v>132.64929669875849</c:v>
                </c:pt>
                <c:pt idx="104">
                  <c:v>133.20763874153883</c:v>
                </c:pt>
                <c:pt idx="105">
                  <c:v>134.04767027532338</c:v>
                </c:pt>
                <c:pt idx="106">
                  <c:v>134.59785075221129</c:v>
                </c:pt>
                <c:pt idx="107">
                  <c:v>135.08654144650725</c:v>
                </c:pt>
                <c:pt idx="108">
                  <c:v>135.89719386351783</c:v>
                </c:pt>
                <c:pt idx="109">
                  <c:v>136.41625140453348</c:v>
                </c:pt>
                <c:pt idx="110">
                  <c:v>137.01182400521844</c:v>
                </c:pt>
                <c:pt idx="111">
                  <c:v>137.46249916680458</c:v>
                </c:pt>
                <c:pt idx="112">
                  <c:v>137.55043516839987</c:v>
                </c:pt>
                <c:pt idx="113">
                  <c:v>137.6602958837565</c:v>
                </c:pt>
                <c:pt idx="114">
                  <c:v>137.75394065438712</c:v>
                </c:pt>
                <c:pt idx="115">
                  <c:v>137.95871969471341</c:v>
                </c:pt>
                <c:pt idx="116">
                  <c:v>138.44511150387214</c:v>
                </c:pt>
                <c:pt idx="117">
                  <c:v>139.15172154186024</c:v>
                </c:pt>
                <c:pt idx="118">
                  <c:v>139.64866251287614</c:v>
                </c:pt>
                <c:pt idx="119">
                  <c:v>140.50826835495792</c:v>
                </c:pt>
                <c:pt idx="120">
                  <c:v>141.51221347743214</c:v>
                </c:pt>
                <c:pt idx="121">
                  <c:v>142.65534006869009</c:v>
                </c:pt>
                <c:pt idx="122">
                  <c:v>144.11669788873405</c:v>
                </c:pt>
                <c:pt idx="123">
                  <c:v>145.09805105687769</c:v>
                </c:pt>
                <c:pt idx="124">
                  <c:v>145.55600588184049</c:v>
                </c:pt>
                <c:pt idx="125">
                  <c:v>145.46921968809696</c:v>
                </c:pt>
                <c:pt idx="126">
                  <c:v>145.37939034821338</c:v>
                </c:pt>
                <c:pt idx="127">
                  <c:v>144.95457581238819</c:v>
                </c:pt>
                <c:pt idx="128">
                  <c:v>145.03939889007231</c:v>
                </c:pt>
                <c:pt idx="129">
                  <c:v>145.19313306592545</c:v>
                </c:pt>
                <c:pt idx="130">
                  <c:v>145.69823219701254</c:v>
                </c:pt>
                <c:pt idx="131">
                  <c:v>145.63468649905397</c:v>
                </c:pt>
                <c:pt idx="132">
                  <c:v>145.62929812574419</c:v>
                </c:pt>
                <c:pt idx="133">
                  <c:v>145.61447339366896</c:v>
                </c:pt>
                <c:pt idx="134">
                  <c:v>146.0907186130456</c:v>
                </c:pt>
                <c:pt idx="135">
                  <c:v>146.51125235650755</c:v>
                </c:pt>
                <c:pt idx="136">
                  <c:v>146.97845192706734</c:v>
                </c:pt>
                <c:pt idx="137">
                  <c:v>147.45368595640505</c:v>
                </c:pt>
                <c:pt idx="138">
                  <c:v>147.86486220823721</c:v>
                </c:pt>
                <c:pt idx="139">
                  <c:v>147.68525505429611</c:v>
                </c:pt>
                <c:pt idx="140">
                  <c:v>147.17178783521905</c:v>
                </c:pt>
                <c:pt idx="141">
                  <c:v>146.92667967231307</c:v>
                </c:pt>
                <c:pt idx="142">
                  <c:v>146.81466150301523</c:v>
                </c:pt>
                <c:pt idx="143">
                  <c:v>146.5702063657665</c:v>
                </c:pt>
                <c:pt idx="144">
                  <c:v>146.39952771510309</c:v>
                </c:pt>
                <c:pt idx="145">
                  <c:v>146.56227328385049</c:v>
                </c:pt>
                <c:pt idx="146">
                  <c:v>146.71524107004655</c:v>
                </c:pt>
                <c:pt idx="147">
                  <c:v>146.83349772614949</c:v>
                </c:pt>
                <c:pt idx="148">
                  <c:v>146.75794063063131</c:v>
                </c:pt>
                <c:pt idx="149">
                  <c:v>146.81264491910858</c:v>
                </c:pt>
                <c:pt idx="150">
                  <c:v>147.04229701077912</c:v>
                </c:pt>
                <c:pt idx="151">
                  <c:v>147.07071559013727</c:v>
                </c:pt>
                <c:pt idx="152">
                  <c:v>146.68152020595647</c:v>
                </c:pt>
                <c:pt idx="153">
                  <c:v>146.77025094996208</c:v>
                </c:pt>
                <c:pt idx="154">
                  <c:v>145.32346503175842</c:v>
                </c:pt>
                <c:pt idx="155">
                  <c:v>143.87801939631547</c:v>
                </c:pt>
                <c:pt idx="156">
                  <c:v>144.19041132864075</c:v>
                </c:pt>
                <c:pt idx="157">
                  <c:v>144.58826850099371</c:v>
                </c:pt>
                <c:pt idx="158">
                  <c:v>144.18843390732746</c:v>
                </c:pt>
                <c:pt idx="159">
                  <c:v>143.81278357850343</c:v>
                </c:pt>
                <c:pt idx="160">
                  <c:v>143.50171900735575</c:v>
                </c:pt>
                <c:pt idx="161">
                  <c:v>143.4236938269529</c:v>
                </c:pt>
                <c:pt idx="162">
                  <c:v>143.46208805440071</c:v>
                </c:pt>
                <c:pt idx="163">
                  <c:v>143.54588368765084</c:v>
                </c:pt>
                <c:pt idx="164">
                  <c:v>143.64677742045075</c:v>
                </c:pt>
                <c:pt idx="165">
                  <c:v>144.02720118400921</c:v>
                </c:pt>
                <c:pt idx="166">
                  <c:v>144.79087257492512</c:v>
                </c:pt>
                <c:pt idx="167">
                  <c:v>145.38161433914701</c:v>
                </c:pt>
                <c:pt idx="168">
                  <c:v>145.86515121349814</c:v>
                </c:pt>
                <c:pt idx="169">
                  <c:v>146.48147986005429</c:v>
                </c:pt>
                <c:pt idx="170">
                  <c:v>147.21428679628715</c:v>
                </c:pt>
                <c:pt idx="171">
                  <c:v>147.82827367222774</c:v>
                </c:pt>
                <c:pt idx="172">
                  <c:v>148.68790389542522</c:v>
                </c:pt>
                <c:pt idx="173">
                  <c:v>149.51551862956745</c:v>
                </c:pt>
                <c:pt idx="174">
                  <c:v>150.0996030544587</c:v>
                </c:pt>
                <c:pt idx="175">
                  <c:v>150.287369164344</c:v>
                </c:pt>
                <c:pt idx="176">
                  <c:v>150.76349549761915</c:v>
                </c:pt>
                <c:pt idx="177">
                  <c:v>150.96001274330158</c:v>
                </c:pt>
                <c:pt idx="178">
                  <c:v>151.41084467471822</c:v>
                </c:pt>
                <c:pt idx="179">
                  <c:v>152.30512485501367</c:v>
                </c:pt>
                <c:pt idx="180">
                  <c:v>153.33242128088241</c:v>
                </c:pt>
                <c:pt idx="181">
                  <c:v>154.05609768026895</c:v>
                </c:pt>
                <c:pt idx="182">
                  <c:v>154.78775262420393</c:v>
                </c:pt>
                <c:pt idx="183">
                  <c:v>155.03502024110114</c:v>
                </c:pt>
                <c:pt idx="184">
                  <c:v>155.50772877359717</c:v>
                </c:pt>
                <c:pt idx="185">
                  <c:v>155.8562496336005</c:v>
                </c:pt>
                <c:pt idx="186">
                  <c:v>156.04330464073539</c:v>
                </c:pt>
                <c:pt idx="187">
                  <c:v>156.140820502043</c:v>
                </c:pt>
                <c:pt idx="188">
                  <c:v>156.23017716687468</c:v>
                </c:pt>
                <c:pt idx="189">
                  <c:v>156.37160790387298</c:v>
                </c:pt>
                <c:pt idx="190">
                  <c:v>156.26074055540496</c:v>
                </c:pt>
                <c:pt idx="191">
                  <c:v>156.24748305652147</c:v>
                </c:pt>
                <c:pt idx="192">
                  <c:v>156.56233628873869</c:v>
                </c:pt>
                <c:pt idx="193">
                  <c:v>157.3356176119469</c:v>
                </c:pt>
                <c:pt idx="194">
                  <c:v>157.44162341092641</c:v>
                </c:pt>
                <c:pt idx="195">
                  <c:v>158.27672688287115</c:v>
                </c:pt>
                <c:pt idx="196">
                  <c:v>159.27019869473182</c:v>
                </c:pt>
                <c:pt idx="197">
                  <c:v>159.91900562453043</c:v>
                </c:pt>
                <c:pt idx="198">
                  <c:v>160.79262296346357</c:v>
                </c:pt>
                <c:pt idx="199">
                  <c:v>162.10513283883549</c:v>
                </c:pt>
                <c:pt idx="200">
                  <c:v>163.15047649240324</c:v>
                </c:pt>
                <c:pt idx="201">
                  <c:v>164.30959082865738</c:v>
                </c:pt>
                <c:pt idx="202">
                  <c:v>165.79689840699706</c:v>
                </c:pt>
                <c:pt idx="203">
                  <c:v>166.66561748621072</c:v>
                </c:pt>
                <c:pt idx="204">
                  <c:v>167.70991377736024</c:v>
                </c:pt>
                <c:pt idx="205">
                  <c:v>168.93390632670361</c:v>
                </c:pt>
                <c:pt idx="206">
                  <c:v>170.09970816441842</c:v>
                </c:pt>
                <c:pt idx="207">
                  <c:v>167.55267022708995</c:v>
                </c:pt>
                <c:pt idx="208">
                  <c:v>166.55390101872686</c:v>
                </c:pt>
                <c:pt idx="209">
                  <c:v>165.67290620429978</c:v>
                </c:pt>
                <c:pt idx="210">
                  <c:v>167.20674979504139</c:v>
                </c:pt>
                <c:pt idx="211">
                  <c:v>168.55794162235071</c:v>
                </c:pt>
                <c:pt idx="212">
                  <c:v>170.77419138631964</c:v>
                </c:pt>
                <c:pt idx="213">
                  <c:v>171.80290322571216</c:v>
                </c:pt>
                <c:pt idx="214">
                  <c:v>173.01103156527569</c:v>
                </c:pt>
                <c:pt idx="215">
                  <c:v>174.38804655919242</c:v>
                </c:pt>
                <c:pt idx="216">
                  <c:v>175.65377843283574</c:v>
                </c:pt>
                <c:pt idx="217">
                  <c:v>175.8500298862505</c:v>
                </c:pt>
                <c:pt idx="218">
                  <c:v>175.9936367600871</c:v>
                </c:pt>
                <c:pt idx="219">
                  <c:v>176.84743772636281</c:v>
                </c:pt>
                <c:pt idx="220">
                  <c:v>177.81179824625576</c:v>
                </c:pt>
                <c:pt idx="221">
                  <c:v>178.65791911443569</c:v>
                </c:pt>
                <c:pt idx="222">
                  <c:v>180.30015711494508</c:v>
                </c:pt>
                <c:pt idx="223">
                  <c:v>181.49413054982119</c:v>
                </c:pt>
                <c:pt idx="224">
                  <c:v>182.00831307952808</c:v>
                </c:pt>
                <c:pt idx="225">
                  <c:v>182.5218590623405</c:v>
                </c:pt>
                <c:pt idx="226">
                  <c:v>183.10348139002315</c:v>
                </c:pt>
                <c:pt idx="227">
                  <c:v>183.30129802532755</c:v>
                </c:pt>
                <c:pt idx="228">
                  <c:v>183.96553948931904</c:v>
                </c:pt>
                <c:pt idx="229">
                  <c:v>184.84806946595515</c:v>
                </c:pt>
                <c:pt idx="230">
                  <c:v>185.68943844940935</c:v>
                </c:pt>
                <c:pt idx="231">
                  <c:v>186.20541706595034</c:v>
                </c:pt>
                <c:pt idx="232">
                  <c:v>187.10797073215051</c:v>
                </c:pt>
                <c:pt idx="233">
                  <c:v>188.31037123989196</c:v>
                </c:pt>
                <c:pt idx="234">
                  <c:v>188.92495426325581</c:v>
                </c:pt>
                <c:pt idx="235">
                  <c:v>189.58499972594782</c:v>
                </c:pt>
                <c:pt idx="236">
                  <c:v>190.85245900212851</c:v>
                </c:pt>
                <c:pt idx="237">
                  <c:v>191.92075134242117</c:v>
                </c:pt>
                <c:pt idx="238">
                  <c:v>192.06596315981767</c:v>
                </c:pt>
                <c:pt idx="239">
                  <c:v>192.69856683450462</c:v>
                </c:pt>
                <c:pt idx="240">
                  <c:v>193.2901037896354</c:v>
                </c:pt>
              </c:numCache>
            </c:numRef>
          </c:val>
          <c:smooth val="1"/>
          <c:extLst>
            <c:ext xmlns:c16="http://schemas.microsoft.com/office/drawing/2014/chart" uri="{C3380CC4-5D6E-409C-BE32-E72D297353CC}">
              <c16:uniqueId val="{00000002-14B9-C34A-A309-54AB4A871851}"/>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majorGridlines>
          <c:spPr>
            <a:ln w="9525">
              <a:solidFill>
                <a:srgbClr val="CCCCCC">
                  <a:alpha val="15260"/>
                </a:srgbClr>
              </a:solidFill>
              <a:prstDash val="dash"/>
            </a:ln>
            <a:effectLst>
              <a:outerShdw blurRad="50800" dist="50800" dir="5400000" algn="ctr" rotWithShape="0">
                <a:srgbClr val="AB853F"/>
              </a:outerShdw>
            </a:effectLst>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72768"/>
        <c:crosses val="autoZero"/>
        <c:auto val="1"/>
        <c:lblAlgn val="ctr"/>
        <c:lblOffset val="100"/>
        <c:tickLblSkip val="60"/>
        <c:noMultiLvlLbl val="0"/>
      </c:catAx>
      <c:valAx>
        <c:axId val="48672768"/>
        <c:scaling>
          <c:orientation val="minMax"/>
          <c:max val="260"/>
          <c:min val="100"/>
        </c:scaling>
        <c:delete val="0"/>
        <c:axPos val="l"/>
        <c:majorGridlines>
          <c:spPr>
            <a:ln w="9525">
              <a:solidFill>
                <a:srgbClr val="CCCCCC"/>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50112"/>
        <c:crosses val="autoZero"/>
        <c:crossBetween val="between"/>
        <c:majorUnit val="40"/>
      </c:valAx>
    </c:plotArea>
    <c:plotVisOnly val="1"/>
    <c:dispBlanksAs val="zero"/>
    <c:showDLblsOverMax val="1"/>
  </c:chart>
  <c:spPr>
    <a:solidFill>
      <a:srgbClr val="FCF9EF"/>
    </a:solidFill>
    <a:ln w="9525">
      <a:noFill/>
      <a:prstDash val="solid"/>
    </a:ln>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ln>
              <a:prstDash val="solid"/>
            </a:ln>
          </c:spPr>
          <c:dPt>
            <c:idx val="0"/>
            <c:bubble3D val="0"/>
            <c:spPr>
              <a:solidFill>
                <a:srgbClr val="102D1A"/>
              </a:solidFill>
              <a:ln w="15875">
                <a:solidFill>
                  <a:srgbClr val="FFFFFF"/>
                </a:solidFill>
                <a:prstDash val="solid"/>
              </a:ln>
            </c:spPr>
            <c:extLst>
              <c:ext xmlns:c16="http://schemas.microsoft.com/office/drawing/2014/chart" uri="{C3380CC4-5D6E-409C-BE32-E72D297353CC}">
                <c16:uniqueId val="{00000001-20D9-F946-9C87-150E821D08BB}"/>
              </c:ext>
            </c:extLst>
          </c:dPt>
          <c:dPt>
            <c:idx val="1"/>
            <c:bubble3D val="0"/>
            <c:spPr>
              <a:solidFill>
                <a:srgbClr val="102D1A"/>
              </a:solidFill>
              <a:ln w="15875">
                <a:solidFill>
                  <a:srgbClr val="FFFFFF"/>
                </a:solidFill>
                <a:prstDash val="solid"/>
              </a:ln>
            </c:spPr>
            <c:extLst>
              <c:ext xmlns:c16="http://schemas.microsoft.com/office/drawing/2014/chart" uri="{C3380CC4-5D6E-409C-BE32-E72D297353CC}">
                <c16:uniqueId val="{00000003-20D9-F946-9C87-150E821D08BB}"/>
              </c:ext>
            </c:extLst>
          </c:dPt>
          <c:dPt>
            <c:idx val="2"/>
            <c:bubble3D val="0"/>
            <c:spPr>
              <a:solidFill>
                <a:srgbClr val="102D1A"/>
              </a:solidFill>
              <a:ln w="15875">
                <a:solidFill>
                  <a:srgbClr val="FFFFFF"/>
                </a:solidFill>
                <a:prstDash val="solid"/>
              </a:ln>
            </c:spPr>
            <c:extLst>
              <c:ext xmlns:c16="http://schemas.microsoft.com/office/drawing/2014/chart" uri="{C3380CC4-5D6E-409C-BE32-E72D297353CC}">
                <c16:uniqueId val="{00000005-20D9-F946-9C87-150E821D08BB}"/>
              </c:ext>
            </c:extLst>
          </c:dPt>
          <c:dPt>
            <c:idx val="3"/>
            <c:bubble3D val="0"/>
            <c:spPr>
              <a:solidFill>
                <a:srgbClr val="A8823F"/>
              </a:solidFill>
              <a:ln w="15875">
                <a:solidFill>
                  <a:srgbClr val="FFFFFF"/>
                </a:solidFill>
                <a:prstDash val="solid"/>
              </a:ln>
            </c:spPr>
            <c:extLst>
              <c:ext xmlns:c16="http://schemas.microsoft.com/office/drawing/2014/chart" uri="{C3380CC4-5D6E-409C-BE32-E72D297353CC}">
                <c16:uniqueId val="{00000007-20D9-F946-9C87-150E821D08BB}"/>
              </c:ext>
            </c:extLst>
          </c:dPt>
          <c:dPt>
            <c:idx val="4"/>
            <c:bubble3D val="0"/>
            <c:spPr>
              <a:solidFill>
                <a:srgbClr val="A8823F"/>
              </a:solidFill>
              <a:ln w="15875">
                <a:solidFill>
                  <a:srgbClr val="FFFFFF"/>
                </a:solidFill>
                <a:prstDash val="solid"/>
              </a:ln>
            </c:spPr>
            <c:extLst>
              <c:ext xmlns:c16="http://schemas.microsoft.com/office/drawing/2014/chart" uri="{C3380CC4-5D6E-409C-BE32-E72D297353CC}">
                <c16:uniqueId val="{00000009-20D9-F946-9C87-150E821D08BB}"/>
              </c:ext>
            </c:extLst>
          </c:dPt>
          <c:dPt>
            <c:idx val="5"/>
            <c:bubble3D val="0"/>
            <c:spPr>
              <a:solidFill>
                <a:srgbClr val="B3A792"/>
              </a:solidFill>
              <a:ln w="15875">
                <a:solidFill>
                  <a:srgbClr val="FFFFFF"/>
                </a:solidFill>
                <a:prstDash val="solid"/>
              </a:ln>
            </c:spPr>
            <c:extLst>
              <c:ext xmlns:c16="http://schemas.microsoft.com/office/drawing/2014/chart" uri="{C3380CC4-5D6E-409C-BE32-E72D297353CC}">
                <c16:uniqueId val="{0000000B-20D9-F946-9C87-150E821D08BB}"/>
              </c:ext>
            </c:extLst>
          </c:dPt>
          <c:dPt>
            <c:idx val="6"/>
            <c:bubble3D val="0"/>
            <c:spPr>
              <a:solidFill>
                <a:srgbClr val="B3A792"/>
              </a:solidFill>
              <a:ln w="15875">
                <a:solidFill>
                  <a:srgbClr val="FFFFFF"/>
                </a:solidFill>
                <a:prstDash val="solid"/>
              </a:ln>
            </c:spPr>
            <c:extLst>
              <c:ext xmlns:c16="http://schemas.microsoft.com/office/drawing/2014/chart" uri="{C3380CC4-5D6E-409C-BE32-E72D297353CC}">
                <c16:uniqueId val="{0000000D-20D9-F946-9C87-150E821D08BB}"/>
              </c:ext>
            </c:extLst>
          </c:dPt>
          <c:dPt>
            <c:idx val="7"/>
            <c:bubble3D val="0"/>
            <c:spPr>
              <a:solidFill>
                <a:srgbClr val="B3A792"/>
              </a:solidFill>
              <a:ln w="15875">
                <a:solidFill>
                  <a:srgbClr val="FFFFFF"/>
                </a:solidFill>
                <a:prstDash val="solid"/>
              </a:ln>
            </c:spPr>
            <c:extLst>
              <c:ext xmlns:c16="http://schemas.microsoft.com/office/drawing/2014/chart" uri="{C3380CC4-5D6E-409C-BE32-E72D297353CC}">
                <c16:uniqueId val="{0000000F-20D9-F946-9C87-150E821D08BB}"/>
              </c:ext>
            </c:extLst>
          </c:dPt>
          <c:dPt>
            <c:idx val="8"/>
            <c:bubble3D val="0"/>
            <c:spPr>
              <a:solidFill>
                <a:srgbClr val="183E26"/>
              </a:solidFill>
              <a:ln w="15875">
                <a:solidFill>
                  <a:srgbClr val="FFFFFF"/>
                </a:solidFill>
                <a:prstDash val="solid"/>
              </a:ln>
            </c:spPr>
            <c:extLst>
              <c:ext xmlns:c16="http://schemas.microsoft.com/office/drawing/2014/chart" uri="{C3380CC4-5D6E-409C-BE32-E72D297353CC}">
                <c16:uniqueId val="{00000011-20D9-F946-9C87-150E821D08BB}"/>
              </c:ext>
            </c:extLst>
          </c:dPt>
          <c:dLbls>
            <c:dLbl>
              <c:idx val="0"/>
              <c:layout>
                <c:manualLayout>
                  <c:x val="0.26174962676888747"/>
                  <c:y val="-5.6853934910638323E-2"/>
                </c:manualLayout>
              </c:layout>
              <c:tx>
                <c:rich>
                  <a:bodyPr/>
                  <a:lstStyle/>
                  <a:p>
                    <a:pPr>
                      <a:defRPr sz="1050" b="1">
                        <a:solidFill>
                          <a:srgbClr val="1A1A1A"/>
                        </a:solidFill>
                        <a:latin typeface="Arial"/>
                      </a:defRPr>
                    </a:pPr>
                    <a:r>
                      <a:rPr lang="en-US" b="0" i="0">
                        <a:latin typeface="Jost Light" pitchFamily="2" charset="77"/>
                        <a:ea typeface="Jost Light" pitchFamily="2" charset="77"/>
                      </a:rPr>
                      <a:t>Exposition</a:t>
                    </a:r>
                    <a:r>
                      <a:rPr lang="en-US" b="0" i="0" baseline="0">
                        <a:latin typeface="Jost Light" pitchFamily="2" charset="77"/>
                        <a:ea typeface="Jost Light" pitchFamily="2" charset="77"/>
                      </a:rPr>
                      <a:t> actions</a:t>
                    </a:r>
                  </a:p>
                  <a:p>
                    <a:pPr>
                      <a:defRPr sz="1050" b="1">
                        <a:solidFill>
                          <a:srgbClr val="1A1A1A"/>
                        </a:solidFill>
                        <a:latin typeface="Arial"/>
                      </a:defRPr>
                    </a:pPr>
                    <a:r>
                      <a:rPr lang="en-US" sz="1400" b="0" i="0" baseline="0">
                        <a:latin typeface="Jost Medium" pitchFamily="2" charset="77"/>
                        <a:ea typeface="Jost Medium" pitchFamily="2" charset="77"/>
                      </a:rPr>
                      <a:t>9%</a:t>
                    </a:r>
                    <a:endParaRPr lang="en-US" sz="1400" b="0" i="0">
                      <a:latin typeface="Jost Medium" pitchFamily="2" charset="77"/>
                      <a:ea typeface="Jost Medium" pitchFamily="2" charset="77"/>
                    </a:endParaRPr>
                  </a:p>
                </c:rich>
              </c:tx>
              <c:spPr/>
              <c:showLegendKey val="0"/>
              <c:showVal val="0"/>
              <c:showCatName val="1"/>
              <c:showSerName val="0"/>
              <c:showPercent val="0"/>
              <c:showBubbleSize val="0"/>
              <c:extLst>
                <c:ext xmlns:c15="http://schemas.microsoft.com/office/drawing/2012/chart" uri="{CE6537A1-D6FC-4f65-9D91-7224C49458BB}">
                  <c15:layout>
                    <c:manualLayout>
                      <c:w val="0.32766041044569133"/>
                      <c:h val="0.13938111470085512"/>
                    </c:manualLayout>
                  </c15:layout>
                  <c15:showDataLabelsRange val="0"/>
                </c:ext>
                <c:ext xmlns:c16="http://schemas.microsoft.com/office/drawing/2014/chart" uri="{C3380CC4-5D6E-409C-BE32-E72D297353CC}">
                  <c16:uniqueId val="{00000001-20D9-F946-9C87-150E821D08BB}"/>
                </c:ext>
              </c:extLst>
            </c:dLbl>
            <c:dLbl>
              <c:idx val="3"/>
              <c:layout>
                <c:manualLayout>
                  <c:x val="4.3269704070318417E-2"/>
                  <c:y val="0.50142260744120637"/>
                </c:manualLayout>
              </c:layout>
              <c:tx>
                <c:rich>
                  <a:bodyPr/>
                  <a:lstStyle/>
                  <a:p>
                    <a:pPr>
                      <a:defRPr sz="1050" b="1">
                        <a:solidFill>
                          <a:srgbClr val="A8823F"/>
                        </a:solidFill>
                        <a:latin typeface="Arial"/>
                      </a:defRPr>
                    </a:pPr>
                    <a:r>
                      <a:rPr lang="en-US" b="0" i="0">
                        <a:latin typeface="Jost Light" pitchFamily="2" charset="77"/>
                        <a:ea typeface="Jost Light" pitchFamily="2" charset="77"/>
                      </a:rPr>
                      <a:t>Exposition </a:t>
                    </a:r>
                    <a:r>
                      <a:rPr lang="en-US" b="0" i="0" err="1">
                        <a:latin typeface="Jost Light" pitchFamily="2" charset="77"/>
                        <a:ea typeface="Jost Light" pitchFamily="2" charset="77"/>
                      </a:rPr>
                      <a:t>obligataire</a:t>
                    </a:r>
                    <a:endParaRPr lang="en-US" b="0" i="0">
                      <a:latin typeface="Jost Light" pitchFamily="2" charset="77"/>
                      <a:ea typeface="Jost Light" pitchFamily="2" charset="77"/>
                    </a:endParaRPr>
                  </a:p>
                  <a:p>
                    <a:pPr>
                      <a:defRPr sz="1050" b="1">
                        <a:solidFill>
                          <a:srgbClr val="A8823F"/>
                        </a:solidFill>
                        <a:latin typeface="Arial"/>
                      </a:defRPr>
                    </a:pPr>
                    <a:r>
                      <a:rPr lang="en-US" sz="1400" b="0" i="0">
                        <a:latin typeface="Jost Medium" pitchFamily="2" charset="77"/>
                        <a:ea typeface="Jost Medium" pitchFamily="2" charset="77"/>
                      </a:rPr>
                      <a:t>45%</a:t>
                    </a:r>
                  </a:p>
                </c:rich>
              </c:tx>
              <c:spPr/>
              <c:showLegendKey val="0"/>
              <c:showVal val="0"/>
              <c:showCatName val="1"/>
              <c:showSerName val="0"/>
              <c:showPercent val="0"/>
              <c:showBubbleSize val="0"/>
              <c:extLst>
                <c:ext xmlns:c15="http://schemas.microsoft.com/office/drawing/2012/chart" uri="{CE6537A1-D6FC-4f65-9D91-7224C49458BB}">
                  <c15:layout>
                    <c:manualLayout>
                      <c:w val="0.35850862789302068"/>
                      <c:h val="0.13938111470085512"/>
                    </c:manualLayout>
                  </c15:layout>
                  <c15:showDataLabelsRange val="0"/>
                </c:ext>
                <c:ext xmlns:c16="http://schemas.microsoft.com/office/drawing/2014/chart" uri="{C3380CC4-5D6E-409C-BE32-E72D297353CC}">
                  <c16:uniqueId val="{00000007-20D9-F946-9C87-150E821D08BB}"/>
                </c:ext>
              </c:extLst>
            </c:dLbl>
            <c:dLbl>
              <c:idx val="7"/>
              <c:layout>
                <c:manualLayout>
                  <c:x val="-0.17821262147140651"/>
                  <c:y val="-9.5941015161702156E-2"/>
                </c:manualLayout>
              </c:layout>
              <c:tx>
                <c:rich>
                  <a:bodyPr/>
                  <a:lstStyle/>
                  <a:p>
                    <a:pPr>
                      <a:defRPr sz="1050" b="1">
                        <a:solidFill>
                          <a:srgbClr val="9C8E74"/>
                        </a:solidFill>
                        <a:latin typeface="Arial"/>
                      </a:defRPr>
                    </a:pPr>
                    <a:r>
                      <a:rPr lang="en-US" b="0" i="0">
                        <a:latin typeface="Jost Light" pitchFamily="2" charset="77"/>
                        <a:ea typeface="Jost Light" pitchFamily="2" charset="77"/>
                      </a:rPr>
                      <a:t>Exposition mixte</a:t>
                    </a:r>
                  </a:p>
                  <a:p>
                    <a:pPr>
                      <a:defRPr sz="1050" b="1">
                        <a:solidFill>
                          <a:srgbClr val="9C8E74"/>
                        </a:solidFill>
                        <a:latin typeface="Arial"/>
                      </a:defRPr>
                    </a:pPr>
                    <a:r>
                      <a:rPr lang="en-US" sz="1400" b="0" i="0">
                        <a:latin typeface="Jost Medium" pitchFamily="2" charset="77"/>
                        <a:ea typeface="Jost Medium" pitchFamily="2" charset="77"/>
                      </a:rPr>
                      <a:t>46%</a:t>
                    </a:r>
                  </a:p>
                </c:rich>
              </c:tx>
              <c:spPr/>
              <c:showLegendKey val="0"/>
              <c:showVal val="0"/>
              <c:showCatName val="1"/>
              <c:showSerName val="0"/>
              <c:showPercent val="0"/>
              <c:showBubbleSize val="0"/>
              <c:extLst>
                <c:ext xmlns:c15="http://schemas.microsoft.com/office/drawing/2012/chart" uri="{CE6537A1-D6FC-4f65-9D91-7224C49458BB}">
                  <c15:layout>
                    <c:manualLayout>
                      <c:w val="0.28310728248502959"/>
                      <c:h val="0.13938111470085512"/>
                    </c:manualLayout>
                  </c15:layout>
                  <c15:showDataLabelsRange val="0"/>
                </c:ext>
                <c:ext xmlns:c16="http://schemas.microsoft.com/office/drawing/2014/chart" uri="{C3380CC4-5D6E-409C-BE32-E72D297353CC}">
                  <c16:uniqueId val="{0000000F-20D9-F946-9C87-150E821D08B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Données!$N$3:$N$11</c:f>
              <c:strCache>
                <c:ptCount val="8"/>
                <c:pt idx="0">
                  <c:v>Exposition actions
9%</c:v>
                </c:pt>
                <c:pt idx="3">
                  <c:v>Exposition obligataire
45%</c:v>
                </c:pt>
                <c:pt idx="7">
                  <c:v>Exposition mixte
46%</c:v>
                </c:pt>
              </c:strCache>
            </c:strRef>
          </c:cat>
          <c:val>
            <c:numRef>
              <c:f>Données!$D$3:$D$11</c:f>
              <c:numCache>
                <c:formatCode>0%</c:formatCode>
                <c:ptCount val="9"/>
                <c:pt idx="0">
                  <c:v>0.05</c:v>
                </c:pt>
                <c:pt idx="1">
                  <c:v>0.04</c:v>
                </c:pt>
                <c:pt idx="2">
                  <c:v>0</c:v>
                </c:pt>
                <c:pt idx="3">
                  <c:v>0.25</c:v>
                </c:pt>
                <c:pt idx="4">
                  <c:v>0.2</c:v>
                </c:pt>
                <c:pt idx="5">
                  <c:v>0.05</c:v>
                </c:pt>
                <c:pt idx="6">
                  <c:v>0.19</c:v>
                </c:pt>
                <c:pt idx="7">
                  <c:v>0.22</c:v>
                </c:pt>
                <c:pt idx="8">
                  <c:v>0</c:v>
                </c:pt>
              </c:numCache>
            </c:numRef>
          </c:val>
          <c:extLst>
            <c:ext xmlns:c16="http://schemas.microsoft.com/office/drawing/2014/chart" uri="{C3380CC4-5D6E-409C-BE32-E72D297353CC}">
              <c16:uniqueId val="{00000012-20D9-F946-9C87-150E821D08BB}"/>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1"/>
  </c:chart>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Optimiste</c:v>
          </c:tx>
          <c:spPr>
            <a:ln w="12700">
              <a:solidFill>
                <a:srgbClr val="144629"/>
              </a:solidFill>
            </a:ln>
          </c:spPr>
          <c:marker>
            <c:symbol val="none"/>
          </c:marker>
          <c:cat>
            <c:numRef>
              <c:f>'5.3%'!$B$5:$B$245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'5.3%'!$D$5:$D$245</c:f>
              <c:numCache>
                <c:formatCode>0.0</c:formatCode>
                <c:ptCount val="241"/>
                <c:pt idx="0">
                  <c:v>100</c:v>
                </c:pt>
                <c:pt idx="1">
                  <c:v>100.58305643916836</c:v>
                </c:pt>
                <c:pt idx="2">
                  <c:v>101.21297529407056</c:v>
                </c:pt>
                <c:pt idx="3">
                  <c:v>101.54831796308351</c:v>
                </c:pt>
                <c:pt idx="4">
                  <c:v>102.13999306137637</c:v>
                </c:pt>
                <c:pt idx="5">
                  <c:v>103.03543295160877</c:v>
                </c:pt>
                <c:pt idx="6">
                  <c:v>103.8517071377712</c:v>
                </c:pt>
                <c:pt idx="7">
                  <c:v>104.9271217952527</c:v>
                </c:pt>
                <c:pt idx="8">
                  <c:v>106.90920336652431</c:v>
                </c:pt>
                <c:pt idx="9">
                  <c:v>108.49290801229337</c:v>
                </c:pt>
                <c:pt idx="10">
                  <c:v>110.47798779821257</c:v>
                </c:pt>
                <c:pt idx="11">
                  <c:v>112.76710685310832</c:v>
                </c:pt>
                <c:pt idx="12">
                  <c:v>114.2683633928536</c:v>
                </c:pt>
                <c:pt idx="13">
                  <c:v>115.14219343440752</c:v>
                </c:pt>
                <c:pt idx="14">
                  <c:v>116.38039910552173</c:v>
                </c:pt>
                <c:pt idx="15">
                  <c:v>116.53897086354347</c:v>
                </c:pt>
                <c:pt idx="16">
                  <c:v>116.37950504301426</c:v>
                </c:pt>
                <c:pt idx="17">
                  <c:v>116.84676318252437</c:v>
                </c:pt>
                <c:pt idx="18">
                  <c:v>117.82870780016917</c:v>
                </c:pt>
                <c:pt idx="19">
                  <c:v>118.63736075550875</c:v>
                </c:pt>
                <c:pt idx="20">
                  <c:v>120.05627364593343</c:v>
                </c:pt>
                <c:pt idx="21">
                  <c:v>121.47657072139855</c:v>
                </c:pt>
                <c:pt idx="22">
                  <c:v>122.33478130213638</c:v>
                </c:pt>
                <c:pt idx="23">
                  <c:v>122.53678253207245</c:v>
                </c:pt>
                <c:pt idx="24">
                  <c:v>122.32280051754751</c:v>
                </c:pt>
                <c:pt idx="25">
                  <c:v>121.60283867658805</c:v>
                </c:pt>
                <c:pt idx="26">
                  <c:v>120.52669636343357</c:v>
                </c:pt>
                <c:pt idx="27">
                  <c:v>120.15509524993942</c:v>
                </c:pt>
                <c:pt idx="28">
                  <c:v>120.05616944850826</c:v>
                </c:pt>
                <c:pt idx="29">
                  <c:v>120.16521686519019</c:v>
                </c:pt>
                <c:pt idx="30">
                  <c:v>120.6244595255895</c:v>
                </c:pt>
                <c:pt idx="31">
                  <c:v>121.91584822377432</c:v>
                </c:pt>
                <c:pt idx="32">
                  <c:v>122.85847220616188</c:v>
                </c:pt>
                <c:pt idx="33">
                  <c:v>124.11347267201452</c:v>
                </c:pt>
                <c:pt idx="34">
                  <c:v>125.26004131170892</c:v>
                </c:pt>
                <c:pt idx="35">
                  <c:v>126.39588852764352</c:v>
                </c:pt>
                <c:pt idx="36">
                  <c:v>127.44636833583897</c:v>
                </c:pt>
                <c:pt idx="37">
                  <c:v>128.5642962947376</c:v>
                </c:pt>
                <c:pt idx="38">
                  <c:v>129.9319733826114</c:v>
                </c:pt>
                <c:pt idx="39">
                  <c:v>131.71215809314631</c:v>
                </c:pt>
                <c:pt idx="40">
                  <c:v>133.18499620727425</c:v>
                </c:pt>
                <c:pt idx="41">
                  <c:v>134.11915406264936</c:v>
                </c:pt>
                <c:pt idx="42">
                  <c:v>135.44072229455833</c:v>
                </c:pt>
                <c:pt idx="43">
                  <c:v>134.03238697608117</c:v>
                </c:pt>
                <c:pt idx="44">
                  <c:v>133.21420711760805</c:v>
                </c:pt>
                <c:pt idx="45">
                  <c:v>134.01077544590808</c:v>
                </c:pt>
                <c:pt idx="46">
                  <c:v>136.4116066123203</c:v>
                </c:pt>
                <c:pt idx="47">
                  <c:v>138.41586258699792</c:v>
                </c:pt>
                <c:pt idx="48">
                  <c:v>140.42569045100095</c:v>
                </c:pt>
                <c:pt idx="49">
                  <c:v>141.2700835721366</c:v>
                </c:pt>
                <c:pt idx="50">
                  <c:v>141.415795151141</c:v>
                </c:pt>
                <c:pt idx="51">
                  <c:v>142.37662087876697</c:v>
                </c:pt>
                <c:pt idx="52">
                  <c:v>143.4732303766437</c:v>
                </c:pt>
                <c:pt idx="53">
                  <c:v>144.27619216041182</c:v>
                </c:pt>
                <c:pt idx="54">
                  <c:v>145.41420604581052</c:v>
                </c:pt>
                <c:pt idx="55">
                  <c:v>146.16520289835833</c:v>
                </c:pt>
                <c:pt idx="56">
                  <c:v>146.56963244996246</c:v>
                </c:pt>
                <c:pt idx="57">
                  <c:v>146.60551998504707</c:v>
                </c:pt>
                <c:pt idx="58">
                  <c:v>146.50432228282546</c:v>
                </c:pt>
                <c:pt idx="59">
                  <c:v>147.1992154552475</c:v>
                </c:pt>
                <c:pt idx="60">
                  <c:v>147.6804363872036</c:v>
                </c:pt>
                <c:pt idx="61">
                  <c:v>147.67113985372706</c:v>
                </c:pt>
                <c:pt idx="62">
                  <c:v>147.82790771751502</c:v>
                </c:pt>
                <c:pt idx="63">
                  <c:v>148.15235379821334</c:v>
                </c:pt>
                <c:pt idx="64">
                  <c:v>149.09368653081989</c:v>
                </c:pt>
                <c:pt idx="65">
                  <c:v>151.11574877279625</c:v>
                </c:pt>
                <c:pt idx="66">
                  <c:v>153.17494119930745</c:v>
                </c:pt>
                <c:pt idx="67">
                  <c:v>155.41911798538135</c:v>
                </c:pt>
                <c:pt idx="68">
                  <c:v>157.80157833063507</c:v>
                </c:pt>
                <c:pt idx="69">
                  <c:v>159.21304209199039</c:v>
                </c:pt>
                <c:pt idx="70">
                  <c:v>160.0594139874452</c:v>
                </c:pt>
                <c:pt idx="71">
                  <c:v>161.20650638756013</c:v>
                </c:pt>
                <c:pt idx="72">
                  <c:v>162.3022815323281</c:v>
                </c:pt>
                <c:pt idx="73">
                  <c:v>163.15030755691811</c:v>
                </c:pt>
                <c:pt idx="74">
                  <c:v>163.61160569694286</c:v>
                </c:pt>
                <c:pt idx="75">
                  <c:v>164.03062279480625</c:v>
                </c:pt>
                <c:pt idx="76">
                  <c:v>164.41075220284191</c:v>
                </c:pt>
                <c:pt idx="77">
                  <c:v>165.34449483139511</c:v>
                </c:pt>
                <c:pt idx="78">
                  <c:v>166.230339085568</c:v>
                </c:pt>
                <c:pt idx="79">
                  <c:v>167.16857527307712</c:v>
                </c:pt>
                <c:pt idx="80">
                  <c:v>168.26162667723034</c:v>
                </c:pt>
                <c:pt idx="81">
                  <c:v>169.74372194029485</c:v>
                </c:pt>
                <c:pt idx="82">
                  <c:v>170.43294326866499</c:v>
                </c:pt>
                <c:pt idx="83">
                  <c:v>171.42995561602137</c:v>
                </c:pt>
                <c:pt idx="84">
                  <c:v>172.77519939635391</c:v>
                </c:pt>
                <c:pt idx="85">
                  <c:v>175.28490768343957</c:v>
                </c:pt>
                <c:pt idx="86">
                  <c:v>177.67126485049312</c:v>
                </c:pt>
                <c:pt idx="87">
                  <c:v>179.91570979122588</c:v>
                </c:pt>
                <c:pt idx="88">
                  <c:v>181.49964219285368</c:v>
                </c:pt>
                <c:pt idx="89">
                  <c:v>183.70134712185205</c:v>
                </c:pt>
                <c:pt idx="90">
                  <c:v>185.19765254326336</c:v>
                </c:pt>
                <c:pt idx="91">
                  <c:v>186.50134449865317</c:v>
                </c:pt>
                <c:pt idx="92">
                  <c:v>187.72780665267925</c:v>
                </c:pt>
                <c:pt idx="93">
                  <c:v>189.5815173321173</c:v>
                </c:pt>
                <c:pt idx="94">
                  <c:v>190.05874295641894</c:v>
                </c:pt>
                <c:pt idx="95">
                  <c:v>189.49268537140125</c:v>
                </c:pt>
                <c:pt idx="96">
                  <c:v>189.67542638379339</c:v>
                </c:pt>
                <c:pt idx="97">
                  <c:v>190.25190132953338</c:v>
                </c:pt>
                <c:pt idx="98">
                  <c:v>187.72778486214864</c:v>
                </c:pt>
                <c:pt idx="99">
                  <c:v>186.60052281599613</c:v>
                </c:pt>
                <c:pt idx="100">
                  <c:v>187.47701509485199</c:v>
                </c:pt>
                <c:pt idx="101">
                  <c:v>192.03623603730159</c:v>
                </c:pt>
                <c:pt idx="102">
                  <c:v>196.85557231992598</c:v>
                </c:pt>
                <c:pt idx="103">
                  <c:v>199.73017102277737</c:v>
                </c:pt>
                <c:pt idx="104">
                  <c:v>201.22670215301471</c:v>
                </c:pt>
                <c:pt idx="105">
                  <c:v>202.56432881993328</c:v>
                </c:pt>
                <c:pt idx="106">
                  <c:v>203.75723163739278</c:v>
                </c:pt>
                <c:pt idx="107">
                  <c:v>205.12657064214582</c:v>
                </c:pt>
                <c:pt idx="108">
                  <c:v>206.27898430754098</c:v>
                </c:pt>
                <c:pt idx="109">
                  <c:v>206.70732675549553</c:v>
                </c:pt>
                <c:pt idx="110">
                  <c:v>207.11378543242725</c:v>
                </c:pt>
                <c:pt idx="111">
                  <c:v>207.58948431234822</c:v>
                </c:pt>
                <c:pt idx="112">
                  <c:v>206.75743693943758</c:v>
                </c:pt>
                <c:pt idx="113">
                  <c:v>206.52125062308806</c:v>
                </c:pt>
                <c:pt idx="114">
                  <c:v>207.79451844553549</c:v>
                </c:pt>
                <c:pt idx="115">
                  <c:v>209.23207673527503</c:v>
                </c:pt>
                <c:pt idx="116">
                  <c:v>209.95652548828957</c:v>
                </c:pt>
                <c:pt idx="117">
                  <c:v>211.29828825756877</c:v>
                </c:pt>
                <c:pt idx="118">
                  <c:v>213.96419801517908</c:v>
                </c:pt>
                <c:pt idx="119">
                  <c:v>216.67000805800828</c:v>
                </c:pt>
                <c:pt idx="120">
                  <c:v>218.90329567703404</c:v>
                </c:pt>
                <c:pt idx="121">
                  <c:v>221.23200526272041</c:v>
                </c:pt>
                <c:pt idx="122">
                  <c:v>222.75200872892259</c:v>
                </c:pt>
                <c:pt idx="123">
                  <c:v>223.48367652055876</c:v>
                </c:pt>
                <c:pt idx="124">
                  <c:v>222.83177845516212</c:v>
                </c:pt>
                <c:pt idx="125">
                  <c:v>222.64049237645074</c:v>
                </c:pt>
                <c:pt idx="126">
                  <c:v>223.28548296035021</c:v>
                </c:pt>
                <c:pt idx="127">
                  <c:v>224.0094904012588</c:v>
                </c:pt>
                <c:pt idx="128">
                  <c:v>224.443980599094</c:v>
                </c:pt>
                <c:pt idx="129">
                  <c:v>225.09469752338993</c:v>
                </c:pt>
                <c:pt idx="130">
                  <c:v>225.61540248999</c:v>
                </c:pt>
                <c:pt idx="131">
                  <c:v>225.23491515069165</c:v>
                </c:pt>
                <c:pt idx="132">
                  <c:v>225.89169548224291</c:v>
                </c:pt>
                <c:pt idx="133">
                  <c:v>227.36818702712458</c:v>
                </c:pt>
                <c:pt idx="134">
                  <c:v>229.23578416897817</c:v>
                </c:pt>
                <c:pt idx="135">
                  <c:v>231.56874874116835</c:v>
                </c:pt>
                <c:pt idx="136">
                  <c:v>234.25793880174811</c:v>
                </c:pt>
                <c:pt idx="137">
                  <c:v>236.22492980099128</c:v>
                </c:pt>
                <c:pt idx="138">
                  <c:v>236.14733465550592</c:v>
                </c:pt>
                <c:pt idx="139">
                  <c:v>235.43877910310155</c:v>
                </c:pt>
                <c:pt idx="140">
                  <c:v>235.00951392938461</c:v>
                </c:pt>
                <c:pt idx="141">
                  <c:v>234.92328666964514</c:v>
                </c:pt>
                <c:pt idx="142">
                  <c:v>235.05645954846131</c:v>
                </c:pt>
                <c:pt idx="143">
                  <c:v>235.48402581689612</c:v>
                </c:pt>
                <c:pt idx="144">
                  <c:v>235.84013337382365</c:v>
                </c:pt>
                <c:pt idx="145">
                  <c:v>235.61729123361954</c:v>
                </c:pt>
                <c:pt idx="146">
                  <c:v>234.47468045729357</c:v>
                </c:pt>
                <c:pt idx="147">
                  <c:v>233.98152162376508</c:v>
                </c:pt>
                <c:pt idx="148">
                  <c:v>234.35550611125899</c:v>
                </c:pt>
                <c:pt idx="149">
                  <c:v>235.43996599847483</c:v>
                </c:pt>
                <c:pt idx="150">
                  <c:v>236.37119763294407</c:v>
                </c:pt>
                <c:pt idx="151">
                  <c:v>237.46910548383281</c:v>
                </c:pt>
                <c:pt idx="152">
                  <c:v>238.13971264697133</c:v>
                </c:pt>
                <c:pt idx="153">
                  <c:v>237.38211447445968</c:v>
                </c:pt>
                <c:pt idx="154">
                  <c:v>233.56562604299637</c:v>
                </c:pt>
                <c:pt idx="155">
                  <c:v>230.01766136617161</c:v>
                </c:pt>
                <c:pt idx="156">
                  <c:v>230.01763594447797</c:v>
                </c:pt>
                <c:pt idx="157">
                  <c:v>230.2106462013717</c:v>
                </c:pt>
                <c:pt idx="158">
                  <c:v>229.4872534647329</c:v>
                </c:pt>
                <c:pt idx="159">
                  <c:v>227.98467396872081</c:v>
                </c:pt>
                <c:pt idx="160">
                  <c:v>225.94269971569506</c:v>
                </c:pt>
                <c:pt idx="161">
                  <c:v>224.10195192114062</c:v>
                </c:pt>
                <c:pt idx="162">
                  <c:v>221.76441232965624</c:v>
                </c:pt>
                <c:pt idx="163">
                  <c:v>220.90594561107599</c:v>
                </c:pt>
                <c:pt idx="164">
                  <c:v>220.06185361778552</c:v>
                </c:pt>
                <c:pt idx="165">
                  <c:v>221.07190151431467</c:v>
                </c:pt>
                <c:pt idx="166">
                  <c:v>223.77718235485395</c:v>
                </c:pt>
                <c:pt idx="167">
                  <c:v>227.13165438490489</c:v>
                </c:pt>
                <c:pt idx="168">
                  <c:v>230.14090731747748</c:v>
                </c:pt>
                <c:pt idx="169">
                  <c:v>232.87768908101128</c:v>
                </c:pt>
                <c:pt idx="170">
                  <c:v>234.99984977192571</c:v>
                </c:pt>
                <c:pt idx="171">
                  <c:v>236.02247974080535</c:v>
                </c:pt>
                <c:pt idx="172">
                  <c:v>236.78995159193897</c:v>
                </c:pt>
                <c:pt idx="173">
                  <c:v>237.91546289326061</c:v>
                </c:pt>
                <c:pt idx="174">
                  <c:v>239.65952574393864</c:v>
                </c:pt>
                <c:pt idx="175">
                  <c:v>241.91768386694591</c:v>
                </c:pt>
                <c:pt idx="176">
                  <c:v>244.59505987699387</c:v>
                </c:pt>
                <c:pt idx="177">
                  <c:v>246.49621909413983</c:v>
                </c:pt>
                <c:pt idx="178">
                  <c:v>247.7426581437725</c:v>
                </c:pt>
                <c:pt idx="179">
                  <c:v>248.17196965805906</c:v>
                </c:pt>
                <c:pt idx="180">
                  <c:v>249.04186976989229</c:v>
                </c:pt>
                <c:pt idx="181">
                  <c:v>250.59682109732796</c:v>
                </c:pt>
                <c:pt idx="182">
                  <c:v>252.81691506058527</c:v>
                </c:pt>
                <c:pt idx="183">
                  <c:v>254.23505281109786</c:v>
                </c:pt>
                <c:pt idx="184">
                  <c:v>257.79576667309544</c:v>
                </c:pt>
                <c:pt idx="185">
                  <c:v>260.22899011033178</c:v>
                </c:pt>
                <c:pt idx="186">
                  <c:v>261.65780282367376</c:v>
                </c:pt>
                <c:pt idx="187">
                  <c:v>262.65149783421862</c:v>
                </c:pt>
                <c:pt idx="188">
                  <c:v>265.56926521802262</c:v>
                </c:pt>
                <c:pt idx="189">
                  <c:v>266.33305962637991</c:v>
                </c:pt>
                <c:pt idx="190">
                  <c:v>267.07792345795821</c:v>
                </c:pt>
                <c:pt idx="191">
                  <c:v>267.42400827926775</c:v>
                </c:pt>
                <c:pt idx="192">
                  <c:v>268.60945353681876</c:v>
                </c:pt>
                <c:pt idx="193">
                  <c:v>268.90719050571624</c:v>
                </c:pt>
                <c:pt idx="194">
                  <c:v>270.84341646597949</c:v>
                </c:pt>
                <c:pt idx="195">
                  <c:v>272.0262350375217</c:v>
                </c:pt>
                <c:pt idx="196">
                  <c:v>273.7814712519347</c:v>
                </c:pt>
                <c:pt idx="197">
                  <c:v>273.87522287424792</c:v>
                </c:pt>
                <c:pt idx="198">
                  <c:v>274.63107291419379</c:v>
                </c:pt>
                <c:pt idx="199">
                  <c:v>274.65620599450483</c:v>
                </c:pt>
                <c:pt idx="200">
                  <c:v>276.13370695187763</c:v>
                </c:pt>
                <c:pt idx="201">
                  <c:v>278.52371141186285</c:v>
                </c:pt>
                <c:pt idx="202">
                  <c:v>281.67696688282717</c:v>
                </c:pt>
                <c:pt idx="203">
                  <c:v>284.41943800047744</c:v>
                </c:pt>
                <c:pt idx="204">
                  <c:v>286.61095519229241</c:v>
                </c:pt>
                <c:pt idx="205">
                  <c:v>288.85265139174942</c:v>
                </c:pt>
                <c:pt idx="206">
                  <c:v>291.01070877726249</c:v>
                </c:pt>
                <c:pt idx="207">
                  <c:v>285.70791707958978</c:v>
                </c:pt>
                <c:pt idx="208">
                  <c:v>282.83987669224541</c:v>
                </c:pt>
                <c:pt idx="209">
                  <c:v>281.79019604165387</c:v>
                </c:pt>
                <c:pt idx="210">
                  <c:v>286.27738097322714</c:v>
                </c:pt>
                <c:pt idx="211">
                  <c:v>288.42817570836201</c:v>
                </c:pt>
                <c:pt idx="212">
                  <c:v>290.93392658073532</c:v>
                </c:pt>
                <c:pt idx="213">
                  <c:v>290.05022064306706</c:v>
                </c:pt>
                <c:pt idx="214">
                  <c:v>289.91302358201585</c:v>
                </c:pt>
                <c:pt idx="215">
                  <c:v>288.39423276803041</c:v>
                </c:pt>
                <c:pt idx="216">
                  <c:v>287.01151284931245</c:v>
                </c:pt>
                <c:pt idx="217">
                  <c:v>287.27672819740218</c:v>
                </c:pt>
                <c:pt idx="218">
                  <c:v>288.09429492991723</c:v>
                </c:pt>
                <c:pt idx="219">
                  <c:v>290.31992255706581</c:v>
                </c:pt>
                <c:pt idx="220">
                  <c:v>294.43511379473745</c:v>
                </c:pt>
                <c:pt idx="221">
                  <c:v>298.60004969765345</c:v>
                </c:pt>
                <c:pt idx="222">
                  <c:v>299.97684579167401</c:v>
                </c:pt>
                <c:pt idx="223">
                  <c:v>300.69487459484401</c:v>
                </c:pt>
                <c:pt idx="224">
                  <c:v>299.71367170766746</c:v>
                </c:pt>
                <c:pt idx="225">
                  <c:v>299.02074457449652</c:v>
                </c:pt>
                <c:pt idx="226">
                  <c:v>299.87462898556288</c:v>
                </c:pt>
                <c:pt idx="227">
                  <c:v>301.3532604304001</c:v>
                </c:pt>
                <c:pt idx="228">
                  <c:v>303.51661920690202</c:v>
                </c:pt>
                <c:pt idx="229">
                  <c:v>306.65961967037777</c:v>
                </c:pt>
                <c:pt idx="230">
                  <c:v>311.64127434243147</c:v>
                </c:pt>
                <c:pt idx="231">
                  <c:v>315.80271831420612</c:v>
                </c:pt>
                <c:pt idx="232">
                  <c:v>319.98426372195286</c:v>
                </c:pt>
                <c:pt idx="233">
                  <c:v>324.75096183029956</c:v>
                </c:pt>
                <c:pt idx="234">
                  <c:v>328.16683785320396</c:v>
                </c:pt>
                <c:pt idx="235">
                  <c:v>328.27034675303088</c:v>
                </c:pt>
                <c:pt idx="236">
                  <c:v>329.19572868476621</c:v>
                </c:pt>
                <c:pt idx="237">
                  <c:v>330.77510183854343</c:v>
                </c:pt>
                <c:pt idx="238">
                  <c:v>332.2639162599603</c:v>
                </c:pt>
                <c:pt idx="239">
                  <c:v>334.7428241818136</c:v>
                </c:pt>
                <c:pt idx="240">
                  <c:v>339.36362518774496</c:v>
                </c:pt>
              </c:numCache>
            </c:numRef>
          </c:val>
          <c:smooth val="1"/>
          <c:extLst>
            <c:ext xmlns:c16="http://schemas.microsoft.com/office/drawing/2014/chart" uri="{C3380CC4-5D6E-409C-BE32-E72D297353CC}">
              <c16:uniqueId val="{00000000-7606-CF41-B1F6-4BFA12D0334A}"/>
            </c:ext>
          </c:extLst>
        </c:ser>
        <c:ser>
          <c:idx val="1"/>
          <c:order val="1"/>
          <c:tx>
            <c:v>Médian</c:v>
          </c:tx>
          <c:spPr>
            <a:ln w="12700">
              <a:solidFill>
                <a:srgbClr val="AB853F"/>
              </a:solidFill>
            </a:ln>
          </c:spPr>
          <c:marker>
            <c:symbol val="none"/>
          </c:marker>
          <c:cat>
            <c:numRef>
              <c:f>'5.3%'!$B$5:$B$245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'5.3%'!$H$5:$H$245</c:f>
              <c:numCache>
                <c:formatCode>0.0</c:formatCode>
                <c:ptCount val="241"/>
                <c:pt idx="0">
                  <c:v>100</c:v>
                </c:pt>
                <c:pt idx="1">
                  <c:v>100.43843942957839</c:v>
                </c:pt>
                <c:pt idx="2">
                  <c:v>101.03945087299525</c:v>
                </c:pt>
                <c:pt idx="3">
                  <c:v>101.31530532134759</c:v>
                </c:pt>
                <c:pt idx="4">
                  <c:v>101.90538608890888</c:v>
                </c:pt>
                <c:pt idx="5">
                  <c:v>102.81659757460172</c:v>
                </c:pt>
                <c:pt idx="6">
                  <c:v>103.67356292387889</c:v>
                </c:pt>
                <c:pt idx="7">
                  <c:v>104.79932851498509</c:v>
                </c:pt>
                <c:pt idx="8">
                  <c:v>106.80269644295764</c:v>
                </c:pt>
                <c:pt idx="9">
                  <c:v>108.39925563508383</c:v>
                </c:pt>
                <c:pt idx="10">
                  <c:v>110.37879123117636</c:v>
                </c:pt>
                <c:pt idx="11">
                  <c:v>112.66545399853325</c:v>
                </c:pt>
                <c:pt idx="12">
                  <c:v>113.99773818095181</c:v>
                </c:pt>
                <c:pt idx="13">
                  <c:v>114.78775725640087</c:v>
                </c:pt>
                <c:pt idx="14">
                  <c:v>115.9050375450429</c:v>
                </c:pt>
                <c:pt idx="15">
                  <c:v>115.91097077742049</c:v>
                </c:pt>
                <c:pt idx="16">
                  <c:v>115.68421358634126</c:v>
                </c:pt>
                <c:pt idx="17">
                  <c:v>116.05319768604849</c:v>
                </c:pt>
                <c:pt idx="18">
                  <c:v>116.9557428309828</c:v>
                </c:pt>
                <c:pt idx="19">
                  <c:v>117.71186668119647</c:v>
                </c:pt>
                <c:pt idx="20">
                  <c:v>119.1339448019107</c:v>
                </c:pt>
                <c:pt idx="21">
                  <c:v>120.49639252543427</c:v>
                </c:pt>
                <c:pt idx="22">
                  <c:v>121.50672241361663</c:v>
                </c:pt>
                <c:pt idx="23">
                  <c:v>121.87645737619304</c:v>
                </c:pt>
                <c:pt idx="24">
                  <c:v>121.7341175890475</c:v>
                </c:pt>
                <c:pt idx="25">
                  <c:v>121.05109321089061</c:v>
                </c:pt>
                <c:pt idx="26">
                  <c:v>120.09985107701104</c:v>
                </c:pt>
                <c:pt idx="27">
                  <c:v>119.82278146059201</c:v>
                </c:pt>
                <c:pt idx="28">
                  <c:v>119.77576400993478</c:v>
                </c:pt>
                <c:pt idx="29">
                  <c:v>120.01833652695534</c:v>
                </c:pt>
                <c:pt idx="30">
                  <c:v>120.52274654456592</c:v>
                </c:pt>
                <c:pt idx="31">
                  <c:v>121.68436531181621</c:v>
                </c:pt>
                <c:pt idx="32">
                  <c:v>122.51507051628653</c:v>
                </c:pt>
                <c:pt idx="33">
                  <c:v>123.66610150427346</c:v>
                </c:pt>
                <c:pt idx="34">
                  <c:v>124.68065005582741</c:v>
                </c:pt>
                <c:pt idx="35">
                  <c:v>125.86492349658805</c:v>
                </c:pt>
                <c:pt idx="36">
                  <c:v>127.11314512533764</c:v>
                </c:pt>
                <c:pt idx="37">
                  <c:v>128.26742798457974</c:v>
                </c:pt>
                <c:pt idx="38">
                  <c:v>129.6397815350432</c:v>
                </c:pt>
                <c:pt idx="39">
                  <c:v>131.36547687451883</c:v>
                </c:pt>
                <c:pt idx="40">
                  <c:v>132.70445860488692</c:v>
                </c:pt>
                <c:pt idx="41">
                  <c:v>133.44194314336895</c:v>
                </c:pt>
                <c:pt idx="42">
                  <c:v>134.51798974104707</c:v>
                </c:pt>
                <c:pt idx="43">
                  <c:v>132.8002162761465</c:v>
                </c:pt>
                <c:pt idx="44">
                  <c:v>131.75160913053102</c:v>
                </c:pt>
                <c:pt idx="45">
                  <c:v>132.23404752458524</c:v>
                </c:pt>
                <c:pt idx="46">
                  <c:v>134.22172534002371</c:v>
                </c:pt>
                <c:pt idx="47">
                  <c:v>135.8911322204313</c:v>
                </c:pt>
                <c:pt idx="48">
                  <c:v>137.55742702391029</c:v>
                </c:pt>
                <c:pt idx="49">
                  <c:v>137.97835722959627</c:v>
                </c:pt>
                <c:pt idx="50">
                  <c:v>137.74363099529947</c:v>
                </c:pt>
                <c:pt idx="51">
                  <c:v>138.49096314006334</c:v>
                </c:pt>
                <c:pt idx="52">
                  <c:v>139.24487872897274</c:v>
                </c:pt>
                <c:pt idx="53">
                  <c:v>139.78464093334841</c:v>
                </c:pt>
                <c:pt idx="54">
                  <c:v>140.78413110814304</c:v>
                </c:pt>
                <c:pt idx="55">
                  <c:v>141.44365715313504</c:v>
                </c:pt>
                <c:pt idx="56">
                  <c:v>141.56261479819065</c:v>
                </c:pt>
                <c:pt idx="57">
                  <c:v>141.51603385888617</c:v>
                </c:pt>
                <c:pt idx="58">
                  <c:v>141.33800125252742</c:v>
                </c:pt>
                <c:pt idx="59">
                  <c:v>141.83020575664466</c:v>
                </c:pt>
                <c:pt idx="60">
                  <c:v>142.1035140423279</c:v>
                </c:pt>
                <c:pt idx="61">
                  <c:v>141.98434775942917</c:v>
                </c:pt>
                <c:pt idx="62">
                  <c:v>141.99995743711489</c:v>
                </c:pt>
                <c:pt idx="63">
                  <c:v>142.13666803707119</c:v>
                </c:pt>
                <c:pt idx="64">
                  <c:v>142.83999328207491</c:v>
                </c:pt>
                <c:pt idx="65">
                  <c:v>144.58216289578843</c:v>
                </c:pt>
                <c:pt idx="66">
                  <c:v>146.35352705195345</c:v>
                </c:pt>
                <c:pt idx="67">
                  <c:v>148.20740283980797</c:v>
                </c:pt>
                <c:pt idx="68">
                  <c:v>150.18685035021008</c:v>
                </c:pt>
                <c:pt idx="69">
                  <c:v>151.29976940730975</c:v>
                </c:pt>
                <c:pt idx="70">
                  <c:v>151.86030953150348</c:v>
                </c:pt>
                <c:pt idx="71">
                  <c:v>152.77297336988687</c:v>
                </c:pt>
                <c:pt idx="72">
                  <c:v>153.62138326711806</c:v>
                </c:pt>
                <c:pt idx="73">
                  <c:v>154.23659037077891</c:v>
                </c:pt>
                <c:pt idx="74">
                  <c:v>154.33934267117496</c:v>
                </c:pt>
                <c:pt idx="75">
                  <c:v>154.39826848846985</c:v>
                </c:pt>
                <c:pt idx="76">
                  <c:v>154.43580408811496</c:v>
                </c:pt>
                <c:pt idx="77">
                  <c:v>155.16446924084303</c:v>
                </c:pt>
                <c:pt idx="78">
                  <c:v>155.91697826447393</c:v>
                </c:pt>
                <c:pt idx="79">
                  <c:v>156.81281525594147</c:v>
                </c:pt>
                <c:pt idx="80">
                  <c:v>157.72344088157811</c:v>
                </c:pt>
                <c:pt idx="81">
                  <c:v>158.95042550760311</c:v>
                </c:pt>
                <c:pt idx="82">
                  <c:v>159.46097093315154</c:v>
                </c:pt>
                <c:pt idx="83">
                  <c:v>160.25882471893095</c:v>
                </c:pt>
                <c:pt idx="84">
                  <c:v>161.36412594609473</c:v>
                </c:pt>
                <c:pt idx="85">
                  <c:v>163.72687203959492</c:v>
                </c:pt>
                <c:pt idx="86">
                  <c:v>166.07550741185801</c:v>
                </c:pt>
                <c:pt idx="87">
                  <c:v>168.23940029189129</c:v>
                </c:pt>
                <c:pt idx="88">
                  <c:v>169.73960086111322</c:v>
                </c:pt>
                <c:pt idx="89">
                  <c:v>171.91627734334304</c:v>
                </c:pt>
                <c:pt idx="90">
                  <c:v>173.48218991293552</c:v>
                </c:pt>
                <c:pt idx="91">
                  <c:v>174.68034725583647</c:v>
                </c:pt>
                <c:pt idx="92">
                  <c:v>175.71506940242401</c:v>
                </c:pt>
                <c:pt idx="93">
                  <c:v>177.22989512682247</c:v>
                </c:pt>
                <c:pt idx="94">
                  <c:v>177.35190176941012</c:v>
                </c:pt>
                <c:pt idx="95">
                  <c:v>176.36027664779152</c:v>
                </c:pt>
                <c:pt idx="96">
                  <c:v>176.17149771655914</c:v>
                </c:pt>
                <c:pt idx="97">
                  <c:v>176.4438000051959</c:v>
                </c:pt>
                <c:pt idx="98">
                  <c:v>173.97564895400185</c:v>
                </c:pt>
                <c:pt idx="99">
                  <c:v>173.00559047184794</c:v>
                </c:pt>
                <c:pt idx="100">
                  <c:v>173.98020244689545</c:v>
                </c:pt>
                <c:pt idx="101">
                  <c:v>178.18412167400385</c:v>
                </c:pt>
                <c:pt idx="102">
                  <c:v>182.5661312054244</c:v>
                </c:pt>
                <c:pt idx="103">
                  <c:v>185.15105118193765</c:v>
                </c:pt>
                <c:pt idx="104">
                  <c:v>186.23424085178704</c:v>
                </c:pt>
                <c:pt idx="105">
                  <c:v>187.0113316507009</c:v>
                </c:pt>
                <c:pt idx="106">
                  <c:v>187.79063088012009</c:v>
                </c:pt>
                <c:pt idx="107">
                  <c:v>188.73926273813473</c:v>
                </c:pt>
                <c:pt idx="108">
                  <c:v>189.53263557564239</c:v>
                </c:pt>
                <c:pt idx="109">
                  <c:v>189.75820694077035</c:v>
                </c:pt>
                <c:pt idx="110">
                  <c:v>190.15950015905821</c:v>
                </c:pt>
                <c:pt idx="111">
                  <c:v>190.5605482417279</c:v>
                </c:pt>
                <c:pt idx="112">
                  <c:v>189.76305431092001</c:v>
                </c:pt>
                <c:pt idx="113">
                  <c:v>189.37183234192824</c:v>
                </c:pt>
                <c:pt idx="114">
                  <c:v>190.3928402343694</c:v>
                </c:pt>
                <c:pt idx="115">
                  <c:v>191.55213730977272</c:v>
                </c:pt>
                <c:pt idx="116">
                  <c:v>192.25636626817331</c:v>
                </c:pt>
                <c:pt idx="117">
                  <c:v>193.47130601662289</c:v>
                </c:pt>
                <c:pt idx="118">
                  <c:v>195.97891670488369</c:v>
                </c:pt>
                <c:pt idx="119">
                  <c:v>198.35865510530644</c:v>
                </c:pt>
                <c:pt idx="120">
                  <c:v>200.34799179716202</c:v>
                </c:pt>
                <c:pt idx="121">
                  <c:v>202.16102470326805</c:v>
                </c:pt>
                <c:pt idx="122">
                  <c:v>203.33259135044113</c:v>
                </c:pt>
                <c:pt idx="123">
                  <c:v>203.68606572649603</c:v>
                </c:pt>
                <c:pt idx="124">
                  <c:v>202.80852531955495</c:v>
                </c:pt>
                <c:pt idx="125">
                  <c:v>202.39375035991606</c:v>
                </c:pt>
                <c:pt idx="126">
                  <c:v>203.11331350072183</c:v>
                </c:pt>
                <c:pt idx="127">
                  <c:v>203.86290829284897</c:v>
                </c:pt>
                <c:pt idx="128">
                  <c:v>204.46153989106608</c:v>
                </c:pt>
                <c:pt idx="129">
                  <c:v>205.41944035274335</c:v>
                </c:pt>
                <c:pt idx="130">
                  <c:v>206.12696859155901</c:v>
                </c:pt>
                <c:pt idx="131">
                  <c:v>205.85611608052011</c:v>
                </c:pt>
                <c:pt idx="132">
                  <c:v>206.4415294637204</c:v>
                </c:pt>
                <c:pt idx="133">
                  <c:v>207.52844650946068</c:v>
                </c:pt>
                <c:pt idx="134">
                  <c:v>208.85995698534566</c:v>
                </c:pt>
                <c:pt idx="135">
                  <c:v>210.56810410853282</c:v>
                </c:pt>
                <c:pt idx="136">
                  <c:v>212.52953971249059</c:v>
                </c:pt>
                <c:pt idx="137">
                  <c:v>213.71432871361171</c:v>
                </c:pt>
                <c:pt idx="138">
                  <c:v>213.15969362407799</c:v>
                </c:pt>
                <c:pt idx="139">
                  <c:v>212.04313171928266</c:v>
                </c:pt>
                <c:pt idx="140">
                  <c:v>211.19257119348435</c:v>
                </c:pt>
                <c:pt idx="141">
                  <c:v>210.46729839012082</c:v>
                </c:pt>
                <c:pt idx="142">
                  <c:v>210.17715068982898</c:v>
                </c:pt>
                <c:pt idx="143">
                  <c:v>210.26752288820387</c:v>
                </c:pt>
                <c:pt idx="144">
                  <c:v>210.25306638398135</c:v>
                </c:pt>
                <c:pt idx="145">
                  <c:v>209.8676801560878</c:v>
                </c:pt>
                <c:pt idx="146">
                  <c:v>208.8998785347494</c:v>
                </c:pt>
                <c:pt idx="147">
                  <c:v>208.53669986958286</c:v>
                </c:pt>
                <c:pt idx="148">
                  <c:v>208.99469175826914</c:v>
                </c:pt>
                <c:pt idx="149">
                  <c:v>210.27569166711407</c:v>
                </c:pt>
                <c:pt idx="150">
                  <c:v>211.41907269482277</c:v>
                </c:pt>
                <c:pt idx="151">
                  <c:v>212.76134886369638</c:v>
                </c:pt>
                <c:pt idx="152">
                  <c:v>213.60137749569708</c:v>
                </c:pt>
                <c:pt idx="153">
                  <c:v>213.16091117569817</c:v>
                </c:pt>
                <c:pt idx="154">
                  <c:v>209.78891040352249</c:v>
                </c:pt>
                <c:pt idx="155">
                  <c:v>206.53435335668757</c:v>
                </c:pt>
                <c:pt idx="156">
                  <c:v>206.26289649601475</c:v>
                </c:pt>
                <c:pt idx="157">
                  <c:v>206.18329074927766</c:v>
                </c:pt>
                <c:pt idx="158">
                  <c:v>205.24929438258985</c:v>
                </c:pt>
                <c:pt idx="159">
                  <c:v>203.66998470687645</c:v>
                </c:pt>
                <c:pt idx="160">
                  <c:v>201.60471479691634</c:v>
                </c:pt>
                <c:pt idx="161">
                  <c:v>199.71043937916068</c:v>
                </c:pt>
                <c:pt idx="162">
                  <c:v>197.34149227302359</c:v>
                </c:pt>
                <c:pt idx="163">
                  <c:v>196.26282238470696</c:v>
                </c:pt>
                <c:pt idx="164">
                  <c:v>195.19522176672155</c:v>
                </c:pt>
                <c:pt idx="165">
                  <c:v>195.7614522493588</c:v>
                </c:pt>
                <c:pt idx="166">
                  <c:v>197.79233621858731</c:v>
                </c:pt>
                <c:pt idx="167">
                  <c:v>200.42077106992474</c:v>
                </c:pt>
                <c:pt idx="168">
                  <c:v>202.80836753786477</c:v>
                </c:pt>
                <c:pt idx="169">
                  <c:v>204.83061877321776</c:v>
                </c:pt>
                <c:pt idx="170">
                  <c:v>206.13331221994608</c:v>
                </c:pt>
                <c:pt idx="171">
                  <c:v>206.57542770726286</c:v>
                </c:pt>
                <c:pt idx="172">
                  <c:v>206.76479998946903</c:v>
                </c:pt>
                <c:pt idx="173">
                  <c:v>207.14545526618795</c:v>
                </c:pt>
                <c:pt idx="174">
                  <c:v>208.18639103727185</c:v>
                </c:pt>
                <c:pt idx="175">
                  <c:v>209.72153084944665</c:v>
                </c:pt>
                <c:pt idx="176">
                  <c:v>211.78466927658053</c:v>
                </c:pt>
                <c:pt idx="177">
                  <c:v>213.29135894814462</c:v>
                </c:pt>
                <c:pt idx="178">
                  <c:v>214.15891782321376</c:v>
                </c:pt>
                <c:pt idx="179">
                  <c:v>214.36870902271565</c:v>
                </c:pt>
                <c:pt idx="180">
                  <c:v>214.96903005299566</c:v>
                </c:pt>
                <c:pt idx="181">
                  <c:v>215.92804706671097</c:v>
                </c:pt>
                <c:pt idx="182">
                  <c:v>217.37713752990842</c:v>
                </c:pt>
                <c:pt idx="183">
                  <c:v>218.21809747667345</c:v>
                </c:pt>
                <c:pt idx="184">
                  <c:v>220.91197548670107</c:v>
                </c:pt>
                <c:pt idx="185">
                  <c:v>222.95375137097568</c:v>
                </c:pt>
                <c:pt idx="186">
                  <c:v>224.12757799462224</c:v>
                </c:pt>
                <c:pt idx="187">
                  <c:v>224.93219793151906</c:v>
                </c:pt>
                <c:pt idx="188">
                  <c:v>227.5089445798119</c:v>
                </c:pt>
                <c:pt idx="189">
                  <c:v>228.18834025382665</c:v>
                </c:pt>
                <c:pt idx="190">
                  <c:v>228.66355882030859</c:v>
                </c:pt>
                <c:pt idx="191">
                  <c:v>228.80547076731096</c:v>
                </c:pt>
                <c:pt idx="192">
                  <c:v>229.63890595455604</c:v>
                </c:pt>
                <c:pt idx="193">
                  <c:v>229.66741881597872</c:v>
                </c:pt>
                <c:pt idx="194">
                  <c:v>231.01172543961519</c:v>
                </c:pt>
                <c:pt idx="195">
                  <c:v>231.78033804055724</c:v>
                </c:pt>
                <c:pt idx="196">
                  <c:v>233.10179112671247</c:v>
                </c:pt>
                <c:pt idx="197">
                  <c:v>232.97912264531169</c:v>
                </c:pt>
                <c:pt idx="198">
                  <c:v>233.38823772227585</c:v>
                </c:pt>
                <c:pt idx="199">
                  <c:v>233.42777378166474</c:v>
                </c:pt>
                <c:pt idx="200">
                  <c:v>234.51258467755576</c:v>
                </c:pt>
                <c:pt idx="201">
                  <c:v>236.56424680232445</c:v>
                </c:pt>
                <c:pt idx="202">
                  <c:v>239.50619174640602</c:v>
                </c:pt>
                <c:pt idx="203">
                  <c:v>242.05054909467219</c:v>
                </c:pt>
                <c:pt idx="204">
                  <c:v>244.09887417415618</c:v>
                </c:pt>
                <c:pt idx="205">
                  <c:v>246.37724737806195</c:v>
                </c:pt>
                <c:pt idx="206">
                  <c:v>248.42716537614442</c:v>
                </c:pt>
                <c:pt idx="207">
                  <c:v>243.97575503145626</c:v>
                </c:pt>
                <c:pt idx="208">
                  <c:v>241.73592197795159</c:v>
                </c:pt>
                <c:pt idx="209">
                  <c:v>241.08098700267013</c:v>
                </c:pt>
                <c:pt idx="210">
                  <c:v>244.97114024814132</c:v>
                </c:pt>
                <c:pt idx="211">
                  <c:v>246.7646573836802</c:v>
                </c:pt>
                <c:pt idx="212">
                  <c:v>248.80747433473519</c:v>
                </c:pt>
                <c:pt idx="213">
                  <c:v>247.89415049927791</c:v>
                </c:pt>
                <c:pt idx="214">
                  <c:v>247.34823494317641</c:v>
                </c:pt>
                <c:pt idx="215">
                  <c:v>245.92309965157261</c:v>
                </c:pt>
                <c:pt idx="216">
                  <c:v>244.73379083631727</c:v>
                </c:pt>
                <c:pt idx="217">
                  <c:v>244.8970955923678</c:v>
                </c:pt>
                <c:pt idx="218">
                  <c:v>245.49380367866797</c:v>
                </c:pt>
                <c:pt idx="219">
                  <c:v>247.45028699927195</c:v>
                </c:pt>
                <c:pt idx="220">
                  <c:v>250.93710851177198</c:v>
                </c:pt>
                <c:pt idx="221">
                  <c:v>254.22521533908809</c:v>
                </c:pt>
                <c:pt idx="222">
                  <c:v>255.12595605605409</c:v>
                </c:pt>
                <c:pt idx="223">
                  <c:v>255.39646404022525</c:v>
                </c:pt>
                <c:pt idx="224">
                  <c:v>254.11440115379557</c:v>
                </c:pt>
                <c:pt idx="225">
                  <c:v>252.89193823766902</c:v>
                </c:pt>
                <c:pt idx="226">
                  <c:v>253.04569181352667</c:v>
                </c:pt>
                <c:pt idx="227">
                  <c:v>253.81543694337398</c:v>
                </c:pt>
                <c:pt idx="228">
                  <c:v>255.16316995005911</c:v>
                </c:pt>
                <c:pt idx="229">
                  <c:v>257.43492085580084</c:v>
                </c:pt>
                <c:pt idx="230">
                  <c:v>261.2535449305758</c:v>
                </c:pt>
                <c:pt idx="231">
                  <c:v>264.34762309173834</c:v>
                </c:pt>
                <c:pt idx="232">
                  <c:v>267.51708833686394</c:v>
                </c:pt>
                <c:pt idx="233">
                  <c:v>271.14050023161963</c:v>
                </c:pt>
                <c:pt idx="234">
                  <c:v>273.50995276669062</c:v>
                </c:pt>
                <c:pt idx="235">
                  <c:v>273.2190568234131</c:v>
                </c:pt>
                <c:pt idx="236">
                  <c:v>273.93186550206417</c:v>
                </c:pt>
                <c:pt idx="237">
                  <c:v>274.85430476344584</c:v>
                </c:pt>
                <c:pt idx="238">
                  <c:v>275.75226161157843</c:v>
                </c:pt>
                <c:pt idx="239">
                  <c:v>277.46800456552489</c:v>
                </c:pt>
                <c:pt idx="240">
                  <c:v>280.91014486271757</c:v>
                </c:pt>
              </c:numCache>
            </c:numRef>
          </c:val>
          <c:smooth val="1"/>
          <c:extLst>
            <c:ext xmlns:c16="http://schemas.microsoft.com/office/drawing/2014/chart" uri="{C3380CC4-5D6E-409C-BE32-E72D297353CC}">
              <c16:uniqueId val="{00000001-7606-CF41-B1F6-4BFA12D0334A}"/>
            </c:ext>
          </c:extLst>
        </c:ser>
        <c:ser>
          <c:idx val="2"/>
          <c:order val="2"/>
          <c:tx>
            <c:v>Pessimiste</c:v>
          </c:tx>
          <c:spPr>
            <a:ln w="12700">
              <a:solidFill>
                <a:schemeClr val="tx1"/>
              </a:solidFill>
            </a:ln>
          </c:spPr>
          <c:marker>
            <c:symbol val="none"/>
          </c:marker>
          <c:cat>
            <c:numRef>
              <c:f>'5.3%'!$B$5:$B$245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'5.3%'!$L$5:$L$245</c:f>
              <c:numCache>
                <c:formatCode>0.0</c:formatCode>
                <c:ptCount val="241"/>
                <c:pt idx="0">
                  <c:v>100</c:v>
                </c:pt>
                <c:pt idx="1">
                  <c:v>100.30412013918348</c:v>
                </c:pt>
                <c:pt idx="2">
                  <c:v>100.71285733371322</c:v>
                </c:pt>
                <c:pt idx="3">
                  <c:v>100.81687626179873</c:v>
                </c:pt>
                <c:pt idx="4">
                  <c:v>101.22399035124724</c:v>
                </c:pt>
                <c:pt idx="5">
                  <c:v>101.98247651630251</c:v>
                </c:pt>
                <c:pt idx="6">
                  <c:v>102.60848969470987</c:v>
                </c:pt>
                <c:pt idx="7">
                  <c:v>103.47815729929</c:v>
                </c:pt>
                <c:pt idx="8">
                  <c:v>105.30269929607648</c:v>
                </c:pt>
                <c:pt idx="9">
                  <c:v>106.70872184399984</c:v>
                </c:pt>
                <c:pt idx="10">
                  <c:v>108.47909933650202</c:v>
                </c:pt>
                <c:pt idx="11">
                  <c:v>110.57962075978463</c:v>
                </c:pt>
                <c:pt idx="12">
                  <c:v>111.90712145831586</c:v>
                </c:pt>
                <c:pt idx="13">
                  <c:v>112.5703395507382</c:v>
                </c:pt>
                <c:pt idx="14">
                  <c:v>113.58613960172111</c:v>
                </c:pt>
                <c:pt idx="15">
                  <c:v>113.53834592824154</c:v>
                </c:pt>
                <c:pt idx="16">
                  <c:v>113.31748684785242</c:v>
                </c:pt>
                <c:pt idx="17">
                  <c:v>113.6619477817853</c:v>
                </c:pt>
                <c:pt idx="18">
                  <c:v>114.52835950035906</c:v>
                </c:pt>
                <c:pt idx="19">
                  <c:v>115.22257058867848</c:v>
                </c:pt>
                <c:pt idx="20">
                  <c:v>116.52573212644714</c:v>
                </c:pt>
                <c:pt idx="21">
                  <c:v>117.74002841637808</c:v>
                </c:pt>
                <c:pt idx="22">
                  <c:v>118.44024407631586</c:v>
                </c:pt>
                <c:pt idx="23">
                  <c:v>118.44025711469389</c:v>
                </c:pt>
                <c:pt idx="24">
                  <c:v>118.08415820594273</c:v>
                </c:pt>
                <c:pt idx="25">
                  <c:v>117.24290119170126</c:v>
                </c:pt>
                <c:pt idx="26">
                  <c:v>116.11700770361495</c:v>
                </c:pt>
                <c:pt idx="27">
                  <c:v>115.64589081376363</c:v>
                </c:pt>
                <c:pt idx="28">
                  <c:v>115.51371668808771</c:v>
                </c:pt>
                <c:pt idx="29">
                  <c:v>115.60347141455694</c:v>
                </c:pt>
                <c:pt idx="30">
                  <c:v>116.00075808592526</c:v>
                </c:pt>
                <c:pt idx="31">
                  <c:v>117.06228758927985</c:v>
                </c:pt>
                <c:pt idx="32">
                  <c:v>117.89569490972336</c:v>
                </c:pt>
                <c:pt idx="33">
                  <c:v>119.01285987646538</c:v>
                </c:pt>
                <c:pt idx="34">
                  <c:v>120.04185626067293</c:v>
                </c:pt>
                <c:pt idx="35">
                  <c:v>121.04203723103633</c:v>
                </c:pt>
                <c:pt idx="36">
                  <c:v>122.04794862663535</c:v>
                </c:pt>
                <c:pt idx="37">
                  <c:v>122.94542797907472</c:v>
                </c:pt>
                <c:pt idx="38">
                  <c:v>124.03917416383605</c:v>
                </c:pt>
                <c:pt idx="39">
                  <c:v>125.43622222546571</c:v>
                </c:pt>
                <c:pt idx="40">
                  <c:v>126.54556647661451</c:v>
                </c:pt>
                <c:pt idx="41">
                  <c:v>127.07533974423818</c:v>
                </c:pt>
                <c:pt idx="42">
                  <c:v>127.95610457670936</c:v>
                </c:pt>
                <c:pt idx="43">
                  <c:v>126.20418968631529</c:v>
                </c:pt>
                <c:pt idx="44">
                  <c:v>125.08068197737168</c:v>
                </c:pt>
                <c:pt idx="45">
                  <c:v>125.43899746573193</c:v>
                </c:pt>
                <c:pt idx="46">
                  <c:v>127.27846313125993</c:v>
                </c:pt>
                <c:pt idx="47">
                  <c:v>128.93298316478982</c:v>
                </c:pt>
                <c:pt idx="48">
                  <c:v>130.60843834276545</c:v>
                </c:pt>
                <c:pt idx="49">
                  <c:v>131.24384552506535</c:v>
                </c:pt>
                <c:pt idx="50">
                  <c:v>131.23386113077567</c:v>
                </c:pt>
                <c:pt idx="51">
                  <c:v>132.0943718582582</c:v>
                </c:pt>
                <c:pt idx="52">
                  <c:v>132.91257272717888</c:v>
                </c:pt>
                <c:pt idx="53">
                  <c:v>133.54272840619561</c:v>
                </c:pt>
                <c:pt idx="54">
                  <c:v>134.40742497624899</c:v>
                </c:pt>
                <c:pt idx="55">
                  <c:v>134.90274296829779</c:v>
                </c:pt>
                <c:pt idx="56">
                  <c:v>134.93738589027407</c:v>
                </c:pt>
                <c:pt idx="57">
                  <c:v>134.78862200675806</c:v>
                </c:pt>
                <c:pt idx="58">
                  <c:v>134.48286916857302</c:v>
                </c:pt>
                <c:pt idx="59">
                  <c:v>134.85167084310964</c:v>
                </c:pt>
                <c:pt idx="60">
                  <c:v>135.10481913967769</c:v>
                </c:pt>
                <c:pt idx="61">
                  <c:v>134.93485794603887</c:v>
                </c:pt>
                <c:pt idx="62">
                  <c:v>134.88543967914941</c:v>
                </c:pt>
                <c:pt idx="63">
                  <c:v>134.94921013221355</c:v>
                </c:pt>
                <c:pt idx="64">
                  <c:v>135.66152317264638</c:v>
                </c:pt>
                <c:pt idx="65">
                  <c:v>137.30569311408757</c:v>
                </c:pt>
                <c:pt idx="66">
                  <c:v>138.99492533312926</c:v>
                </c:pt>
                <c:pt idx="67">
                  <c:v>140.68622584824743</c:v>
                </c:pt>
                <c:pt idx="68">
                  <c:v>142.55533259046194</c:v>
                </c:pt>
                <c:pt idx="69">
                  <c:v>143.47394083897498</c:v>
                </c:pt>
                <c:pt idx="70">
                  <c:v>143.87328724503269</c:v>
                </c:pt>
                <c:pt idx="71">
                  <c:v>144.61041864306623</c:v>
                </c:pt>
                <c:pt idx="72">
                  <c:v>145.32173855747988</c:v>
                </c:pt>
                <c:pt idx="73">
                  <c:v>145.78078604793447</c:v>
                </c:pt>
                <c:pt idx="74">
                  <c:v>145.84677088089217</c:v>
                </c:pt>
                <c:pt idx="75">
                  <c:v>145.86659754450551</c:v>
                </c:pt>
                <c:pt idx="76">
                  <c:v>145.79269094819512</c:v>
                </c:pt>
                <c:pt idx="77">
                  <c:v>146.43615955411533</c:v>
                </c:pt>
                <c:pt idx="78">
                  <c:v>147.04442858225843</c:v>
                </c:pt>
                <c:pt idx="79">
                  <c:v>147.82335744790083</c:v>
                </c:pt>
                <c:pt idx="80">
                  <c:v>148.7494673051871</c:v>
                </c:pt>
                <c:pt idx="81">
                  <c:v>149.95723573256231</c:v>
                </c:pt>
                <c:pt idx="82">
                  <c:v>150.49418197363383</c:v>
                </c:pt>
                <c:pt idx="83">
                  <c:v>151.2847215883545</c:v>
                </c:pt>
                <c:pt idx="84">
                  <c:v>152.18730279973562</c:v>
                </c:pt>
                <c:pt idx="85">
                  <c:v>154.07487378604674</c:v>
                </c:pt>
                <c:pt idx="86">
                  <c:v>156.05075492873274</c:v>
                </c:pt>
                <c:pt idx="87">
                  <c:v>157.79529628091086</c:v>
                </c:pt>
                <c:pt idx="88">
                  <c:v>158.94971957112037</c:v>
                </c:pt>
                <c:pt idx="89">
                  <c:v>160.83095405854905</c:v>
                </c:pt>
                <c:pt idx="90">
                  <c:v>162.23697199738848</c:v>
                </c:pt>
                <c:pt idx="91">
                  <c:v>163.24802414468272</c:v>
                </c:pt>
                <c:pt idx="92">
                  <c:v>164.07175131719265</c:v>
                </c:pt>
                <c:pt idx="93">
                  <c:v>165.36391870434281</c:v>
                </c:pt>
                <c:pt idx="94">
                  <c:v>165.41479022429172</c:v>
                </c:pt>
                <c:pt idx="95">
                  <c:v>164.43271729650596</c:v>
                </c:pt>
                <c:pt idx="96">
                  <c:v>164.19829126288622</c:v>
                </c:pt>
                <c:pt idx="97">
                  <c:v>164.3622060988038</c:v>
                </c:pt>
                <c:pt idx="98">
                  <c:v>161.91127839720116</c:v>
                </c:pt>
                <c:pt idx="99">
                  <c:v>160.5795630657577</c:v>
                </c:pt>
                <c:pt idx="100">
                  <c:v>161.01780942148133</c:v>
                </c:pt>
                <c:pt idx="101">
                  <c:v>164.42237203779101</c:v>
                </c:pt>
                <c:pt idx="102">
                  <c:v>168.00012903220428</c:v>
                </c:pt>
                <c:pt idx="103">
                  <c:v>169.97585965954497</c:v>
                </c:pt>
                <c:pt idx="104">
                  <c:v>170.96263106409671</c:v>
                </c:pt>
                <c:pt idx="105">
                  <c:v>171.72433944442395</c:v>
                </c:pt>
                <c:pt idx="106">
                  <c:v>172.58183535091868</c:v>
                </c:pt>
                <c:pt idx="107">
                  <c:v>173.44481627700236</c:v>
                </c:pt>
                <c:pt idx="108">
                  <c:v>174.05976376151662</c:v>
                </c:pt>
                <c:pt idx="109">
                  <c:v>173.94054725904599</c:v>
                </c:pt>
                <c:pt idx="110">
                  <c:v>173.92304051386455</c:v>
                </c:pt>
                <c:pt idx="111">
                  <c:v>173.92493088113287</c:v>
                </c:pt>
                <c:pt idx="112">
                  <c:v>173.00218485116235</c:v>
                </c:pt>
                <c:pt idx="113">
                  <c:v>172.60104183597821</c:v>
                </c:pt>
                <c:pt idx="114">
                  <c:v>173.5713324503991</c:v>
                </c:pt>
                <c:pt idx="115">
                  <c:v>174.74015064316862</c:v>
                </c:pt>
                <c:pt idx="116">
                  <c:v>175.3761724188503</c:v>
                </c:pt>
                <c:pt idx="117">
                  <c:v>176.52424925933164</c:v>
                </c:pt>
                <c:pt idx="118">
                  <c:v>178.74144769168186</c:v>
                </c:pt>
                <c:pt idx="119">
                  <c:v>180.79374467792957</c:v>
                </c:pt>
                <c:pt idx="120">
                  <c:v>182.49740576336751</c:v>
                </c:pt>
                <c:pt idx="121">
                  <c:v>184.0724219532367</c:v>
                </c:pt>
                <c:pt idx="122">
                  <c:v>185.0342818317545</c:v>
                </c:pt>
                <c:pt idx="123">
                  <c:v>185.4167124578064</c:v>
                </c:pt>
                <c:pt idx="124">
                  <c:v>184.49032784347429</c:v>
                </c:pt>
                <c:pt idx="125">
                  <c:v>183.72233030569586</c:v>
                </c:pt>
                <c:pt idx="126">
                  <c:v>183.91304442214278</c:v>
                </c:pt>
                <c:pt idx="127">
                  <c:v>183.9949599489963</c:v>
                </c:pt>
                <c:pt idx="128">
                  <c:v>183.66915206774095</c:v>
                </c:pt>
                <c:pt idx="129">
                  <c:v>183.73669275126269</c:v>
                </c:pt>
                <c:pt idx="130">
                  <c:v>183.75217575705292</c:v>
                </c:pt>
                <c:pt idx="131">
                  <c:v>182.86487693128271</c:v>
                </c:pt>
                <c:pt idx="132">
                  <c:v>182.86786914054903</c:v>
                </c:pt>
                <c:pt idx="133">
                  <c:v>183.65924664972178</c:v>
                </c:pt>
                <c:pt idx="134">
                  <c:v>184.85826673426678</c:v>
                </c:pt>
                <c:pt idx="135">
                  <c:v>186.5452667991222</c:v>
                </c:pt>
                <c:pt idx="136">
                  <c:v>188.65393412352122</c:v>
                </c:pt>
                <c:pt idx="137">
                  <c:v>190.10407488180894</c:v>
                </c:pt>
                <c:pt idx="138">
                  <c:v>189.85274592730747</c:v>
                </c:pt>
                <c:pt idx="139">
                  <c:v>189.08545475548271</c:v>
                </c:pt>
                <c:pt idx="140">
                  <c:v>188.52517255540013</c:v>
                </c:pt>
                <c:pt idx="141">
                  <c:v>188.10420855696594</c:v>
                </c:pt>
                <c:pt idx="142">
                  <c:v>187.92620759465746</c:v>
                </c:pt>
                <c:pt idx="143">
                  <c:v>188.09864770009892</c:v>
                </c:pt>
                <c:pt idx="144">
                  <c:v>188.01585624778156</c:v>
                </c:pt>
                <c:pt idx="145">
                  <c:v>187.43793342138946</c:v>
                </c:pt>
                <c:pt idx="146">
                  <c:v>186.20552293691759</c:v>
                </c:pt>
                <c:pt idx="147">
                  <c:v>185.44294572563791</c:v>
                </c:pt>
                <c:pt idx="148">
                  <c:v>185.47274037364244</c:v>
                </c:pt>
                <c:pt idx="149">
                  <c:v>186.17660040380773</c:v>
                </c:pt>
                <c:pt idx="150">
                  <c:v>186.8429895576659</c:v>
                </c:pt>
                <c:pt idx="151">
                  <c:v>187.66850869054539</c:v>
                </c:pt>
                <c:pt idx="152">
                  <c:v>188.22450593708405</c:v>
                </c:pt>
                <c:pt idx="153">
                  <c:v>187.55094827781906</c:v>
                </c:pt>
                <c:pt idx="154">
                  <c:v>184.51287893954606</c:v>
                </c:pt>
                <c:pt idx="155">
                  <c:v>181.652982420591</c:v>
                </c:pt>
                <c:pt idx="156">
                  <c:v>181.6473203882633</c:v>
                </c:pt>
                <c:pt idx="157">
                  <c:v>181.87227625966329</c:v>
                </c:pt>
                <c:pt idx="158">
                  <c:v>181.34338260203594</c:v>
                </c:pt>
                <c:pt idx="159">
                  <c:v>180.26124229548864</c:v>
                </c:pt>
                <c:pt idx="160">
                  <c:v>178.63864671023535</c:v>
                </c:pt>
                <c:pt idx="161">
                  <c:v>177.13288460689984</c:v>
                </c:pt>
                <c:pt idx="162">
                  <c:v>175.0852761630745</c:v>
                </c:pt>
                <c:pt idx="163">
                  <c:v>174.08860383872513</c:v>
                </c:pt>
                <c:pt idx="164">
                  <c:v>172.97938874706071</c:v>
                </c:pt>
                <c:pt idx="165">
                  <c:v>173.37307486450325</c:v>
                </c:pt>
                <c:pt idx="166">
                  <c:v>174.91413685509266</c:v>
                </c:pt>
                <c:pt idx="167">
                  <c:v>176.94512162090984</c:v>
                </c:pt>
                <c:pt idx="168">
                  <c:v>178.70991523962229</c:v>
                </c:pt>
                <c:pt idx="169">
                  <c:v>180.25236247528258</c:v>
                </c:pt>
                <c:pt idx="170">
                  <c:v>181.11917854988224</c:v>
                </c:pt>
                <c:pt idx="171">
                  <c:v>181.34695805420779</c:v>
                </c:pt>
                <c:pt idx="172">
                  <c:v>181.57987362280841</c:v>
                </c:pt>
                <c:pt idx="173">
                  <c:v>182.10062716665894</c:v>
                </c:pt>
                <c:pt idx="174">
                  <c:v>183.16450180797972</c:v>
                </c:pt>
                <c:pt idx="175">
                  <c:v>184.72694318235955</c:v>
                </c:pt>
                <c:pt idx="176">
                  <c:v>186.47380768447877</c:v>
                </c:pt>
                <c:pt idx="177">
                  <c:v>187.60257329630318</c:v>
                </c:pt>
                <c:pt idx="178">
                  <c:v>188.27512609917085</c:v>
                </c:pt>
                <c:pt idx="179">
                  <c:v>188.29268070531504</c:v>
                </c:pt>
                <c:pt idx="180">
                  <c:v>188.74391998288556</c:v>
                </c:pt>
                <c:pt idx="181">
                  <c:v>189.74004227449456</c:v>
                </c:pt>
                <c:pt idx="182">
                  <c:v>191.16918168415611</c:v>
                </c:pt>
                <c:pt idx="183">
                  <c:v>191.91583987468798</c:v>
                </c:pt>
                <c:pt idx="184">
                  <c:v>194.32958276863482</c:v>
                </c:pt>
                <c:pt idx="185">
                  <c:v>195.81349601391338</c:v>
                </c:pt>
                <c:pt idx="186">
                  <c:v>196.56695690590823</c:v>
                </c:pt>
                <c:pt idx="187">
                  <c:v>196.89699757304825</c:v>
                </c:pt>
                <c:pt idx="188">
                  <c:v>198.69644821033387</c:v>
                </c:pt>
                <c:pt idx="189">
                  <c:v>198.77169371129759</c:v>
                </c:pt>
                <c:pt idx="190">
                  <c:v>198.92424570020989</c:v>
                </c:pt>
                <c:pt idx="191">
                  <c:v>198.75155115789406</c:v>
                </c:pt>
                <c:pt idx="192">
                  <c:v>199.1973919766109</c:v>
                </c:pt>
                <c:pt idx="193">
                  <c:v>198.97234073670631</c:v>
                </c:pt>
                <c:pt idx="194">
                  <c:v>199.94364113270257</c:v>
                </c:pt>
                <c:pt idx="195">
                  <c:v>200.24909076064489</c:v>
                </c:pt>
                <c:pt idx="196">
                  <c:v>200.8913994858128</c:v>
                </c:pt>
                <c:pt idx="197">
                  <c:v>200.32798285873642</c:v>
                </c:pt>
                <c:pt idx="198">
                  <c:v>200.43666968629998</c:v>
                </c:pt>
                <c:pt idx="199">
                  <c:v>200.11430192030224</c:v>
                </c:pt>
                <c:pt idx="200">
                  <c:v>200.81118871668417</c:v>
                </c:pt>
                <c:pt idx="201">
                  <c:v>202.35928704490041</c:v>
                </c:pt>
                <c:pt idx="202">
                  <c:v>204.55777231791723</c:v>
                </c:pt>
                <c:pt idx="203">
                  <c:v>206.37921596451872</c:v>
                </c:pt>
                <c:pt idx="204">
                  <c:v>207.91994831335558</c:v>
                </c:pt>
                <c:pt idx="205">
                  <c:v>209.68078378517174</c:v>
                </c:pt>
                <c:pt idx="206">
                  <c:v>211.14231396585504</c:v>
                </c:pt>
                <c:pt idx="207">
                  <c:v>207.21526020029319</c:v>
                </c:pt>
                <c:pt idx="208">
                  <c:v>205.05576464555423</c:v>
                </c:pt>
                <c:pt idx="209">
                  <c:v>204.10006142677886</c:v>
                </c:pt>
                <c:pt idx="210">
                  <c:v>207.04710890254799</c:v>
                </c:pt>
                <c:pt idx="211">
                  <c:v>208.44980017048641</c:v>
                </c:pt>
                <c:pt idx="212">
                  <c:v>209.97881076922224</c:v>
                </c:pt>
                <c:pt idx="213">
                  <c:v>209.11066779993169</c:v>
                </c:pt>
                <c:pt idx="214">
                  <c:v>208.65627477682867</c:v>
                </c:pt>
                <c:pt idx="215">
                  <c:v>207.35442471503586</c:v>
                </c:pt>
                <c:pt idx="216">
                  <c:v>206.12498679151048</c:v>
                </c:pt>
                <c:pt idx="217">
                  <c:v>206.25205799460775</c:v>
                </c:pt>
                <c:pt idx="218">
                  <c:v>206.59639342660566</c:v>
                </c:pt>
                <c:pt idx="219">
                  <c:v>207.8937540371067</c:v>
                </c:pt>
                <c:pt idx="220">
                  <c:v>210.53253164404487</c:v>
                </c:pt>
                <c:pt idx="221">
                  <c:v>213.08316974051806</c:v>
                </c:pt>
                <c:pt idx="222">
                  <c:v>213.55602217494581</c:v>
                </c:pt>
                <c:pt idx="223">
                  <c:v>213.54524687595622</c:v>
                </c:pt>
                <c:pt idx="224">
                  <c:v>212.51173627701331</c:v>
                </c:pt>
                <c:pt idx="225">
                  <c:v>211.53223963828435</c:v>
                </c:pt>
                <c:pt idx="226">
                  <c:v>211.69301287977012</c:v>
                </c:pt>
                <c:pt idx="227">
                  <c:v>212.17120872163076</c:v>
                </c:pt>
                <c:pt idx="228">
                  <c:v>213.18770998317348</c:v>
                </c:pt>
                <c:pt idx="229">
                  <c:v>214.8961975340155</c:v>
                </c:pt>
                <c:pt idx="230">
                  <c:v>217.83954694087384</c:v>
                </c:pt>
                <c:pt idx="231">
                  <c:v>220.27853187855106</c:v>
                </c:pt>
                <c:pt idx="232">
                  <c:v>222.87625557299268</c:v>
                </c:pt>
                <c:pt idx="233">
                  <c:v>225.8450905693189</c:v>
                </c:pt>
                <c:pt idx="234">
                  <c:v>227.59108579225182</c:v>
                </c:pt>
                <c:pt idx="235">
                  <c:v>227.14149291872053</c:v>
                </c:pt>
                <c:pt idx="236">
                  <c:v>227.47212274838174</c:v>
                </c:pt>
                <c:pt idx="237">
                  <c:v>228.01710856475046</c:v>
                </c:pt>
                <c:pt idx="238">
                  <c:v>228.35583552788711</c:v>
                </c:pt>
                <c:pt idx="239">
                  <c:v>229.55237547706952</c:v>
                </c:pt>
                <c:pt idx="240">
                  <c:v>232.10589380879333</c:v>
                </c:pt>
              </c:numCache>
            </c:numRef>
          </c:val>
          <c:smooth val="1"/>
          <c:extLst>
            <c:ext xmlns:c16="http://schemas.microsoft.com/office/drawing/2014/chart" uri="{C3380CC4-5D6E-409C-BE32-E72D297353CC}">
              <c16:uniqueId val="{00000002-7606-CF41-B1F6-4BFA12D0334A}"/>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majorGridlines>
          <c:spPr>
            <a:ln w="9525">
              <a:solidFill>
                <a:srgbClr val="AB853F">
                  <a:alpha val="9757"/>
                </a:srgbClr>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72768"/>
        <c:crosses val="autoZero"/>
        <c:auto val="1"/>
        <c:lblAlgn val="ctr"/>
        <c:lblOffset val="100"/>
        <c:tickLblSkip val="60"/>
        <c:noMultiLvlLbl val="0"/>
      </c:catAx>
      <c:valAx>
        <c:axId val="48672768"/>
        <c:scaling>
          <c:orientation val="minMax"/>
          <c:max val="350"/>
          <c:min val="100"/>
        </c:scaling>
        <c:delete val="0"/>
        <c:axPos val="l"/>
        <c:majorGridlines>
          <c:spPr>
            <a:ln w="9525">
              <a:solidFill>
                <a:srgbClr val="CCCCCC"/>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50112"/>
        <c:crosses val="autoZero"/>
        <c:crossBetween val="between"/>
      </c:valAx>
    </c:plotArea>
    <c:plotVisOnly val="1"/>
    <c:dispBlanksAs val="zero"/>
    <c:showDLblsOverMax val="1"/>
  </c:chart>
  <c:spPr>
    <a:solidFill>
      <a:srgbClr val="FCF9EF"/>
    </a:solidFill>
    <a:ln w="9525">
      <a:noFill/>
      <a:prstDash val="solid"/>
    </a:ln>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470531535166164"/>
          <c:y val="0.17574079950486612"/>
          <c:w val="0.54605642645930952"/>
          <c:h val="0.73511438169892818"/>
        </c:manualLayout>
      </c:layout>
      <c:doughnutChart>
        <c:varyColors val="1"/>
        <c:ser>
          <c:idx val="0"/>
          <c:order val="0"/>
          <c:spPr>
            <a:ln>
              <a:prstDash val="solid"/>
            </a:ln>
          </c:spPr>
          <c:dPt>
            <c:idx val="0"/>
            <c:bubble3D val="0"/>
            <c:spPr>
              <a:solidFill>
                <a:srgbClr val="102D1A"/>
              </a:solidFill>
              <a:ln w="15875">
                <a:solidFill>
                  <a:srgbClr val="FFFFFF"/>
                </a:solidFill>
                <a:prstDash val="solid"/>
              </a:ln>
            </c:spPr>
            <c:extLst>
              <c:ext xmlns:c16="http://schemas.microsoft.com/office/drawing/2014/chart" uri="{C3380CC4-5D6E-409C-BE32-E72D297353CC}">
                <c16:uniqueId val="{00000001-AC32-8841-A09A-B4E89A7EE0B3}"/>
              </c:ext>
            </c:extLst>
          </c:dPt>
          <c:dPt>
            <c:idx val="1"/>
            <c:bubble3D val="0"/>
            <c:spPr>
              <a:solidFill>
                <a:srgbClr val="102D1A"/>
              </a:solidFill>
              <a:ln w="15875">
                <a:solidFill>
                  <a:srgbClr val="FFFFFF"/>
                </a:solidFill>
                <a:prstDash val="solid"/>
              </a:ln>
            </c:spPr>
            <c:extLst>
              <c:ext xmlns:c16="http://schemas.microsoft.com/office/drawing/2014/chart" uri="{C3380CC4-5D6E-409C-BE32-E72D297353CC}">
                <c16:uniqueId val="{00000003-AC32-8841-A09A-B4E89A7EE0B3}"/>
              </c:ext>
            </c:extLst>
          </c:dPt>
          <c:dPt>
            <c:idx val="2"/>
            <c:bubble3D val="0"/>
            <c:spPr>
              <a:solidFill>
                <a:srgbClr val="102D1A"/>
              </a:solidFill>
              <a:ln w="15875">
                <a:solidFill>
                  <a:srgbClr val="FFFFFF"/>
                </a:solidFill>
                <a:prstDash val="solid"/>
              </a:ln>
            </c:spPr>
            <c:extLst>
              <c:ext xmlns:c16="http://schemas.microsoft.com/office/drawing/2014/chart" uri="{C3380CC4-5D6E-409C-BE32-E72D297353CC}">
                <c16:uniqueId val="{00000005-AC32-8841-A09A-B4E89A7EE0B3}"/>
              </c:ext>
            </c:extLst>
          </c:dPt>
          <c:dPt>
            <c:idx val="3"/>
            <c:bubble3D val="0"/>
            <c:spPr>
              <a:solidFill>
                <a:srgbClr val="A8823F"/>
              </a:solidFill>
              <a:ln w="15875">
                <a:solidFill>
                  <a:srgbClr val="FFFFFF"/>
                </a:solidFill>
                <a:prstDash val="solid"/>
              </a:ln>
            </c:spPr>
            <c:extLst>
              <c:ext xmlns:c16="http://schemas.microsoft.com/office/drawing/2014/chart" uri="{C3380CC4-5D6E-409C-BE32-E72D297353CC}">
                <c16:uniqueId val="{00000007-AC32-8841-A09A-B4E89A7EE0B3}"/>
              </c:ext>
            </c:extLst>
          </c:dPt>
          <c:dPt>
            <c:idx val="4"/>
            <c:bubble3D val="0"/>
            <c:spPr>
              <a:solidFill>
                <a:srgbClr val="A8823F"/>
              </a:solidFill>
              <a:ln w="15875">
                <a:solidFill>
                  <a:srgbClr val="FFFFFF"/>
                </a:solidFill>
                <a:prstDash val="solid"/>
              </a:ln>
            </c:spPr>
            <c:extLst>
              <c:ext xmlns:c16="http://schemas.microsoft.com/office/drawing/2014/chart" uri="{C3380CC4-5D6E-409C-BE32-E72D297353CC}">
                <c16:uniqueId val="{00000009-AC32-8841-A09A-B4E89A7EE0B3}"/>
              </c:ext>
            </c:extLst>
          </c:dPt>
          <c:dPt>
            <c:idx val="5"/>
            <c:bubble3D val="0"/>
            <c:spPr>
              <a:solidFill>
                <a:srgbClr val="B3A792"/>
              </a:solidFill>
              <a:ln w="15875">
                <a:solidFill>
                  <a:srgbClr val="FFFFFF"/>
                </a:solidFill>
                <a:prstDash val="solid"/>
              </a:ln>
            </c:spPr>
            <c:extLst>
              <c:ext xmlns:c16="http://schemas.microsoft.com/office/drawing/2014/chart" uri="{C3380CC4-5D6E-409C-BE32-E72D297353CC}">
                <c16:uniqueId val="{0000000B-AC32-8841-A09A-B4E89A7EE0B3}"/>
              </c:ext>
            </c:extLst>
          </c:dPt>
          <c:dPt>
            <c:idx val="6"/>
            <c:bubble3D val="0"/>
            <c:spPr>
              <a:solidFill>
                <a:srgbClr val="B3A792"/>
              </a:solidFill>
              <a:ln w="15875">
                <a:solidFill>
                  <a:srgbClr val="FFFFFF"/>
                </a:solidFill>
                <a:prstDash val="solid"/>
              </a:ln>
            </c:spPr>
            <c:extLst>
              <c:ext xmlns:c16="http://schemas.microsoft.com/office/drawing/2014/chart" uri="{C3380CC4-5D6E-409C-BE32-E72D297353CC}">
                <c16:uniqueId val="{0000000D-AC32-8841-A09A-B4E89A7EE0B3}"/>
              </c:ext>
            </c:extLst>
          </c:dPt>
          <c:dPt>
            <c:idx val="7"/>
            <c:bubble3D val="0"/>
            <c:spPr>
              <a:solidFill>
                <a:srgbClr val="B3A792"/>
              </a:solidFill>
              <a:ln w="15875">
                <a:solidFill>
                  <a:srgbClr val="FFFFFF"/>
                </a:solidFill>
                <a:prstDash val="solid"/>
              </a:ln>
            </c:spPr>
            <c:extLst>
              <c:ext xmlns:c16="http://schemas.microsoft.com/office/drawing/2014/chart" uri="{C3380CC4-5D6E-409C-BE32-E72D297353CC}">
                <c16:uniqueId val="{0000000F-AC32-8841-A09A-B4E89A7EE0B3}"/>
              </c:ext>
            </c:extLst>
          </c:dPt>
          <c:dPt>
            <c:idx val="8"/>
            <c:bubble3D val="0"/>
            <c:spPr>
              <a:solidFill>
                <a:srgbClr val="183E26"/>
              </a:solidFill>
              <a:ln w="15875">
                <a:solidFill>
                  <a:srgbClr val="FFFFFF"/>
                </a:solidFill>
                <a:prstDash val="solid"/>
              </a:ln>
            </c:spPr>
            <c:extLst>
              <c:ext xmlns:c16="http://schemas.microsoft.com/office/drawing/2014/chart" uri="{C3380CC4-5D6E-409C-BE32-E72D297353CC}">
                <c16:uniqueId val="{00000011-AC32-8841-A09A-B4E89A7EE0B3}"/>
              </c:ext>
            </c:extLst>
          </c:dPt>
          <c:dLbls>
            <c:dLbl>
              <c:idx val="1"/>
              <c:layout>
                <c:manualLayout>
                  <c:x val="0.17441992978786944"/>
                  <c:y val="-8.4930804513900726E-2"/>
                </c:manualLayout>
              </c:layout>
              <c:tx>
                <c:rich>
                  <a:bodyPr/>
                  <a:lstStyle/>
                  <a:p>
                    <a:pPr>
                      <a:defRPr sz="1050" b="1">
                        <a:solidFill>
                          <a:srgbClr val="1A1A1A"/>
                        </a:solidFill>
                        <a:latin typeface="Arial"/>
                      </a:defRPr>
                    </a:pPr>
                    <a:r>
                      <a:rPr lang="en-US" b="0" i="0">
                        <a:latin typeface="Jost Light" pitchFamily="2" charset="77"/>
                        <a:ea typeface="Jost Light" pitchFamily="2" charset="77"/>
                      </a:rPr>
                      <a:t>Exposition</a:t>
                    </a:r>
                    <a:r>
                      <a:rPr lang="en-US" b="0" i="0" baseline="0">
                        <a:latin typeface="Jost Light" pitchFamily="2" charset="77"/>
                        <a:ea typeface="Jost Light" pitchFamily="2" charset="77"/>
                      </a:rPr>
                      <a:t> actions </a:t>
                    </a:r>
                  </a:p>
                  <a:p>
                    <a:pPr>
                      <a:defRPr sz="1050" b="1">
                        <a:solidFill>
                          <a:srgbClr val="1A1A1A"/>
                        </a:solidFill>
                        <a:latin typeface="Arial"/>
                      </a:defRPr>
                    </a:pPr>
                    <a:r>
                      <a:rPr lang="en-US" sz="1400" b="0" i="0" baseline="0">
                        <a:latin typeface="Jost Medium" pitchFamily="2" charset="77"/>
                        <a:ea typeface="Jost Medium" pitchFamily="2" charset="77"/>
                      </a:rPr>
                      <a:t>24%</a:t>
                    </a:r>
                    <a:endParaRPr lang="en-US" sz="1400" b="0" i="0">
                      <a:latin typeface="Jost Medium" pitchFamily="2" charset="77"/>
                      <a:ea typeface="Jost Medium" pitchFamily="2" charset="77"/>
                    </a:endParaRPr>
                  </a:p>
                </c:rich>
              </c:tx>
              <c:spPr/>
              <c:showLegendKey val="0"/>
              <c:showVal val="0"/>
              <c:showCatName val="1"/>
              <c:showSerName val="0"/>
              <c:showPercent val="0"/>
              <c:showBubbleSize val="0"/>
              <c:extLst>
                <c:ext xmlns:c15="http://schemas.microsoft.com/office/drawing/2012/chart" uri="{CE6537A1-D6FC-4f65-9D91-7224C49458BB}">
                  <c15:layout>
                    <c:manualLayout>
                      <c:w val="0.25400984668539794"/>
                      <c:h val="0.13397410512678626"/>
                    </c:manualLayout>
                  </c15:layout>
                  <c15:showDataLabelsRange val="0"/>
                </c:ext>
                <c:ext xmlns:c16="http://schemas.microsoft.com/office/drawing/2014/chart" uri="{C3380CC4-5D6E-409C-BE32-E72D297353CC}">
                  <c16:uniqueId val="{00000003-AC32-8841-A09A-B4E89A7EE0B3}"/>
                </c:ext>
              </c:extLst>
            </c:dLbl>
            <c:dLbl>
              <c:idx val="3"/>
              <c:layout>
                <c:manualLayout>
                  <c:x val="0.15539123850325542"/>
                  <c:y val="0.17319196141732077"/>
                </c:manualLayout>
              </c:layout>
              <c:tx>
                <c:rich>
                  <a:bodyPr/>
                  <a:lstStyle/>
                  <a:p>
                    <a:pPr>
                      <a:defRPr sz="1050" b="1">
                        <a:solidFill>
                          <a:srgbClr val="A8823F"/>
                        </a:solidFill>
                        <a:latin typeface="Arial"/>
                      </a:defRPr>
                    </a:pPr>
                    <a:r>
                      <a:rPr lang="en-US" b="0" i="0">
                        <a:latin typeface="Jost Light" pitchFamily="2" charset="77"/>
                        <a:ea typeface="Jost Light" pitchFamily="2" charset="77"/>
                      </a:rPr>
                      <a:t>Exposition </a:t>
                    </a:r>
                    <a:r>
                      <a:rPr lang="en-US" b="0" i="0" err="1">
                        <a:latin typeface="Jost Light" pitchFamily="2" charset="77"/>
                        <a:ea typeface="Jost Light" pitchFamily="2" charset="77"/>
                      </a:rPr>
                      <a:t>obligataire</a:t>
                    </a:r>
                    <a:endParaRPr lang="en-US" b="0" i="0">
                      <a:latin typeface="Jost Light" pitchFamily="2" charset="77"/>
                      <a:ea typeface="Jost Light" pitchFamily="2" charset="77"/>
                    </a:endParaRPr>
                  </a:p>
                  <a:p>
                    <a:pPr>
                      <a:defRPr sz="1050" b="1">
                        <a:solidFill>
                          <a:srgbClr val="A8823F"/>
                        </a:solidFill>
                        <a:latin typeface="Arial"/>
                      </a:defRPr>
                    </a:pPr>
                    <a:r>
                      <a:rPr lang="en-US" sz="1400" b="0" i="0">
                        <a:latin typeface="Jost Medium" pitchFamily="2" charset="77"/>
                        <a:ea typeface="Jost Medium" pitchFamily="2" charset="77"/>
                      </a:rPr>
                      <a:t>27%</a:t>
                    </a:r>
                  </a:p>
                </c:rich>
              </c:tx>
              <c:spPr/>
              <c:showLegendKey val="0"/>
              <c:showVal val="0"/>
              <c:showCatName val="1"/>
              <c:showSerName val="0"/>
              <c:showPercent val="0"/>
              <c:showBubbleSize val="0"/>
              <c:extLst>
                <c:ext xmlns:c15="http://schemas.microsoft.com/office/drawing/2012/chart" uri="{CE6537A1-D6FC-4f65-9D91-7224C49458BB}">
                  <c15:layout>
                    <c:manualLayout>
                      <c:w val="0.28522562771986293"/>
                      <c:h val="0.13064349048414547"/>
                    </c:manualLayout>
                  </c15:layout>
                  <c15:showDataLabelsRange val="0"/>
                </c:ext>
                <c:ext xmlns:c16="http://schemas.microsoft.com/office/drawing/2014/chart" uri="{C3380CC4-5D6E-409C-BE32-E72D297353CC}">
                  <c16:uniqueId val="{00000007-AC32-8841-A09A-B4E89A7EE0B3}"/>
                </c:ext>
              </c:extLst>
            </c:dLbl>
            <c:dLbl>
              <c:idx val="7"/>
              <c:layout>
                <c:manualLayout>
                  <c:x val="-0.17565695056650682"/>
                  <c:y val="-7.327352213809725E-2"/>
                </c:manualLayout>
              </c:layout>
              <c:tx>
                <c:rich>
                  <a:bodyPr/>
                  <a:lstStyle/>
                  <a:p>
                    <a:pPr>
                      <a:defRPr sz="1050" b="1">
                        <a:solidFill>
                          <a:srgbClr val="9C8E74"/>
                        </a:solidFill>
                        <a:latin typeface="Arial"/>
                      </a:defRPr>
                    </a:pPr>
                    <a:r>
                      <a:rPr lang="en-US" b="0" i="0">
                        <a:latin typeface="Jost Light" pitchFamily="2" charset="77"/>
                        <a:ea typeface="Jost Light" pitchFamily="2" charset="77"/>
                      </a:rPr>
                      <a:t>Exposition</a:t>
                    </a:r>
                    <a:r>
                      <a:rPr lang="en-US" b="0" i="0" baseline="0">
                        <a:latin typeface="Jost Light" pitchFamily="2" charset="77"/>
                        <a:ea typeface="Jost Light" pitchFamily="2" charset="77"/>
                      </a:rPr>
                      <a:t> mixte</a:t>
                    </a:r>
                  </a:p>
                  <a:p>
                    <a:pPr>
                      <a:defRPr sz="1050" b="1">
                        <a:solidFill>
                          <a:srgbClr val="9C8E74"/>
                        </a:solidFill>
                        <a:latin typeface="Arial"/>
                      </a:defRPr>
                    </a:pPr>
                    <a:r>
                      <a:rPr lang="en-US" sz="1400" b="0" i="0" baseline="0">
                        <a:latin typeface="Jost Medium" pitchFamily="2" charset="77"/>
                        <a:ea typeface="Jost Medium" pitchFamily="2" charset="77"/>
                      </a:rPr>
                      <a:t>49%</a:t>
                    </a:r>
                    <a:endParaRPr lang="en-US" sz="1400" b="0" i="0">
                      <a:latin typeface="Jost Medium" pitchFamily="2" charset="77"/>
                      <a:ea typeface="Jost Medium" pitchFamily="2" charset="77"/>
                    </a:endParaRPr>
                  </a:p>
                </c:rich>
              </c:tx>
              <c:spPr/>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AC32-8841-A09A-B4E89A7EE0B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Données!$O$3:$O$11</c:f>
              <c:strCache>
                <c:ptCount val="8"/>
                <c:pt idx="1">
                  <c:v>Exposition actions
24%</c:v>
                </c:pt>
                <c:pt idx="3">
                  <c:v>Exposition obligataire
27%</c:v>
                </c:pt>
                <c:pt idx="7">
                  <c:v>Exposition mixte
49%</c:v>
                </c:pt>
              </c:strCache>
            </c:strRef>
          </c:cat>
          <c:val>
            <c:numRef>
              <c:f>Données!$E$3:$E$11</c:f>
              <c:numCache>
                <c:formatCode>0%</c:formatCode>
                <c:ptCount val="9"/>
                <c:pt idx="0">
                  <c:v>0.08</c:v>
                </c:pt>
                <c:pt idx="1">
                  <c:v>0.09</c:v>
                </c:pt>
                <c:pt idx="2">
                  <c:v>7.0000000000000007E-2</c:v>
                </c:pt>
                <c:pt idx="3">
                  <c:v>0.15</c:v>
                </c:pt>
                <c:pt idx="4">
                  <c:v>0.12</c:v>
                </c:pt>
                <c:pt idx="5">
                  <c:v>0.05</c:v>
                </c:pt>
                <c:pt idx="6">
                  <c:v>0.22</c:v>
                </c:pt>
                <c:pt idx="7">
                  <c:v>0.22</c:v>
                </c:pt>
                <c:pt idx="8">
                  <c:v>0</c:v>
                </c:pt>
              </c:numCache>
            </c:numRef>
          </c:val>
          <c:extLst>
            <c:ext xmlns:c16="http://schemas.microsoft.com/office/drawing/2014/chart" uri="{C3380CC4-5D6E-409C-BE32-E72D297353CC}">
              <c16:uniqueId val="{00000012-AC32-8841-A09A-B4E89A7EE0B3}"/>
            </c:ext>
          </c:extLst>
        </c:ser>
        <c:dLbls>
          <c:showLegendKey val="0"/>
          <c:showVal val="0"/>
          <c:showCatName val="0"/>
          <c:showSerName val="0"/>
          <c:showPercent val="0"/>
          <c:showBubbleSize val="0"/>
          <c:showLeaderLines val="1"/>
        </c:dLbls>
        <c:firstSliceAng val="0"/>
        <c:holeSize val="79"/>
      </c:doughnutChart>
    </c:plotArea>
    <c:plotVisOnly val="1"/>
    <c:dispBlanksAs val="gap"/>
    <c:showDLblsOverMax val="1"/>
  </c:chart>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Optimiste</c:v>
          </c:tx>
          <c:spPr>
            <a:ln w="12700">
              <a:solidFill>
                <a:srgbClr val="144629"/>
              </a:solidFill>
            </a:ln>
          </c:spPr>
          <c:marker>
            <c:symbol val="none"/>
          </c:marker>
          <c:cat>
            <c:numRef>
              <c:f>'6.7%'!$B$5:$B$245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'6.7%'!$D$5:$D$245</c:f>
              <c:numCache>
                <c:formatCode>0.0</c:formatCode>
                <c:ptCount val="241"/>
                <c:pt idx="0">
                  <c:v>100</c:v>
                </c:pt>
                <c:pt idx="1">
                  <c:v>100.18030763958056</c:v>
                </c:pt>
                <c:pt idx="2">
                  <c:v>100.0881419286831</c:v>
                </c:pt>
                <c:pt idx="3">
                  <c:v>99.101111063661307</c:v>
                </c:pt>
                <c:pt idx="4">
                  <c:v>99.286337773551452</c:v>
                </c:pt>
                <c:pt idx="5">
                  <c:v>100.31402141056905</c:v>
                </c:pt>
                <c:pt idx="6">
                  <c:v>102.30723545255672</c:v>
                </c:pt>
                <c:pt idx="7">
                  <c:v>103.82595291643563</c:v>
                </c:pt>
                <c:pt idx="8">
                  <c:v>105.07746425538893</c:v>
                </c:pt>
                <c:pt idx="9">
                  <c:v>106.20012467747441</c:v>
                </c:pt>
                <c:pt idx="10">
                  <c:v>107.17341036401392</c:v>
                </c:pt>
                <c:pt idx="11">
                  <c:v>107.55017189729149</c:v>
                </c:pt>
                <c:pt idx="12">
                  <c:v>107.76879495074432</c:v>
                </c:pt>
                <c:pt idx="13">
                  <c:v>108.38991422947068</c:v>
                </c:pt>
                <c:pt idx="14">
                  <c:v>110.21358163755065</c:v>
                </c:pt>
                <c:pt idx="15">
                  <c:v>111.20694743225278</c:v>
                </c:pt>
                <c:pt idx="16">
                  <c:v>110.55348289593223</c:v>
                </c:pt>
                <c:pt idx="17">
                  <c:v>109.12336131907317</c:v>
                </c:pt>
                <c:pt idx="18">
                  <c:v>106.81874080732935</c:v>
                </c:pt>
                <c:pt idx="19">
                  <c:v>104.87217480000676</c:v>
                </c:pt>
                <c:pt idx="20">
                  <c:v>103.13530057499973</c:v>
                </c:pt>
                <c:pt idx="21">
                  <c:v>102.90321405030818</c:v>
                </c:pt>
                <c:pt idx="22">
                  <c:v>103.91080238806808</c:v>
                </c:pt>
                <c:pt idx="23">
                  <c:v>105.16613249850329</c:v>
                </c:pt>
                <c:pt idx="24">
                  <c:v>106.13462172567138</c:v>
                </c:pt>
                <c:pt idx="25">
                  <c:v>106.95208799696147</c:v>
                </c:pt>
                <c:pt idx="26">
                  <c:v>108.171412927766</c:v>
                </c:pt>
                <c:pt idx="27">
                  <c:v>110.17970910884866</c:v>
                </c:pt>
                <c:pt idx="28">
                  <c:v>112.28110324882063</c:v>
                </c:pt>
                <c:pt idx="29">
                  <c:v>113.39603821269233</c:v>
                </c:pt>
                <c:pt idx="30">
                  <c:v>113.38702476818428</c:v>
                </c:pt>
                <c:pt idx="31">
                  <c:v>112.29821299569541</c:v>
                </c:pt>
                <c:pt idx="32">
                  <c:v>110.76184466258503</c:v>
                </c:pt>
                <c:pt idx="33">
                  <c:v>110.54834031670157</c:v>
                </c:pt>
                <c:pt idx="34">
                  <c:v>111.42808132676518</c:v>
                </c:pt>
                <c:pt idx="35">
                  <c:v>112.24418489022275</c:v>
                </c:pt>
                <c:pt idx="36">
                  <c:v>111.27966982857598</c:v>
                </c:pt>
                <c:pt idx="37">
                  <c:v>110.01071002885206</c:v>
                </c:pt>
                <c:pt idx="38">
                  <c:v>108.10909037625561</c:v>
                </c:pt>
                <c:pt idx="39">
                  <c:v>107.32592449472035</c:v>
                </c:pt>
                <c:pt idx="40">
                  <c:v>107.20144173268852</c:v>
                </c:pt>
                <c:pt idx="41">
                  <c:v>108.53499542278605</c:v>
                </c:pt>
                <c:pt idx="42">
                  <c:v>110.4006756333567</c:v>
                </c:pt>
                <c:pt idx="43">
                  <c:v>111.73186591629951</c:v>
                </c:pt>
                <c:pt idx="44">
                  <c:v>113.17855955950731</c:v>
                </c:pt>
                <c:pt idx="45">
                  <c:v>115.09747461875247</c:v>
                </c:pt>
                <c:pt idx="46">
                  <c:v>116.61798765608414</c:v>
                </c:pt>
                <c:pt idx="47">
                  <c:v>117.14776470949505</c:v>
                </c:pt>
                <c:pt idx="48">
                  <c:v>117.99194629608728</c:v>
                </c:pt>
                <c:pt idx="49">
                  <c:v>118.10172527801365</c:v>
                </c:pt>
                <c:pt idx="50">
                  <c:v>117.89781449540855</c:v>
                </c:pt>
                <c:pt idx="51">
                  <c:v>116.96145280149388</c:v>
                </c:pt>
                <c:pt idx="52">
                  <c:v>117.13566717705426</c:v>
                </c:pt>
                <c:pt idx="53">
                  <c:v>117.92493891217455</c:v>
                </c:pt>
                <c:pt idx="54">
                  <c:v>118.08897751112741</c:v>
                </c:pt>
                <c:pt idx="55">
                  <c:v>117.86590783094016</c:v>
                </c:pt>
                <c:pt idx="56">
                  <c:v>117.24580188302049</c:v>
                </c:pt>
                <c:pt idx="57">
                  <c:v>116.34602540587203</c:v>
                </c:pt>
                <c:pt idx="58">
                  <c:v>115.86108754044946</c:v>
                </c:pt>
                <c:pt idx="59">
                  <c:v>116.46545516146703</c:v>
                </c:pt>
                <c:pt idx="60">
                  <c:v>117.55734027251432</c:v>
                </c:pt>
                <c:pt idx="61">
                  <c:v>117.72781814840143</c:v>
                </c:pt>
                <c:pt idx="62">
                  <c:v>118.33664587078044</c:v>
                </c:pt>
                <c:pt idx="63">
                  <c:v>119.51890211483786</c:v>
                </c:pt>
                <c:pt idx="64">
                  <c:v>121.48747299793463</c:v>
                </c:pt>
                <c:pt idx="65">
                  <c:v>122.18794088412074</c:v>
                </c:pt>
                <c:pt idx="66">
                  <c:v>122.57542246343002</c:v>
                </c:pt>
                <c:pt idx="67">
                  <c:v>122.93817248367026</c:v>
                </c:pt>
                <c:pt idx="68">
                  <c:v>123.34482736734412</c:v>
                </c:pt>
                <c:pt idx="69">
                  <c:v>122.25616747005988</c:v>
                </c:pt>
                <c:pt idx="70">
                  <c:v>120.22719202055451</c:v>
                </c:pt>
                <c:pt idx="71">
                  <c:v>119.58700678673904</c:v>
                </c:pt>
                <c:pt idx="72">
                  <c:v>120.32728341029551</c:v>
                </c:pt>
                <c:pt idx="73">
                  <c:v>122.85951907371654</c:v>
                </c:pt>
                <c:pt idx="74">
                  <c:v>124.07170372083225</c:v>
                </c:pt>
                <c:pt idx="75">
                  <c:v>123.35731428190729</c:v>
                </c:pt>
                <c:pt idx="76">
                  <c:v>121.4217262356913</c:v>
                </c:pt>
                <c:pt idx="77">
                  <c:v>121.34531508723762</c:v>
                </c:pt>
                <c:pt idx="78">
                  <c:v>122.94162177142066</c:v>
                </c:pt>
                <c:pt idx="79">
                  <c:v>124.12176495502965</c:v>
                </c:pt>
                <c:pt idx="80">
                  <c:v>123.06722538555336</c:v>
                </c:pt>
                <c:pt idx="81">
                  <c:v>122.07642941312353</c:v>
                </c:pt>
                <c:pt idx="82">
                  <c:v>121.1986865065377</c:v>
                </c:pt>
                <c:pt idx="83">
                  <c:v>120.21241070206936</c:v>
                </c:pt>
                <c:pt idx="84">
                  <c:v>120.1996786594157</c:v>
                </c:pt>
                <c:pt idx="85">
                  <c:v>121.31115792027283</c:v>
                </c:pt>
                <c:pt idx="86">
                  <c:v>123.21097508382337</c:v>
                </c:pt>
                <c:pt idx="87">
                  <c:v>124.24538242010318</c:v>
                </c:pt>
                <c:pt idx="88">
                  <c:v>125.12919250981298</c:v>
                </c:pt>
                <c:pt idx="89">
                  <c:v>127.24686954668472</c:v>
                </c:pt>
                <c:pt idx="90">
                  <c:v>128.56511711937529</c:v>
                </c:pt>
                <c:pt idx="91">
                  <c:v>130.00530870166926</c:v>
                </c:pt>
                <c:pt idx="92">
                  <c:v>128.00860906915867</c:v>
                </c:pt>
                <c:pt idx="93">
                  <c:v>128.37552863616992</c:v>
                </c:pt>
                <c:pt idx="94">
                  <c:v>128.84277042967858</c:v>
                </c:pt>
                <c:pt idx="95">
                  <c:v>129.10644330834131</c:v>
                </c:pt>
                <c:pt idx="96">
                  <c:v>128.64049576825661</c:v>
                </c:pt>
                <c:pt idx="97">
                  <c:v>179.24510633846248</c:v>
                </c:pt>
                <c:pt idx="98">
                  <c:v>180.48234502285513</c:v>
                </c:pt>
                <c:pt idx="99">
                  <c:v>179.28634691419182</c:v>
                </c:pt>
                <c:pt idx="100">
                  <c:v>179.28005656008901</c:v>
                </c:pt>
                <c:pt idx="101">
                  <c:v>181.67368129236496</c:v>
                </c:pt>
                <c:pt idx="102">
                  <c:v>185.64485414116274</c:v>
                </c:pt>
                <c:pt idx="103">
                  <c:v>189.52749080003252</c:v>
                </c:pt>
                <c:pt idx="104">
                  <c:v>192.61426778432846</c:v>
                </c:pt>
                <c:pt idx="105">
                  <c:v>195.90815051100245</c:v>
                </c:pt>
                <c:pt idx="106">
                  <c:v>198.70380788224242</c:v>
                </c:pt>
                <c:pt idx="107">
                  <c:v>204.3305803514215</c:v>
                </c:pt>
                <c:pt idx="108">
                  <c:v>208.8904089073973</c:v>
                </c:pt>
                <c:pt idx="109">
                  <c:v>215.35765295469986</c:v>
                </c:pt>
                <c:pt idx="110">
                  <c:v>215.50897202704044</c:v>
                </c:pt>
                <c:pt idx="111">
                  <c:v>217.86912363110551</c:v>
                </c:pt>
                <c:pt idx="112">
                  <c:v>218.82941938017098</c:v>
                </c:pt>
                <c:pt idx="113">
                  <c:v>222.14727369762983</c:v>
                </c:pt>
                <c:pt idx="114">
                  <c:v>224.89834552223408</c:v>
                </c:pt>
                <c:pt idx="115">
                  <c:v>229.27374828268245</c:v>
                </c:pt>
                <c:pt idx="116">
                  <c:v>233.09184087741528</c:v>
                </c:pt>
                <c:pt idx="117">
                  <c:v>237.76535337384226</c:v>
                </c:pt>
                <c:pt idx="118">
                  <c:v>240.18311275302585</c:v>
                </c:pt>
                <c:pt idx="119">
                  <c:v>245.70956184096622</c:v>
                </c:pt>
                <c:pt idx="120">
                  <c:v>250.64006089190826</c:v>
                </c:pt>
                <c:pt idx="121">
                  <c:v>255.04520126497368</c:v>
                </c:pt>
                <c:pt idx="122">
                  <c:v>254.57265867419832</c:v>
                </c:pt>
                <c:pt idx="123">
                  <c:v>251.46552090786003</c:v>
                </c:pt>
                <c:pt idx="124">
                  <c:v>252.65854185763075</c:v>
                </c:pt>
                <c:pt idx="125">
                  <c:v>258.96662409536509</c:v>
                </c:pt>
                <c:pt idx="126">
                  <c:v>266.60674455589196</c:v>
                </c:pt>
                <c:pt idx="127">
                  <c:v>269.57697005721809</c:v>
                </c:pt>
                <c:pt idx="128">
                  <c:v>268.82196590132094</c:v>
                </c:pt>
                <c:pt idx="129">
                  <c:v>265.53384426278734</c:v>
                </c:pt>
                <c:pt idx="130">
                  <c:v>265.75543222652328</c:v>
                </c:pt>
                <c:pt idx="131">
                  <c:v>266.65842198703109</c:v>
                </c:pt>
                <c:pt idx="132">
                  <c:v>268.12201770192422</c:v>
                </c:pt>
                <c:pt idx="133">
                  <c:v>268.9639250094512</c:v>
                </c:pt>
                <c:pt idx="134">
                  <c:v>268.00125844456704</c:v>
                </c:pt>
                <c:pt idx="135">
                  <c:v>272.17540753804241</c:v>
                </c:pt>
                <c:pt idx="136">
                  <c:v>274.46613882515777</c:v>
                </c:pt>
                <c:pt idx="137">
                  <c:v>281.22916762173583</c:v>
                </c:pt>
                <c:pt idx="138">
                  <c:v>286.87930639805325</c:v>
                </c:pt>
                <c:pt idx="139">
                  <c:v>291.94931393851175</c:v>
                </c:pt>
                <c:pt idx="140">
                  <c:v>293.90554248368096</c:v>
                </c:pt>
                <c:pt idx="141">
                  <c:v>294.66691549028013</c:v>
                </c:pt>
                <c:pt idx="142">
                  <c:v>292.68427430151866</c:v>
                </c:pt>
                <c:pt idx="143">
                  <c:v>293.27181548674048</c:v>
                </c:pt>
                <c:pt idx="144">
                  <c:v>290.71356935019685</c:v>
                </c:pt>
                <c:pt idx="145">
                  <c:v>289.10514498172785</c:v>
                </c:pt>
                <c:pt idx="146">
                  <c:v>278.84886165187686</c:v>
                </c:pt>
                <c:pt idx="147">
                  <c:v>271.30531478974945</c:v>
                </c:pt>
                <c:pt idx="148">
                  <c:v>270.20479881641819</c:v>
                </c:pt>
                <c:pt idx="149">
                  <c:v>266.77624454463199</c:v>
                </c:pt>
                <c:pt idx="150">
                  <c:v>264.6218152980976</c:v>
                </c:pt>
                <c:pt idx="151">
                  <c:v>262.25894080530355</c:v>
                </c:pt>
                <c:pt idx="152">
                  <c:v>267.58160647334307</c:v>
                </c:pt>
                <c:pt idx="153">
                  <c:v>267.38873577659177</c:v>
                </c:pt>
                <c:pt idx="154">
                  <c:v>267.91377336853827</c:v>
                </c:pt>
                <c:pt idx="155">
                  <c:v>261.5535312738229</c:v>
                </c:pt>
                <c:pt idx="156">
                  <c:v>260.46828002634049</c:v>
                </c:pt>
                <c:pt idx="157">
                  <c:v>261.25642751374789</c:v>
                </c:pt>
                <c:pt idx="158">
                  <c:v>266.51754227184762</c:v>
                </c:pt>
                <c:pt idx="159">
                  <c:v>268.44689005736257</c:v>
                </c:pt>
                <c:pt idx="160">
                  <c:v>275.00480152637778</c:v>
                </c:pt>
                <c:pt idx="161">
                  <c:v>281.03711026530414</c:v>
                </c:pt>
                <c:pt idx="162">
                  <c:v>286.38103582730383</c:v>
                </c:pt>
                <c:pt idx="163">
                  <c:v>287.3603637791316</c:v>
                </c:pt>
                <c:pt idx="164">
                  <c:v>285.99540184712055</c:v>
                </c:pt>
                <c:pt idx="165">
                  <c:v>287.98926260285225</c:v>
                </c:pt>
                <c:pt idx="166">
                  <c:v>289.70656844766683</c:v>
                </c:pt>
                <c:pt idx="167">
                  <c:v>291.35524956602296</c:v>
                </c:pt>
                <c:pt idx="168">
                  <c:v>291.9855779240915</c:v>
                </c:pt>
                <c:pt idx="169">
                  <c:v>292.8188461862361</c:v>
                </c:pt>
                <c:pt idx="170">
                  <c:v>298.54081670792112</c:v>
                </c:pt>
                <c:pt idx="171">
                  <c:v>309.46708894446658</c:v>
                </c:pt>
                <c:pt idx="172">
                  <c:v>316.88560461128958</c:v>
                </c:pt>
                <c:pt idx="173">
                  <c:v>323.592721540583</c:v>
                </c:pt>
                <c:pt idx="174">
                  <c:v>330.53296625010466</c:v>
                </c:pt>
                <c:pt idx="175">
                  <c:v>343.3151484572511</c:v>
                </c:pt>
                <c:pt idx="176">
                  <c:v>349.42436078445269</c:v>
                </c:pt>
                <c:pt idx="177">
                  <c:v>351.01340380221717</c:v>
                </c:pt>
                <c:pt idx="178">
                  <c:v>345.04908069102714</c:v>
                </c:pt>
                <c:pt idx="179">
                  <c:v>341.19294836756336</c:v>
                </c:pt>
                <c:pt idx="180">
                  <c:v>334.10304745405517</c:v>
                </c:pt>
                <c:pt idx="181">
                  <c:v>328.53666931223262</c:v>
                </c:pt>
                <c:pt idx="182">
                  <c:v>328.02007402274552</c:v>
                </c:pt>
                <c:pt idx="183">
                  <c:v>332.34438053408547</c:v>
                </c:pt>
                <c:pt idx="184">
                  <c:v>333.0971780992686</c:v>
                </c:pt>
                <c:pt idx="185">
                  <c:v>326.68059710319551</c:v>
                </c:pt>
                <c:pt idx="186">
                  <c:v>319.39995571238074</c:v>
                </c:pt>
                <c:pt idx="187">
                  <c:v>321.38884137545904</c:v>
                </c:pt>
                <c:pt idx="188">
                  <c:v>328.76888734316628</c:v>
                </c:pt>
                <c:pt idx="189">
                  <c:v>335.49450630175892</c:v>
                </c:pt>
                <c:pt idx="190">
                  <c:v>337.83951240191698</c:v>
                </c:pt>
                <c:pt idx="191">
                  <c:v>341.66584294654035</c:v>
                </c:pt>
                <c:pt idx="192">
                  <c:v>345.64756772091187</c:v>
                </c:pt>
                <c:pt idx="193">
                  <c:v>353.05110887469056</c:v>
                </c:pt>
                <c:pt idx="194">
                  <c:v>358.07968017482722</c:v>
                </c:pt>
                <c:pt idx="195">
                  <c:v>363.09043413636874</c:v>
                </c:pt>
                <c:pt idx="196">
                  <c:v>365.84560278194664</c:v>
                </c:pt>
                <c:pt idx="197">
                  <c:v>372.37862278866265</c:v>
                </c:pt>
                <c:pt idx="198">
                  <c:v>378.4632633708747</c:v>
                </c:pt>
                <c:pt idx="199">
                  <c:v>386.29905849006855</c:v>
                </c:pt>
                <c:pt idx="200">
                  <c:v>384.81651314080455</c:v>
                </c:pt>
                <c:pt idx="201">
                  <c:v>383.95388244614685</c:v>
                </c:pt>
                <c:pt idx="202">
                  <c:v>386.08140863391037</c:v>
                </c:pt>
                <c:pt idx="203">
                  <c:v>381.42848036948698</c:v>
                </c:pt>
                <c:pt idx="204">
                  <c:v>380.3826577923399</c:v>
                </c:pt>
                <c:pt idx="205">
                  <c:v>377.59435483652612</c:v>
                </c:pt>
                <c:pt idx="206">
                  <c:v>385.95022782888361</c:v>
                </c:pt>
                <c:pt idx="207">
                  <c:v>393.10883551474018</c:v>
                </c:pt>
                <c:pt idx="208">
                  <c:v>398.13045925723247</c:v>
                </c:pt>
                <c:pt idx="209">
                  <c:v>398.95489614378727</c:v>
                </c:pt>
                <c:pt idx="210">
                  <c:v>396.76661729361132</c:v>
                </c:pt>
                <c:pt idx="211">
                  <c:v>394.82142381811457</c:v>
                </c:pt>
                <c:pt idx="212">
                  <c:v>395.66919090368674</c:v>
                </c:pt>
                <c:pt idx="213">
                  <c:v>395.52166453411473</c:v>
                </c:pt>
                <c:pt idx="214">
                  <c:v>400.10112629093771</c:v>
                </c:pt>
                <c:pt idx="215">
                  <c:v>400.2862657067181</c:v>
                </c:pt>
                <c:pt idx="216">
                  <c:v>404.13104309066182</c:v>
                </c:pt>
                <c:pt idx="217">
                  <c:v>411.60621354484323</c:v>
                </c:pt>
                <c:pt idx="218">
                  <c:v>417.9993400506695</c:v>
                </c:pt>
                <c:pt idx="219">
                  <c:v>430.51522633483734</c:v>
                </c:pt>
                <c:pt idx="220">
                  <c:v>438.92826927273381</c:v>
                </c:pt>
                <c:pt idx="221">
                  <c:v>451.80938249492044</c:v>
                </c:pt>
                <c:pt idx="222">
                  <c:v>463.9345130058</c:v>
                </c:pt>
                <c:pt idx="223">
                  <c:v>475.63715416714086</c:v>
                </c:pt>
                <c:pt idx="224">
                  <c:v>484.93532081788743</c:v>
                </c:pt>
                <c:pt idx="225">
                  <c:v>484.64562945417498</c:v>
                </c:pt>
                <c:pt idx="226">
                  <c:v>476.53841679264241</c:v>
                </c:pt>
                <c:pt idx="227">
                  <c:v>464.09708858344698</c:v>
                </c:pt>
                <c:pt idx="228">
                  <c:v>463.43218947219185</c:v>
                </c:pt>
                <c:pt idx="229">
                  <c:v>467.42928786817373</c:v>
                </c:pt>
                <c:pt idx="230">
                  <c:v>471.50773806222423</c:v>
                </c:pt>
                <c:pt idx="231">
                  <c:v>470.77230905082064</c:v>
                </c:pt>
                <c:pt idx="232">
                  <c:v>469.98033623627128</c:v>
                </c:pt>
                <c:pt idx="233">
                  <c:v>475.29153362756944</c:v>
                </c:pt>
                <c:pt idx="234">
                  <c:v>483.26525824434094</c:v>
                </c:pt>
                <c:pt idx="235">
                  <c:v>495.34190607384079</c:v>
                </c:pt>
                <c:pt idx="236">
                  <c:v>505.08197079525439</c:v>
                </c:pt>
                <c:pt idx="237">
                  <c:v>506.21833188915804</c:v>
                </c:pt>
                <c:pt idx="238">
                  <c:v>507.31688598021452</c:v>
                </c:pt>
                <c:pt idx="239">
                  <c:v>503.38946755052831</c:v>
                </c:pt>
                <c:pt idx="240">
                  <c:v>501.86353812703146</c:v>
                </c:pt>
              </c:numCache>
            </c:numRef>
          </c:val>
          <c:smooth val="1"/>
          <c:extLst>
            <c:ext xmlns:c16="http://schemas.microsoft.com/office/drawing/2014/chart" uri="{C3380CC4-5D6E-409C-BE32-E72D297353CC}">
              <c16:uniqueId val="{00000000-DA45-634B-8F44-4109AE2847E0}"/>
            </c:ext>
          </c:extLst>
        </c:ser>
        <c:ser>
          <c:idx val="1"/>
          <c:order val="1"/>
          <c:tx>
            <c:v>Médian</c:v>
          </c:tx>
          <c:spPr>
            <a:ln w="12700">
              <a:solidFill>
                <a:srgbClr val="AB853F"/>
              </a:solidFill>
            </a:ln>
          </c:spPr>
          <c:marker>
            <c:symbol val="none"/>
          </c:marker>
          <c:cat>
            <c:numRef>
              <c:f>'6.7%'!$B$5:$B$245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'6.7%'!$H$5:$H$245</c:f>
              <c:numCache>
                <c:formatCode>0.0</c:formatCode>
                <c:ptCount val="241"/>
                <c:pt idx="0">
                  <c:v>100</c:v>
                </c:pt>
                <c:pt idx="1">
                  <c:v>100.4236442791304</c:v>
                </c:pt>
                <c:pt idx="2">
                  <c:v>100.28020018148646</c:v>
                </c:pt>
                <c:pt idx="3">
                  <c:v>99.908070429775165</c:v>
                </c:pt>
                <c:pt idx="4">
                  <c:v>98.275290997043228</c:v>
                </c:pt>
                <c:pt idx="5">
                  <c:v>96.860479088177811</c:v>
                </c:pt>
                <c:pt idx="6">
                  <c:v>94.52221987621671</c:v>
                </c:pt>
                <c:pt idx="7">
                  <c:v>92.651957158275039</c:v>
                </c:pt>
                <c:pt idx="8">
                  <c:v>92.76178038797191</c:v>
                </c:pt>
                <c:pt idx="9">
                  <c:v>93.382356774619225</c:v>
                </c:pt>
                <c:pt idx="10">
                  <c:v>95.078595168499064</c:v>
                </c:pt>
                <c:pt idx="11">
                  <c:v>94.744507396212754</c:v>
                </c:pt>
                <c:pt idx="12">
                  <c:v>97.352376390201186</c:v>
                </c:pt>
                <c:pt idx="13">
                  <c:v>98.501442889432099</c:v>
                </c:pt>
                <c:pt idx="14">
                  <c:v>101.0172656733822</c:v>
                </c:pt>
                <c:pt idx="15">
                  <c:v>101.39870591396192</c:v>
                </c:pt>
                <c:pt idx="16">
                  <c:v>102.22717857588502</c:v>
                </c:pt>
                <c:pt idx="17">
                  <c:v>102.51890502876006</c:v>
                </c:pt>
                <c:pt idx="18">
                  <c:v>104.15804013748712</c:v>
                </c:pt>
                <c:pt idx="19">
                  <c:v>106.03746181506166</c:v>
                </c:pt>
                <c:pt idx="20">
                  <c:v>107.26782635451568</c:v>
                </c:pt>
                <c:pt idx="21">
                  <c:v>105.62711107816197</c:v>
                </c:pt>
                <c:pt idx="22">
                  <c:v>103.30417331681429</c:v>
                </c:pt>
                <c:pt idx="23">
                  <c:v>101.470306099748</c:v>
                </c:pt>
                <c:pt idx="24">
                  <c:v>101.97561898942465</c:v>
                </c:pt>
                <c:pt idx="25">
                  <c:v>103.58650427472416</c:v>
                </c:pt>
                <c:pt idx="26">
                  <c:v>105.24533033325412</c:v>
                </c:pt>
                <c:pt idx="27">
                  <c:v>107.71832941087713</c:v>
                </c:pt>
                <c:pt idx="28">
                  <c:v>110.92244156292097</c:v>
                </c:pt>
                <c:pt idx="29">
                  <c:v>113.26012535666202</c:v>
                </c:pt>
                <c:pt idx="30">
                  <c:v>114.03408721357467</c:v>
                </c:pt>
                <c:pt idx="31">
                  <c:v>114.1680179450866</c:v>
                </c:pt>
                <c:pt idx="32">
                  <c:v>115.40693639795504</c:v>
                </c:pt>
                <c:pt idx="33">
                  <c:v>116.92906278423955</c:v>
                </c:pt>
                <c:pt idx="34">
                  <c:v>119.71579840080894</c:v>
                </c:pt>
                <c:pt idx="35">
                  <c:v>122.19514439518447</c:v>
                </c:pt>
                <c:pt idx="36">
                  <c:v>124.8024417824543</c:v>
                </c:pt>
                <c:pt idx="37">
                  <c:v>125.04886231509929</c:v>
                </c:pt>
                <c:pt idx="38">
                  <c:v>121.93815989530781</c:v>
                </c:pt>
                <c:pt idx="39">
                  <c:v>119.42226461894182</c:v>
                </c:pt>
                <c:pt idx="40">
                  <c:v>120.24853261861468</c:v>
                </c:pt>
                <c:pt idx="41">
                  <c:v>123.82345715442766</c:v>
                </c:pt>
                <c:pt idx="42">
                  <c:v>126.29223091299228</c:v>
                </c:pt>
                <c:pt idx="43">
                  <c:v>126.0058978304543</c:v>
                </c:pt>
                <c:pt idx="44">
                  <c:v>125.23370484332</c:v>
                </c:pt>
                <c:pt idx="45">
                  <c:v>125.90029310805564</c:v>
                </c:pt>
                <c:pt idx="46">
                  <c:v>128.1512434213827</c:v>
                </c:pt>
                <c:pt idx="47">
                  <c:v>128.04150747125695</c:v>
                </c:pt>
                <c:pt idx="48">
                  <c:v>126.24470050256744</c:v>
                </c:pt>
                <c:pt idx="49">
                  <c:v>122.34422390344056</c:v>
                </c:pt>
                <c:pt idx="50">
                  <c:v>124.14127600977898</c:v>
                </c:pt>
                <c:pt idx="51">
                  <c:v>126.80265142161927</c:v>
                </c:pt>
                <c:pt idx="52">
                  <c:v>131.09459950692525</c:v>
                </c:pt>
                <c:pt idx="53">
                  <c:v>132.54171234822516</c:v>
                </c:pt>
                <c:pt idx="54">
                  <c:v>131.83936786659538</c:v>
                </c:pt>
                <c:pt idx="55">
                  <c:v>128.51654608365124</c:v>
                </c:pt>
                <c:pt idx="56">
                  <c:v>125.73172989901475</c:v>
                </c:pt>
                <c:pt idx="57">
                  <c:v>125.48280833714253</c:v>
                </c:pt>
                <c:pt idx="58">
                  <c:v>127.55104221731628</c:v>
                </c:pt>
                <c:pt idx="59">
                  <c:v>130.00732245477164</c:v>
                </c:pt>
                <c:pt idx="60">
                  <c:v>132.92870542013978</c:v>
                </c:pt>
                <c:pt idx="61">
                  <c:v>135.80494228234909</c:v>
                </c:pt>
                <c:pt idx="62">
                  <c:v>137.84861841364213</c:v>
                </c:pt>
                <c:pt idx="63">
                  <c:v>139.94157816377313</c:v>
                </c:pt>
                <c:pt idx="64">
                  <c:v>141.39866231436937</c:v>
                </c:pt>
                <c:pt idx="65">
                  <c:v>141.85248868725967</c:v>
                </c:pt>
                <c:pt idx="66">
                  <c:v>141.07432183286667</c:v>
                </c:pt>
                <c:pt idx="67">
                  <c:v>139.18976445183617</c:v>
                </c:pt>
                <c:pt idx="68">
                  <c:v>141.43710922399589</c:v>
                </c:pt>
                <c:pt idx="69">
                  <c:v>144.29343333929114</c:v>
                </c:pt>
                <c:pt idx="70">
                  <c:v>146.52768778007285</c:v>
                </c:pt>
                <c:pt idx="71">
                  <c:v>144.70751194787596</c:v>
                </c:pt>
                <c:pt idx="72">
                  <c:v>142.37853736393441</c:v>
                </c:pt>
                <c:pt idx="73">
                  <c:v>143.86432056792407</c:v>
                </c:pt>
                <c:pt idx="74">
                  <c:v>147.06549333508036</c:v>
                </c:pt>
                <c:pt idx="75">
                  <c:v>153.22416396795018</c:v>
                </c:pt>
                <c:pt idx="76">
                  <c:v>157.80325146140191</c:v>
                </c:pt>
                <c:pt idx="77">
                  <c:v>162.63178972395048</c:v>
                </c:pt>
                <c:pt idx="78">
                  <c:v>164.05651385844556</c:v>
                </c:pt>
                <c:pt idx="79">
                  <c:v>165.60621956456907</c:v>
                </c:pt>
                <c:pt idx="80">
                  <c:v>166.23053584231565</c:v>
                </c:pt>
                <c:pt idx="81">
                  <c:v>168.08037338216332</c:v>
                </c:pt>
                <c:pt idx="82">
                  <c:v>170.40305116703632</c:v>
                </c:pt>
                <c:pt idx="83">
                  <c:v>173.81543335212223</c:v>
                </c:pt>
                <c:pt idx="84">
                  <c:v>177.09402993265272</c:v>
                </c:pt>
                <c:pt idx="85">
                  <c:v>179.82328983668208</c:v>
                </c:pt>
                <c:pt idx="86">
                  <c:v>181.3037705665308</c:v>
                </c:pt>
                <c:pt idx="87">
                  <c:v>181.47764140545928</c:v>
                </c:pt>
                <c:pt idx="88">
                  <c:v>181.37327062383471</c:v>
                </c:pt>
                <c:pt idx="89">
                  <c:v>181.990311992236</c:v>
                </c:pt>
                <c:pt idx="90">
                  <c:v>185.38626167334431</c:v>
                </c:pt>
                <c:pt idx="91">
                  <c:v>190.89186685727427</c:v>
                </c:pt>
                <c:pt idx="92">
                  <c:v>192.1999985647322</c:v>
                </c:pt>
                <c:pt idx="93">
                  <c:v>191.77233184784862</c:v>
                </c:pt>
                <c:pt idx="94">
                  <c:v>191.24809676645188</c:v>
                </c:pt>
                <c:pt idx="95">
                  <c:v>193.95787029226997</c:v>
                </c:pt>
                <c:pt idx="96">
                  <c:v>198.65388873162712</c:v>
                </c:pt>
                <c:pt idx="97">
                  <c:v>201.68034422846952</c:v>
                </c:pt>
                <c:pt idx="98">
                  <c:v>202.12649529138361</c:v>
                </c:pt>
                <c:pt idx="99">
                  <c:v>199.85879259920461</c:v>
                </c:pt>
                <c:pt idx="100">
                  <c:v>198.93473928629652</c:v>
                </c:pt>
                <c:pt idx="101">
                  <c:v>200.67264870407752</c:v>
                </c:pt>
                <c:pt idx="102">
                  <c:v>204.13211602889476</c:v>
                </c:pt>
                <c:pt idx="103">
                  <c:v>207.46625012208898</c:v>
                </c:pt>
                <c:pt idx="104">
                  <c:v>209.90603291455656</c:v>
                </c:pt>
                <c:pt idx="105">
                  <c:v>212.55162482072708</c:v>
                </c:pt>
                <c:pt idx="106">
                  <c:v>214.63851061004246</c:v>
                </c:pt>
                <c:pt idx="107">
                  <c:v>219.75475012751284</c:v>
                </c:pt>
                <c:pt idx="108">
                  <c:v>223.68692959956616</c:v>
                </c:pt>
                <c:pt idx="109">
                  <c:v>229.62185881216638</c:v>
                </c:pt>
                <c:pt idx="110">
                  <c:v>228.80343429411519</c:v>
                </c:pt>
                <c:pt idx="111">
                  <c:v>230.32996431073809</c:v>
                </c:pt>
                <c:pt idx="112">
                  <c:v>230.37279515246874</c:v>
                </c:pt>
                <c:pt idx="113">
                  <c:v>232.88966548722559</c:v>
                </c:pt>
                <c:pt idx="114">
                  <c:v>234.79676559375486</c:v>
                </c:pt>
                <c:pt idx="115">
                  <c:v>238.37984674570848</c:v>
                </c:pt>
                <c:pt idx="116">
                  <c:v>241.35940755411292</c:v>
                </c:pt>
                <c:pt idx="117">
                  <c:v>245.19982057333041</c:v>
                </c:pt>
                <c:pt idx="118">
                  <c:v>246.69525498918964</c:v>
                </c:pt>
                <c:pt idx="119">
                  <c:v>251.361833514621</c:v>
                </c:pt>
                <c:pt idx="120">
                  <c:v>255.38700154011318</c:v>
                </c:pt>
                <c:pt idx="121">
                  <c:v>258.85015449093783</c:v>
                </c:pt>
                <c:pt idx="122">
                  <c:v>257.35808863955583</c:v>
                </c:pt>
                <c:pt idx="123">
                  <c:v>253.22757879713021</c:v>
                </c:pt>
                <c:pt idx="124">
                  <c:v>253.44551661602182</c:v>
                </c:pt>
                <c:pt idx="125">
                  <c:v>258.77597580133732</c:v>
                </c:pt>
                <c:pt idx="126">
                  <c:v>265.39465202336464</c:v>
                </c:pt>
                <c:pt idx="127">
                  <c:v>267.33506533359605</c:v>
                </c:pt>
                <c:pt idx="128">
                  <c:v>265.58351348321634</c:v>
                </c:pt>
                <c:pt idx="129">
                  <c:v>261.35479094964558</c:v>
                </c:pt>
                <c:pt idx="130">
                  <c:v>260.60206360427537</c:v>
                </c:pt>
                <c:pt idx="131">
                  <c:v>260.52350189744521</c:v>
                </c:pt>
                <c:pt idx="132">
                  <c:v>260.99408377970428</c:v>
                </c:pt>
                <c:pt idx="133">
                  <c:v>260.86113096282941</c:v>
                </c:pt>
                <c:pt idx="134">
                  <c:v>258.98809280532544</c:v>
                </c:pt>
                <c:pt idx="135">
                  <c:v>262.07756148902479</c:v>
                </c:pt>
                <c:pt idx="136">
                  <c:v>263.34070301543204</c:v>
                </c:pt>
                <c:pt idx="137">
                  <c:v>268.87350475726578</c:v>
                </c:pt>
                <c:pt idx="138">
                  <c:v>273.30990329398122</c:v>
                </c:pt>
                <c:pt idx="139">
                  <c:v>277.16735611264875</c:v>
                </c:pt>
                <c:pt idx="140">
                  <c:v>278.05502588279552</c:v>
                </c:pt>
                <c:pt idx="141">
                  <c:v>277.81295209010216</c:v>
                </c:pt>
                <c:pt idx="142">
                  <c:v>274.99723915896965</c:v>
                </c:pt>
                <c:pt idx="143">
                  <c:v>274.61022748538682</c:v>
                </c:pt>
                <c:pt idx="144">
                  <c:v>271.2930273278962</c:v>
                </c:pt>
                <c:pt idx="145">
                  <c:v>268.88434766134435</c:v>
                </c:pt>
                <c:pt idx="146">
                  <c:v>258.47841813768491</c:v>
                </c:pt>
                <c:pt idx="147">
                  <c:v>250.65055710932492</c:v>
                </c:pt>
                <c:pt idx="148">
                  <c:v>248.80984371186423</c:v>
                </c:pt>
                <c:pt idx="149">
                  <c:v>244.84704449689409</c:v>
                </c:pt>
                <c:pt idx="150">
                  <c:v>242.07813623229279</c:v>
                </c:pt>
                <c:pt idx="151">
                  <c:v>239.13952140592789</c:v>
                </c:pt>
                <c:pt idx="152">
                  <c:v>243.20767640346372</c:v>
                </c:pt>
                <c:pt idx="153">
                  <c:v>242.25506057944199</c:v>
                </c:pt>
                <c:pt idx="154">
                  <c:v>241.95923399541013</c:v>
                </c:pt>
                <c:pt idx="155">
                  <c:v>235.46901200965439</c:v>
                </c:pt>
                <c:pt idx="156">
                  <c:v>233.75588744846289</c:v>
                </c:pt>
                <c:pt idx="157">
                  <c:v>233.73174137272366</c:v>
                </c:pt>
                <c:pt idx="158">
                  <c:v>237.6992900184367</c:v>
                </c:pt>
                <c:pt idx="159">
                  <c:v>238.68226019640511</c:v>
                </c:pt>
                <c:pt idx="160">
                  <c:v>243.76421723274058</c:v>
                </c:pt>
                <c:pt idx="161">
                  <c:v>248.35300850108695</c:v>
                </c:pt>
                <c:pt idx="162">
                  <c:v>252.30983390636371</c:v>
                </c:pt>
                <c:pt idx="163">
                  <c:v>252.41140695042787</c:v>
                </c:pt>
                <c:pt idx="164">
                  <c:v>250.46169101247585</c:v>
                </c:pt>
                <c:pt idx="165">
                  <c:v>251.4586530602148</c:v>
                </c:pt>
                <c:pt idx="166">
                  <c:v>252.21126604521888</c:v>
                </c:pt>
                <c:pt idx="167">
                  <c:v>252.90219147777319</c:v>
                </c:pt>
                <c:pt idx="168">
                  <c:v>252.71000688050228</c:v>
                </c:pt>
                <c:pt idx="169">
                  <c:v>252.6963574620205</c:v>
                </c:pt>
                <c:pt idx="170">
                  <c:v>256.89174698597071</c:v>
                </c:pt>
                <c:pt idx="171">
                  <c:v>265.53078678710142</c:v>
                </c:pt>
                <c:pt idx="172">
                  <c:v>271.12173596726643</c:v>
                </c:pt>
                <c:pt idx="173">
                  <c:v>276.07644818308518</c:v>
                </c:pt>
                <c:pt idx="174">
                  <c:v>281.20400289846617</c:v>
                </c:pt>
                <c:pt idx="175">
                  <c:v>291.26147347001614</c:v>
                </c:pt>
                <c:pt idx="176">
                  <c:v>295.61999758539741</c:v>
                </c:pt>
                <c:pt idx="177">
                  <c:v>296.14337568428806</c:v>
                </c:pt>
                <c:pt idx="178">
                  <c:v>290.31131887756811</c:v>
                </c:pt>
                <c:pt idx="179">
                  <c:v>286.28258939228164</c:v>
                </c:pt>
                <c:pt idx="180">
                  <c:v>279.5722682838321</c:v>
                </c:pt>
                <c:pt idx="181">
                  <c:v>274.17204922552554</c:v>
                </c:pt>
                <c:pt idx="182">
                  <c:v>273.0060569300943</c:v>
                </c:pt>
                <c:pt idx="183">
                  <c:v>275.86686209992934</c:v>
                </c:pt>
                <c:pt idx="184">
                  <c:v>275.7580712531244</c:v>
                </c:pt>
                <c:pt idx="185">
                  <c:v>269.73257643700424</c:v>
                </c:pt>
                <c:pt idx="186">
                  <c:v>263.02942550909529</c:v>
                </c:pt>
                <c:pt idx="187">
                  <c:v>263.97712590919878</c:v>
                </c:pt>
                <c:pt idx="188">
                  <c:v>269.33870812097985</c:v>
                </c:pt>
                <c:pt idx="189">
                  <c:v>274.14007262871917</c:v>
                </c:pt>
                <c:pt idx="190">
                  <c:v>275.34870783266769</c:v>
                </c:pt>
                <c:pt idx="191">
                  <c:v>277.75766152992691</c:v>
                </c:pt>
                <c:pt idx="192">
                  <c:v>280.28264934444434</c:v>
                </c:pt>
                <c:pt idx="193">
                  <c:v>285.56488904583472</c:v>
                </c:pt>
                <c:pt idx="194">
                  <c:v>288.90673944836686</c:v>
                </c:pt>
                <c:pt idx="195">
                  <c:v>292.21988825555979</c:v>
                </c:pt>
                <c:pt idx="196">
                  <c:v>293.70809943008845</c:v>
                </c:pt>
                <c:pt idx="197">
                  <c:v>298.2167635792527</c:v>
                </c:pt>
                <c:pt idx="198">
                  <c:v>302.34746429219524</c:v>
                </c:pt>
                <c:pt idx="199">
                  <c:v>307.85595354439721</c:v>
                </c:pt>
                <c:pt idx="200">
                  <c:v>305.93198569847578</c:v>
                </c:pt>
                <c:pt idx="201">
                  <c:v>304.51132952670787</c:v>
                </c:pt>
                <c:pt idx="202">
                  <c:v>305.46564430428225</c:v>
                </c:pt>
                <c:pt idx="203">
                  <c:v>301.06587584908385</c:v>
                </c:pt>
                <c:pt idx="204">
                  <c:v>299.52967537602859</c:v>
                </c:pt>
                <c:pt idx="205">
                  <c:v>296.63413670702255</c:v>
                </c:pt>
                <c:pt idx="206">
                  <c:v>302.48868943686216</c:v>
                </c:pt>
                <c:pt idx="207">
                  <c:v>307.38206283332289</c:v>
                </c:pt>
                <c:pt idx="208">
                  <c:v>310.58797026254319</c:v>
                </c:pt>
                <c:pt idx="209">
                  <c:v>310.51467341567252</c:v>
                </c:pt>
                <c:pt idx="210">
                  <c:v>308.10454763970438</c:v>
                </c:pt>
                <c:pt idx="211">
                  <c:v>305.89604553286136</c:v>
                </c:pt>
                <c:pt idx="212">
                  <c:v>305.85883499424682</c:v>
                </c:pt>
                <c:pt idx="213">
                  <c:v>305.05640652563142</c:v>
                </c:pt>
                <c:pt idx="214">
                  <c:v>307.89747168216098</c:v>
                </c:pt>
                <c:pt idx="215">
                  <c:v>307.35400229584894</c:v>
                </c:pt>
                <c:pt idx="216">
                  <c:v>309.61896326721075</c:v>
                </c:pt>
                <c:pt idx="217">
                  <c:v>314.65142582604744</c:v>
                </c:pt>
                <c:pt idx="218">
                  <c:v>318.83872791359812</c:v>
                </c:pt>
                <c:pt idx="219">
                  <c:v>327.67015706568856</c:v>
                </c:pt>
                <c:pt idx="220">
                  <c:v>333.34964994515968</c:v>
                </c:pt>
                <c:pt idx="221">
                  <c:v>342.39302917571865</c:v>
                </c:pt>
                <c:pt idx="222">
                  <c:v>350.82834418011026</c:v>
                </c:pt>
                <c:pt idx="223">
                  <c:v>358.91132112095113</c:v>
                </c:pt>
                <c:pt idx="224">
                  <c:v>365.15195700619921</c:v>
                </c:pt>
                <c:pt idx="225">
                  <c:v>364.16444950982162</c:v>
                </c:pt>
                <c:pt idx="226">
                  <c:v>357.32184112172757</c:v>
                </c:pt>
                <c:pt idx="227">
                  <c:v>347.26724624683959</c:v>
                </c:pt>
                <c:pt idx="228">
                  <c:v>346.05044385186699</c:v>
                </c:pt>
                <c:pt idx="229">
                  <c:v>348.31504941180015</c:v>
                </c:pt>
                <c:pt idx="230">
                  <c:v>350.63323872660482</c:v>
                </c:pt>
                <c:pt idx="231">
                  <c:v>349.37185254369291</c:v>
                </c:pt>
                <c:pt idx="232">
                  <c:v>348.07610257189242</c:v>
                </c:pt>
                <c:pt idx="233">
                  <c:v>351.29895323855408</c:v>
                </c:pt>
                <c:pt idx="234">
                  <c:v>356.47519868640109</c:v>
                </c:pt>
                <c:pt idx="235">
                  <c:v>364.65356339557638</c:v>
                </c:pt>
                <c:pt idx="236">
                  <c:v>371.08512985966007</c:v>
                </c:pt>
                <c:pt idx="237">
                  <c:v>371.18504138915841</c:v>
                </c:pt>
                <c:pt idx="238">
                  <c:v>371.25936370523601</c:v>
                </c:pt>
                <c:pt idx="239">
                  <c:v>367.66499345399478</c:v>
                </c:pt>
                <c:pt idx="240">
                  <c:v>365.83764144832367</c:v>
                </c:pt>
              </c:numCache>
            </c:numRef>
          </c:val>
          <c:smooth val="1"/>
          <c:extLst>
            <c:ext xmlns:c16="http://schemas.microsoft.com/office/drawing/2014/chart" uri="{C3380CC4-5D6E-409C-BE32-E72D297353CC}">
              <c16:uniqueId val="{00000001-DA45-634B-8F44-4109AE2847E0}"/>
            </c:ext>
          </c:extLst>
        </c:ser>
        <c:ser>
          <c:idx val="2"/>
          <c:order val="2"/>
          <c:tx>
            <c:v>Pessimiste</c:v>
          </c:tx>
          <c:spPr>
            <a:ln w="12700">
              <a:solidFill>
                <a:schemeClr val="tx1"/>
              </a:solidFill>
            </a:ln>
          </c:spPr>
          <c:marker>
            <c:symbol val="none"/>
          </c:marker>
          <c:cat>
            <c:numRef>
              <c:f>'6.7%'!$B$5:$B$245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'6.7%'!$L$5:$L$245</c:f>
              <c:numCache>
                <c:formatCode>0.0</c:formatCode>
                <c:ptCount val="241"/>
                <c:pt idx="0">
                  <c:v>100</c:v>
                </c:pt>
                <c:pt idx="1">
                  <c:v>102.78632706386806</c:v>
                </c:pt>
                <c:pt idx="2">
                  <c:v>105.47225077355496</c:v>
                </c:pt>
                <c:pt idx="3">
                  <c:v>107.72198083105424</c:v>
                </c:pt>
                <c:pt idx="4">
                  <c:v>108.23359755903013</c:v>
                </c:pt>
                <c:pt idx="5">
                  <c:v>108.29365829331897</c:v>
                </c:pt>
                <c:pt idx="6">
                  <c:v>106.83635836472219</c:v>
                </c:pt>
                <c:pt idx="7">
                  <c:v>104.76718127928685</c:v>
                </c:pt>
                <c:pt idx="8">
                  <c:v>102.18013412028613</c:v>
                </c:pt>
                <c:pt idx="9">
                  <c:v>101.81238866787355</c:v>
                </c:pt>
                <c:pt idx="10">
                  <c:v>103.01143014591528</c:v>
                </c:pt>
                <c:pt idx="11">
                  <c:v>104.41897937051353</c:v>
                </c:pt>
                <c:pt idx="12">
                  <c:v>105.36698709775699</c:v>
                </c:pt>
                <c:pt idx="13">
                  <c:v>107.40563345985331</c:v>
                </c:pt>
                <c:pt idx="14">
                  <c:v>108.8479061509437</c:v>
                </c:pt>
                <c:pt idx="15">
                  <c:v>110.82476500081856</c:v>
                </c:pt>
                <c:pt idx="16">
                  <c:v>112.1292232772732</c:v>
                </c:pt>
                <c:pt idx="17">
                  <c:v>114.28590129657171</c:v>
                </c:pt>
                <c:pt idx="18">
                  <c:v>115.55430269845144</c:v>
                </c:pt>
                <c:pt idx="19">
                  <c:v>117.23162196602114</c:v>
                </c:pt>
                <c:pt idx="20">
                  <c:v>119.46774395628766</c:v>
                </c:pt>
                <c:pt idx="21">
                  <c:v>121.98039921180219</c:v>
                </c:pt>
                <c:pt idx="22">
                  <c:v>124.3747944596867</c:v>
                </c:pt>
                <c:pt idx="23">
                  <c:v>129.54925144431431</c:v>
                </c:pt>
                <c:pt idx="24">
                  <c:v>133.61936468529584</c:v>
                </c:pt>
                <c:pt idx="25">
                  <c:v>137.19188134917675</c:v>
                </c:pt>
                <c:pt idx="26">
                  <c:v>137.27721430475015</c:v>
                </c:pt>
                <c:pt idx="27">
                  <c:v>138.88694312471605</c:v>
                </c:pt>
                <c:pt idx="28">
                  <c:v>140.2490706311383</c:v>
                </c:pt>
                <c:pt idx="29">
                  <c:v>142.18410165763282</c:v>
                </c:pt>
                <c:pt idx="30">
                  <c:v>141.53952321903998</c:v>
                </c:pt>
                <c:pt idx="31">
                  <c:v>141.31172108004921</c:v>
                </c:pt>
                <c:pt idx="32">
                  <c:v>142.83232886512687</c:v>
                </c:pt>
                <c:pt idx="33">
                  <c:v>145.61096596554475</c:v>
                </c:pt>
                <c:pt idx="34">
                  <c:v>150.68120382320384</c:v>
                </c:pt>
                <c:pt idx="35">
                  <c:v>154.9522036554734</c:v>
                </c:pt>
                <c:pt idx="36">
                  <c:v>160.32471802590743</c:v>
                </c:pt>
                <c:pt idx="37">
                  <c:v>163.67188961559361</c:v>
                </c:pt>
                <c:pt idx="38">
                  <c:v>161.18032128937909</c:v>
                </c:pt>
                <c:pt idx="39">
                  <c:v>158.88470857896149</c:v>
                </c:pt>
                <c:pt idx="40">
                  <c:v>157.66769331381698</c:v>
                </c:pt>
                <c:pt idx="41">
                  <c:v>159.48086628044555</c:v>
                </c:pt>
                <c:pt idx="42">
                  <c:v>161.16642973621848</c:v>
                </c:pt>
                <c:pt idx="43">
                  <c:v>160.19308418414062</c:v>
                </c:pt>
                <c:pt idx="44">
                  <c:v>159.52216069933735</c:v>
                </c:pt>
                <c:pt idx="45">
                  <c:v>162.07186932695723</c:v>
                </c:pt>
                <c:pt idx="46">
                  <c:v>165.22752378317657</c:v>
                </c:pt>
                <c:pt idx="47">
                  <c:v>171.87260333102017</c:v>
                </c:pt>
                <c:pt idx="48">
                  <c:v>175.36781211407018</c:v>
                </c:pt>
                <c:pt idx="49">
                  <c:v>179.03286756629007</c:v>
                </c:pt>
                <c:pt idx="50">
                  <c:v>179.26608948416344</c:v>
                </c:pt>
                <c:pt idx="51">
                  <c:v>176.9386980792919</c:v>
                </c:pt>
                <c:pt idx="52">
                  <c:v>174.42652208517842</c:v>
                </c:pt>
                <c:pt idx="53">
                  <c:v>175.02064684118608</c:v>
                </c:pt>
                <c:pt idx="54">
                  <c:v>177.27579901303343</c:v>
                </c:pt>
                <c:pt idx="55">
                  <c:v>182.28357293645405</c:v>
                </c:pt>
                <c:pt idx="56">
                  <c:v>182.90753345744315</c:v>
                </c:pt>
                <c:pt idx="57">
                  <c:v>184.13952198474578</c:v>
                </c:pt>
                <c:pt idx="58">
                  <c:v>183.53711797847416</c:v>
                </c:pt>
                <c:pt idx="59">
                  <c:v>184.40889352298103</c:v>
                </c:pt>
                <c:pt idx="60">
                  <c:v>186.8852982268979</c:v>
                </c:pt>
                <c:pt idx="61">
                  <c:v>188.66923154676712</c:v>
                </c:pt>
                <c:pt idx="62">
                  <c:v>187.37330011026089</c:v>
                </c:pt>
                <c:pt idx="63">
                  <c:v>183.78332357036851</c:v>
                </c:pt>
                <c:pt idx="64">
                  <c:v>178.0571398106344</c:v>
                </c:pt>
                <c:pt idx="65">
                  <c:v>174.95559325958905</c:v>
                </c:pt>
                <c:pt idx="66">
                  <c:v>174.83266363883004</c:v>
                </c:pt>
                <c:pt idx="67">
                  <c:v>176.21365403493877</c:v>
                </c:pt>
                <c:pt idx="68">
                  <c:v>178.1596665496713</c:v>
                </c:pt>
                <c:pt idx="69">
                  <c:v>179.86781978146058</c:v>
                </c:pt>
                <c:pt idx="70">
                  <c:v>181.89759710570243</c:v>
                </c:pt>
                <c:pt idx="71">
                  <c:v>185.63288492345472</c:v>
                </c:pt>
                <c:pt idx="72">
                  <c:v>188.25992419889903</c:v>
                </c:pt>
                <c:pt idx="73">
                  <c:v>189.63281033591923</c:v>
                </c:pt>
                <c:pt idx="74">
                  <c:v>187.28568925526244</c:v>
                </c:pt>
                <c:pt idx="75">
                  <c:v>186.10580546681871</c:v>
                </c:pt>
                <c:pt idx="76">
                  <c:v>186.46609149198602</c:v>
                </c:pt>
                <c:pt idx="77">
                  <c:v>187.62332141409871</c:v>
                </c:pt>
                <c:pt idx="78">
                  <c:v>187.12809978247088</c:v>
                </c:pt>
                <c:pt idx="79">
                  <c:v>182.88261340330482</c:v>
                </c:pt>
                <c:pt idx="80">
                  <c:v>178.70805398450676</c:v>
                </c:pt>
                <c:pt idx="81">
                  <c:v>175.4167484982423</c:v>
                </c:pt>
                <c:pt idx="82">
                  <c:v>175.43905729562621</c:v>
                </c:pt>
                <c:pt idx="83">
                  <c:v>176.68211704186723</c:v>
                </c:pt>
                <c:pt idx="84">
                  <c:v>175.99941859621646</c:v>
                </c:pt>
                <c:pt idx="85">
                  <c:v>174.63568498574168</c:v>
                </c:pt>
                <c:pt idx="86">
                  <c:v>173.98660014604462</c:v>
                </c:pt>
                <c:pt idx="87">
                  <c:v>177.55385875907993</c:v>
                </c:pt>
                <c:pt idx="88">
                  <c:v>182.44303824141468</c:v>
                </c:pt>
                <c:pt idx="89">
                  <c:v>188.5231410303077</c:v>
                </c:pt>
                <c:pt idx="90">
                  <c:v>191.19592879018941</c:v>
                </c:pt>
                <c:pt idx="91">
                  <c:v>193.70642158531939</c:v>
                </c:pt>
                <c:pt idx="92">
                  <c:v>186.98195019767545</c:v>
                </c:pt>
                <c:pt idx="93">
                  <c:v>184.08279777055856</c:v>
                </c:pt>
                <c:pt idx="94">
                  <c:v>181.52118164865703</c:v>
                </c:pt>
                <c:pt idx="95">
                  <c:v>183.91778850650343</c:v>
                </c:pt>
                <c:pt idx="96">
                  <c:v>182.47513665248457</c:v>
                </c:pt>
                <c:pt idx="97">
                  <c:v>182.62765034676488</c:v>
                </c:pt>
                <c:pt idx="98">
                  <c:v>182.76178035524191</c:v>
                </c:pt>
                <c:pt idx="99">
                  <c:v>186.5087497700263</c:v>
                </c:pt>
                <c:pt idx="100">
                  <c:v>188.27413452847458</c:v>
                </c:pt>
                <c:pt idx="101">
                  <c:v>187.43946784177282</c:v>
                </c:pt>
                <c:pt idx="102">
                  <c:v>184.99053806544657</c:v>
                </c:pt>
                <c:pt idx="103">
                  <c:v>182.5222667463668</c:v>
                </c:pt>
                <c:pt idx="104">
                  <c:v>182.61033318915003</c:v>
                </c:pt>
                <c:pt idx="105">
                  <c:v>183.0542259417148</c:v>
                </c:pt>
                <c:pt idx="106">
                  <c:v>186.19765587367274</c:v>
                </c:pt>
                <c:pt idx="107">
                  <c:v>188.12987429826242</c:v>
                </c:pt>
                <c:pt idx="108">
                  <c:v>189.86837196160042</c:v>
                </c:pt>
                <c:pt idx="109">
                  <c:v>187.13225593167496</c:v>
                </c:pt>
                <c:pt idx="110">
                  <c:v>182.77904764147951</c:v>
                </c:pt>
                <c:pt idx="111">
                  <c:v>179.03536173950633</c:v>
                </c:pt>
                <c:pt idx="112">
                  <c:v>177.35390721304884</c:v>
                </c:pt>
                <c:pt idx="113">
                  <c:v>177.36533041272438</c:v>
                </c:pt>
                <c:pt idx="114">
                  <c:v>178.32387361632942</c:v>
                </c:pt>
                <c:pt idx="115">
                  <c:v>178.30746218756545</c:v>
                </c:pt>
                <c:pt idx="116">
                  <c:v>178.18242112391485</c:v>
                </c:pt>
                <c:pt idx="117">
                  <c:v>176.54985069025565</c:v>
                </c:pt>
                <c:pt idx="118">
                  <c:v>176.4920716872183</c:v>
                </c:pt>
                <c:pt idx="119">
                  <c:v>177.01304844469655</c:v>
                </c:pt>
                <c:pt idx="120">
                  <c:v>177.48632460934544</c:v>
                </c:pt>
                <c:pt idx="121">
                  <c:v>179.30782344381771</c:v>
                </c:pt>
                <c:pt idx="122">
                  <c:v>182.55850176121064</c:v>
                </c:pt>
                <c:pt idx="123">
                  <c:v>186.07345667057311</c:v>
                </c:pt>
                <c:pt idx="124">
                  <c:v>188.91241305178892</c:v>
                </c:pt>
                <c:pt idx="125">
                  <c:v>191.73347940359002</c:v>
                </c:pt>
                <c:pt idx="126">
                  <c:v>192.83010473889357</c:v>
                </c:pt>
                <c:pt idx="127">
                  <c:v>191.82933373171059</c:v>
                </c:pt>
                <c:pt idx="128">
                  <c:v>189.07470696485026</c:v>
                </c:pt>
                <c:pt idx="129">
                  <c:v>189.07175086792</c:v>
                </c:pt>
                <c:pt idx="130">
                  <c:v>191.560126475365</c:v>
                </c:pt>
                <c:pt idx="131">
                  <c:v>195.41622672156606</c:v>
                </c:pt>
                <c:pt idx="132">
                  <c:v>196.87997634565522</c:v>
                </c:pt>
                <c:pt idx="133">
                  <c:v>196.92685790902397</c:v>
                </c:pt>
                <c:pt idx="134">
                  <c:v>196.73096492137103</c:v>
                </c:pt>
                <c:pt idx="135">
                  <c:v>197.53050092960939</c:v>
                </c:pt>
                <c:pt idx="136">
                  <c:v>200.38973054306788</c:v>
                </c:pt>
                <c:pt idx="137">
                  <c:v>204.65097688829755</c:v>
                </c:pt>
                <c:pt idx="138">
                  <c:v>211.51878202891436</c:v>
                </c:pt>
                <c:pt idx="139">
                  <c:v>221.76725566234458</c:v>
                </c:pt>
                <c:pt idx="140">
                  <c:v>227.50122350544342</c:v>
                </c:pt>
                <c:pt idx="141">
                  <c:v>229.99096031883812</c:v>
                </c:pt>
                <c:pt idx="142">
                  <c:v>229.14525177678343</c:v>
                </c:pt>
                <c:pt idx="143">
                  <c:v>233.56868194588495</c:v>
                </c:pt>
                <c:pt idx="144">
                  <c:v>240.39842370499153</c:v>
                </c:pt>
                <c:pt idx="145">
                  <c:v>245.37254747820219</c:v>
                </c:pt>
                <c:pt idx="146">
                  <c:v>238.85714185637781</c:v>
                </c:pt>
                <c:pt idx="147">
                  <c:v>230.8492094393157</c:v>
                </c:pt>
                <c:pt idx="148">
                  <c:v>228.39269840786164</c:v>
                </c:pt>
                <c:pt idx="149">
                  <c:v>224.01316702200285</c:v>
                </c:pt>
                <c:pt idx="150">
                  <c:v>220.75333331142645</c:v>
                </c:pt>
                <c:pt idx="151">
                  <c:v>217.36269033576176</c:v>
                </c:pt>
                <c:pt idx="152">
                  <c:v>220.34424109907738</c:v>
                </c:pt>
                <c:pt idx="153">
                  <c:v>218.77456249182643</c:v>
                </c:pt>
                <c:pt idx="154">
                  <c:v>217.80828151345412</c:v>
                </c:pt>
                <c:pt idx="155">
                  <c:v>211.29186422837921</c:v>
                </c:pt>
                <c:pt idx="156">
                  <c:v>209.09176334378569</c:v>
                </c:pt>
                <c:pt idx="157">
                  <c:v>208.41351050414656</c:v>
                </c:pt>
                <c:pt idx="158">
                  <c:v>211.28966017152774</c:v>
                </c:pt>
                <c:pt idx="159">
                  <c:v>211.5051728527323</c:v>
                </c:pt>
                <c:pt idx="160">
                  <c:v>215.34239155256859</c:v>
                </c:pt>
                <c:pt idx="161">
                  <c:v>218.72372333067</c:v>
                </c:pt>
                <c:pt idx="162">
                  <c:v>221.53156855750998</c:v>
                </c:pt>
                <c:pt idx="163">
                  <c:v>220.94970447636302</c:v>
                </c:pt>
                <c:pt idx="164">
                  <c:v>218.58316625982792</c:v>
                </c:pt>
                <c:pt idx="165">
                  <c:v>218.79673268776372</c:v>
                </c:pt>
                <c:pt idx="166">
                  <c:v>218.79903016067962</c:v>
                </c:pt>
                <c:pt idx="167">
                  <c:v>218.74992856595333</c:v>
                </c:pt>
                <c:pt idx="168">
                  <c:v>217.94146819009742</c:v>
                </c:pt>
                <c:pt idx="169">
                  <c:v>217.29320430383555</c:v>
                </c:pt>
                <c:pt idx="170">
                  <c:v>220.25947788665184</c:v>
                </c:pt>
                <c:pt idx="171">
                  <c:v>227.00954827706323</c:v>
                </c:pt>
                <c:pt idx="172">
                  <c:v>231.124403832474</c:v>
                </c:pt>
                <c:pt idx="173">
                  <c:v>234.67694533667299</c:v>
                </c:pt>
                <c:pt idx="174">
                  <c:v>238.35786190512019</c:v>
                </c:pt>
                <c:pt idx="175">
                  <c:v>246.18704461412423</c:v>
                </c:pt>
                <c:pt idx="176">
                  <c:v>249.17090393975928</c:v>
                </c:pt>
                <c:pt idx="177">
                  <c:v>248.91670591295861</c:v>
                </c:pt>
                <c:pt idx="178">
                  <c:v>243.33891959099222</c:v>
                </c:pt>
                <c:pt idx="179">
                  <c:v>239.30135135252365</c:v>
                </c:pt>
                <c:pt idx="180">
                  <c:v>233.05256088511643</c:v>
                </c:pt>
                <c:pt idx="181">
                  <c:v>227.92893139776638</c:v>
                </c:pt>
                <c:pt idx="182">
                  <c:v>226.34551981181804</c:v>
                </c:pt>
                <c:pt idx="183">
                  <c:v>228.10210965362108</c:v>
                </c:pt>
                <c:pt idx="184">
                  <c:v>227.40232252246258</c:v>
                </c:pt>
                <c:pt idx="185">
                  <c:v>221.84194097881866</c:v>
                </c:pt>
                <c:pt idx="186">
                  <c:v>215.75696719162565</c:v>
                </c:pt>
                <c:pt idx="187">
                  <c:v>215.96512133804023</c:v>
                </c:pt>
                <c:pt idx="188">
                  <c:v>219.77559517431206</c:v>
                </c:pt>
                <c:pt idx="189">
                  <c:v>223.1120759581388</c:v>
                </c:pt>
                <c:pt idx="190">
                  <c:v>223.51665987142613</c:v>
                </c:pt>
                <c:pt idx="191">
                  <c:v>224.89282379145092</c:v>
                </c:pt>
                <c:pt idx="192">
                  <c:v>226.35745456156312</c:v>
                </c:pt>
                <c:pt idx="193">
                  <c:v>230.03754719978659</c:v>
                </c:pt>
                <c:pt idx="194">
                  <c:v>232.14170583647757</c:v>
                </c:pt>
                <c:pt idx="195">
                  <c:v>234.21410601851233</c:v>
                </c:pt>
                <c:pt idx="196">
                  <c:v>234.81894513470991</c:v>
                </c:pt>
                <c:pt idx="197">
                  <c:v>237.831460087078</c:v>
                </c:pt>
                <c:pt idx="198">
                  <c:v>240.53023824121342</c:v>
                </c:pt>
                <c:pt idx="199">
                  <c:v>244.31100240966566</c:v>
                </c:pt>
                <c:pt idx="200">
                  <c:v>242.19124781202683</c:v>
                </c:pt>
                <c:pt idx="201">
                  <c:v>240.48114612409313</c:v>
                </c:pt>
                <c:pt idx="202">
                  <c:v>240.65220919703037</c:v>
                </c:pt>
                <c:pt idx="203">
                  <c:v>236.61635423945552</c:v>
                </c:pt>
                <c:pt idx="204">
                  <c:v>234.84678774745012</c:v>
                </c:pt>
                <c:pt idx="205">
                  <c:v>232.02415341724654</c:v>
                </c:pt>
                <c:pt idx="206">
                  <c:v>236.04468389936685</c:v>
                </c:pt>
                <c:pt idx="207">
                  <c:v>239.29977666240907</c:v>
                </c:pt>
                <c:pt idx="208">
                  <c:v>241.23078213087069</c:v>
                </c:pt>
                <c:pt idx="209">
                  <c:v>240.61358093295993</c:v>
                </c:pt>
                <c:pt idx="210">
                  <c:v>238.19442073682265</c:v>
                </c:pt>
                <c:pt idx="211">
                  <c:v>235.9436639750655</c:v>
                </c:pt>
                <c:pt idx="212">
                  <c:v>235.37587159385214</c:v>
                </c:pt>
                <c:pt idx="213">
                  <c:v>234.22484025066098</c:v>
                </c:pt>
                <c:pt idx="214">
                  <c:v>235.87190321934227</c:v>
                </c:pt>
                <c:pt idx="215">
                  <c:v>234.92628341454531</c:v>
                </c:pt>
                <c:pt idx="216">
                  <c:v>236.12841722327275</c:v>
                </c:pt>
                <c:pt idx="217">
                  <c:v>239.4328094365288</c:v>
                </c:pt>
                <c:pt idx="218">
                  <c:v>242.0825730455841</c:v>
                </c:pt>
                <c:pt idx="219">
                  <c:v>248.24074262954304</c:v>
                </c:pt>
                <c:pt idx="220">
                  <c:v>251.99102050321014</c:v>
                </c:pt>
                <c:pt idx="221">
                  <c:v>258.26407902094519</c:v>
                </c:pt>
                <c:pt idx="222">
                  <c:v>264.05409104346757</c:v>
                </c:pt>
                <c:pt idx="223">
                  <c:v>269.55636404029394</c:v>
                </c:pt>
                <c:pt idx="224">
                  <c:v>273.65620884607398</c:v>
                </c:pt>
                <c:pt idx="225">
                  <c:v>272.33500235568158</c:v>
                </c:pt>
                <c:pt idx="226">
                  <c:v>266.65190505425994</c:v>
                </c:pt>
                <c:pt idx="227">
                  <c:v>258.60272482694097</c:v>
                </c:pt>
                <c:pt idx="228">
                  <c:v>257.15663320130312</c:v>
                </c:pt>
                <c:pt idx="229">
                  <c:v>258.30004125319084</c:v>
                </c:pt>
                <c:pt idx="230">
                  <c:v>259.4801090202829</c:v>
                </c:pt>
                <c:pt idx="231">
                  <c:v>258.01351629354383</c:v>
                </c:pt>
                <c:pt idx="232">
                  <c:v>256.5293618961872</c:v>
                </c:pt>
                <c:pt idx="233">
                  <c:v>258.37637366407364</c:v>
                </c:pt>
                <c:pt idx="234">
                  <c:v>261.65138730082958</c:v>
                </c:pt>
                <c:pt idx="235">
                  <c:v>267.11399442931724</c:v>
                </c:pt>
                <c:pt idx="236">
                  <c:v>271.27941351787052</c:v>
                </c:pt>
                <c:pt idx="237">
                  <c:v>270.81048594282117</c:v>
                </c:pt>
                <c:pt idx="238">
                  <c:v>270.32657297910566</c:v>
                </c:pt>
                <c:pt idx="239">
                  <c:v>267.1803255181776</c:v>
                </c:pt>
                <c:pt idx="240">
                  <c:v>265.3297705144422</c:v>
                </c:pt>
              </c:numCache>
            </c:numRef>
          </c:val>
          <c:smooth val="1"/>
          <c:extLst>
            <c:ext xmlns:c16="http://schemas.microsoft.com/office/drawing/2014/chart" uri="{C3380CC4-5D6E-409C-BE32-E72D297353CC}">
              <c16:uniqueId val="{00000002-DA45-634B-8F44-4109AE2847E0}"/>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majorGridlines>
          <c:spPr>
            <a:ln w="9525">
              <a:solidFill>
                <a:srgbClr val="AB853F">
                  <a:alpha val="10000"/>
                </a:srgbClr>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72768"/>
        <c:crosses val="autoZero"/>
        <c:auto val="1"/>
        <c:lblAlgn val="ctr"/>
        <c:lblOffset val="100"/>
        <c:tickLblSkip val="60"/>
        <c:noMultiLvlLbl val="0"/>
      </c:catAx>
      <c:valAx>
        <c:axId val="48672768"/>
        <c:scaling>
          <c:orientation val="minMax"/>
          <c:max val="525"/>
          <c:min val="100"/>
        </c:scaling>
        <c:delete val="0"/>
        <c:axPos val="l"/>
        <c:majorGridlines>
          <c:spPr>
            <a:ln w="9525">
              <a:solidFill>
                <a:srgbClr val="CCCCCC"/>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50112"/>
        <c:crosses val="autoZero"/>
        <c:crossBetween val="between"/>
        <c:majorUnit val="100"/>
      </c:valAx>
    </c:plotArea>
    <c:plotVisOnly val="1"/>
    <c:dispBlanksAs val="zero"/>
    <c:showDLblsOverMax val="1"/>
  </c:chart>
  <c:spPr>
    <a:solidFill>
      <a:srgbClr val="FCF9EF"/>
    </a:solidFill>
    <a:ln w="9525">
      <a:noFill/>
      <a:prstDash val="solid"/>
    </a:ln>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714633854332611"/>
          <c:y val="0.13531555090155722"/>
          <c:w val="0.56056572729765053"/>
          <c:h val="0.68381104701846296"/>
        </c:manualLayout>
      </c:layout>
      <c:doughnutChart>
        <c:varyColors val="1"/>
        <c:ser>
          <c:idx val="0"/>
          <c:order val="0"/>
          <c:spPr>
            <a:ln>
              <a:prstDash val="solid"/>
            </a:ln>
          </c:spPr>
          <c:dPt>
            <c:idx val="0"/>
            <c:bubble3D val="0"/>
            <c:spPr>
              <a:solidFill>
                <a:srgbClr val="102D1A"/>
              </a:solidFill>
              <a:ln w="15875">
                <a:solidFill>
                  <a:srgbClr val="FFFFFF"/>
                </a:solidFill>
                <a:prstDash val="solid"/>
              </a:ln>
            </c:spPr>
            <c:extLst>
              <c:ext xmlns:c16="http://schemas.microsoft.com/office/drawing/2014/chart" uri="{C3380CC4-5D6E-409C-BE32-E72D297353CC}">
                <c16:uniqueId val="{00000001-8DC9-9B48-A334-D782D411A9BF}"/>
              </c:ext>
            </c:extLst>
          </c:dPt>
          <c:dPt>
            <c:idx val="1"/>
            <c:bubble3D val="0"/>
            <c:spPr>
              <a:solidFill>
                <a:srgbClr val="102D1A"/>
              </a:solidFill>
              <a:ln w="15875">
                <a:solidFill>
                  <a:srgbClr val="FFFFFF"/>
                </a:solidFill>
                <a:prstDash val="solid"/>
              </a:ln>
            </c:spPr>
            <c:extLst>
              <c:ext xmlns:c16="http://schemas.microsoft.com/office/drawing/2014/chart" uri="{C3380CC4-5D6E-409C-BE32-E72D297353CC}">
                <c16:uniqueId val="{00000003-8DC9-9B48-A334-D782D411A9BF}"/>
              </c:ext>
            </c:extLst>
          </c:dPt>
          <c:dPt>
            <c:idx val="2"/>
            <c:bubble3D val="0"/>
            <c:spPr>
              <a:solidFill>
                <a:srgbClr val="102D1A"/>
              </a:solidFill>
              <a:ln w="15875">
                <a:solidFill>
                  <a:srgbClr val="FFFFFF"/>
                </a:solidFill>
                <a:prstDash val="solid"/>
              </a:ln>
            </c:spPr>
            <c:extLst>
              <c:ext xmlns:c16="http://schemas.microsoft.com/office/drawing/2014/chart" uri="{C3380CC4-5D6E-409C-BE32-E72D297353CC}">
                <c16:uniqueId val="{00000005-8DC9-9B48-A334-D782D411A9BF}"/>
              </c:ext>
            </c:extLst>
          </c:dPt>
          <c:dPt>
            <c:idx val="3"/>
            <c:bubble3D val="0"/>
            <c:spPr>
              <a:solidFill>
                <a:srgbClr val="A8823F"/>
              </a:solidFill>
              <a:ln w="15875">
                <a:solidFill>
                  <a:srgbClr val="FFFFFF"/>
                </a:solidFill>
                <a:prstDash val="solid"/>
              </a:ln>
            </c:spPr>
            <c:extLst>
              <c:ext xmlns:c16="http://schemas.microsoft.com/office/drawing/2014/chart" uri="{C3380CC4-5D6E-409C-BE32-E72D297353CC}">
                <c16:uniqueId val="{00000007-8DC9-9B48-A334-D782D411A9BF}"/>
              </c:ext>
            </c:extLst>
          </c:dPt>
          <c:dPt>
            <c:idx val="4"/>
            <c:bubble3D val="0"/>
            <c:spPr>
              <a:solidFill>
                <a:srgbClr val="A8823F"/>
              </a:solidFill>
              <a:ln w="15875">
                <a:solidFill>
                  <a:srgbClr val="FFFFFF"/>
                </a:solidFill>
                <a:prstDash val="solid"/>
              </a:ln>
            </c:spPr>
            <c:extLst>
              <c:ext xmlns:c16="http://schemas.microsoft.com/office/drawing/2014/chart" uri="{C3380CC4-5D6E-409C-BE32-E72D297353CC}">
                <c16:uniqueId val="{00000009-8DC9-9B48-A334-D782D411A9BF}"/>
              </c:ext>
            </c:extLst>
          </c:dPt>
          <c:dPt>
            <c:idx val="5"/>
            <c:bubble3D val="0"/>
            <c:spPr>
              <a:solidFill>
                <a:srgbClr val="B3A792"/>
              </a:solidFill>
              <a:ln w="15875">
                <a:solidFill>
                  <a:srgbClr val="FFFFFF"/>
                </a:solidFill>
                <a:prstDash val="solid"/>
              </a:ln>
            </c:spPr>
            <c:extLst>
              <c:ext xmlns:c16="http://schemas.microsoft.com/office/drawing/2014/chart" uri="{C3380CC4-5D6E-409C-BE32-E72D297353CC}">
                <c16:uniqueId val="{0000000B-8DC9-9B48-A334-D782D411A9BF}"/>
              </c:ext>
            </c:extLst>
          </c:dPt>
          <c:dPt>
            <c:idx val="6"/>
            <c:bubble3D val="0"/>
            <c:spPr>
              <a:solidFill>
                <a:srgbClr val="B3A792"/>
              </a:solidFill>
              <a:ln w="15875">
                <a:solidFill>
                  <a:srgbClr val="FFFFFF"/>
                </a:solidFill>
                <a:prstDash val="solid"/>
              </a:ln>
            </c:spPr>
            <c:extLst>
              <c:ext xmlns:c16="http://schemas.microsoft.com/office/drawing/2014/chart" uri="{C3380CC4-5D6E-409C-BE32-E72D297353CC}">
                <c16:uniqueId val="{0000000D-8DC9-9B48-A334-D782D411A9BF}"/>
              </c:ext>
            </c:extLst>
          </c:dPt>
          <c:dPt>
            <c:idx val="7"/>
            <c:bubble3D val="0"/>
            <c:spPr>
              <a:solidFill>
                <a:srgbClr val="B3A792"/>
              </a:solidFill>
              <a:ln w="15875">
                <a:solidFill>
                  <a:srgbClr val="FFFFFF"/>
                </a:solidFill>
                <a:prstDash val="solid"/>
              </a:ln>
            </c:spPr>
            <c:extLst>
              <c:ext xmlns:c16="http://schemas.microsoft.com/office/drawing/2014/chart" uri="{C3380CC4-5D6E-409C-BE32-E72D297353CC}">
                <c16:uniqueId val="{0000000F-8DC9-9B48-A334-D782D411A9BF}"/>
              </c:ext>
            </c:extLst>
          </c:dPt>
          <c:dPt>
            <c:idx val="8"/>
            <c:bubble3D val="0"/>
            <c:spPr>
              <a:solidFill>
                <a:srgbClr val="183E26"/>
              </a:solidFill>
              <a:ln w="15875">
                <a:solidFill>
                  <a:srgbClr val="FFFFFF"/>
                </a:solidFill>
                <a:prstDash val="solid"/>
              </a:ln>
            </c:spPr>
            <c:extLst>
              <c:ext xmlns:c16="http://schemas.microsoft.com/office/drawing/2014/chart" uri="{C3380CC4-5D6E-409C-BE32-E72D297353CC}">
                <c16:uniqueId val="{00000011-8DC9-9B48-A334-D782D411A9BF}"/>
              </c:ext>
            </c:extLst>
          </c:dPt>
          <c:dLbls>
            <c:dLbl>
              <c:idx val="1"/>
              <c:layout>
                <c:manualLayout>
                  <c:x val="7.3185065822647569E-2"/>
                  <c:y val="-0.29223385330281432"/>
                </c:manualLayout>
              </c:layout>
              <c:tx>
                <c:rich>
                  <a:bodyPr/>
                  <a:lstStyle/>
                  <a:p>
                    <a:pPr>
                      <a:defRPr sz="1050" b="1">
                        <a:solidFill>
                          <a:srgbClr val="1A1A1A"/>
                        </a:solidFill>
                        <a:latin typeface="Arial"/>
                      </a:defRPr>
                    </a:pPr>
                    <a:r>
                      <a:rPr lang="en-US" b="0" i="0">
                        <a:latin typeface="Jost Light" pitchFamily="2" charset="77"/>
                        <a:ea typeface="Jost Light" pitchFamily="2" charset="77"/>
                      </a:rPr>
                      <a:t>Exposition actions </a:t>
                    </a:r>
                  </a:p>
                  <a:p>
                    <a:pPr>
                      <a:defRPr sz="1050" b="1">
                        <a:solidFill>
                          <a:srgbClr val="1A1A1A"/>
                        </a:solidFill>
                        <a:latin typeface="Arial"/>
                      </a:defRPr>
                    </a:pPr>
                    <a:r>
                      <a:rPr lang="en-US" sz="1400" b="0" i="0">
                        <a:latin typeface="Jost Medium" pitchFamily="2" charset="77"/>
                        <a:ea typeface="Jost Medium" pitchFamily="2" charset="77"/>
                      </a:rPr>
                      <a:t>42%</a:t>
                    </a:r>
                  </a:p>
                </c:rich>
              </c:tx>
              <c:spPr/>
              <c:showLegendKey val="0"/>
              <c:showVal val="0"/>
              <c:showCatName val="1"/>
              <c:showSerName val="0"/>
              <c:showPercent val="0"/>
              <c:showBubbleSize val="0"/>
              <c:extLst>
                <c:ext xmlns:c15="http://schemas.microsoft.com/office/drawing/2012/chart" uri="{CE6537A1-D6FC-4f65-9D91-7224C49458BB}">
                  <c15:layout>
                    <c:manualLayout>
                      <c:w val="0.27507946802150657"/>
                      <c:h val="0.16182530766572228"/>
                    </c:manualLayout>
                  </c15:layout>
                  <c15:showDataLabelsRange val="0"/>
                </c:ext>
                <c:ext xmlns:c16="http://schemas.microsoft.com/office/drawing/2014/chart" uri="{C3380CC4-5D6E-409C-BE32-E72D297353CC}">
                  <c16:uniqueId val="{00000003-8DC9-9B48-A334-D782D411A9BF}"/>
                </c:ext>
              </c:extLst>
            </c:dLbl>
            <c:dLbl>
              <c:idx val="4"/>
              <c:layout>
                <c:manualLayout>
                  <c:x val="9.7816545181630882E-2"/>
                  <c:y val="0.13352117915672512"/>
                </c:manualLayout>
              </c:layout>
              <c:tx>
                <c:rich>
                  <a:bodyPr/>
                  <a:lstStyle/>
                  <a:p>
                    <a:pPr>
                      <a:defRPr sz="1050" b="1">
                        <a:solidFill>
                          <a:srgbClr val="A8823F"/>
                        </a:solidFill>
                        <a:latin typeface="Arial"/>
                      </a:defRPr>
                    </a:pPr>
                    <a:r>
                      <a:rPr lang="en-US" b="0" i="0">
                        <a:latin typeface="Jost Light" pitchFamily="2" charset="77"/>
                        <a:ea typeface="Jost Light" pitchFamily="2" charset="77"/>
                      </a:rPr>
                      <a:t>Exposition</a:t>
                    </a:r>
                    <a:r>
                      <a:rPr lang="en-US" b="0" i="0" baseline="0">
                        <a:latin typeface="Jost Light" pitchFamily="2" charset="77"/>
                        <a:ea typeface="Jost Light" pitchFamily="2" charset="77"/>
                      </a:rPr>
                      <a:t> </a:t>
                    </a:r>
                    <a:r>
                      <a:rPr lang="en-US" b="0" i="0" baseline="0" err="1">
                        <a:latin typeface="Jost Light" pitchFamily="2" charset="77"/>
                        <a:ea typeface="Jost Light" pitchFamily="2" charset="77"/>
                      </a:rPr>
                      <a:t>obligataire</a:t>
                    </a:r>
                    <a:endParaRPr lang="en-US" b="0" i="0" baseline="0">
                      <a:latin typeface="Jost Light" pitchFamily="2" charset="77"/>
                      <a:ea typeface="Jost Light" pitchFamily="2" charset="77"/>
                    </a:endParaRPr>
                  </a:p>
                  <a:p>
                    <a:pPr>
                      <a:defRPr sz="1050" b="1">
                        <a:solidFill>
                          <a:srgbClr val="A8823F"/>
                        </a:solidFill>
                        <a:latin typeface="Arial"/>
                      </a:defRPr>
                    </a:pPr>
                    <a:r>
                      <a:rPr lang="en-US" sz="1400" b="0" i="0" baseline="0">
                        <a:latin typeface="Jost Medium" pitchFamily="2" charset="77"/>
                        <a:ea typeface="Jost Medium" pitchFamily="2" charset="77"/>
                      </a:rPr>
                      <a:t>14%</a:t>
                    </a:r>
                    <a:endParaRPr lang="en-US" sz="1400" b="0" i="0">
                      <a:latin typeface="Jost Medium" pitchFamily="2" charset="77"/>
                      <a:ea typeface="Jost Medium" pitchFamily="2" charset="77"/>
                    </a:endParaRPr>
                  </a:p>
                </c:rich>
              </c:tx>
              <c:spPr/>
              <c:showLegendKey val="0"/>
              <c:showVal val="0"/>
              <c:showCatName val="1"/>
              <c:showSerName val="0"/>
              <c:showPercent val="0"/>
              <c:showBubbleSize val="0"/>
              <c:extLst>
                <c:ext xmlns:c15="http://schemas.microsoft.com/office/drawing/2012/chart" uri="{CE6537A1-D6FC-4f65-9D91-7224C49458BB}">
                  <c15:layout>
                    <c:manualLayout>
                      <c:w val="0.27324247076813041"/>
                      <c:h val="0.16182530766572228"/>
                    </c:manualLayout>
                  </c15:layout>
                  <c15:showDataLabelsRange val="0"/>
                </c:ext>
                <c:ext xmlns:c16="http://schemas.microsoft.com/office/drawing/2014/chart" uri="{C3380CC4-5D6E-409C-BE32-E72D297353CC}">
                  <c16:uniqueId val="{00000009-8DC9-9B48-A334-D782D411A9BF}"/>
                </c:ext>
              </c:extLst>
            </c:dLbl>
            <c:dLbl>
              <c:idx val="6"/>
              <c:layout>
                <c:manualLayout>
                  <c:x val="-0.14362935748188838"/>
                  <c:y val="-8.2745147811501607E-2"/>
                </c:manualLayout>
              </c:layout>
              <c:tx>
                <c:rich>
                  <a:bodyPr/>
                  <a:lstStyle/>
                  <a:p>
                    <a:pPr>
                      <a:defRPr sz="1050" b="1">
                        <a:solidFill>
                          <a:srgbClr val="9C8E74"/>
                        </a:solidFill>
                        <a:latin typeface="Arial"/>
                      </a:defRPr>
                    </a:pPr>
                    <a:r>
                      <a:rPr lang="en-US" sz="1050" b="0" i="0">
                        <a:latin typeface="Jost Light" pitchFamily="2" charset="77"/>
                        <a:ea typeface="Jost Light" pitchFamily="2" charset="77"/>
                      </a:rPr>
                      <a:t>Exposition</a:t>
                    </a:r>
                    <a:r>
                      <a:rPr lang="en-US" sz="1050" b="0" i="0" baseline="0">
                        <a:latin typeface="Jost Light" pitchFamily="2" charset="77"/>
                        <a:ea typeface="Jost Light" pitchFamily="2" charset="77"/>
                      </a:rPr>
                      <a:t> mixte</a:t>
                    </a:r>
                  </a:p>
                  <a:p>
                    <a:pPr>
                      <a:defRPr sz="1050" b="1">
                        <a:solidFill>
                          <a:srgbClr val="9C8E74"/>
                        </a:solidFill>
                        <a:latin typeface="Arial"/>
                      </a:defRPr>
                    </a:pPr>
                    <a:r>
                      <a:rPr lang="en-US" sz="1400" b="0" i="0" baseline="0">
                        <a:latin typeface="Jost Medium" pitchFamily="2" charset="77"/>
                        <a:ea typeface="Jost Medium" pitchFamily="2" charset="77"/>
                      </a:rPr>
                      <a:t>44%</a:t>
                    </a:r>
                    <a:endParaRPr lang="en-US" sz="1400" b="0" i="0">
                      <a:latin typeface="Jost Medium" pitchFamily="2" charset="77"/>
                      <a:ea typeface="Jost Medium" pitchFamily="2" charset="77"/>
                    </a:endParaRPr>
                  </a:p>
                </c:rich>
              </c:tx>
              <c:spPr/>
              <c:showLegendKey val="0"/>
              <c:showVal val="0"/>
              <c:showCatName val="1"/>
              <c:showSerName val="0"/>
              <c:showPercent val="0"/>
              <c:showBubbleSize val="0"/>
              <c:extLst>
                <c:ext xmlns:c15="http://schemas.microsoft.com/office/drawing/2012/chart" uri="{CE6537A1-D6FC-4f65-9D91-7224C49458BB}">
                  <c15:layout>
                    <c:manualLayout>
                      <c:w val="0.18642100053856134"/>
                      <c:h val="0.45145752645955278"/>
                    </c:manualLayout>
                  </c15:layout>
                  <c15:showDataLabelsRange val="0"/>
                </c:ext>
                <c:ext xmlns:c16="http://schemas.microsoft.com/office/drawing/2014/chart" uri="{C3380CC4-5D6E-409C-BE32-E72D297353CC}">
                  <c16:uniqueId val="{0000000D-8DC9-9B48-A334-D782D411A9B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Données!$P$3:$P$11</c:f>
              <c:strCache>
                <c:ptCount val="7"/>
                <c:pt idx="1">
                  <c:v>Exposition actions
42%</c:v>
                </c:pt>
                <c:pt idx="4">
                  <c:v>Exposition obligataire
14%</c:v>
                </c:pt>
                <c:pt idx="6">
                  <c:v>Exposition mixte
44%</c:v>
                </c:pt>
              </c:strCache>
            </c:strRef>
          </c:cat>
          <c:val>
            <c:numRef>
              <c:f>Données!$F$3:$F$11</c:f>
              <c:numCache>
                <c:formatCode>0%</c:formatCode>
                <c:ptCount val="9"/>
                <c:pt idx="0">
                  <c:v>0.16</c:v>
                </c:pt>
                <c:pt idx="1">
                  <c:v>0.17</c:v>
                </c:pt>
                <c:pt idx="2">
                  <c:v>0.09</c:v>
                </c:pt>
                <c:pt idx="3">
                  <c:v>7.0000000000000007E-2</c:v>
                </c:pt>
                <c:pt idx="4">
                  <c:v>7.0000000000000007E-2</c:v>
                </c:pt>
                <c:pt idx="5">
                  <c:v>0.05</c:v>
                </c:pt>
                <c:pt idx="6">
                  <c:v>0.24</c:v>
                </c:pt>
                <c:pt idx="7">
                  <c:v>0.15</c:v>
                </c:pt>
                <c:pt idx="8">
                  <c:v>0</c:v>
                </c:pt>
              </c:numCache>
            </c:numRef>
          </c:val>
          <c:extLst>
            <c:ext xmlns:c16="http://schemas.microsoft.com/office/drawing/2014/chart" uri="{C3380CC4-5D6E-409C-BE32-E72D297353CC}">
              <c16:uniqueId val="{00000012-8DC9-9B48-A334-D782D411A9BF}"/>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1"/>
  </c:chart>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Optimiste</c:v>
          </c:tx>
          <c:spPr>
            <a:ln w="12700">
              <a:solidFill>
                <a:srgbClr val="144629"/>
              </a:solidFill>
            </a:ln>
          </c:spPr>
          <c:marker>
            <c:symbol val="none"/>
          </c:marker>
          <c:cat>
            <c:numRef>
              <c:f>'8.4%'!$B$5:$B$245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'8.4%'!$D$5:$D$245</c:f>
              <c:numCache>
                <c:formatCode>0.0</c:formatCode>
                <c:ptCount val="241"/>
                <c:pt idx="0">
                  <c:v>100</c:v>
                </c:pt>
                <c:pt idx="1">
                  <c:v>97.984584346453062</c:v>
                </c:pt>
                <c:pt idx="2">
                  <c:v>96.236866892153031</c:v>
                </c:pt>
                <c:pt idx="3">
                  <c:v>96.395783765423317</c:v>
                </c:pt>
                <c:pt idx="4">
                  <c:v>96.584170863457899</c:v>
                </c:pt>
                <c:pt idx="5">
                  <c:v>98.946140171462631</c:v>
                </c:pt>
                <c:pt idx="6">
                  <c:v>100.65968010670878</c:v>
                </c:pt>
                <c:pt idx="7">
                  <c:v>101.91430987071709</c:v>
                </c:pt>
                <c:pt idx="8">
                  <c:v>102.66206126298013</c:v>
                </c:pt>
                <c:pt idx="9">
                  <c:v>103.51529796508089</c:v>
                </c:pt>
                <c:pt idx="10">
                  <c:v>105.95498073437234</c:v>
                </c:pt>
                <c:pt idx="11">
                  <c:v>107.61707695338082</c:v>
                </c:pt>
                <c:pt idx="12">
                  <c:v>110.12515328727015</c:v>
                </c:pt>
                <c:pt idx="13">
                  <c:v>111.09623780605325</c:v>
                </c:pt>
                <c:pt idx="14">
                  <c:v>112.44969139434403</c:v>
                </c:pt>
                <c:pt idx="15">
                  <c:v>111.96171207601533</c:v>
                </c:pt>
                <c:pt idx="16">
                  <c:v>114.35439228280907</c:v>
                </c:pt>
                <c:pt idx="17">
                  <c:v>116.11511660297266</c:v>
                </c:pt>
                <c:pt idx="18">
                  <c:v>119.0028415160313</c:v>
                </c:pt>
                <c:pt idx="19">
                  <c:v>120.12134958194385</c:v>
                </c:pt>
                <c:pt idx="20">
                  <c:v>121.79246711433895</c:v>
                </c:pt>
                <c:pt idx="21">
                  <c:v>123.21100443239138</c:v>
                </c:pt>
                <c:pt idx="22">
                  <c:v>124.2414886012654</c:v>
                </c:pt>
                <c:pt idx="23">
                  <c:v>126.53430491680291</c:v>
                </c:pt>
                <c:pt idx="24">
                  <c:v>129.090063087087</c:v>
                </c:pt>
                <c:pt idx="25">
                  <c:v>131.39520718660737</c:v>
                </c:pt>
                <c:pt idx="26">
                  <c:v>132.6765029367759</c:v>
                </c:pt>
                <c:pt idx="27">
                  <c:v>134.06142217135528</c:v>
                </c:pt>
                <c:pt idx="28">
                  <c:v>132.90130116595861</c:v>
                </c:pt>
                <c:pt idx="29">
                  <c:v>133.23084615108255</c:v>
                </c:pt>
                <c:pt idx="30">
                  <c:v>134.05872257629494</c:v>
                </c:pt>
                <c:pt idx="31">
                  <c:v>136.63953459655204</c:v>
                </c:pt>
                <c:pt idx="32">
                  <c:v>136.72141967670439</c:v>
                </c:pt>
                <c:pt idx="33">
                  <c:v>135.66688372410061</c:v>
                </c:pt>
                <c:pt idx="34">
                  <c:v>136.58429044538033</c:v>
                </c:pt>
                <c:pt idx="35">
                  <c:v>138.42383364058173</c:v>
                </c:pt>
                <c:pt idx="36">
                  <c:v>144.63868581996178</c:v>
                </c:pt>
                <c:pt idx="37">
                  <c:v>152.46250211515371</c:v>
                </c:pt>
                <c:pt idx="38">
                  <c:v>157.10474596671202</c:v>
                </c:pt>
                <c:pt idx="39">
                  <c:v>159.88121567330978</c:v>
                </c:pt>
                <c:pt idx="40">
                  <c:v>155.89998514192317</c:v>
                </c:pt>
                <c:pt idx="41">
                  <c:v>156.51880929443504</c:v>
                </c:pt>
                <c:pt idx="42">
                  <c:v>154.65712481055903</c:v>
                </c:pt>
                <c:pt idx="43">
                  <c:v>156.52204208410066</c:v>
                </c:pt>
                <c:pt idx="44">
                  <c:v>152.35952579198806</c:v>
                </c:pt>
                <c:pt idx="45">
                  <c:v>148.10075059255036</c:v>
                </c:pt>
                <c:pt idx="46">
                  <c:v>143.09294602404418</c:v>
                </c:pt>
                <c:pt idx="47">
                  <c:v>140.75773927372038</c:v>
                </c:pt>
                <c:pt idx="48">
                  <c:v>139.40762147022284</c:v>
                </c:pt>
                <c:pt idx="49">
                  <c:v>139.60883574366119</c:v>
                </c:pt>
                <c:pt idx="50">
                  <c:v>138.77493507010124</c:v>
                </c:pt>
                <c:pt idx="51">
                  <c:v>141.17257512986706</c:v>
                </c:pt>
                <c:pt idx="52">
                  <c:v>142.55009102640639</c:v>
                </c:pt>
                <c:pt idx="53">
                  <c:v>145.88993880807928</c:v>
                </c:pt>
                <c:pt idx="54">
                  <c:v>144.61442930672715</c:v>
                </c:pt>
                <c:pt idx="55">
                  <c:v>141.16982896883869</c:v>
                </c:pt>
                <c:pt idx="56">
                  <c:v>141.06332801687734</c:v>
                </c:pt>
                <c:pt idx="57">
                  <c:v>141.61928187584891</c:v>
                </c:pt>
                <c:pt idx="58">
                  <c:v>144.23341590304068</c:v>
                </c:pt>
                <c:pt idx="59">
                  <c:v>145.12243212355833</c:v>
                </c:pt>
                <c:pt idx="60">
                  <c:v>145.08639430711074</c:v>
                </c:pt>
                <c:pt idx="61">
                  <c:v>145.61134659252866</c:v>
                </c:pt>
                <c:pt idx="62">
                  <c:v>146.19774105956228</c:v>
                </c:pt>
                <c:pt idx="63">
                  <c:v>146.8966759369971</c:v>
                </c:pt>
                <c:pt idx="64">
                  <c:v>148.45822576464764</c:v>
                </c:pt>
                <c:pt idx="65">
                  <c:v>147.82693670517159</c:v>
                </c:pt>
                <c:pt idx="66">
                  <c:v>147.9201111861247</c:v>
                </c:pt>
                <c:pt idx="67">
                  <c:v>147.15937321918901</c:v>
                </c:pt>
                <c:pt idx="68">
                  <c:v>150.64799064705741</c:v>
                </c:pt>
                <c:pt idx="69">
                  <c:v>156.6677461114075</c:v>
                </c:pt>
                <c:pt idx="70">
                  <c:v>162.81082869185138</c:v>
                </c:pt>
                <c:pt idx="71">
                  <c:v>164.05611194015538</c:v>
                </c:pt>
                <c:pt idx="72">
                  <c:v>162.97852995979815</c:v>
                </c:pt>
                <c:pt idx="73">
                  <c:v>162.17732387055594</c:v>
                </c:pt>
                <c:pt idx="74">
                  <c:v>162.24355632106685</c:v>
                </c:pt>
                <c:pt idx="75">
                  <c:v>164.31932267879085</c:v>
                </c:pt>
                <c:pt idx="76">
                  <c:v>164.48150219039755</c:v>
                </c:pt>
                <c:pt idx="77">
                  <c:v>166.2801059491801</c:v>
                </c:pt>
                <c:pt idx="78">
                  <c:v>166.5730130450936</c:v>
                </c:pt>
                <c:pt idx="79">
                  <c:v>170.43082152658789</c:v>
                </c:pt>
                <c:pt idx="80">
                  <c:v>173.65622155129839</c:v>
                </c:pt>
                <c:pt idx="81">
                  <c:v>178.21270093273017</c:v>
                </c:pt>
                <c:pt idx="82">
                  <c:v>181.15622657258609</c:v>
                </c:pt>
                <c:pt idx="83">
                  <c:v>184.15788012379383</c:v>
                </c:pt>
                <c:pt idx="84">
                  <c:v>187.39492311684933</c:v>
                </c:pt>
                <c:pt idx="85">
                  <c:v>188.92209680667699</c:v>
                </c:pt>
                <c:pt idx="86">
                  <c:v>189.05206620445449</c:v>
                </c:pt>
                <c:pt idx="87">
                  <c:v>188.7161683692193</c:v>
                </c:pt>
                <c:pt idx="88">
                  <c:v>190.29619658373923</c:v>
                </c:pt>
                <c:pt idx="89">
                  <c:v>190.95982514628818</c:v>
                </c:pt>
                <c:pt idx="90">
                  <c:v>191.71120639571868</c:v>
                </c:pt>
                <c:pt idx="91">
                  <c:v>192.69462445666736</c:v>
                </c:pt>
                <c:pt idx="92">
                  <c:v>190.72438121943364</c:v>
                </c:pt>
                <c:pt idx="93">
                  <c:v>187.43884141343537</c:v>
                </c:pt>
                <c:pt idx="94">
                  <c:v>183.67419058513454</c:v>
                </c:pt>
                <c:pt idx="95">
                  <c:v>184.21025585611571</c:v>
                </c:pt>
                <c:pt idx="96">
                  <c:v>185.22127170711295</c:v>
                </c:pt>
                <c:pt idx="97">
                  <c:v>186.41969474346536</c:v>
                </c:pt>
                <c:pt idx="98">
                  <c:v>186.05028434097628</c:v>
                </c:pt>
                <c:pt idx="99">
                  <c:v>188.51491782647477</c:v>
                </c:pt>
                <c:pt idx="100">
                  <c:v>192.51578187684669</c:v>
                </c:pt>
                <c:pt idx="101">
                  <c:v>197.21930969373415</c:v>
                </c:pt>
                <c:pt idx="102">
                  <c:v>200.88774850418861</c:v>
                </c:pt>
                <c:pt idx="103">
                  <c:v>206.06138199306378</c:v>
                </c:pt>
                <c:pt idx="104">
                  <c:v>210.80382764087466</c:v>
                </c:pt>
                <c:pt idx="105">
                  <c:v>215.18902025011974</c:v>
                </c:pt>
                <c:pt idx="106">
                  <c:v>217.1694366312332</c:v>
                </c:pt>
                <c:pt idx="107">
                  <c:v>221.99481705775284</c:v>
                </c:pt>
                <c:pt idx="108">
                  <c:v>225.91009696550665</c:v>
                </c:pt>
                <c:pt idx="109">
                  <c:v>232.65552732414153</c:v>
                </c:pt>
                <c:pt idx="110">
                  <c:v>235.21700212275758</c:v>
                </c:pt>
                <c:pt idx="111">
                  <c:v>241.42430948338131</c:v>
                </c:pt>
                <c:pt idx="112">
                  <c:v>245.47153942147008</c:v>
                </c:pt>
                <c:pt idx="113">
                  <c:v>251.53813871628307</c:v>
                </c:pt>
                <c:pt idx="114">
                  <c:v>253.57247983176339</c:v>
                </c:pt>
                <c:pt idx="115">
                  <c:v>255.27792936356943</c:v>
                </c:pt>
                <c:pt idx="116">
                  <c:v>252.00464963056274</c:v>
                </c:pt>
                <c:pt idx="117">
                  <c:v>248.78973873958844</c:v>
                </c:pt>
                <c:pt idx="118">
                  <c:v>244.80329061364151</c:v>
                </c:pt>
                <c:pt idx="119">
                  <c:v>241.9313195724003</c:v>
                </c:pt>
                <c:pt idx="120">
                  <c:v>240.43950491109246</c:v>
                </c:pt>
                <c:pt idx="121">
                  <c:v>238.76562152651141</c:v>
                </c:pt>
                <c:pt idx="122">
                  <c:v>240.77330148082171</c:v>
                </c:pt>
                <c:pt idx="123">
                  <c:v>243.96726501417942</c:v>
                </c:pt>
                <c:pt idx="124">
                  <c:v>246.80222505572621</c:v>
                </c:pt>
                <c:pt idx="125">
                  <c:v>250.52521042739224</c:v>
                </c:pt>
                <c:pt idx="126">
                  <c:v>256.28944836789589</c:v>
                </c:pt>
                <c:pt idx="127">
                  <c:v>263.60800984940073</c:v>
                </c:pt>
                <c:pt idx="128">
                  <c:v>268.41764628066159</c:v>
                </c:pt>
                <c:pt idx="129">
                  <c:v>271.45115870310451</c:v>
                </c:pt>
                <c:pt idx="130">
                  <c:v>276.00381077958798</c:v>
                </c:pt>
                <c:pt idx="131">
                  <c:v>280.8846445731387</c:v>
                </c:pt>
                <c:pt idx="132">
                  <c:v>282.54961404635179</c:v>
                </c:pt>
                <c:pt idx="133">
                  <c:v>279.51277168169844</c:v>
                </c:pt>
                <c:pt idx="134">
                  <c:v>276.19332557181491</c:v>
                </c:pt>
                <c:pt idx="135">
                  <c:v>276.49983976652567</c:v>
                </c:pt>
                <c:pt idx="136">
                  <c:v>286.18366081408175</c:v>
                </c:pt>
                <c:pt idx="137">
                  <c:v>293.05017779686693</c:v>
                </c:pt>
                <c:pt idx="138">
                  <c:v>298.71251121653273</c:v>
                </c:pt>
                <c:pt idx="139">
                  <c:v>296.22374870723337</c:v>
                </c:pt>
                <c:pt idx="140">
                  <c:v>292.71435706135776</c:v>
                </c:pt>
                <c:pt idx="141">
                  <c:v>285.34198451096648</c:v>
                </c:pt>
                <c:pt idx="142">
                  <c:v>280.81365057819784</c:v>
                </c:pt>
                <c:pt idx="143">
                  <c:v>278.89654497718408</c:v>
                </c:pt>
                <c:pt idx="144">
                  <c:v>279.59370895766449</c:v>
                </c:pt>
                <c:pt idx="145">
                  <c:v>283.25315281765455</c:v>
                </c:pt>
                <c:pt idx="146">
                  <c:v>282.82039343696465</c:v>
                </c:pt>
                <c:pt idx="147">
                  <c:v>284.36644835499504</c:v>
                </c:pt>
                <c:pt idx="148">
                  <c:v>292.16659784843273</c:v>
                </c:pt>
                <c:pt idx="149">
                  <c:v>294.1488776342573</c:v>
                </c:pt>
                <c:pt idx="150">
                  <c:v>301.58805271688726</c:v>
                </c:pt>
                <c:pt idx="151">
                  <c:v>307.95076054353103</c:v>
                </c:pt>
                <c:pt idx="152">
                  <c:v>319.15050614117507</c:v>
                </c:pt>
                <c:pt idx="153">
                  <c:v>327.88145851722436</c:v>
                </c:pt>
                <c:pt idx="154">
                  <c:v>335.91014557970146</c:v>
                </c:pt>
                <c:pt idx="155">
                  <c:v>336.89949868771862</c:v>
                </c:pt>
                <c:pt idx="156">
                  <c:v>336.8588088672733</c:v>
                </c:pt>
                <c:pt idx="157">
                  <c:v>336.96064723507595</c:v>
                </c:pt>
                <c:pt idx="158">
                  <c:v>344.64736321479222</c:v>
                </c:pt>
                <c:pt idx="159">
                  <c:v>351.92787614444609</c:v>
                </c:pt>
                <c:pt idx="160">
                  <c:v>356.57675367147925</c:v>
                </c:pt>
                <c:pt idx="161">
                  <c:v>365.20729966441206</c:v>
                </c:pt>
                <c:pt idx="162">
                  <c:v>376.9967873181759</c:v>
                </c:pt>
                <c:pt idx="163">
                  <c:v>392.06115801541443</c:v>
                </c:pt>
                <c:pt idx="164">
                  <c:v>401.91316730048868</c:v>
                </c:pt>
                <c:pt idx="165">
                  <c:v>407.0782133513041</c:v>
                </c:pt>
                <c:pt idx="166">
                  <c:v>416.03576591203165</c:v>
                </c:pt>
                <c:pt idx="167">
                  <c:v>424.01534972518533</c:v>
                </c:pt>
                <c:pt idx="168">
                  <c:v>439.41358267357191</c:v>
                </c:pt>
                <c:pt idx="169">
                  <c:v>443.65278874662374</c:v>
                </c:pt>
                <c:pt idx="170">
                  <c:v>444.34416004606351</c:v>
                </c:pt>
                <c:pt idx="171">
                  <c:v>441.99429829898725</c:v>
                </c:pt>
                <c:pt idx="172">
                  <c:v>449.82658722279484</c:v>
                </c:pt>
                <c:pt idx="173">
                  <c:v>458.74723145148755</c:v>
                </c:pt>
                <c:pt idx="174">
                  <c:v>470.63113509085753</c:v>
                </c:pt>
                <c:pt idx="175">
                  <c:v>473.97770594057346</c:v>
                </c:pt>
                <c:pt idx="176">
                  <c:v>478.11462011245214</c:v>
                </c:pt>
                <c:pt idx="177">
                  <c:v>479.96226617058466</c:v>
                </c:pt>
                <c:pt idx="178">
                  <c:v>486.7414575818612</c:v>
                </c:pt>
                <c:pt idx="179">
                  <c:v>501.87055243226467</c:v>
                </c:pt>
                <c:pt idx="180">
                  <c:v>508.54799050880939</c:v>
                </c:pt>
                <c:pt idx="181">
                  <c:v>521.30294008956866</c:v>
                </c:pt>
                <c:pt idx="182">
                  <c:v>526.09955732261676</c:v>
                </c:pt>
                <c:pt idx="183">
                  <c:v>527.5281608090321</c:v>
                </c:pt>
                <c:pt idx="184">
                  <c:v>524.02182749768929</c:v>
                </c:pt>
                <c:pt idx="185">
                  <c:v>520.52050825413198</c:v>
                </c:pt>
                <c:pt idx="186">
                  <c:v>528.36310911041016</c:v>
                </c:pt>
                <c:pt idx="187">
                  <c:v>536.84273238272306</c:v>
                </c:pt>
                <c:pt idx="188">
                  <c:v>556.85299025498841</c:v>
                </c:pt>
                <c:pt idx="189">
                  <c:v>564.68545080115541</c:v>
                </c:pt>
                <c:pt idx="190">
                  <c:v>567.79541127034645</c:v>
                </c:pt>
                <c:pt idx="191">
                  <c:v>569.42199960191897</c:v>
                </c:pt>
                <c:pt idx="192">
                  <c:v>568.86850671533955</c:v>
                </c:pt>
                <c:pt idx="193">
                  <c:v>572.08544939279716</c:v>
                </c:pt>
                <c:pt idx="194">
                  <c:v>565.57884993728806</c:v>
                </c:pt>
                <c:pt idx="195">
                  <c:v>563.87662447558478</c:v>
                </c:pt>
                <c:pt idx="196">
                  <c:v>557.71187862704471</c:v>
                </c:pt>
                <c:pt idx="197">
                  <c:v>555.2209970541478</c:v>
                </c:pt>
                <c:pt idx="198">
                  <c:v>556.20807697449868</c:v>
                </c:pt>
                <c:pt idx="199">
                  <c:v>570.13439153949309</c:v>
                </c:pt>
                <c:pt idx="200">
                  <c:v>581.91768228038416</c:v>
                </c:pt>
                <c:pt idx="201">
                  <c:v>589.11931570701302</c:v>
                </c:pt>
                <c:pt idx="202">
                  <c:v>580.84148371934134</c:v>
                </c:pt>
                <c:pt idx="203">
                  <c:v>544.23858908514978</c:v>
                </c:pt>
                <c:pt idx="204">
                  <c:v>531.54186664764359</c:v>
                </c:pt>
                <c:pt idx="205">
                  <c:v>535.15044489333388</c:v>
                </c:pt>
                <c:pt idx="206">
                  <c:v>559.41124887004014</c:v>
                </c:pt>
                <c:pt idx="207">
                  <c:v>571.3224784445747</c:v>
                </c:pt>
                <c:pt idx="208">
                  <c:v>584.79854106938706</c:v>
                </c:pt>
                <c:pt idx="209">
                  <c:v>595.53945646928685</c:v>
                </c:pt>
                <c:pt idx="210">
                  <c:v>619.04377997766585</c:v>
                </c:pt>
                <c:pt idx="211">
                  <c:v>638.48976362574581</c:v>
                </c:pt>
                <c:pt idx="212">
                  <c:v>647.20754203000979</c:v>
                </c:pt>
                <c:pt idx="213">
                  <c:v>636.44950287938195</c:v>
                </c:pt>
                <c:pt idx="214">
                  <c:v>619.70465300706792</c:v>
                </c:pt>
                <c:pt idx="215">
                  <c:v>612.42363603497029</c:v>
                </c:pt>
                <c:pt idx="216">
                  <c:v>616.07071788556755</c:v>
                </c:pt>
                <c:pt idx="217">
                  <c:v>611.4636296031498</c:v>
                </c:pt>
                <c:pt idx="218">
                  <c:v>605.64388116051703</c:v>
                </c:pt>
                <c:pt idx="219">
                  <c:v>594.52356369933216</c:v>
                </c:pt>
                <c:pt idx="220">
                  <c:v>600.02154224727883</c:v>
                </c:pt>
                <c:pt idx="221">
                  <c:v>597.68809992886645</c:v>
                </c:pt>
                <c:pt idx="222">
                  <c:v>594.21876250236403</c:v>
                </c:pt>
                <c:pt idx="223">
                  <c:v>591.88579828220713</c:v>
                </c:pt>
                <c:pt idx="224">
                  <c:v>601.44790581904567</c:v>
                </c:pt>
                <c:pt idx="225">
                  <c:v>614.64620813335625</c:v>
                </c:pt>
                <c:pt idx="226">
                  <c:v>619.68425573729587</c:v>
                </c:pt>
                <c:pt idx="227">
                  <c:v>619.62285760063958</c:v>
                </c:pt>
                <c:pt idx="228">
                  <c:v>630.58070416541989</c:v>
                </c:pt>
                <c:pt idx="229">
                  <c:v>651.04310936451054</c:v>
                </c:pt>
                <c:pt idx="230">
                  <c:v>676.94209948926789</c:v>
                </c:pt>
                <c:pt idx="231">
                  <c:v>704.18072611688785</c:v>
                </c:pt>
                <c:pt idx="232">
                  <c:v>720.13583689919119</c:v>
                </c:pt>
                <c:pt idx="233">
                  <c:v>740.63015101393614</c:v>
                </c:pt>
                <c:pt idx="234">
                  <c:v>737.2949319049369</c:v>
                </c:pt>
                <c:pt idx="235">
                  <c:v>738.61699957241217</c:v>
                </c:pt>
                <c:pt idx="236">
                  <c:v>741.72124876549219</c:v>
                </c:pt>
                <c:pt idx="237">
                  <c:v>750.21295197208917</c:v>
                </c:pt>
                <c:pt idx="238">
                  <c:v>751.98876265266608</c:v>
                </c:pt>
                <c:pt idx="239">
                  <c:v>746.69009892846543</c:v>
                </c:pt>
                <c:pt idx="240">
                  <c:v>750.07128448288563</c:v>
                </c:pt>
              </c:numCache>
            </c:numRef>
          </c:val>
          <c:smooth val="1"/>
          <c:extLst>
            <c:ext xmlns:c16="http://schemas.microsoft.com/office/drawing/2014/chart" uri="{C3380CC4-5D6E-409C-BE32-E72D297353CC}">
              <c16:uniqueId val="{00000000-79A3-E541-BA02-54779D011314}"/>
            </c:ext>
          </c:extLst>
        </c:ser>
        <c:ser>
          <c:idx val="1"/>
          <c:order val="1"/>
          <c:tx>
            <c:v>Médian</c:v>
          </c:tx>
          <c:spPr>
            <a:ln w="12700">
              <a:solidFill>
                <a:srgbClr val="AB853F"/>
              </a:solidFill>
            </a:ln>
          </c:spPr>
          <c:marker>
            <c:symbol val="none"/>
          </c:marker>
          <c:cat>
            <c:numRef>
              <c:f>'8.4%'!$B$5:$B$245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'8.4%'!$H$5:$H$245</c:f>
              <c:numCache>
                <c:formatCode>0.0</c:formatCode>
                <c:ptCount val="241"/>
                <c:pt idx="0">
                  <c:v>100</c:v>
                </c:pt>
                <c:pt idx="1">
                  <c:v>103.94069512726942</c:v>
                </c:pt>
                <c:pt idx="2">
                  <c:v>107.3343110894492</c:v>
                </c:pt>
                <c:pt idx="3">
                  <c:v>111.78004843022056</c:v>
                </c:pt>
                <c:pt idx="4">
                  <c:v>114.21426490462812</c:v>
                </c:pt>
                <c:pt idx="5">
                  <c:v>117.87900138443645</c:v>
                </c:pt>
                <c:pt idx="6">
                  <c:v>121.95986333423195</c:v>
                </c:pt>
                <c:pt idx="7">
                  <c:v>125.26304140776659</c:v>
                </c:pt>
                <c:pt idx="8">
                  <c:v>126.89428005258317</c:v>
                </c:pt>
                <c:pt idx="9">
                  <c:v>127.87353475538235</c:v>
                </c:pt>
                <c:pt idx="10">
                  <c:v>128.8190400132886</c:v>
                </c:pt>
                <c:pt idx="11">
                  <c:v>131.89743578214831</c:v>
                </c:pt>
                <c:pt idx="12">
                  <c:v>134.42475982374802</c:v>
                </c:pt>
                <c:pt idx="13">
                  <c:v>134.48093152376148</c:v>
                </c:pt>
                <c:pt idx="14">
                  <c:v>131.29634785265844</c:v>
                </c:pt>
                <c:pt idx="15">
                  <c:v>127.9306748734013</c:v>
                </c:pt>
                <c:pt idx="16">
                  <c:v>127.19616713195785</c:v>
                </c:pt>
                <c:pt idx="17">
                  <c:v>130.36788360395829</c:v>
                </c:pt>
                <c:pt idx="18">
                  <c:v>135.35953702875088</c:v>
                </c:pt>
                <c:pt idx="19">
                  <c:v>140.83952344430716</c:v>
                </c:pt>
                <c:pt idx="20">
                  <c:v>143.02494177852398</c:v>
                </c:pt>
                <c:pt idx="21">
                  <c:v>144.70819819740333</c:v>
                </c:pt>
                <c:pt idx="22">
                  <c:v>143.72374709865102</c:v>
                </c:pt>
                <c:pt idx="23">
                  <c:v>144.51730160313676</c:v>
                </c:pt>
                <c:pt idx="24">
                  <c:v>147.1684210525346</c:v>
                </c:pt>
                <c:pt idx="25">
                  <c:v>150.63683444243014</c:v>
                </c:pt>
                <c:pt idx="26">
                  <c:v>153.62350761623338</c:v>
                </c:pt>
                <c:pt idx="27">
                  <c:v>151.88582308352298</c:v>
                </c:pt>
                <c:pt idx="28">
                  <c:v>156.62476012839153</c:v>
                </c:pt>
                <c:pt idx="29">
                  <c:v>159.3194364806524</c:v>
                </c:pt>
                <c:pt idx="30">
                  <c:v>161.99076698178743</c:v>
                </c:pt>
                <c:pt idx="31">
                  <c:v>159.72259203538448</c:v>
                </c:pt>
                <c:pt idx="32">
                  <c:v>155.8931043528905</c:v>
                </c:pt>
                <c:pt idx="33">
                  <c:v>153.64537980423802</c:v>
                </c:pt>
                <c:pt idx="34">
                  <c:v>152.26474912547729</c:v>
                </c:pt>
                <c:pt idx="35">
                  <c:v>153.64598001160479</c:v>
                </c:pt>
                <c:pt idx="36">
                  <c:v>155.51410419893034</c:v>
                </c:pt>
                <c:pt idx="37">
                  <c:v>158.03328596146179</c:v>
                </c:pt>
                <c:pt idx="38">
                  <c:v>157.39304637446614</c:v>
                </c:pt>
                <c:pt idx="39">
                  <c:v>154.32777432480208</c:v>
                </c:pt>
                <c:pt idx="40">
                  <c:v>150.68495384321034</c:v>
                </c:pt>
                <c:pt idx="41">
                  <c:v>150.17923787786287</c:v>
                </c:pt>
                <c:pt idx="42">
                  <c:v>153.43862151114993</c:v>
                </c:pt>
                <c:pt idx="43">
                  <c:v>157.88888776178143</c:v>
                </c:pt>
                <c:pt idx="44">
                  <c:v>161.74064327876923</c:v>
                </c:pt>
                <c:pt idx="45">
                  <c:v>164.89911308100304</c:v>
                </c:pt>
                <c:pt idx="46">
                  <c:v>166.44797332846233</c:v>
                </c:pt>
                <c:pt idx="47">
                  <c:v>166.08643478315139</c:v>
                </c:pt>
                <c:pt idx="48">
                  <c:v>166.54759596358593</c:v>
                </c:pt>
                <c:pt idx="49">
                  <c:v>169.77239492481348</c:v>
                </c:pt>
                <c:pt idx="50">
                  <c:v>177.25610767376759</c:v>
                </c:pt>
                <c:pt idx="51">
                  <c:v>181.62546240513205</c:v>
                </c:pt>
                <c:pt idx="52">
                  <c:v>176.1864339017539</c:v>
                </c:pt>
                <c:pt idx="53">
                  <c:v>167.46932072049481</c:v>
                </c:pt>
                <c:pt idx="54">
                  <c:v>161.87812117775218</c:v>
                </c:pt>
                <c:pt idx="55">
                  <c:v>160.85354758968975</c:v>
                </c:pt>
                <c:pt idx="56">
                  <c:v>160.01366665032509</c:v>
                </c:pt>
                <c:pt idx="57">
                  <c:v>157.39723727030201</c:v>
                </c:pt>
                <c:pt idx="58">
                  <c:v>158.42908658095061</c:v>
                </c:pt>
                <c:pt idx="59">
                  <c:v>163.33448925160542</c:v>
                </c:pt>
                <c:pt idx="60">
                  <c:v>172.96695851216575</c:v>
                </c:pt>
                <c:pt idx="61">
                  <c:v>178.5955814105545</c:v>
                </c:pt>
                <c:pt idx="62">
                  <c:v>179.88098822497616</c:v>
                </c:pt>
                <c:pt idx="63">
                  <c:v>176.97337341888516</c:v>
                </c:pt>
                <c:pt idx="64">
                  <c:v>174.83819790817421</c:v>
                </c:pt>
                <c:pt idx="65">
                  <c:v>172.84639314711089</c:v>
                </c:pt>
                <c:pt idx="66">
                  <c:v>172.75948665049043</c:v>
                </c:pt>
                <c:pt idx="67">
                  <c:v>172.27303659567795</c:v>
                </c:pt>
                <c:pt idx="68">
                  <c:v>173.51297482169184</c:v>
                </c:pt>
                <c:pt idx="69">
                  <c:v>172.18702971921365</c:v>
                </c:pt>
                <c:pt idx="70">
                  <c:v>172.04037263170233</c:v>
                </c:pt>
                <c:pt idx="71">
                  <c:v>172.11936264913811</c:v>
                </c:pt>
                <c:pt idx="72">
                  <c:v>173.98750542712958</c:v>
                </c:pt>
                <c:pt idx="73">
                  <c:v>176.69152934076988</c:v>
                </c:pt>
                <c:pt idx="74">
                  <c:v>177.65418714973907</c:v>
                </c:pt>
                <c:pt idx="75">
                  <c:v>177.72113112648879</c:v>
                </c:pt>
                <c:pt idx="76">
                  <c:v>175.13016444920817</c:v>
                </c:pt>
                <c:pt idx="77">
                  <c:v>173.05652666063338</c:v>
                </c:pt>
                <c:pt idx="78">
                  <c:v>174.18977560826832</c:v>
                </c:pt>
                <c:pt idx="79">
                  <c:v>175.87039723129823</c:v>
                </c:pt>
                <c:pt idx="80">
                  <c:v>175.37973597191746</c:v>
                </c:pt>
                <c:pt idx="81">
                  <c:v>172.83337676711412</c:v>
                </c:pt>
                <c:pt idx="82">
                  <c:v>167.6132152144952</c:v>
                </c:pt>
                <c:pt idx="83">
                  <c:v>165.62637950233227</c:v>
                </c:pt>
                <c:pt idx="84">
                  <c:v>164.62000845544233</c:v>
                </c:pt>
                <c:pt idx="85">
                  <c:v>168.08969911667489</c:v>
                </c:pt>
                <c:pt idx="86">
                  <c:v>171.644155209822</c:v>
                </c:pt>
                <c:pt idx="87">
                  <c:v>173.64661076267234</c:v>
                </c:pt>
                <c:pt idx="88">
                  <c:v>175.08963185906757</c:v>
                </c:pt>
                <c:pt idx="89">
                  <c:v>171.40244860686047</c:v>
                </c:pt>
                <c:pt idx="90">
                  <c:v>165.40122499931749</c:v>
                </c:pt>
                <c:pt idx="91">
                  <c:v>159.58536363480556</c:v>
                </c:pt>
                <c:pt idx="92">
                  <c:v>152.80501367316802</c:v>
                </c:pt>
                <c:pt idx="93">
                  <c:v>148.9790042909024</c:v>
                </c:pt>
                <c:pt idx="94">
                  <c:v>146.56076339923254</c:v>
                </c:pt>
                <c:pt idx="95">
                  <c:v>148.01305090944192</c:v>
                </c:pt>
                <c:pt idx="96">
                  <c:v>148.13909761052849</c:v>
                </c:pt>
                <c:pt idx="97">
                  <c:v>148.35021890988364</c:v>
                </c:pt>
                <c:pt idx="98">
                  <c:v>148.77611359090744</c:v>
                </c:pt>
                <c:pt idx="99">
                  <c:v>150.85372128647685</c:v>
                </c:pt>
                <c:pt idx="100">
                  <c:v>154.13247422803312</c:v>
                </c:pt>
                <c:pt idx="101">
                  <c:v>155.84112539373427</c:v>
                </c:pt>
                <c:pt idx="102">
                  <c:v>157.58009219768846</c:v>
                </c:pt>
                <c:pt idx="103">
                  <c:v>159.92112709855354</c:v>
                </c:pt>
                <c:pt idx="104">
                  <c:v>160.92019925131999</c:v>
                </c:pt>
                <c:pt idx="105">
                  <c:v>161.69486435551497</c:v>
                </c:pt>
                <c:pt idx="106">
                  <c:v>160.14245839089818</c:v>
                </c:pt>
                <c:pt idx="107">
                  <c:v>160.5462314799513</c:v>
                </c:pt>
                <c:pt idx="108">
                  <c:v>159.54859987757413</c:v>
                </c:pt>
                <c:pt idx="109">
                  <c:v>157.76902506633471</c:v>
                </c:pt>
                <c:pt idx="110">
                  <c:v>155.91948282518692</c:v>
                </c:pt>
                <c:pt idx="111">
                  <c:v>157.99845327955293</c:v>
                </c:pt>
                <c:pt idx="112">
                  <c:v>161.60926924445153</c:v>
                </c:pt>
                <c:pt idx="113">
                  <c:v>165.45834332221673</c:v>
                </c:pt>
                <c:pt idx="114">
                  <c:v>166.60711213515219</c:v>
                </c:pt>
                <c:pt idx="115">
                  <c:v>168.42254324583035</c:v>
                </c:pt>
                <c:pt idx="116">
                  <c:v>168.99776666310234</c:v>
                </c:pt>
                <c:pt idx="117">
                  <c:v>169.01195148002429</c:v>
                </c:pt>
                <c:pt idx="118">
                  <c:v>170.01876254833283</c:v>
                </c:pt>
                <c:pt idx="119">
                  <c:v>171.04159922038136</c:v>
                </c:pt>
                <c:pt idx="120">
                  <c:v>173.86551657773768</c:v>
                </c:pt>
                <c:pt idx="121">
                  <c:v>176.30210141741259</c:v>
                </c:pt>
                <c:pt idx="122">
                  <c:v>182.36158139478468</c:v>
                </c:pt>
                <c:pt idx="123">
                  <c:v>187.15024867297748</c:v>
                </c:pt>
                <c:pt idx="124">
                  <c:v>192.77273467603783</c:v>
                </c:pt>
                <c:pt idx="125">
                  <c:v>196.57408371192011</c:v>
                </c:pt>
                <c:pt idx="126">
                  <c:v>204.11013446556132</c:v>
                </c:pt>
                <c:pt idx="127">
                  <c:v>207.87772863964378</c:v>
                </c:pt>
                <c:pt idx="128">
                  <c:v>206.60077595624531</c:v>
                </c:pt>
                <c:pt idx="129">
                  <c:v>201.99975989953805</c:v>
                </c:pt>
                <c:pt idx="130">
                  <c:v>198.99148627896491</c:v>
                </c:pt>
                <c:pt idx="131">
                  <c:v>202.38886199082512</c:v>
                </c:pt>
                <c:pt idx="132">
                  <c:v>205.93483875813834</c:v>
                </c:pt>
                <c:pt idx="133">
                  <c:v>211.64962069715247</c:v>
                </c:pt>
                <c:pt idx="134">
                  <c:v>217.95831827109205</c:v>
                </c:pt>
                <c:pt idx="135">
                  <c:v>225.5464676609636</c:v>
                </c:pt>
                <c:pt idx="136">
                  <c:v>231.61615773365483</c:v>
                </c:pt>
                <c:pt idx="137">
                  <c:v>230.84497500200399</c:v>
                </c:pt>
                <c:pt idx="138">
                  <c:v>231.05827827398696</c:v>
                </c:pt>
                <c:pt idx="139">
                  <c:v>230.95393741552598</c:v>
                </c:pt>
                <c:pt idx="140">
                  <c:v>236.54707719502099</c:v>
                </c:pt>
                <c:pt idx="141">
                  <c:v>237.84951608923475</c:v>
                </c:pt>
                <c:pt idx="142">
                  <c:v>242.43789892845268</c:v>
                </c:pt>
                <c:pt idx="143">
                  <c:v>242.23230270913112</c:v>
                </c:pt>
                <c:pt idx="144">
                  <c:v>244.52604982300187</c:v>
                </c:pt>
                <c:pt idx="145">
                  <c:v>247.24204822067756</c:v>
                </c:pt>
                <c:pt idx="146">
                  <c:v>248.27261694220999</c:v>
                </c:pt>
                <c:pt idx="147">
                  <c:v>249.28244587160955</c:v>
                </c:pt>
                <c:pt idx="148">
                  <c:v>255.18371335767787</c:v>
                </c:pt>
                <c:pt idx="149">
                  <c:v>255.43147311130068</c:v>
                </c:pt>
                <c:pt idx="150">
                  <c:v>260.11120054911612</c:v>
                </c:pt>
                <c:pt idx="151">
                  <c:v>260.88244788143714</c:v>
                </c:pt>
                <c:pt idx="152">
                  <c:v>264.80919853326651</c:v>
                </c:pt>
                <c:pt idx="153">
                  <c:v>263.2659423268484</c:v>
                </c:pt>
                <c:pt idx="154">
                  <c:v>266.79472513307775</c:v>
                </c:pt>
                <c:pt idx="155">
                  <c:v>271.62478347749027</c:v>
                </c:pt>
                <c:pt idx="156">
                  <c:v>277.89783729659132</c:v>
                </c:pt>
                <c:pt idx="157">
                  <c:v>284.17807370731578</c:v>
                </c:pt>
                <c:pt idx="158">
                  <c:v>290.51871564148973</c:v>
                </c:pt>
                <c:pt idx="159">
                  <c:v>295.63607103187792</c:v>
                </c:pt>
                <c:pt idx="160">
                  <c:v>298.51737346693614</c:v>
                </c:pt>
                <c:pt idx="161">
                  <c:v>304.70320939120603</c:v>
                </c:pt>
                <c:pt idx="162">
                  <c:v>313.47601304436387</c:v>
                </c:pt>
                <c:pt idx="163">
                  <c:v>324.9058960197641</c:v>
                </c:pt>
                <c:pt idx="164">
                  <c:v>331.9564196307648</c:v>
                </c:pt>
                <c:pt idx="165">
                  <c:v>335.10402673760285</c:v>
                </c:pt>
                <c:pt idx="166">
                  <c:v>341.34474704276136</c:v>
                </c:pt>
                <c:pt idx="167">
                  <c:v>346.74695652649297</c:v>
                </c:pt>
                <c:pt idx="168">
                  <c:v>358.16304046664402</c:v>
                </c:pt>
                <c:pt idx="169">
                  <c:v>360.44113023930356</c:v>
                </c:pt>
                <c:pt idx="170">
                  <c:v>359.83383776006207</c:v>
                </c:pt>
                <c:pt idx="171">
                  <c:v>356.77801617392515</c:v>
                </c:pt>
                <c:pt idx="172">
                  <c:v>361.93690792239289</c:v>
                </c:pt>
                <c:pt idx="173">
                  <c:v>367.93822901950455</c:v>
                </c:pt>
                <c:pt idx="174">
                  <c:v>376.27306722329229</c:v>
                </c:pt>
                <c:pt idx="175">
                  <c:v>377.75365016218012</c:v>
                </c:pt>
                <c:pt idx="176">
                  <c:v>379.855353301082</c:v>
                </c:pt>
                <c:pt idx="177">
                  <c:v>380.13331471662701</c:v>
                </c:pt>
                <c:pt idx="178">
                  <c:v>384.3057356585133</c:v>
                </c:pt>
                <c:pt idx="179">
                  <c:v>395.0271594517464</c:v>
                </c:pt>
                <c:pt idx="180">
                  <c:v>399.05326254962165</c:v>
                </c:pt>
                <c:pt idx="181">
                  <c:v>407.81170877664755</c:v>
                </c:pt>
                <c:pt idx="182">
                  <c:v>410.31264668649783</c:v>
                </c:pt>
                <c:pt idx="183">
                  <c:v>410.182254786165</c:v>
                </c:pt>
                <c:pt idx="184">
                  <c:v>406.2296321360007</c:v>
                </c:pt>
                <c:pt idx="185">
                  <c:v>402.30716393556662</c:v>
                </c:pt>
                <c:pt idx="186">
                  <c:v>407.15216745930366</c:v>
                </c:pt>
                <c:pt idx="187">
                  <c:v>412.46041803997304</c:v>
                </c:pt>
                <c:pt idx="188">
                  <c:v>426.5728715559743</c:v>
                </c:pt>
                <c:pt idx="189">
                  <c:v>431.30375815968057</c:v>
                </c:pt>
                <c:pt idx="190">
                  <c:v>432.41318851166483</c:v>
                </c:pt>
                <c:pt idx="191">
                  <c:v>432.39244350643924</c:v>
                </c:pt>
                <c:pt idx="192">
                  <c:v>430.72381845816312</c:v>
                </c:pt>
                <c:pt idx="193">
                  <c:v>431.91405538892514</c:v>
                </c:pt>
                <c:pt idx="194">
                  <c:v>425.7800228748585</c:v>
                </c:pt>
                <c:pt idx="195">
                  <c:v>423.29008616095678</c:v>
                </c:pt>
                <c:pt idx="196">
                  <c:v>417.47640880334336</c:v>
                </c:pt>
                <c:pt idx="197">
                  <c:v>414.44038834965983</c:v>
                </c:pt>
                <c:pt idx="198">
                  <c:v>414.01272450480747</c:v>
                </c:pt>
                <c:pt idx="199">
                  <c:v>423.19435074890799</c:v>
                </c:pt>
                <c:pt idx="200">
                  <c:v>430.74115968254085</c:v>
                </c:pt>
                <c:pt idx="201">
                  <c:v>434.8667534077635</c:v>
                </c:pt>
                <c:pt idx="202">
                  <c:v>427.57723955534914</c:v>
                </c:pt>
                <c:pt idx="203">
                  <c:v>399.53620104931235</c:v>
                </c:pt>
                <c:pt idx="204">
                  <c:v>389.15259483905987</c:v>
                </c:pt>
                <c:pt idx="205">
                  <c:v>390.73269299744629</c:v>
                </c:pt>
                <c:pt idx="206">
                  <c:v>407.34479965112325</c:v>
                </c:pt>
                <c:pt idx="207">
                  <c:v>414.90157925952644</c:v>
                </c:pt>
                <c:pt idx="208">
                  <c:v>423.55370500684381</c:v>
                </c:pt>
                <c:pt idx="209">
                  <c:v>430.18648837988002</c:v>
                </c:pt>
                <c:pt idx="210">
                  <c:v>445.98182790830617</c:v>
                </c:pt>
                <c:pt idx="211">
                  <c:v>458.78036722349668</c:v>
                </c:pt>
                <c:pt idx="212">
                  <c:v>463.82592159997114</c:v>
                </c:pt>
                <c:pt idx="213">
                  <c:v>454.92666643798049</c:v>
                </c:pt>
                <c:pt idx="214">
                  <c:v>441.80801841773581</c:v>
                </c:pt>
                <c:pt idx="215">
                  <c:v>435.48934452884026</c:v>
                </c:pt>
                <c:pt idx="216">
                  <c:v>436.95652762572894</c:v>
                </c:pt>
                <c:pt idx="217">
                  <c:v>432.57922097281551</c:v>
                </c:pt>
                <c:pt idx="218">
                  <c:v>427.3709183685404</c:v>
                </c:pt>
                <c:pt idx="219">
                  <c:v>418.46055271741648</c:v>
                </c:pt>
                <c:pt idx="220">
                  <c:v>421.26491513529305</c:v>
                </c:pt>
                <c:pt idx="221">
                  <c:v>418.5729827318969</c:v>
                </c:pt>
                <c:pt idx="222">
                  <c:v>415.10329978606859</c:v>
                </c:pt>
                <c:pt idx="223">
                  <c:v>412.445012741852</c:v>
                </c:pt>
                <c:pt idx="224">
                  <c:v>418.07047855726194</c:v>
                </c:pt>
                <c:pt idx="225">
                  <c:v>426.19175197664117</c:v>
                </c:pt>
                <c:pt idx="226">
                  <c:v>428.63103560406529</c:v>
                </c:pt>
                <c:pt idx="227">
                  <c:v>427.54204833058145</c:v>
                </c:pt>
                <c:pt idx="228">
                  <c:v>434.04547590505888</c:v>
                </c:pt>
                <c:pt idx="229">
                  <c:v>447.04611553863651</c:v>
                </c:pt>
                <c:pt idx="230">
                  <c:v>463.71053349384624</c:v>
                </c:pt>
                <c:pt idx="231">
                  <c:v>481.21286980862646</c:v>
                </c:pt>
                <c:pt idx="232">
                  <c:v>490.94174109769938</c:v>
                </c:pt>
                <c:pt idx="233">
                  <c:v>503.71408940750467</c:v>
                </c:pt>
                <c:pt idx="234">
                  <c:v>500.26007581839212</c:v>
                </c:pt>
                <c:pt idx="235">
                  <c:v>499.97749828528322</c:v>
                </c:pt>
                <c:pt idx="236">
                  <c:v>500.90237816887372</c:v>
                </c:pt>
                <c:pt idx="237">
                  <c:v>505.45530734750179</c:v>
                </c:pt>
                <c:pt idx="238">
                  <c:v>505.47533954503649</c:v>
                </c:pt>
                <c:pt idx="239">
                  <c:v>500.75349768914731</c:v>
                </c:pt>
                <c:pt idx="240">
                  <c:v>501.86353812703152</c:v>
                </c:pt>
              </c:numCache>
            </c:numRef>
          </c:val>
          <c:smooth val="1"/>
          <c:extLst>
            <c:ext xmlns:c16="http://schemas.microsoft.com/office/drawing/2014/chart" uri="{C3380CC4-5D6E-409C-BE32-E72D297353CC}">
              <c16:uniqueId val="{00000001-79A3-E541-BA02-54779D011314}"/>
            </c:ext>
          </c:extLst>
        </c:ser>
        <c:ser>
          <c:idx val="2"/>
          <c:order val="2"/>
          <c:tx>
            <c:v>Pessimiste</c:v>
          </c:tx>
          <c:spPr>
            <a:ln w="12700">
              <a:solidFill>
                <a:schemeClr val="tx1"/>
              </a:solidFill>
            </a:ln>
          </c:spPr>
          <c:marker>
            <c:symbol val="none"/>
          </c:marker>
          <c:cat>
            <c:numRef>
              <c:f>'8.4%'!$B$5:$B$245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'8.4%'!$L$5:$L$245</c:f>
              <c:numCache>
                <c:formatCode>0.0</c:formatCode>
                <c:ptCount val="241"/>
                <c:pt idx="0">
                  <c:v>100</c:v>
                </c:pt>
                <c:pt idx="1">
                  <c:v>101.26136555884464</c:v>
                </c:pt>
                <c:pt idx="2">
                  <c:v>102.329181677801</c:v>
                </c:pt>
                <c:pt idx="3">
                  <c:v>102.15128071511593</c:v>
                </c:pt>
                <c:pt idx="4">
                  <c:v>102.46699285436166</c:v>
                </c:pt>
                <c:pt idx="5">
                  <c:v>104.02817512836725</c:v>
                </c:pt>
                <c:pt idx="6">
                  <c:v>104.10261976865122</c:v>
                </c:pt>
                <c:pt idx="7">
                  <c:v>105.5020717487544</c:v>
                </c:pt>
                <c:pt idx="8">
                  <c:v>107.40885764297923</c:v>
                </c:pt>
                <c:pt idx="9">
                  <c:v>110.80446756596461</c:v>
                </c:pt>
                <c:pt idx="10">
                  <c:v>114.99565565039879</c:v>
                </c:pt>
                <c:pt idx="11">
                  <c:v>117.19201289129845</c:v>
                </c:pt>
                <c:pt idx="12">
                  <c:v>117.51439005680511</c:v>
                </c:pt>
                <c:pt idx="13">
                  <c:v>115.24640695942097</c:v>
                </c:pt>
                <c:pt idx="14">
                  <c:v>112.89239298549248</c:v>
                </c:pt>
                <c:pt idx="15">
                  <c:v>111.02488231313059</c:v>
                </c:pt>
                <c:pt idx="16">
                  <c:v>111.36958990542699</c:v>
                </c:pt>
                <c:pt idx="17">
                  <c:v>110.2711646299357</c:v>
                </c:pt>
                <c:pt idx="18">
                  <c:v>109.57935789338408</c:v>
                </c:pt>
                <c:pt idx="19">
                  <c:v>109.81635542150633</c:v>
                </c:pt>
                <c:pt idx="20">
                  <c:v>111.90797950891012</c:v>
                </c:pt>
                <c:pt idx="21">
                  <c:v>115.1322551908785</c:v>
                </c:pt>
                <c:pt idx="22">
                  <c:v>114.69029208285683</c:v>
                </c:pt>
                <c:pt idx="23">
                  <c:v>115.17198671267032</c:v>
                </c:pt>
                <c:pt idx="24">
                  <c:v>111.77271715444073</c:v>
                </c:pt>
                <c:pt idx="25">
                  <c:v>110.71673803096073</c:v>
                </c:pt>
                <c:pt idx="26">
                  <c:v>109.09414407367879</c:v>
                </c:pt>
                <c:pt idx="27">
                  <c:v>111.62064736314903</c:v>
                </c:pt>
                <c:pt idx="28">
                  <c:v>113.34372014630189</c:v>
                </c:pt>
                <c:pt idx="29">
                  <c:v>115.31719637245014</c:v>
                </c:pt>
                <c:pt idx="30">
                  <c:v>115.91141647617827</c:v>
                </c:pt>
                <c:pt idx="31">
                  <c:v>115.13124075603918</c:v>
                </c:pt>
                <c:pt idx="32">
                  <c:v>113.17884583873743</c:v>
                </c:pt>
                <c:pt idx="33">
                  <c:v>110.99866961978357</c:v>
                </c:pt>
                <c:pt idx="34">
                  <c:v>110.98018429505368</c:v>
                </c:pt>
                <c:pt idx="35">
                  <c:v>111.76827746042014</c:v>
                </c:pt>
                <c:pt idx="36">
                  <c:v>113.3619601061976</c:v>
                </c:pt>
                <c:pt idx="37">
                  <c:v>113.82816567155406</c:v>
                </c:pt>
                <c:pt idx="38">
                  <c:v>112.6092006213122</c:v>
                </c:pt>
                <c:pt idx="39">
                  <c:v>111.31354129301587</c:v>
                </c:pt>
                <c:pt idx="40">
                  <c:v>112.80214707217894</c:v>
                </c:pt>
                <c:pt idx="41">
                  <c:v>113.6107266014638</c:v>
                </c:pt>
                <c:pt idx="42">
                  <c:v>114.5928636784154</c:v>
                </c:pt>
                <c:pt idx="43">
                  <c:v>110.09481114026586</c:v>
                </c:pt>
                <c:pt idx="44">
                  <c:v>109.16522855304125</c:v>
                </c:pt>
                <c:pt idx="45">
                  <c:v>110.00252772164528</c:v>
                </c:pt>
                <c:pt idx="46">
                  <c:v>114.76324647353502</c:v>
                </c:pt>
                <c:pt idx="47">
                  <c:v>115.96972834093711</c:v>
                </c:pt>
                <c:pt idx="48">
                  <c:v>116.30910960804083</c:v>
                </c:pt>
                <c:pt idx="49">
                  <c:v>117.26065079961376</c:v>
                </c:pt>
                <c:pt idx="50">
                  <c:v>119.04970128315655</c:v>
                </c:pt>
                <c:pt idx="51">
                  <c:v>120.11275141619905</c:v>
                </c:pt>
                <c:pt idx="52">
                  <c:v>120.44878840250648</c:v>
                </c:pt>
                <c:pt idx="53">
                  <c:v>123.33503269659535</c:v>
                </c:pt>
                <c:pt idx="54">
                  <c:v>126.24690456230827</c:v>
                </c:pt>
                <c:pt idx="55">
                  <c:v>127.99547545274433</c:v>
                </c:pt>
                <c:pt idx="56">
                  <c:v>127.29625442099145</c:v>
                </c:pt>
                <c:pt idx="57">
                  <c:v>125.57237744353365</c:v>
                </c:pt>
                <c:pt idx="58">
                  <c:v>120.74861890855918</c:v>
                </c:pt>
                <c:pt idx="59">
                  <c:v>118.59357736717649</c:v>
                </c:pt>
                <c:pt idx="60">
                  <c:v>116.37862329093005</c:v>
                </c:pt>
                <c:pt idx="61">
                  <c:v>116.75819234914863</c:v>
                </c:pt>
                <c:pt idx="62">
                  <c:v>114.69186678702937</c:v>
                </c:pt>
                <c:pt idx="63">
                  <c:v>112.37483066095466</c:v>
                </c:pt>
                <c:pt idx="64">
                  <c:v>111.23237205305136</c:v>
                </c:pt>
                <c:pt idx="65">
                  <c:v>112.76037578397948</c:v>
                </c:pt>
                <c:pt idx="66">
                  <c:v>113.31746764047573</c:v>
                </c:pt>
                <c:pt idx="67">
                  <c:v>114.64204818970613</c:v>
                </c:pt>
                <c:pt idx="68">
                  <c:v>111.35158287172858</c:v>
                </c:pt>
                <c:pt idx="69">
                  <c:v>109.47971800533024</c:v>
                </c:pt>
                <c:pt idx="70">
                  <c:v>106.70492937767318</c:v>
                </c:pt>
                <c:pt idx="71">
                  <c:v>109.7138978184751</c:v>
                </c:pt>
                <c:pt idx="72">
                  <c:v>114.24300481263596</c:v>
                </c:pt>
                <c:pt idx="73">
                  <c:v>117.75253016177015</c:v>
                </c:pt>
                <c:pt idx="74">
                  <c:v>118.21311436257868</c:v>
                </c:pt>
                <c:pt idx="75">
                  <c:v>118.14265697843075</c:v>
                </c:pt>
                <c:pt idx="76">
                  <c:v>117.91669664377643</c:v>
                </c:pt>
                <c:pt idx="77">
                  <c:v>119.97553998998825</c:v>
                </c:pt>
                <c:pt idx="78">
                  <c:v>120.19058512320929</c:v>
                </c:pt>
                <c:pt idx="79">
                  <c:v>121.2700378325742</c:v>
                </c:pt>
                <c:pt idx="80">
                  <c:v>118.84553729149458</c:v>
                </c:pt>
                <c:pt idx="81">
                  <c:v>117.13203854948652</c:v>
                </c:pt>
                <c:pt idx="82">
                  <c:v>112.00792745944275</c:v>
                </c:pt>
                <c:pt idx="83">
                  <c:v>108.13095025669116</c:v>
                </c:pt>
                <c:pt idx="84">
                  <c:v>107.36536818408356</c:v>
                </c:pt>
                <c:pt idx="85">
                  <c:v>112.77778408787626</c:v>
                </c:pt>
                <c:pt idx="86">
                  <c:v>118.1594700497709</c:v>
                </c:pt>
                <c:pt idx="87">
                  <c:v>122.41171408481959</c:v>
                </c:pt>
                <c:pt idx="88">
                  <c:v>124.61972803172898</c:v>
                </c:pt>
                <c:pt idx="89">
                  <c:v>126.53061288895509</c:v>
                </c:pt>
                <c:pt idx="90">
                  <c:v>129.56068193121277</c:v>
                </c:pt>
                <c:pt idx="91">
                  <c:v>132.94368960566737</c:v>
                </c:pt>
                <c:pt idx="92">
                  <c:v>131.74050727844147</c:v>
                </c:pt>
                <c:pt idx="93">
                  <c:v>131.2320539148607</c:v>
                </c:pt>
                <c:pt idx="94">
                  <c:v>134.25197056430093</c:v>
                </c:pt>
                <c:pt idx="95">
                  <c:v>139.39199175909266</c:v>
                </c:pt>
                <c:pt idx="96">
                  <c:v>143.94171094852615</c:v>
                </c:pt>
                <c:pt idx="97">
                  <c:v>145.51618019615526</c:v>
                </c:pt>
                <c:pt idx="98">
                  <c:v>149.12328696723449</c:v>
                </c:pt>
                <c:pt idx="99">
                  <c:v>145.82206408862217</c:v>
                </c:pt>
                <c:pt idx="100">
                  <c:v>142.5217184926006</c:v>
                </c:pt>
                <c:pt idx="101">
                  <c:v>135.29024213163399</c:v>
                </c:pt>
                <c:pt idx="102">
                  <c:v>132.47365798238809</c:v>
                </c:pt>
                <c:pt idx="103">
                  <c:v>130.62503095528635</c:v>
                </c:pt>
                <c:pt idx="104">
                  <c:v>131.23712306774442</c:v>
                </c:pt>
                <c:pt idx="105">
                  <c:v>135.2717809305266</c:v>
                </c:pt>
                <c:pt idx="106">
                  <c:v>138.5043073663085</c:v>
                </c:pt>
                <c:pt idx="107">
                  <c:v>145.55031750541508</c:v>
                </c:pt>
                <c:pt idx="108">
                  <c:v>150.80831487303433</c:v>
                </c:pt>
                <c:pt idx="109">
                  <c:v>156.53370736545494</c:v>
                </c:pt>
                <c:pt idx="110">
                  <c:v>156.78781058228196</c:v>
                </c:pt>
                <c:pt idx="111">
                  <c:v>154.42852369182259</c:v>
                </c:pt>
                <c:pt idx="112">
                  <c:v>153.72296855674534</c:v>
                </c:pt>
                <c:pt idx="113">
                  <c:v>159.2589150483451</c:v>
                </c:pt>
                <c:pt idx="114">
                  <c:v>166.34904453254973</c:v>
                </c:pt>
                <c:pt idx="115">
                  <c:v>167.40420349892349</c:v>
                </c:pt>
                <c:pt idx="116">
                  <c:v>166.31080114759499</c:v>
                </c:pt>
                <c:pt idx="117">
                  <c:v>164.04432558700685</c:v>
                </c:pt>
                <c:pt idx="118">
                  <c:v>164.15870682594544</c:v>
                </c:pt>
                <c:pt idx="119">
                  <c:v>163.32507678782315</c:v>
                </c:pt>
                <c:pt idx="120">
                  <c:v>162.25681659194336</c:v>
                </c:pt>
                <c:pt idx="121">
                  <c:v>162.1380264064905</c:v>
                </c:pt>
                <c:pt idx="122">
                  <c:v>164.25582207051377</c:v>
                </c:pt>
                <c:pt idx="123">
                  <c:v>164.82073690385351</c:v>
                </c:pt>
                <c:pt idx="124">
                  <c:v>163.40797709062147</c:v>
                </c:pt>
                <c:pt idx="125">
                  <c:v>163.04578739787738</c:v>
                </c:pt>
                <c:pt idx="126">
                  <c:v>163.27831567811089</c:v>
                </c:pt>
                <c:pt idx="127">
                  <c:v>163.96050290643939</c:v>
                </c:pt>
                <c:pt idx="128">
                  <c:v>164.04922733158293</c:v>
                </c:pt>
                <c:pt idx="129">
                  <c:v>162.83551655738361</c:v>
                </c:pt>
                <c:pt idx="130">
                  <c:v>162.29097517164072</c:v>
                </c:pt>
                <c:pt idx="131">
                  <c:v>159.89111215829638</c:v>
                </c:pt>
                <c:pt idx="132">
                  <c:v>163.23498258033436</c:v>
                </c:pt>
                <c:pt idx="133">
                  <c:v>167.11433184993808</c:v>
                </c:pt>
                <c:pt idx="134">
                  <c:v>175.35285325159509</c:v>
                </c:pt>
                <c:pt idx="135">
                  <c:v>176.00241045950955</c:v>
                </c:pt>
                <c:pt idx="136">
                  <c:v>175.28172802566445</c:v>
                </c:pt>
                <c:pt idx="137">
                  <c:v>169.55493779873765</c:v>
                </c:pt>
                <c:pt idx="138">
                  <c:v>170.62891531184221</c:v>
                </c:pt>
                <c:pt idx="139">
                  <c:v>172.24634671779668</c:v>
                </c:pt>
                <c:pt idx="140">
                  <c:v>177.91931896690812</c:v>
                </c:pt>
                <c:pt idx="141">
                  <c:v>182.22601356247981</c:v>
                </c:pt>
                <c:pt idx="142">
                  <c:v>186.83066507797471</c:v>
                </c:pt>
                <c:pt idx="143">
                  <c:v>191.99745500898956</c:v>
                </c:pt>
                <c:pt idx="144">
                  <c:v>197.00424455262464</c:v>
                </c:pt>
                <c:pt idx="145">
                  <c:v>203.38015947343152</c:v>
                </c:pt>
                <c:pt idx="146">
                  <c:v>200.88689932688564</c:v>
                </c:pt>
                <c:pt idx="147">
                  <c:v>205.03859086262923</c:v>
                </c:pt>
                <c:pt idx="148">
                  <c:v>213.14876756842253</c:v>
                </c:pt>
                <c:pt idx="149">
                  <c:v>221.15325096569222</c:v>
                </c:pt>
                <c:pt idx="150">
                  <c:v>218.77139850446127</c:v>
                </c:pt>
                <c:pt idx="151">
                  <c:v>219.12777966522637</c:v>
                </c:pt>
                <c:pt idx="152">
                  <c:v>219.38637688790703</c:v>
                </c:pt>
                <c:pt idx="153">
                  <c:v>221.59928989934528</c:v>
                </c:pt>
                <c:pt idx="154">
                  <c:v>221.30723964942379</c:v>
                </c:pt>
                <c:pt idx="155">
                  <c:v>219.21037412184586</c:v>
                </c:pt>
                <c:pt idx="156">
                  <c:v>218.55048314312521</c:v>
                </c:pt>
                <c:pt idx="157">
                  <c:v>223.02499156810734</c:v>
                </c:pt>
                <c:pt idx="158">
                  <c:v>231.28380481124023</c:v>
                </c:pt>
                <c:pt idx="159">
                  <c:v>242.20630610688349</c:v>
                </c:pt>
                <c:pt idx="160">
                  <c:v>248.54245716336186</c:v>
                </c:pt>
                <c:pt idx="161">
                  <c:v>252.82154933324694</c:v>
                </c:pt>
                <c:pt idx="162">
                  <c:v>259.21226711715906</c:v>
                </c:pt>
                <c:pt idx="163">
                  <c:v>261.27610582589102</c:v>
                </c:pt>
                <c:pt idx="164">
                  <c:v>257.29449985878165</c:v>
                </c:pt>
                <c:pt idx="165">
                  <c:v>256.50646966820483</c:v>
                </c:pt>
                <c:pt idx="166">
                  <c:v>254.72238262183478</c:v>
                </c:pt>
                <c:pt idx="167">
                  <c:v>253.68489012953211</c:v>
                </c:pt>
                <c:pt idx="168">
                  <c:v>257.77841965813542</c:v>
                </c:pt>
                <c:pt idx="169">
                  <c:v>267.38653506168504</c:v>
                </c:pt>
                <c:pt idx="170">
                  <c:v>276.7034909060477</c:v>
                </c:pt>
                <c:pt idx="171">
                  <c:v>282.69148199258871</c:v>
                </c:pt>
                <c:pt idx="172">
                  <c:v>289.50501596759074</c:v>
                </c:pt>
                <c:pt idx="173">
                  <c:v>293.35732110343804</c:v>
                </c:pt>
                <c:pt idx="174">
                  <c:v>299.04136211328893</c:v>
                </c:pt>
                <c:pt idx="175">
                  <c:v>299.26102862235604</c:v>
                </c:pt>
                <c:pt idx="176">
                  <c:v>299.97171662593638</c:v>
                </c:pt>
                <c:pt idx="177">
                  <c:v>299.24416437986156</c:v>
                </c:pt>
                <c:pt idx="178">
                  <c:v>301.57921327535973</c:v>
                </c:pt>
                <c:pt idx="179">
                  <c:v>309.02477401158779</c:v>
                </c:pt>
                <c:pt idx="180">
                  <c:v>311.20457917993116</c:v>
                </c:pt>
                <c:pt idx="181">
                  <c:v>317.05199245785616</c:v>
                </c:pt>
                <c:pt idx="182">
                  <c:v>318.01546434415712</c:v>
                </c:pt>
                <c:pt idx="183">
                  <c:v>316.94181986748856</c:v>
                </c:pt>
                <c:pt idx="184">
                  <c:v>312.93228484897537</c:v>
                </c:pt>
                <c:pt idx="185">
                  <c:v>308.97214402157613</c:v>
                </c:pt>
                <c:pt idx="186">
                  <c:v>311.75092042571862</c:v>
                </c:pt>
                <c:pt idx="187">
                  <c:v>310.65663755019023</c:v>
                </c:pt>
                <c:pt idx="188">
                  <c:v>307.93982101478872</c:v>
                </c:pt>
                <c:pt idx="189">
                  <c:v>304.73477579758338</c:v>
                </c:pt>
                <c:pt idx="190">
                  <c:v>304.78819102171383</c:v>
                </c:pt>
                <c:pt idx="191">
                  <c:v>308.74708554462967</c:v>
                </c:pt>
                <c:pt idx="192">
                  <c:v>308.23186573991387</c:v>
                </c:pt>
                <c:pt idx="193">
                  <c:v>305.83307752553679</c:v>
                </c:pt>
                <c:pt idx="194">
                  <c:v>296.10494371296221</c:v>
                </c:pt>
                <c:pt idx="195">
                  <c:v>296.36344311643256</c:v>
                </c:pt>
                <c:pt idx="196">
                  <c:v>302.22943074697002</c:v>
                </c:pt>
                <c:pt idx="197">
                  <c:v>307.27058054403835</c:v>
                </c:pt>
                <c:pt idx="198">
                  <c:v>306.08207423485186</c:v>
                </c:pt>
                <c:pt idx="199">
                  <c:v>311.98619869623371</c:v>
                </c:pt>
                <c:pt idx="200">
                  <c:v>316.65706380296319</c:v>
                </c:pt>
                <c:pt idx="201">
                  <c:v>318.79553363821572</c:v>
                </c:pt>
                <c:pt idx="202">
                  <c:v>312.57893024203315</c:v>
                </c:pt>
                <c:pt idx="203">
                  <c:v>291.27029653493787</c:v>
                </c:pt>
                <c:pt idx="204">
                  <c:v>282.91809967721559</c:v>
                </c:pt>
                <c:pt idx="205">
                  <c:v>283.28726308820893</c:v>
                </c:pt>
                <c:pt idx="206">
                  <c:v>294.52467512390166</c:v>
                </c:pt>
                <c:pt idx="207">
                  <c:v>299.17305921496325</c:v>
                </c:pt>
                <c:pt idx="208">
                  <c:v>304.58562135868681</c:v>
                </c:pt>
                <c:pt idx="209">
                  <c:v>308.5224624420851</c:v>
                </c:pt>
                <c:pt idx="210">
                  <c:v>318.99351200644696</c:v>
                </c:pt>
                <c:pt idx="211">
                  <c:v>327.27263130052921</c:v>
                </c:pt>
                <c:pt idx="212">
                  <c:v>329.99361024220497</c:v>
                </c:pt>
                <c:pt idx="213">
                  <c:v>322.80703838370459</c:v>
                </c:pt>
                <c:pt idx="214">
                  <c:v>312.67393406920587</c:v>
                </c:pt>
                <c:pt idx="215">
                  <c:v>307.39546812048457</c:v>
                </c:pt>
                <c:pt idx="216">
                  <c:v>307.62761869099489</c:v>
                </c:pt>
                <c:pt idx="217">
                  <c:v>303.75623135584931</c:v>
                </c:pt>
                <c:pt idx="218">
                  <c:v>299.32445863625054</c:v>
                </c:pt>
                <c:pt idx="219">
                  <c:v>292.33086639596706</c:v>
                </c:pt>
                <c:pt idx="220">
                  <c:v>293.53745575388746</c:v>
                </c:pt>
                <c:pt idx="221">
                  <c:v>290.91938043510561</c:v>
                </c:pt>
                <c:pt idx="222">
                  <c:v>287.77693191937715</c:v>
                </c:pt>
                <c:pt idx="223">
                  <c:v>285.21295652485503</c:v>
                </c:pt>
                <c:pt idx="224">
                  <c:v>288.37734106076147</c:v>
                </c:pt>
                <c:pt idx="225">
                  <c:v>293.24465948950854</c:v>
                </c:pt>
                <c:pt idx="226">
                  <c:v>294.18944830017551</c:v>
                </c:pt>
                <c:pt idx="227">
                  <c:v>292.7154553919467</c:v>
                </c:pt>
                <c:pt idx="228">
                  <c:v>296.4355584313422</c:v>
                </c:pt>
                <c:pt idx="229">
                  <c:v>304.56535601390169</c:v>
                </c:pt>
                <c:pt idx="230">
                  <c:v>315.14693329618541</c:v>
                </c:pt>
                <c:pt idx="231">
                  <c:v>326.24668716473337</c:v>
                </c:pt>
                <c:pt idx="232">
                  <c:v>332.03690716765715</c:v>
                </c:pt>
                <c:pt idx="233">
                  <c:v>339.85429734672579</c:v>
                </c:pt>
                <c:pt idx="234">
                  <c:v>336.71424275484861</c:v>
                </c:pt>
                <c:pt idx="235">
                  <c:v>335.72041855379342</c:v>
                </c:pt>
                <c:pt idx="236">
                  <c:v>335.54184859057148</c:v>
                </c:pt>
                <c:pt idx="237">
                  <c:v>337.79038288250842</c:v>
                </c:pt>
                <c:pt idx="238">
                  <c:v>337.00783740291399</c:v>
                </c:pt>
                <c:pt idx="239">
                  <c:v>333.07657218183306</c:v>
                </c:pt>
                <c:pt idx="240">
                  <c:v>333.03535062630635</c:v>
                </c:pt>
              </c:numCache>
            </c:numRef>
          </c:val>
          <c:smooth val="1"/>
          <c:extLst>
            <c:ext xmlns:c16="http://schemas.microsoft.com/office/drawing/2014/chart" uri="{C3380CC4-5D6E-409C-BE32-E72D297353CC}">
              <c16:uniqueId val="{00000002-79A3-E541-BA02-54779D011314}"/>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majorGridlines>
          <c:spPr>
            <a:ln w="9525">
              <a:solidFill>
                <a:srgbClr val="AB853F">
                  <a:alpha val="10045"/>
                </a:srgbClr>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72768"/>
        <c:crosses val="autoZero"/>
        <c:auto val="1"/>
        <c:lblAlgn val="ctr"/>
        <c:lblOffset val="100"/>
        <c:tickLblSkip val="60"/>
        <c:noMultiLvlLbl val="0"/>
      </c:catAx>
      <c:valAx>
        <c:axId val="48672768"/>
        <c:scaling>
          <c:orientation val="minMax"/>
          <c:max val="750"/>
          <c:min val="100"/>
        </c:scaling>
        <c:delete val="0"/>
        <c:axPos val="l"/>
        <c:majorGridlines>
          <c:spPr>
            <a:ln w="9525">
              <a:solidFill>
                <a:srgbClr val="CCCCCC"/>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50112"/>
        <c:crosses val="autoZero"/>
        <c:crossBetween val="between"/>
        <c:majorUnit val="150"/>
      </c:valAx>
    </c:plotArea>
    <c:plotVisOnly val="1"/>
    <c:dispBlanksAs val="zero"/>
    <c:showDLblsOverMax val="1"/>
  </c:chart>
  <c:spPr>
    <a:solidFill>
      <a:srgbClr val="FCF9EF"/>
    </a:solidFill>
    <a:ln w="9525">
      <a:noFill/>
      <a:prstDash val="solid"/>
    </a:ln>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283527581391981"/>
          <c:y val="0.13258408313154638"/>
          <c:w val="0.59891147019075885"/>
          <c:h val="0.71147045832213363"/>
        </c:manualLayout>
      </c:layout>
      <c:doughnutChart>
        <c:varyColors val="1"/>
        <c:ser>
          <c:idx val="0"/>
          <c:order val="0"/>
          <c:spPr>
            <a:ln>
              <a:prstDash val="solid"/>
            </a:ln>
          </c:spPr>
          <c:dPt>
            <c:idx val="0"/>
            <c:bubble3D val="0"/>
            <c:spPr>
              <a:solidFill>
                <a:srgbClr val="102D1A"/>
              </a:solidFill>
              <a:ln w="15875">
                <a:solidFill>
                  <a:srgbClr val="FFFFFF"/>
                </a:solidFill>
                <a:prstDash val="solid"/>
              </a:ln>
            </c:spPr>
            <c:extLst>
              <c:ext xmlns:c16="http://schemas.microsoft.com/office/drawing/2014/chart" uri="{C3380CC4-5D6E-409C-BE32-E72D297353CC}">
                <c16:uniqueId val="{00000001-EBDC-6B44-B87C-BEC5A6A7A894}"/>
              </c:ext>
            </c:extLst>
          </c:dPt>
          <c:dPt>
            <c:idx val="1"/>
            <c:bubble3D val="0"/>
            <c:spPr>
              <a:solidFill>
                <a:srgbClr val="102D1A"/>
              </a:solidFill>
              <a:ln w="15875">
                <a:solidFill>
                  <a:srgbClr val="FFFFFF"/>
                </a:solidFill>
                <a:prstDash val="solid"/>
              </a:ln>
            </c:spPr>
            <c:extLst>
              <c:ext xmlns:c16="http://schemas.microsoft.com/office/drawing/2014/chart" uri="{C3380CC4-5D6E-409C-BE32-E72D297353CC}">
                <c16:uniqueId val="{00000003-EBDC-6B44-B87C-BEC5A6A7A894}"/>
              </c:ext>
            </c:extLst>
          </c:dPt>
          <c:dPt>
            <c:idx val="2"/>
            <c:bubble3D val="0"/>
            <c:spPr>
              <a:solidFill>
                <a:srgbClr val="102D1A"/>
              </a:solidFill>
              <a:ln w="15875">
                <a:solidFill>
                  <a:srgbClr val="FFFFFF"/>
                </a:solidFill>
                <a:prstDash val="solid"/>
              </a:ln>
            </c:spPr>
            <c:extLst>
              <c:ext xmlns:c16="http://schemas.microsoft.com/office/drawing/2014/chart" uri="{C3380CC4-5D6E-409C-BE32-E72D297353CC}">
                <c16:uniqueId val="{00000005-EBDC-6B44-B87C-BEC5A6A7A894}"/>
              </c:ext>
            </c:extLst>
          </c:dPt>
          <c:dPt>
            <c:idx val="3"/>
            <c:bubble3D val="0"/>
            <c:spPr>
              <a:solidFill>
                <a:srgbClr val="A8823F"/>
              </a:solidFill>
              <a:ln w="15875">
                <a:solidFill>
                  <a:srgbClr val="FFFFFF"/>
                </a:solidFill>
                <a:prstDash val="solid"/>
              </a:ln>
            </c:spPr>
            <c:extLst>
              <c:ext xmlns:c16="http://schemas.microsoft.com/office/drawing/2014/chart" uri="{C3380CC4-5D6E-409C-BE32-E72D297353CC}">
                <c16:uniqueId val="{00000007-EBDC-6B44-B87C-BEC5A6A7A894}"/>
              </c:ext>
            </c:extLst>
          </c:dPt>
          <c:dPt>
            <c:idx val="4"/>
            <c:bubble3D val="0"/>
            <c:spPr>
              <a:solidFill>
                <a:srgbClr val="A8823F"/>
              </a:solidFill>
              <a:ln w="15875">
                <a:solidFill>
                  <a:srgbClr val="FFFFFF"/>
                </a:solidFill>
                <a:prstDash val="solid"/>
              </a:ln>
            </c:spPr>
            <c:extLst>
              <c:ext xmlns:c16="http://schemas.microsoft.com/office/drawing/2014/chart" uri="{C3380CC4-5D6E-409C-BE32-E72D297353CC}">
                <c16:uniqueId val="{00000009-EBDC-6B44-B87C-BEC5A6A7A894}"/>
              </c:ext>
            </c:extLst>
          </c:dPt>
          <c:dPt>
            <c:idx val="5"/>
            <c:bubble3D val="0"/>
            <c:spPr>
              <a:solidFill>
                <a:srgbClr val="B3A792"/>
              </a:solidFill>
              <a:ln w="15875">
                <a:solidFill>
                  <a:srgbClr val="FFFFFF"/>
                </a:solidFill>
                <a:prstDash val="solid"/>
              </a:ln>
            </c:spPr>
            <c:extLst>
              <c:ext xmlns:c16="http://schemas.microsoft.com/office/drawing/2014/chart" uri="{C3380CC4-5D6E-409C-BE32-E72D297353CC}">
                <c16:uniqueId val="{0000000B-EBDC-6B44-B87C-BEC5A6A7A894}"/>
              </c:ext>
            </c:extLst>
          </c:dPt>
          <c:dPt>
            <c:idx val="6"/>
            <c:bubble3D val="0"/>
            <c:spPr>
              <a:solidFill>
                <a:srgbClr val="B3A792"/>
              </a:solidFill>
              <a:ln w="15875">
                <a:solidFill>
                  <a:srgbClr val="FFFFFF"/>
                </a:solidFill>
                <a:prstDash val="solid"/>
              </a:ln>
            </c:spPr>
            <c:extLst>
              <c:ext xmlns:c16="http://schemas.microsoft.com/office/drawing/2014/chart" uri="{C3380CC4-5D6E-409C-BE32-E72D297353CC}">
                <c16:uniqueId val="{0000000D-EBDC-6B44-B87C-BEC5A6A7A894}"/>
              </c:ext>
            </c:extLst>
          </c:dPt>
          <c:dPt>
            <c:idx val="7"/>
            <c:bubble3D val="0"/>
            <c:spPr>
              <a:solidFill>
                <a:srgbClr val="B3A792"/>
              </a:solidFill>
              <a:ln w="15875">
                <a:solidFill>
                  <a:srgbClr val="FFFFFF"/>
                </a:solidFill>
                <a:prstDash val="solid"/>
              </a:ln>
            </c:spPr>
            <c:extLst>
              <c:ext xmlns:c16="http://schemas.microsoft.com/office/drawing/2014/chart" uri="{C3380CC4-5D6E-409C-BE32-E72D297353CC}">
                <c16:uniqueId val="{0000000F-EBDC-6B44-B87C-BEC5A6A7A894}"/>
              </c:ext>
            </c:extLst>
          </c:dPt>
          <c:dPt>
            <c:idx val="8"/>
            <c:bubble3D val="0"/>
            <c:spPr>
              <a:solidFill>
                <a:srgbClr val="183E26"/>
              </a:solidFill>
              <a:ln w="15875">
                <a:solidFill>
                  <a:srgbClr val="FFFFFF"/>
                </a:solidFill>
                <a:prstDash val="solid"/>
              </a:ln>
            </c:spPr>
            <c:extLst>
              <c:ext xmlns:c16="http://schemas.microsoft.com/office/drawing/2014/chart" uri="{C3380CC4-5D6E-409C-BE32-E72D297353CC}">
                <c16:uniqueId val="{00000011-EBDC-6B44-B87C-BEC5A6A7A894}"/>
              </c:ext>
            </c:extLst>
          </c:dPt>
          <c:dLbls>
            <c:dLbl>
              <c:idx val="1"/>
              <c:layout>
                <c:manualLayout>
                  <c:x val="8.8494581739224268E-2"/>
                  <c:y val="0.23361375414773622"/>
                </c:manualLayout>
              </c:layout>
              <c:tx>
                <c:rich>
                  <a:bodyPr/>
                  <a:lstStyle/>
                  <a:p>
                    <a:pPr>
                      <a:defRPr sz="1050" b="1">
                        <a:solidFill>
                          <a:srgbClr val="1A1A1A"/>
                        </a:solidFill>
                        <a:latin typeface="Arial"/>
                      </a:defRPr>
                    </a:pPr>
                    <a:r>
                      <a:rPr lang="en-US" b="0" i="0">
                        <a:latin typeface="Jost Light" pitchFamily="2" charset="77"/>
                        <a:ea typeface="Jost Light" pitchFamily="2" charset="77"/>
                      </a:rPr>
                      <a:t>Exposition actions</a:t>
                    </a:r>
                  </a:p>
                  <a:p>
                    <a:pPr>
                      <a:defRPr sz="1050" b="1">
                        <a:solidFill>
                          <a:srgbClr val="1A1A1A"/>
                        </a:solidFill>
                        <a:latin typeface="Arial"/>
                      </a:defRPr>
                    </a:pPr>
                    <a:r>
                      <a:rPr lang="en-US" sz="1400" b="0" i="0">
                        <a:latin typeface="Jost Medium" pitchFamily="2" charset="77"/>
                        <a:ea typeface="Jost Medium" pitchFamily="2" charset="77"/>
                      </a:rPr>
                      <a:t>55%</a:t>
                    </a:r>
                  </a:p>
                </c:rich>
              </c:tx>
              <c:spPr/>
              <c:showLegendKey val="0"/>
              <c:showVal val="0"/>
              <c:showCatName val="1"/>
              <c:showSerName val="0"/>
              <c:showPercent val="0"/>
              <c:showBubbleSize val="0"/>
              <c:extLst>
                <c:ext xmlns:c15="http://schemas.microsoft.com/office/drawing/2012/chart" uri="{CE6537A1-D6FC-4f65-9D91-7224C49458BB}">
                  <c15:layout>
                    <c:manualLayout>
                      <c:w val="0.27033875307805139"/>
                      <c:h val="0.15643361012117793"/>
                    </c:manualLayout>
                  </c15:layout>
                  <c15:showDataLabelsRange val="0"/>
                </c:ext>
                <c:ext xmlns:c16="http://schemas.microsoft.com/office/drawing/2014/chart" uri="{C3380CC4-5D6E-409C-BE32-E72D297353CC}">
                  <c16:uniqueId val="{00000003-EBDC-6B44-B87C-BEC5A6A7A894}"/>
                </c:ext>
              </c:extLst>
            </c:dLbl>
            <c:dLbl>
              <c:idx val="4"/>
              <c:layout>
                <c:manualLayout>
                  <c:x val="-0.11553459282620956"/>
                  <c:y val="0.1489288832365806"/>
                </c:manualLayout>
              </c:layout>
              <c:tx>
                <c:rich>
                  <a:bodyPr/>
                  <a:lstStyle/>
                  <a:p>
                    <a:pPr>
                      <a:defRPr sz="1050" b="1">
                        <a:solidFill>
                          <a:srgbClr val="A8823F"/>
                        </a:solidFill>
                        <a:latin typeface="Arial"/>
                      </a:defRPr>
                    </a:pPr>
                    <a:r>
                      <a:rPr lang="en-US" b="0" i="0">
                        <a:latin typeface="Jost Light" pitchFamily="2" charset="77"/>
                        <a:ea typeface="Jost Light" pitchFamily="2" charset="77"/>
                      </a:rPr>
                      <a:t>Exposition </a:t>
                    </a:r>
                    <a:r>
                      <a:rPr lang="en-US" b="0" i="0" err="1">
                        <a:latin typeface="Jost Light" pitchFamily="2" charset="77"/>
                        <a:ea typeface="Jost Light" pitchFamily="2" charset="77"/>
                      </a:rPr>
                      <a:t>obligataire</a:t>
                    </a:r>
                    <a:endParaRPr lang="en-US" b="0" i="0">
                      <a:latin typeface="Jost Light" pitchFamily="2" charset="77"/>
                      <a:ea typeface="Jost Light" pitchFamily="2" charset="77"/>
                    </a:endParaRPr>
                  </a:p>
                  <a:p>
                    <a:pPr>
                      <a:defRPr sz="1050" b="1">
                        <a:solidFill>
                          <a:srgbClr val="A8823F"/>
                        </a:solidFill>
                        <a:latin typeface="Arial"/>
                      </a:defRPr>
                    </a:pPr>
                    <a:r>
                      <a:rPr lang="en-US" sz="1400" b="0" i="0">
                        <a:latin typeface="Jost Medium" pitchFamily="2" charset="77"/>
                        <a:ea typeface="Jost Medium" pitchFamily="2" charset="77"/>
                      </a:rPr>
                      <a:t>7%</a:t>
                    </a:r>
                  </a:p>
                </c:rich>
              </c:tx>
              <c:spPr/>
              <c:showLegendKey val="0"/>
              <c:showVal val="0"/>
              <c:showCatName val="1"/>
              <c:showSerName val="0"/>
              <c:showPercent val="0"/>
              <c:showBubbleSize val="0"/>
              <c:extLst>
                <c:ext xmlns:c15="http://schemas.microsoft.com/office/drawing/2012/chart" uri="{CE6537A1-D6FC-4f65-9D91-7224C49458BB}">
                  <c15:layout>
                    <c:manualLayout>
                      <c:w val="0.25894497890027479"/>
                      <c:h val="0.13261972302514174"/>
                    </c:manualLayout>
                  </c15:layout>
                  <c15:showDataLabelsRange val="0"/>
                </c:ext>
                <c:ext xmlns:c16="http://schemas.microsoft.com/office/drawing/2014/chart" uri="{C3380CC4-5D6E-409C-BE32-E72D297353CC}">
                  <c16:uniqueId val="{00000009-EBDC-6B44-B87C-BEC5A6A7A894}"/>
                </c:ext>
              </c:extLst>
            </c:dLbl>
            <c:dLbl>
              <c:idx val="6"/>
              <c:layout>
                <c:manualLayout>
                  <c:x val="-0.11553459282620956"/>
                  <c:y val="-0.14016825248864176"/>
                </c:manualLayout>
              </c:layout>
              <c:tx>
                <c:rich>
                  <a:bodyPr/>
                  <a:lstStyle/>
                  <a:p>
                    <a:pPr>
                      <a:defRPr sz="1050" b="1">
                        <a:solidFill>
                          <a:srgbClr val="9C8E74"/>
                        </a:solidFill>
                        <a:latin typeface="Arial"/>
                      </a:defRPr>
                    </a:pPr>
                    <a:r>
                      <a:rPr lang="en-US" b="0" i="0">
                        <a:latin typeface="Jost Light" pitchFamily="2" charset="77"/>
                        <a:ea typeface="Jost Light" pitchFamily="2" charset="77"/>
                      </a:rPr>
                      <a:t>Exposition</a:t>
                    </a:r>
                    <a:r>
                      <a:rPr lang="en-US" b="0" i="0" baseline="0">
                        <a:latin typeface="Jost Light" pitchFamily="2" charset="77"/>
                        <a:ea typeface="Jost Light" pitchFamily="2" charset="77"/>
                      </a:rPr>
                      <a:t> mixte</a:t>
                    </a:r>
                  </a:p>
                  <a:p>
                    <a:pPr>
                      <a:defRPr sz="1050" b="1">
                        <a:solidFill>
                          <a:srgbClr val="9C8E74"/>
                        </a:solidFill>
                        <a:latin typeface="Arial"/>
                      </a:defRPr>
                    </a:pPr>
                    <a:r>
                      <a:rPr lang="en-US" sz="1400" b="0" i="0" baseline="0">
                        <a:latin typeface="Jost Medium" pitchFamily="2" charset="77"/>
                        <a:ea typeface="Jost Medium" pitchFamily="2" charset="77"/>
                      </a:rPr>
                      <a:t>38%</a:t>
                    </a:r>
                    <a:endParaRPr lang="en-US" sz="1400" b="0" i="0">
                      <a:latin typeface="Jost Medium" pitchFamily="2" charset="77"/>
                      <a:ea typeface="Jost Medium" pitchFamily="2" charset="77"/>
                    </a:endParaRPr>
                  </a:p>
                </c:rich>
              </c:tx>
              <c:spPr/>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EBDC-6B44-B87C-BEC5A6A7A89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Données!$Q$3:$Q$11</c:f>
              <c:strCache>
                <c:ptCount val="7"/>
                <c:pt idx="1">
                  <c:v>Exposition actions
55%</c:v>
                </c:pt>
                <c:pt idx="4">
                  <c:v>Exposition obligataire
7%</c:v>
                </c:pt>
                <c:pt idx="6">
                  <c:v>Exposition mixte
38%</c:v>
                </c:pt>
              </c:strCache>
            </c:strRef>
          </c:cat>
          <c:val>
            <c:numRef>
              <c:f>Données!$G$3:$G$11</c:f>
              <c:numCache>
                <c:formatCode>0%</c:formatCode>
                <c:ptCount val="9"/>
                <c:pt idx="0">
                  <c:v>0.19</c:v>
                </c:pt>
                <c:pt idx="1">
                  <c:v>0.21</c:v>
                </c:pt>
                <c:pt idx="2">
                  <c:v>0.15</c:v>
                </c:pt>
                <c:pt idx="3">
                  <c:v>0.03</c:v>
                </c:pt>
                <c:pt idx="4">
                  <c:v>0.04</c:v>
                </c:pt>
                <c:pt idx="5">
                  <c:v>0.05</c:v>
                </c:pt>
                <c:pt idx="6">
                  <c:v>0.23</c:v>
                </c:pt>
                <c:pt idx="7">
                  <c:v>0.1</c:v>
                </c:pt>
                <c:pt idx="8">
                  <c:v>0</c:v>
                </c:pt>
              </c:numCache>
            </c:numRef>
          </c:val>
          <c:extLst>
            <c:ext xmlns:c16="http://schemas.microsoft.com/office/drawing/2014/chart" uri="{C3380CC4-5D6E-409C-BE32-E72D297353CC}">
              <c16:uniqueId val="{00000012-EBDC-6B44-B87C-BEC5A6A7A894}"/>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1"/>
  </c:chart>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Optimiste</c:v>
          </c:tx>
          <c:spPr>
            <a:ln w="12700">
              <a:solidFill>
                <a:srgbClr val="001A00"/>
              </a:solidFill>
            </a:ln>
          </c:spPr>
          <c:marker>
            <c:symbol val="none"/>
          </c:marker>
          <c:cat>
            <c:numRef>
              <c:f>'10.1%'!$B$5:$B$245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'10.1%'!$D$5:$D$245</c:f>
              <c:numCache>
                <c:formatCode>0.0</c:formatCode>
                <c:ptCount val="241"/>
                <c:pt idx="0">
                  <c:v>100</c:v>
                </c:pt>
                <c:pt idx="1">
                  <c:v>100.62167205880212</c:v>
                </c:pt>
                <c:pt idx="2">
                  <c:v>100.03137111519747</c:v>
                </c:pt>
                <c:pt idx="3">
                  <c:v>100.63509452315759</c:v>
                </c:pt>
                <c:pt idx="4">
                  <c:v>98.979604945209658</c:v>
                </c:pt>
                <c:pt idx="5">
                  <c:v>99.158843037250307</c:v>
                </c:pt>
                <c:pt idx="6">
                  <c:v>98.543700102059006</c:v>
                </c:pt>
                <c:pt idx="7">
                  <c:v>97.398020177697077</c:v>
                </c:pt>
                <c:pt idx="8">
                  <c:v>96.585458548426104</c:v>
                </c:pt>
                <c:pt idx="9">
                  <c:v>97.879913347372522</c:v>
                </c:pt>
                <c:pt idx="10">
                  <c:v>99.862420827807</c:v>
                </c:pt>
                <c:pt idx="11">
                  <c:v>101.85580998288995</c:v>
                </c:pt>
                <c:pt idx="12">
                  <c:v>103.61600055430091</c:v>
                </c:pt>
                <c:pt idx="13">
                  <c:v>105.07143708978953</c:v>
                </c:pt>
                <c:pt idx="14">
                  <c:v>104.40434942042008</c:v>
                </c:pt>
                <c:pt idx="15">
                  <c:v>104.42556431189479</c:v>
                </c:pt>
                <c:pt idx="16">
                  <c:v>107.17601443463381</c:v>
                </c:pt>
                <c:pt idx="17">
                  <c:v>111.15986866943733</c:v>
                </c:pt>
                <c:pt idx="18">
                  <c:v>113.13121405883598</c:v>
                </c:pt>
                <c:pt idx="19">
                  <c:v>112.01499119091926</c:v>
                </c:pt>
                <c:pt idx="20">
                  <c:v>112.94781524785679</c:v>
                </c:pt>
                <c:pt idx="21">
                  <c:v>110.56942012916936</c:v>
                </c:pt>
                <c:pt idx="22">
                  <c:v>112.5214649339182</c:v>
                </c:pt>
                <c:pt idx="23">
                  <c:v>112.36070118153998</c:v>
                </c:pt>
                <c:pt idx="24">
                  <c:v>119.90709496077412</c:v>
                </c:pt>
                <c:pt idx="25">
                  <c:v>123.67090196252774</c:v>
                </c:pt>
                <c:pt idx="26">
                  <c:v>128.4182562413439</c:v>
                </c:pt>
                <c:pt idx="27">
                  <c:v>128.61826854784476</c:v>
                </c:pt>
                <c:pt idx="28">
                  <c:v>129.18451030307946</c:v>
                </c:pt>
                <c:pt idx="29">
                  <c:v>130.90635156130139</c:v>
                </c:pt>
                <c:pt idx="30">
                  <c:v>136.42220458678628</c:v>
                </c:pt>
                <c:pt idx="31">
                  <c:v>140.97211821653204</c:v>
                </c:pt>
                <c:pt idx="32">
                  <c:v>146.31559910221907</c:v>
                </c:pt>
                <c:pt idx="33">
                  <c:v>145.37122295830306</c:v>
                </c:pt>
                <c:pt idx="34">
                  <c:v>149.32632229974087</c:v>
                </c:pt>
                <c:pt idx="35">
                  <c:v>148.72830796702524</c:v>
                </c:pt>
                <c:pt idx="36">
                  <c:v>149.56018279862278</c:v>
                </c:pt>
                <c:pt idx="37">
                  <c:v>148.17468797669071</c:v>
                </c:pt>
                <c:pt idx="38">
                  <c:v>147.27541983030017</c:v>
                </c:pt>
                <c:pt idx="39">
                  <c:v>147.98022695603143</c:v>
                </c:pt>
                <c:pt idx="40">
                  <c:v>147.83417726896468</c:v>
                </c:pt>
                <c:pt idx="41">
                  <c:v>147.76274883171331</c:v>
                </c:pt>
                <c:pt idx="42">
                  <c:v>151.46916492487685</c:v>
                </c:pt>
                <c:pt idx="43">
                  <c:v>152.33151329727514</c:v>
                </c:pt>
                <c:pt idx="44">
                  <c:v>152.22234507881339</c:v>
                </c:pt>
                <c:pt idx="45">
                  <c:v>147.06863629524588</c:v>
                </c:pt>
                <c:pt idx="46">
                  <c:v>142.61024080635545</c:v>
                </c:pt>
                <c:pt idx="47">
                  <c:v>141.50772554143325</c:v>
                </c:pt>
                <c:pt idx="48">
                  <c:v>141.89806356588011</c:v>
                </c:pt>
                <c:pt idx="49">
                  <c:v>147.25739972073427</c:v>
                </c:pt>
                <c:pt idx="50">
                  <c:v>148.39587481230117</c:v>
                </c:pt>
                <c:pt idx="51">
                  <c:v>148.39346023512124</c:v>
                </c:pt>
                <c:pt idx="52">
                  <c:v>143.57848905113423</c:v>
                </c:pt>
                <c:pt idx="53">
                  <c:v>142.43150972416188</c:v>
                </c:pt>
                <c:pt idx="54">
                  <c:v>142.61480076659427</c:v>
                </c:pt>
                <c:pt idx="55">
                  <c:v>143.96094664928009</c:v>
                </c:pt>
                <c:pt idx="56">
                  <c:v>145.40386128145354</c:v>
                </c:pt>
                <c:pt idx="57">
                  <c:v>146.30285526172059</c:v>
                </c:pt>
                <c:pt idx="58">
                  <c:v>145.84709100917792</c:v>
                </c:pt>
                <c:pt idx="59">
                  <c:v>144.63791929376546</c:v>
                </c:pt>
                <c:pt idx="60">
                  <c:v>147.75725258554638</c:v>
                </c:pt>
                <c:pt idx="61">
                  <c:v>153.53228533347979</c:v>
                </c:pt>
                <c:pt idx="62">
                  <c:v>160.04245925466196</c:v>
                </c:pt>
                <c:pt idx="63">
                  <c:v>158.69829790232529</c:v>
                </c:pt>
                <c:pt idx="64">
                  <c:v>156.06951476941376</c:v>
                </c:pt>
                <c:pt idx="65">
                  <c:v>153.49217726716071</c:v>
                </c:pt>
                <c:pt idx="66">
                  <c:v>155.65965614639077</c:v>
                </c:pt>
                <c:pt idx="67">
                  <c:v>160.06261862668225</c:v>
                </c:pt>
                <c:pt idx="68">
                  <c:v>165.45690267485509</c:v>
                </c:pt>
                <c:pt idx="69">
                  <c:v>170.45459625756587</c:v>
                </c:pt>
                <c:pt idx="70">
                  <c:v>173.76252444337311</c:v>
                </c:pt>
                <c:pt idx="71">
                  <c:v>176.87909889755539</c:v>
                </c:pt>
                <c:pt idx="72">
                  <c:v>181.79207718473555</c:v>
                </c:pt>
                <c:pt idx="73">
                  <c:v>183.77366776389084</c:v>
                </c:pt>
                <c:pt idx="74">
                  <c:v>186.18385422291306</c:v>
                </c:pt>
                <c:pt idx="75">
                  <c:v>188.5093486155906</c:v>
                </c:pt>
                <c:pt idx="76">
                  <c:v>189.82945062166743</c:v>
                </c:pt>
                <c:pt idx="77">
                  <c:v>189.72592992343013</c:v>
                </c:pt>
                <c:pt idx="78">
                  <c:v>187.99595639258567</c:v>
                </c:pt>
                <c:pt idx="79">
                  <c:v>190.46837230941554</c:v>
                </c:pt>
                <c:pt idx="80">
                  <c:v>194.55627516472632</c:v>
                </c:pt>
                <c:pt idx="81">
                  <c:v>194.59345844587594</c:v>
                </c:pt>
                <c:pt idx="82">
                  <c:v>197.40509508758518</c:v>
                </c:pt>
                <c:pt idx="83">
                  <c:v>198.62901633413006</c:v>
                </c:pt>
                <c:pt idx="84">
                  <c:v>203.74962842532284</c:v>
                </c:pt>
                <c:pt idx="85">
                  <c:v>207.02833568993142</c:v>
                </c:pt>
                <c:pt idx="86">
                  <c:v>210.6775888338295</c:v>
                </c:pt>
                <c:pt idx="87">
                  <c:v>214.1875266111079</c:v>
                </c:pt>
                <c:pt idx="88">
                  <c:v>219.3302114431356</c:v>
                </c:pt>
                <c:pt idx="89">
                  <c:v>228.80124262747103</c:v>
                </c:pt>
                <c:pt idx="90">
                  <c:v>236.2798909775403</c:v>
                </c:pt>
                <c:pt idx="91">
                  <c:v>239.74298361754532</c:v>
                </c:pt>
                <c:pt idx="92">
                  <c:v>231.02515685828348</c:v>
                </c:pt>
                <c:pt idx="93">
                  <c:v>226.26546407302351</c:v>
                </c:pt>
                <c:pt idx="94">
                  <c:v>221.54846433573411</c:v>
                </c:pt>
                <c:pt idx="95">
                  <c:v>224.52182503257546</c:v>
                </c:pt>
                <c:pt idx="96">
                  <c:v>228.57201029548176</c:v>
                </c:pt>
                <c:pt idx="97">
                  <c:v>235.07530809060378</c:v>
                </c:pt>
                <c:pt idx="98">
                  <c:v>227.77843232197833</c:v>
                </c:pt>
                <c:pt idx="99">
                  <c:v>220.39093701243402</c:v>
                </c:pt>
                <c:pt idx="100">
                  <c:v>215.9918092020084</c:v>
                </c:pt>
                <c:pt idx="101">
                  <c:v>220.17352535536301</c:v>
                </c:pt>
                <c:pt idx="102">
                  <c:v>227.46207075904172</c:v>
                </c:pt>
                <c:pt idx="103">
                  <c:v>230.84080860820239</c:v>
                </c:pt>
                <c:pt idx="104">
                  <c:v>235.20023662220169</c:v>
                </c:pt>
                <c:pt idx="105">
                  <c:v>234.58604544620849</c:v>
                </c:pt>
                <c:pt idx="106">
                  <c:v>235.24327551394566</c:v>
                </c:pt>
                <c:pt idx="107">
                  <c:v>236.83819113955172</c:v>
                </c:pt>
                <c:pt idx="108">
                  <c:v>240.28565174672937</c:v>
                </c:pt>
                <c:pt idx="109">
                  <c:v>247.6903203589562</c:v>
                </c:pt>
                <c:pt idx="110">
                  <c:v>255.6655170302148</c:v>
                </c:pt>
                <c:pt idx="111">
                  <c:v>258.13886864224304</c:v>
                </c:pt>
                <c:pt idx="112">
                  <c:v>258.72493337524537</c:v>
                </c:pt>
                <c:pt idx="113">
                  <c:v>260.27172164534494</c:v>
                </c:pt>
                <c:pt idx="114">
                  <c:v>270.62527627798352</c:v>
                </c:pt>
                <c:pt idx="115">
                  <c:v>281.85857557160779</c:v>
                </c:pt>
                <c:pt idx="116">
                  <c:v>286.23720150434553</c:v>
                </c:pt>
                <c:pt idx="117">
                  <c:v>286.42144402501816</c:v>
                </c:pt>
                <c:pt idx="118">
                  <c:v>288.390476169056</c:v>
                </c:pt>
                <c:pt idx="119">
                  <c:v>289.74476463581601</c:v>
                </c:pt>
                <c:pt idx="120">
                  <c:v>295.98600422969082</c:v>
                </c:pt>
                <c:pt idx="121">
                  <c:v>296.72526767167216</c:v>
                </c:pt>
                <c:pt idx="122">
                  <c:v>304.48640683285697</c:v>
                </c:pt>
                <c:pt idx="123">
                  <c:v>311.87146105051721</c:v>
                </c:pt>
                <c:pt idx="124">
                  <c:v>323.52955822536205</c:v>
                </c:pt>
                <c:pt idx="125">
                  <c:v>350.40681649021462</c:v>
                </c:pt>
                <c:pt idx="126">
                  <c:v>372.88300271797584</c:v>
                </c:pt>
                <c:pt idx="127">
                  <c:v>388.50062332251412</c:v>
                </c:pt>
                <c:pt idx="128">
                  <c:v>399.81794732563691</c:v>
                </c:pt>
                <c:pt idx="129">
                  <c:v>409.19293484858889</c:v>
                </c:pt>
                <c:pt idx="130">
                  <c:v>416.67803805871023</c:v>
                </c:pt>
                <c:pt idx="131">
                  <c:v>412.20296658465787</c:v>
                </c:pt>
                <c:pt idx="132">
                  <c:v>404.09295806405368</c:v>
                </c:pt>
                <c:pt idx="133">
                  <c:v>393.63372740217392</c:v>
                </c:pt>
                <c:pt idx="134">
                  <c:v>384.18009168778076</c:v>
                </c:pt>
                <c:pt idx="135">
                  <c:v>388.33567468306796</c:v>
                </c:pt>
                <c:pt idx="136">
                  <c:v>394.37132418630438</c:v>
                </c:pt>
                <c:pt idx="137">
                  <c:v>400.08700592340568</c:v>
                </c:pt>
                <c:pt idx="138">
                  <c:v>397.60779012336189</c:v>
                </c:pt>
                <c:pt idx="139">
                  <c:v>391.01628687966058</c:v>
                </c:pt>
                <c:pt idx="140">
                  <c:v>386.31560228092974</c:v>
                </c:pt>
                <c:pt idx="141">
                  <c:v>372.16654085077903</c:v>
                </c:pt>
                <c:pt idx="142">
                  <c:v>369.72620512414483</c:v>
                </c:pt>
                <c:pt idx="143">
                  <c:v>370.38481552821509</c:v>
                </c:pt>
                <c:pt idx="144">
                  <c:v>361.72412871547994</c:v>
                </c:pt>
                <c:pt idx="145">
                  <c:v>355.48910637863082</c:v>
                </c:pt>
                <c:pt idx="146">
                  <c:v>354.3871060467219</c:v>
                </c:pt>
                <c:pt idx="147">
                  <c:v>358.3669085420002</c:v>
                </c:pt>
                <c:pt idx="148">
                  <c:v>366.7326068820318</c:v>
                </c:pt>
                <c:pt idx="149">
                  <c:v>367.65099793630532</c:v>
                </c:pt>
                <c:pt idx="150">
                  <c:v>374.13009274493612</c:v>
                </c:pt>
                <c:pt idx="151">
                  <c:v>379.84319776775169</c:v>
                </c:pt>
                <c:pt idx="152">
                  <c:v>387.95322858500236</c:v>
                </c:pt>
                <c:pt idx="153">
                  <c:v>391.0670682442838</c:v>
                </c:pt>
                <c:pt idx="154">
                  <c:v>404.10793902600892</c:v>
                </c:pt>
                <c:pt idx="155">
                  <c:v>408.38055265419234</c:v>
                </c:pt>
                <c:pt idx="156">
                  <c:v>410.06048128991955</c:v>
                </c:pt>
                <c:pt idx="157">
                  <c:v>409.5641727018442</c:v>
                </c:pt>
                <c:pt idx="158">
                  <c:v>416.47471948125661</c:v>
                </c:pt>
                <c:pt idx="159">
                  <c:v>424.51768782308488</c:v>
                </c:pt>
                <c:pt idx="160">
                  <c:v>438.23712819443148</c:v>
                </c:pt>
                <c:pt idx="161">
                  <c:v>449.30696571050254</c:v>
                </c:pt>
                <c:pt idx="162">
                  <c:v>466.27769662499469</c:v>
                </c:pt>
                <c:pt idx="163">
                  <c:v>479.20810093973864</c:v>
                </c:pt>
                <c:pt idx="164">
                  <c:v>493.58827594371041</c:v>
                </c:pt>
                <c:pt idx="165">
                  <c:v>501.22701349962676</c:v>
                </c:pt>
                <c:pt idx="166">
                  <c:v>506.04790021383036</c:v>
                </c:pt>
                <c:pt idx="167">
                  <c:v>515.66569843113211</c:v>
                </c:pt>
                <c:pt idx="168">
                  <c:v>533.10716898715566</c:v>
                </c:pt>
                <c:pt idx="169">
                  <c:v>532.05771547634572</c:v>
                </c:pt>
                <c:pt idx="170">
                  <c:v>514.99581715484578</c:v>
                </c:pt>
                <c:pt idx="171">
                  <c:v>510.88503677010993</c:v>
                </c:pt>
                <c:pt idx="172">
                  <c:v>522.5170089406414</c:v>
                </c:pt>
                <c:pt idx="173">
                  <c:v>514.3150777103549</c:v>
                </c:pt>
                <c:pt idx="174">
                  <c:v>512.18876868739983</c:v>
                </c:pt>
                <c:pt idx="175">
                  <c:v>494.68351484953865</c:v>
                </c:pt>
                <c:pt idx="176">
                  <c:v>493.60309174405216</c:v>
                </c:pt>
                <c:pt idx="177">
                  <c:v>500.40941829853114</c:v>
                </c:pt>
                <c:pt idx="178">
                  <c:v>525.08012472320092</c:v>
                </c:pt>
                <c:pt idx="179">
                  <c:v>543.260827597044</c:v>
                </c:pt>
                <c:pt idx="180">
                  <c:v>555.26668807449164</c:v>
                </c:pt>
                <c:pt idx="181">
                  <c:v>583.35313617545523</c:v>
                </c:pt>
                <c:pt idx="182">
                  <c:v>619.56677647633319</c:v>
                </c:pt>
                <c:pt idx="183">
                  <c:v>662.93048068625296</c:v>
                </c:pt>
                <c:pt idx="184">
                  <c:v>677.52368964187303</c:v>
                </c:pt>
                <c:pt idx="185">
                  <c:v>686.39537604621501</c:v>
                </c:pt>
                <c:pt idx="186">
                  <c:v>682.8943743908261</c:v>
                </c:pt>
                <c:pt idx="187">
                  <c:v>684.80087653033058</c:v>
                </c:pt>
                <c:pt idx="188">
                  <c:v>687.29699095757337</c:v>
                </c:pt>
                <c:pt idx="189">
                  <c:v>697.12651764228656</c:v>
                </c:pt>
                <c:pt idx="190">
                  <c:v>715.00501382334335</c:v>
                </c:pt>
                <c:pt idx="191">
                  <c:v>714.12285017611066</c:v>
                </c:pt>
                <c:pt idx="192">
                  <c:v>707.99835144878045</c:v>
                </c:pt>
                <c:pt idx="193">
                  <c:v>696.94275883048147</c:v>
                </c:pt>
                <c:pt idx="194">
                  <c:v>705.49488027097084</c:v>
                </c:pt>
                <c:pt idx="195">
                  <c:v>717.06798651415556</c:v>
                </c:pt>
                <c:pt idx="196">
                  <c:v>730.16458421161383</c:v>
                </c:pt>
                <c:pt idx="197">
                  <c:v>741.44883646405287</c:v>
                </c:pt>
                <c:pt idx="198">
                  <c:v>746.78227450898601</c:v>
                </c:pt>
                <c:pt idx="199">
                  <c:v>741.05030274568128</c:v>
                </c:pt>
                <c:pt idx="200">
                  <c:v>743.64303093775982</c:v>
                </c:pt>
                <c:pt idx="201">
                  <c:v>747.98631355739758</c:v>
                </c:pt>
                <c:pt idx="202">
                  <c:v>758.93271542943319</c:v>
                </c:pt>
                <c:pt idx="203">
                  <c:v>736.34459818375967</c:v>
                </c:pt>
                <c:pt idx="204">
                  <c:v>723.4784459932556</c:v>
                </c:pt>
                <c:pt idx="205">
                  <c:v>717.34237933173893</c:v>
                </c:pt>
                <c:pt idx="206">
                  <c:v>716.5382039621793</c:v>
                </c:pt>
                <c:pt idx="207">
                  <c:v>715.10058261902657</c:v>
                </c:pt>
                <c:pt idx="208">
                  <c:v>708.9623609384023</c:v>
                </c:pt>
                <c:pt idx="209">
                  <c:v>704.05356888024062</c:v>
                </c:pt>
                <c:pt idx="210">
                  <c:v>705.66827727799614</c:v>
                </c:pt>
                <c:pt idx="211">
                  <c:v>716.49105888831718</c:v>
                </c:pt>
                <c:pt idx="212">
                  <c:v>738.92187716678745</c:v>
                </c:pt>
                <c:pt idx="213">
                  <c:v>770.40587256551214</c:v>
                </c:pt>
                <c:pt idx="214">
                  <c:v>809.83988993037224</c:v>
                </c:pt>
                <c:pt idx="215">
                  <c:v>834.42436858311305</c:v>
                </c:pt>
                <c:pt idx="216">
                  <c:v>844.29948293200403</c:v>
                </c:pt>
                <c:pt idx="217">
                  <c:v>855.28223477162578</c:v>
                </c:pt>
                <c:pt idx="218">
                  <c:v>868.56189137587842</c:v>
                </c:pt>
                <c:pt idx="219">
                  <c:v>901.14317330067831</c:v>
                </c:pt>
                <c:pt idx="220">
                  <c:v>928.66159244152834</c:v>
                </c:pt>
                <c:pt idx="221">
                  <c:v>959.17920988775916</c:v>
                </c:pt>
                <c:pt idx="222">
                  <c:v>980.92281455852185</c:v>
                </c:pt>
                <c:pt idx="223">
                  <c:v>975.64210321255007</c:v>
                </c:pt>
                <c:pt idx="224">
                  <c:v>963.70254539682617</c:v>
                </c:pt>
                <c:pt idx="225">
                  <c:v>934.61556766437309</c:v>
                </c:pt>
                <c:pt idx="226">
                  <c:v>946.38718515775713</c:v>
                </c:pt>
                <c:pt idx="227">
                  <c:v>966.03323514555154</c:v>
                </c:pt>
                <c:pt idx="228">
                  <c:v>1018.0847294660289</c:v>
                </c:pt>
                <c:pt idx="229">
                  <c:v>1026.3733376169014</c:v>
                </c:pt>
                <c:pt idx="230">
                  <c:v>1023.1513056528656</c:v>
                </c:pt>
                <c:pt idx="231">
                  <c:v>993.12584040246156</c:v>
                </c:pt>
                <c:pt idx="232">
                  <c:v>983.89797853757034</c:v>
                </c:pt>
                <c:pt idx="233">
                  <c:v>1000.299823915815</c:v>
                </c:pt>
                <c:pt idx="234">
                  <c:v>1016.1948174247802</c:v>
                </c:pt>
                <c:pt idx="235">
                  <c:v>1045.7022919288947</c:v>
                </c:pt>
                <c:pt idx="236">
                  <c:v>1057.7649601358846</c:v>
                </c:pt>
                <c:pt idx="237">
                  <c:v>1064.4359186176907</c:v>
                </c:pt>
                <c:pt idx="238">
                  <c:v>1096.7258804784271</c:v>
                </c:pt>
                <c:pt idx="239">
                  <c:v>1127.7621380320386</c:v>
                </c:pt>
                <c:pt idx="240">
                  <c:v>1132.084484963965</c:v>
                </c:pt>
              </c:numCache>
            </c:numRef>
          </c:val>
          <c:smooth val="1"/>
          <c:extLst>
            <c:ext xmlns:c16="http://schemas.microsoft.com/office/drawing/2014/chart" uri="{C3380CC4-5D6E-409C-BE32-E72D297353CC}">
              <c16:uniqueId val="{00000000-C738-C643-AB7C-F2E4E319D700}"/>
            </c:ext>
          </c:extLst>
        </c:ser>
        <c:ser>
          <c:idx val="1"/>
          <c:order val="1"/>
          <c:tx>
            <c:v>Médian</c:v>
          </c:tx>
          <c:spPr>
            <a:ln w="12700">
              <a:solidFill>
                <a:srgbClr val="AB853F"/>
              </a:solidFill>
            </a:ln>
          </c:spPr>
          <c:marker>
            <c:symbol val="none"/>
          </c:marker>
          <c:cat>
            <c:numRef>
              <c:f>'10.1%'!$B$5:$B$245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'10.1%'!$H$5:$H$245</c:f>
              <c:numCache>
                <c:formatCode>0.0</c:formatCode>
                <c:ptCount val="241"/>
                <c:pt idx="0">
                  <c:v>100</c:v>
                </c:pt>
                <c:pt idx="1">
                  <c:v>102.41058177193922</c:v>
                </c:pt>
                <c:pt idx="2">
                  <c:v>104.2577438029805</c:v>
                </c:pt>
                <c:pt idx="3">
                  <c:v>104.6871968636425</c:v>
                </c:pt>
                <c:pt idx="4">
                  <c:v>106.55461990320052</c:v>
                </c:pt>
                <c:pt idx="5">
                  <c:v>107.81808792289438</c:v>
                </c:pt>
                <c:pt idx="6">
                  <c:v>111.13498149419171</c:v>
                </c:pt>
                <c:pt idx="7">
                  <c:v>114.0103263078135</c:v>
                </c:pt>
                <c:pt idx="8">
                  <c:v>116.80754077266121</c:v>
                </c:pt>
                <c:pt idx="9">
                  <c:v>118.48737952503268</c:v>
                </c:pt>
                <c:pt idx="10">
                  <c:v>119.57556870837914</c:v>
                </c:pt>
                <c:pt idx="11">
                  <c:v>120.6556132117184</c:v>
                </c:pt>
                <c:pt idx="12">
                  <c:v>122.06192244864563</c:v>
                </c:pt>
                <c:pt idx="13">
                  <c:v>124.72678254136497</c:v>
                </c:pt>
                <c:pt idx="14">
                  <c:v>128.59667594351669</c:v>
                </c:pt>
                <c:pt idx="15">
                  <c:v>131.9939416124987</c:v>
                </c:pt>
                <c:pt idx="16">
                  <c:v>136.25489648878352</c:v>
                </c:pt>
                <c:pt idx="17">
                  <c:v>140.57540790423707</c:v>
                </c:pt>
                <c:pt idx="18">
                  <c:v>144.01724193297579</c:v>
                </c:pt>
                <c:pt idx="19">
                  <c:v>142.44128000010284</c:v>
                </c:pt>
                <c:pt idx="20">
                  <c:v>140.19197481327578</c:v>
                </c:pt>
                <c:pt idx="21">
                  <c:v>137.88538256313504</c:v>
                </c:pt>
                <c:pt idx="22">
                  <c:v>139.36587451061158</c:v>
                </c:pt>
                <c:pt idx="23">
                  <c:v>137.84943488911185</c:v>
                </c:pt>
                <c:pt idx="24">
                  <c:v>136.63088563246725</c:v>
                </c:pt>
                <c:pt idx="25">
                  <c:v>136.49177505186856</c:v>
                </c:pt>
                <c:pt idx="26">
                  <c:v>139.63099419668367</c:v>
                </c:pt>
                <c:pt idx="27">
                  <c:v>146.19136427167288</c:v>
                </c:pt>
                <c:pt idx="28">
                  <c:v>150.136408451189</c:v>
                </c:pt>
                <c:pt idx="29">
                  <c:v>154.25986559083873</c:v>
                </c:pt>
                <c:pt idx="30">
                  <c:v>154.70157655805104</c:v>
                </c:pt>
                <c:pt idx="31">
                  <c:v>157.10545202611334</c:v>
                </c:pt>
                <c:pt idx="32">
                  <c:v>159.04695486358932</c:v>
                </c:pt>
                <c:pt idx="33">
                  <c:v>161.45397172519313</c:v>
                </c:pt>
                <c:pt idx="34">
                  <c:v>162.20502155398916</c:v>
                </c:pt>
                <c:pt idx="35">
                  <c:v>164.25933738279701</c:v>
                </c:pt>
                <c:pt idx="36">
                  <c:v>168.78617785756259</c:v>
                </c:pt>
                <c:pt idx="37">
                  <c:v>169.39821369303274</c:v>
                </c:pt>
                <c:pt idx="38">
                  <c:v>167.15577880864899</c:v>
                </c:pt>
                <c:pt idx="39">
                  <c:v>165.01252208861101</c:v>
                </c:pt>
                <c:pt idx="40">
                  <c:v>169.78348346085343</c:v>
                </c:pt>
                <c:pt idx="41">
                  <c:v>175.00463710058042</c:v>
                </c:pt>
                <c:pt idx="42">
                  <c:v>176.72619760289871</c:v>
                </c:pt>
                <c:pt idx="43">
                  <c:v>171.47315009031485</c:v>
                </c:pt>
                <c:pt idx="44">
                  <c:v>173.76480346884352</c:v>
                </c:pt>
                <c:pt idx="45">
                  <c:v>176.09403763270615</c:v>
                </c:pt>
                <c:pt idx="46">
                  <c:v>180.61604090794299</c:v>
                </c:pt>
                <c:pt idx="47">
                  <c:v>179.42700301235655</c:v>
                </c:pt>
                <c:pt idx="48">
                  <c:v>180.05859072319359</c:v>
                </c:pt>
                <c:pt idx="49">
                  <c:v>177.40529380862458</c:v>
                </c:pt>
                <c:pt idx="50">
                  <c:v>177.0589120904848</c:v>
                </c:pt>
                <c:pt idx="51">
                  <c:v>179.07682228411551</c:v>
                </c:pt>
                <c:pt idx="52">
                  <c:v>187.23442652556159</c:v>
                </c:pt>
                <c:pt idx="53">
                  <c:v>191.52343665697046</c:v>
                </c:pt>
                <c:pt idx="54">
                  <c:v>186.75248109521766</c:v>
                </c:pt>
                <c:pt idx="55">
                  <c:v>178.71650126653608</c:v>
                </c:pt>
                <c:pt idx="56">
                  <c:v>175.77630449402153</c:v>
                </c:pt>
                <c:pt idx="57">
                  <c:v>177.84751848108988</c:v>
                </c:pt>
                <c:pt idx="58">
                  <c:v>181.32848355386832</c:v>
                </c:pt>
                <c:pt idx="59">
                  <c:v>177.10561811171033</c:v>
                </c:pt>
                <c:pt idx="60">
                  <c:v>176.61217554134089</c:v>
                </c:pt>
                <c:pt idx="61">
                  <c:v>176.31001244331915</c:v>
                </c:pt>
                <c:pt idx="62">
                  <c:v>178.64430764435278</c:v>
                </c:pt>
                <c:pt idx="63">
                  <c:v>180.54237172269029</c:v>
                </c:pt>
                <c:pt idx="64">
                  <c:v>180.49500604287286</c:v>
                </c:pt>
                <c:pt idx="65">
                  <c:v>182.66605312587444</c:v>
                </c:pt>
                <c:pt idx="66">
                  <c:v>181.02145412415166</c:v>
                </c:pt>
                <c:pt idx="67">
                  <c:v>179.85362079399013</c:v>
                </c:pt>
                <c:pt idx="68">
                  <c:v>178.86728079842356</c:v>
                </c:pt>
                <c:pt idx="69">
                  <c:v>179.63939331108188</c:v>
                </c:pt>
                <c:pt idx="70">
                  <c:v>180.41385102218004</c:v>
                </c:pt>
                <c:pt idx="71">
                  <c:v>176.95120302129558</c:v>
                </c:pt>
                <c:pt idx="72">
                  <c:v>170.76504356029685</c:v>
                </c:pt>
                <c:pt idx="73">
                  <c:v>163.58543098453063</c:v>
                </c:pt>
                <c:pt idx="74">
                  <c:v>160.53870669950405</c:v>
                </c:pt>
                <c:pt idx="75">
                  <c:v>159.50235348628215</c:v>
                </c:pt>
                <c:pt idx="76">
                  <c:v>158.92596933626706</c:v>
                </c:pt>
                <c:pt idx="77">
                  <c:v>152.83135346046745</c:v>
                </c:pt>
                <c:pt idx="78">
                  <c:v>146.54260167350196</c:v>
                </c:pt>
                <c:pt idx="79">
                  <c:v>140.56453698635769</c:v>
                </c:pt>
                <c:pt idx="80">
                  <c:v>139.18354364673326</c:v>
                </c:pt>
                <c:pt idx="81">
                  <c:v>139.72873997207111</c:v>
                </c:pt>
                <c:pt idx="82">
                  <c:v>143.75187957237364</c:v>
                </c:pt>
                <c:pt idx="83">
                  <c:v>151.22864187894538</c:v>
                </c:pt>
                <c:pt idx="84">
                  <c:v>154.82209087264258</c:v>
                </c:pt>
                <c:pt idx="85">
                  <c:v>160.13058199961165</c:v>
                </c:pt>
                <c:pt idx="86">
                  <c:v>161.17161561647578</c:v>
                </c:pt>
                <c:pt idx="87">
                  <c:v>169.20702108549867</c:v>
                </c:pt>
                <c:pt idx="88">
                  <c:v>172.75802966456243</c:v>
                </c:pt>
                <c:pt idx="89">
                  <c:v>179.37914304020197</c:v>
                </c:pt>
                <c:pt idx="90">
                  <c:v>183.24817350943474</c:v>
                </c:pt>
                <c:pt idx="91">
                  <c:v>190.20892724250876</c:v>
                </c:pt>
                <c:pt idx="92">
                  <c:v>186.50183286219649</c:v>
                </c:pt>
                <c:pt idx="93">
                  <c:v>183.62257672950167</c:v>
                </c:pt>
                <c:pt idx="94">
                  <c:v>180.22966465897238</c:v>
                </c:pt>
                <c:pt idx="95">
                  <c:v>181.62870067793978</c:v>
                </c:pt>
                <c:pt idx="96">
                  <c:v>183.84322569814265</c:v>
                </c:pt>
                <c:pt idx="97">
                  <c:v>185.32189529030094</c:v>
                </c:pt>
                <c:pt idx="98">
                  <c:v>186.06297265194175</c:v>
                </c:pt>
                <c:pt idx="99">
                  <c:v>185.74064699646672</c:v>
                </c:pt>
                <c:pt idx="100">
                  <c:v>187.02343497239718</c:v>
                </c:pt>
                <c:pt idx="101">
                  <c:v>188.37568355713691</c:v>
                </c:pt>
                <c:pt idx="102">
                  <c:v>188.64911187535802</c:v>
                </c:pt>
                <c:pt idx="103">
                  <c:v>186.23029215916841</c:v>
                </c:pt>
                <c:pt idx="104">
                  <c:v>183.46407236229041</c:v>
                </c:pt>
                <c:pt idx="105">
                  <c:v>187.20508827726752</c:v>
                </c:pt>
                <c:pt idx="106">
                  <c:v>193.93674579445545</c:v>
                </c:pt>
                <c:pt idx="107">
                  <c:v>201.24778963055672</c:v>
                </c:pt>
                <c:pt idx="108">
                  <c:v>201.0890987765049</c:v>
                </c:pt>
                <c:pt idx="109">
                  <c:v>195.53558541078786</c:v>
                </c:pt>
                <c:pt idx="110">
                  <c:v>187.73182478219098</c:v>
                </c:pt>
                <c:pt idx="111">
                  <c:v>182.96915209931623</c:v>
                </c:pt>
                <c:pt idx="112">
                  <c:v>182.92284566964094</c:v>
                </c:pt>
                <c:pt idx="113">
                  <c:v>185.34933136904235</c:v>
                </c:pt>
                <c:pt idx="114">
                  <c:v>188.56481987590925</c:v>
                </c:pt>
                <c:pt idx="115">
                  <c:v>194.30544091657742</c:v>
                </c:pt>
                <c:pt idx="116">
                  <c:v>200.66863836907746</c:v>
                </c:pt>
                <c:pt idx="117">
                  <c:v>210.59768482585616</c:v>
                </c:pt>
                <c:pt idx="118">
                  <c:v>222.65155798478804</c:v>
                </c:pt>
                <c:pt idx="119">
                  <c:v>236.30965205769797</c:v>
                </c:pt>
                <c:pt idx="120">
                  <c:v>245.29156454676945</c:v>
                </c:pt>
                <c:pt idx="121">
                  <c:v>251.290812412197</c:v>
                </c:pt>
                <c:pt idx="122">
                  <c:v>258.78019077549328</c:v>
                </c:pt>
                <c:pt idx="123">
                  <c:v>271.61849009291154</c:v>
                </c:pt>
                <c:pt idx="124">
                  <c:v>291.32813306518443</c:v>
                </c:pt>
                <c:pt idx="125">
                  <c:v>317.79791020950586</c:v>
                </c:pt>
                <c:pt idx="126">
                  <c:v>336.63180098794885</c:v>
                </c:pt>
                <c:pt idx="127">
                  <c:v>349.13192606390731</c:v>
                </c:pt>
                <c:pt idx="128">
                  <c:v>357.67331169762463</c:v>
                </c:pt>
                <c:pt idx="129">
                  <c:v>364.40958138078292</c:v>
                </c:pt>
                <c:pt idx="130">
                  <c:v>369.4116395323714</c:v>
                </c:pt>
                <c:pt idx="131">
                  <c:v>363.81463642009038</c:v>
                </c:pt>
                <c:pt idx="132">
                  <c:v>355.07500697665216</c:v>
                </c:pt>
                <c:pt idx="133">
                  <c:v>344.35902251926029</c:v>
                </c:pt>
                <c:pt idx="134">
                  <c:v>334.61455768701114</c:v>
                </c:pt>
                <c:pt idx="135">
                  <c:v>336.75840542236125</c:v>
                </c:pt>
                <c:pt idx="136">
                  <c:v>340.50847940129228</c:v>
                </c:pt>
                <c:pt idx="137">
                  <c:v>343.95265381445546</c:v>
                </c:pt>
                <c:pt idx="138">
                  <c:v>340.35394513045537</c:v>
                </c:pt>
                <c:pt idx="139">
                  <c:v>333.28242458436773</c:v>
                </c:pt>
                <c:pt idx="140">
                  <c:v>327.8773022841213</c:v>
                </c:pt>
                <c:pt idx="141">
                  <c:v>314.53411455664434</c:v>
                </c:pt>
                <c:pt idx="142">
                  <c:v>299.61717263989988</c:v>
                </c:pt>
                <c:pt idx="143">
                  <c:v>286.42694906454818</c:v>
                </c:pt>
                <c:pt idx="144">
                  <c:v>285.8699417602453</c:v>
                </c:pt>
                <c:pt idx="145">
                  <c:v>287.33042501953827</c:v>
                </c:pt>
                <c:pt idx="146">
                  <c:v>281.46728904482711</c:v>
                </c:pt>
                <c:pt idx="147">
                  <c:v>275.86927931455523</c:v>
                </c:pt>
                <c:pt idx="148">
                  <c:v>287.97951199045838</c:v>
                </c:pt>
                <c:pt idx="149">
                  <c:v>292.40138002876643</c:v>
                </c:pt>
                <c:pt idx="150">
                  <c:v>287.81429669344749</c:v>
                </c:pt>
                <c:pt idx="151">
                  <c:v>286.40253384289565</c:v>
                </c:pt>
                <c:pt idx="152">
                  <c:v>293.17043869815825</c:v>
                </c:pt>
                <c:pt idx="153">
                  <c:v>302.80901020757705</c:v>
                </c:pt>
                <c:pt idx="154">
                  <c:v>306.2572890668369</c:v>
                </c:pt>
                <c:pt idx="155">
                  <c:v>307.07086079376336</c:v>
                </c:pt>
                <c:pt idx="156">
                  <c:v>307.56809391234896</c:v>
                </c:pt>
                <c:pt idx="157">
                  <c:v>305.04076341596078</c:v>
                </c:pt>
                <c:pt idx="158">
                  <c:v>308.58361209640731</c:v>
                </c:pt>
                <c:pt idx="159">
                  <c:v>316.26312998963397</c:v>
                </c:pt>
                <c:pt idx="160">
                  <c:v>333.14343081547435</c:v>
                </c:pt>
                <c:pt idx="161">
                  <c:v>347.73010729985259</c:v>
                </c:pt>
                <c:pt idx="162">
                  <c:v>359.32832121226147</c:v>
                </c:pt>
                <c:pt idx="163">
                  <c:v>370.94172585066354</c:v>
                </c:pt>
                <c:pt idx="164">
                  <c:v>380.63586265214468</c:v>
                </c:pt>
                <c:pt idx="165">
                  <c:v>385.07963884916757</c:v>
                </c:pt>
                <c:pt idx="166">
                  <c:v>387.33500852003897</c:v>
                </c:pt>
                <c:pt idx="167">
                  <c:v>393.23318382635699</c:v>
                </c:pt>
                <c:pt idx="168">
                  <c:v>405.03347594329307</c:v>
                </c:pt>
                <c:pt idx="169">
                  <c:v>402.75157392764561</c:v>
                </c:pt>
                <c:pt idx="170">
                  <c:v>388.41131057381739</c:v>
                </c:pt>
                <c:pt idx="171">
                  <c:v>372.6822537410232</c:v>
                </c:pt>
                <c:pt idx="172">
                  <c:v>359.39151646838729</c:v>
                </c:pt>
                <c:pt idx="173">
                  <c:v>350.62110590969849</c:v>
                </c:pt>
                <c:pt idx="174">
                  <c:v>354.21366981042911</c:v>
                </c:pt>
                <c:pt idx="175">
                  <c:v>361.8495389618563</c:v>
                </c:pt>
                <c:pt idx="176">
                  <c:v>363.55372419055834</c:v>
                </c:pt>
                <c:pt idx="177">
                  <c:v>356.21123418427482</c:v>
                </c:pt>
                <c:pt idx="178">
                  <c:v>349.60337607265251</c:v>
                </c:pt>
                <c:pt idx="179">
                  <c:v>346.11311365752545</c:v>
                </c:pt>
                <c:pt idx="180">
                  <c:v>349.0707264938618</c:v>
                </c:pt>
                <c:pt idx="181">
                  <c:v>357.17340802655121</c:v>
                </c:pt>
                <c:pt idx="182">
                  <c:v>369.5757611244577</c:v>
                </c:pt>
                <c:pt idx="183">
                  <c:v>382.25870152808625</c:v>
                </c:pt>
                <c:pt idx="184">
                  <c:v>395.70351977913799</c:v>
                </c:pt>
                <c:pt idx="185">
                  <c:v>401.81688619887183</c:v>
                </c:pt>
                <c:pt idx="186">
                  <c:v>399.35531968125809</c:v>
                </c:pt>
                <c:pt idx="187">
                  <c:v>392.20367183885452</c:v>
                </c:pt>
                <c:pt idx="188">
                  <c:v>381.53973882771351</c:v>
                </c:pt>
                <c:pt idx="189">
                  <c:v>366.42159997205829</c:v>
                </c:pt>
                <c:pt idx="190">
                  <c:v>353.91741045165213</c:v>
                </c:pt>
                <c:pt idx="191">
                  <c:v>353.44638890827935</c:v>
                </c:pt>
                <c:pt idx="192">
                  <c:v>359.0701638784119</c:v>
                </c:pt>
                <c:pt idx="193">
                  <c:v>357.79539813738035</c:v>
                </c:pt>
                <c:pt idx="194">
                  <c:v>347.03926007002912</c:v>
                </c:pt>
                <c:pt idx="195">
                  <c:v>337.16059989413429</c:v>
                </c:pt>
                <c:pt idx="196">
                  <c:v>337.07278516244105</c:v>
                </c:pt>
                <c:pt idx="197">
                  <c:v>341.53041071297457</c:v>
                </c:pt>
                <c:pt idx="198">
                  <c:v>343.32248157214741</c:v>
                </c:pt>
                <c:pt idx="199">
                  <c:v>353.44653120299557</c:v>
                </c:pt>
                <c:pt idx="200">
                  <c:v>360.035172717698</c:v>
                </c:pt>
                <c:pt idx="201">
                  <c:v>380.32101278233858</c:v>
                </c:pt>
                <c:pt idx="202">
                  <c:v>384.99758407522978</c:v>
                </c:pt>
                <c:pt idx="203">
                  <c:v>372.16222505387356</c:v>
                </c:pt>
                <c:pt idx="204">
                  <c:v>353.03617409463715</c:v>
                </c:pt>
                <c:pt idx="205">
                  <c:v>336.26048600120356</c:v>
                </c:pt>
                <c:pt idx="206">
                  <c:v>341.07418926336129</c:v>
                </c:pt>
                <c:pt idx="207">
                  <c:v>355.87919534504147</c:v>
                </c:pt>
                <c:pt idx="208">
                  <c:v>383.38643280446809</c:v>
                </c:pt>
                <c:pt idx="209">
                  <c:v>400.08496390019951</c:v>
                </c:pt>
                <c:pt idx="210">
                  <c:v>412.71896345629909</c:v>
                </c:pt>
                <c:pt idx="211">
                  <c:v>422.94808599752008</c:v>
                </c:pt>
                <c:pt idx="212">
                  <c:v>429.3840703402542</c:v>
                </c:pt>
                <c:pt idx="213">
                  <c:v>427.17560151571666</c:v>
                </c:pt>
                <c:pt idx="214">
                  <c:v>424.42505563460981</c:v>
                </c:pt>
                <c:pt idx="215">
                  <c:v>439.54534455317338</c:v>
                </c:pt>
                <c:pt idx="216">
                  <c:v>458.74883491206299</c:v>
                </c:pt>
                <c:pt idx="217">
                  <c:v>475.78007535178835</c:v>
                </c:pt>
                <c:pt idx="218">
                  <c:v>473.56457551784882</c:v>
                </c:pt>
                <c:pt idx="219">
                  <c:v>474.27312525376658</c:v>
                </c:pt>
                <c:pt idx="220">
                  <c:v>470.81262029260279</c:v>
                </c:pt>
                <c:pt idx="221">
                  <c:v>477.25928994228752</c:v>
                </c:pt>
                <c:pt idx="222">
                  <c:v>477.93417113793629</c:v>
                </c:pt>
                <c:pt idx="223">
                  <c:v>485.0313094409654</c:v>
                </c:pt>
                <c:pt idx="224">
                  <c:v>488.72871322511679</c:v>
                </c:pt>
                <c:pt idx="225">
                  <c:v>497.09866463113849</c:v>
                </c:pt>
                <c:pt idx="226">
                  <c:v>484.28987992759403</c:v>
                </c:pt>
                <c:pt idx="227">
                  <c:v>472.37200886396522</c:v>
                </c:pt>
                <c:pt idx="228">
                  <c:v>458.43230551145496</c:v>
                </c:pt>
                <c:pt idx="229">
                  <c:v>455.47022452155977</c:v>
                </c:pt>
                <c:pt idx="230">
                  <c:v>458.18010590306568</c:v>
                </c:pt>
                <c:pt idx="231">
                  <c:v>476.30710817796944</c:v>
                </c:pt>
                <c:pt idx="232">
                  <c:v>506.03548796260588</c:v>
                </c:pt>
                <c:pt idx="233">
                  <c:v>543.99427553253156</c:v>
                </c:pt>
                <c:pt idx="234">
                  <c:v>566.66873560058139</c:v>
                </c:pt>
                <c:pt idx="235">
                  <c:v>599.00628124146021</c:v>
                </c:pt>
                <c:pt idx="236">
                  <c:v>616.31726502483855</c:v>
                </c:pt>
                <c:pt idx="237">
                  <c:v>648.21504196802346</c:v>
                </c:pt>
                <c:pt idx="238">
                  <c:v>667.32072544763184</c:v>
                </c:pt>
                <c:pt idx="239">
                  <c:v>684.33267470740213</c:v>
                </c:pt>
                <c:pt idx="240">
                  <c:v>685.08802989356695</c:v>
                </c:pt>
              </c:numCache>
            </c:numRef>
          </c:val>
          <c:smooth val="1"/>
          <c:extLst>
            <c:ext xmlns:c16="http://schemas.microsoft.com/office/drawing/2014/chart" uri="{C3380CC4-5D6E-409C-BE32-E72D297353CC}">
              <c16:uniqueId val="{00000001-C738-C643-AB7C-F2E4E319D700}"/>
            </c:ext>
          </c:extLst>
        </c:ser>
        <c:ser>
          <c:idx val="2"/>
          <c:order val="2"/>
          <c:tx>
            <c:v>Pessimiste</c:v>
          </c:tx>
          <c:spPr>
            <a:ln w="12700">
              <a:solidFill>
                <a:schemeClr val="tx1"/>
              </a:solidFill>
            </a:ln>
          </c:spPr>
          <c:marker>
            <c:symbol val="none"/>
          </c:marker>
          <c:cat>
            <c:numRef>
              <c:f>'10.1%'!$B$5:$B$245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'10.1%'!$L$5:$L$245</c:f>
              <c:numCache>
                <c:formatCode>0.0</c:formatCode>
                <c:ptCount val="241"/>
                <c:pt idx="0">
                  <c:v>100</c:v>
                </c:pt>
                <c:pt idx="1">
                  <c:v>95.251066902566095</c:v>
                </c:pt>
                <c:pt idx="2">
                  <c:v>90.994139127816766</c:v>
                </c:pt>
                <c:pt idx="3">
                  <c:v>88.878305092257264</c:v>
                </c:pt>
                <c:pt idx="4">
                  <c:v>87.779366392111967</c:v>
                </c:pt>
                <c:pt idx="5">
                  <c:v>86.788889892242679</c:v>
                </c:pt>
                <c:pt idx="6">
                  <c:v>84.824667804420017</c:v>
                </c:pt>
                <c:pt idx="7">
                  <c:v>84.275577287185669</c:v>
                </c:pt>
                <c:pt idx="8">
                  <c:v>84.818806373365149</c:v>
                </c:pt>
                <c:pt idx="9">
                  <c:v>84.771261174541564</c:v>
                </c:pt>
                <c:pt idx="10">
                  <c:v>83.488118736966442</c:v>
                </c:pt>
                <c:pt idx="11">
                  <c:v>82.957203457135549</c:v>
                </c:pt>
                <c:pt idx="12">
                  <c:v>85.482709416297809</c:v>
                </c:pt>
                <c:pt idx="13">
                  <c:v>88.674225099028718</c:v>
                </c:pt>
                <c:pt idx="14">
                  <c:v>88.972662532061946</c:v>
                </c:pt>
                <c:pt idx="15">
                  <c:v>86.72821722531279</c:v>
                </c:pt>
                <c:pt idx="16">
                  <c:v>83.781838984790724</c:v>
                </c:pt>
                <c:pt idx="17">
                  <c:v>83.266266942430619</c:v>
                </c:pt>
                <c:pt idx="18">
                  <c:v>81.058071303632559</c:v>
                </c:pt>
                <c:pt idx="19">
                  <c:v>78.643669775096242</c:v>
                </c:pt>
                <c:pt idx="20">
                  <c:v>76.290947586393457</c:v>
                </c:pt>
                <c:pt idx="21">
                  <c:v>77.659346172478052</c:v>
                </c:pt>
                <c:pt idx="22">
                  <c:v>82.080188122973425</c:v>
                </c:pt>
                <c:pt idx="23">
                  <c:v>85.786301133867823</c:v>
                </c:pt>
                <c:pt idx="24">
                  <c:v>85.72389974996716</c:v>
                </c:pt>
                <c:pt idx="25">
                  <c:v>80.609465541366887</c:v>
                </c:pt>
                <c:pt idx="26">
                  <c:v>76.788676801056312</c:v>
                </c:pt>
                <c:pt idx="27">
                  <c:v>73.674246513699202</c:v>
                </c:pt>
                <c:pt idx="28">
                  <c:v>73.523231151729561</c:v>
                </c:pt>
                <c:pt idx="29">
                  <c:v>73.437721065070136</c:v>
                </c:pt>
                <c:pt idx="30">
                  <c:v>73.936694361787076</c:v>
                </c:pt>
                <c:pt idx="31">
                  <c:v>74.721184761355204</c:v>
                </c:pt>
                <c:pt idx="32">
                  <c:v>75.024230344975322</c:v>
                </c:pt>
                <c:pt idx="33">
                  <c:v>76.591498579615433</c:v>
                </c:pt>
                <c:pt idx="34">
                  <c:v>76.443695265590023</c:v>
                </c:pt>
                <c:pt idx="35">
                  <c:v>77.124910223710359</c:v>
                </c:pt>
                <c:pt idx="36">
                  <c:v>76.898734082310966</c:v>
                </c:pt>
                <c:pt idx="37">
                  <c:v>78.970071859829702</c:v>
                </c:pt>
                <c:pt idx="38">
                  <c:v>79.293468362990282</c:v>
                </c:pt>
                <c:pt idx="39">
                  <c:v>81.041978235375936</c:v>
                </c:pt>
                <c:pt idx="40">
                  <c:v>80.123942358341523</c:v>
                </c:pt>
                <c:pt idx="41">
                  <c:v>80.014442185269019</c:v>
                </c:pt>
                <c:pt idx="42">
                  <c:v>78.641609536706156</c:v>
                </c:pt>
                <c:pt idx="43">
                  <c:v>80.076924989339176</c:v>
                </c:pt>
                <c:pt idx="44">
                  <c:v>84.013789219867817</c:v>
                </c:pt>
                <c:pt idx="45">
                  <c:v>89.322486301888759</c:v>
                </c:pt>
                <c:pt idx="46">
                  <c:v>94.040570197975285</c:v>
                </c:pt>
                <c:pt idx="47">
                  <c:v>94.278927690379334</c:v>
                </c:pt>
                <c:pt idx="48">
                  <c:v>93.023136771454858</c:v>
                </c:pt>
                <c:pt idx="49">
                  <c:v>88.892633709784107</c:v>
                </c:pt>
                <c:pt idx="50">
                  <c:v>86.981141483935758</c:v>
                </c:pt>
                <c:pt idx="51">
                  <c:v>86.855819489545425</c:v>
                </c:pt>
                <c:pt idx="52">
                  <c:v>88.612567703229416</c:v>
                </c:pt>
                <c:pt idx="53">
                  <c:v>88.601881612778627</c:v>
                </c:pt>
                <c:pt idx="54">
                  <c:v>89.46060203028135</c:v>
                </c:pt>
                <c:pt idx="55">
                  <c:v>92.262702015453399</c:v>
                </c:pt>
                <c:pt idx="56">
                  <c:v>96.610864529737043</c:v>
                </c:pt>
                <c:pt idx="57">
                  <c:v>98.121649204522967</c:v>
                </c:pt>
                <c:pt idx="58">
                  <c:v>97.994486821151938</c:v>
                </c:pt>
                <c:pt idx="59">
                  <c:v>97.156434979036305</c:v>
                </c:pt>
                <c:pt idx="60">
                  <c:v>97.4230515483613</c:v>
                </c:pt>
                <c:pt idx="61">
                  <c:v>96.177182152179768</c:v>
                </c:pt>
                <c:pt idx="62">
                  <c:v>95.925164676604865</c:v>
                </c:pt>
                <c:pt idx="63">
                  <c:v>95.493316651485458</c:v>
                </c:pt>
                <c:pt idx="64">
                  <c:v>94.854913403199177</c:v>
                </c:pt>
                <c:pt idx="65">
                  <c:v>94.408697996396626</c:v>
                </c:pt>
                <c:pt idx="66">
                  <c:v>93.301228961573727</c:v>
                </c:pt>
                <c:pt idx="67">
                  <c:v>94.45387200339222</c:v>
                </c:pt>
                <c:pt idx="68">
                  <c:v>98.436838587812034</c:v>
                </c:pt>
                <c:pt idx="69">
                  <c:v>101.2856703260184</c:v>
                </c:pt>
                <c:pt idx="70">
                  <c:v>102.4684008608932</c:v>
                </c:pt>
                <c:pt idx="71">
                  <c:v>97.006684621087587</c:v>
                </c:pt>
                <c:pt idx="72">
                  <c:v>94.439320500293618</c:v>
                </c:pt>
                <c:pt idx="73">
                  <c:v>93.661339604421997</c:v>
                </c:pt>
                <c:pt idx="74">
                  <c:v>97.525358591571049</c:v>
                </c:pt>
                <c:pt idx="75">
                  <c:v>98.793754232043895</c:v>
                </c:pt>
                <c:pt idx="76">
                  <c:v>98.960209198722467</c:v>
                </c:pt>
                <c:pt idx="77">
                  <c:v>97.334949019364132</c:v>
                </c:pt>
                <c:pt idx="78">
                  <c:v>96.467927053759055</c:v>
                </c:pt>
                <c:pt idx="79">
                  <c:v>95.880505518451258</c:v>
                </c:pt>
                <c:pt idx="80">
                  <c:v>96.386887241283375</c:v>
                </c:pt>
                <c:pt idx="81">
                  <c:v>95.716302870084476</c:v>
                </c:pt>
                <c:pt idx="82">
                  <c:v>96.118517966059329</c:v>
                </c:pt>
                <c:pt idx="83">
                  <c:v>94.554104517691272</c:v>
                </c:pt>
                <c:pt idx="84">
                  <c:v>95.829451145559204</c:v>
                </c:pt>
                <c:pt idx="85">
                  <c:v>93.578366959333763</c:v>
                </c:pt>
                <c:pt idx="86">
                  <c:v>92.346314806560244</c:v>
                </c:pt>
                <c:pt idx="87">
                  <c:v>89.720127856599973</c:v>
                </c:pt>
                <c:pt idx="88">
                  <c:v>88.296680541159432</c:v>
                </c:pt>
                <c:pt idx="89">
                  <c:v>86.132114445171965</c:v>
                </c:pt>
                <c:pt idx="90">
                  <c:v>86.397605348630478</c:v>
                </c:pt>
                <c:pt idx="91">
                  <c:v>88.498401601078314</c:v>
                </c:pt>
                <c:pt idx="92">
                  <c:v>85.353110203091589</c:v>
                </c:pt>
                <c:pt idx="93">
                  <c:v>84.743919814210173</c:v>
                </c:pt>
                <c:pt idx="94">
                  <c:v>87.878931160342219</c:v>
                </c:pt>
                <c:pt idx="95">
                  <c:v>97.627885662826188</c:v>
                </c:pt>
                <c:pt idx="96">
                  <c:v>106.26952257746716</c:v>
                </c:pt>
                <c:pt idx="97">
                  <c:v>111.65430252212973</c:v>
                </c:pt>
                <c:pt idx="98">
                  <c:v>116.71673166325066</c:v>
                </c:pt>
                <c:pt idx="99">
                  <c:v>120.82566721721456</c:v>
                </c:pt>
                <c:pt idx="100">
                  <c:v>126.09246709499017</c:v>
                </c:pt>
                <c:pt idx="101">
                  <c:v>127.81259279900171</c:v>
                </c:pt>
                <c:pt idx="102">
                  <c:v>129.3662672638705</c:v>
                </c:pt>
                <c:pt idx="103">
                  <c:v>127.35992965795403</c:v>
                </c:pt>
                <c:pt idx="104">
                  <c:v>124.9620677214639</c:v>
                </c:pt>
                <c:pt idx="105">
                  <c:v>122.9334587258755</c:v>
                </c:pt>
                <c:pt idx="106">
                  <c:v>127.53276674910545</c:v>
                </c:pt>
                <c:pt idx="107">
                  <c:v>134.80106384568936</c:v>
                </c:pt>
                <c:pt idx="108">
                  <c:v>141.99349980564705</c:v>
                </c:pt>
                <c:pt idx="109">
                  <c:v>146.17888201895707</c:v>
                </c:pt>
                <c:pt idx="110">
                  <c:v>149.96146084299195</c:v>
                </c:pt>
                <c:pt idx="111">
                  <c:v>149.46185824634088</c:v>
                </c:pt>
                <c:pt idx="112">
                  <c:v>147.15379726151383</c:v>
                </c:pt>
                <c:pt idx="113">
                  <c:v>144.89688515511784</c:v>
                </c:pt>
                <c:pt idx="114">
                  <c:v>143.87174036146399</c:v>
                </c:pt>
                <c:pt idx="115">
                  <c:v>141.88501130864933</c:v>
                </c:pt>
                <c:pt idx="116">
                  <c:v>135.85362523874414</c:v>
                </c:pt>
                <c:pt idx="117">
                  <c:v>133.46790112023527</c:v>
                </c:pt>
                <c:pt idx="118">
                  <c:v>133.09235614046386</c:v>
                </c:pt>
                <c:pt idx="119">
                  <c:v>135.43024053880774</c:v>
                </c:pt>
                <c:pt idx="120">
                  <c:v>137.94368516066001</c:v>
                </c:pt>
                <c:pt idx="121">
                  <c:v>133.46985800347818</c:v>
                </c:pt>
                <c:pt idx="122">
                  <c:v>132.90564026765057</c:v>
                </c:pt>
                <c:pt idx="123">
                  <c:v>132.41323218250207</c:v>
                </c:pt>
                <c:pt idx="124">
                  <c:v>140.46335669043347</c:v>
                </c:pt>
                <c:pt idx="125">
                  <c:v>151.71213932157781</c:v>
                </c:pt>
                <c:pt idx="126">
                  <c:v>166.38274210101832</c:v>
                </c:pt>
                <c:pt idx="127">
                  <c:v>179.50851558858042</c:v>
                </c:pt>
                <c:pt idx="128">
                  <c:v>185.4217256174737</c:v>
                </c:pt>
                <c:pt idx="129">
                  <c:v>186.10121779454889</c:v>
                </c:pt>
                <c:pt idx="130">
                  <c:v>188.21803617477107</c:v>
                </c:pt>
                <c:pt idx="131">
                  <c:v>191.27593017744246</c:v>
                </c:pt>
                <c:pt idx="132">
                  <c:v>198.50429907024312</c:v>
                </c:pt>
                <c:pt idx="133">
                  <c:v>199.15319795230181</c:v>
                </c:pt>
                <c:pt idx="134">
                  <c:v>194.56102743967219</c:v>
                </c:pt>
                <c:pt idx="135">
                  <c:v>191.32047039531687</c:v>
                </c:pt>
                <c:pt idx="136">
                  <c:v>189.67227492168192</c:v>
                </c:pt>
                <c:pt idx="137">
                  <c:v>191.18390459306701</c:v>
                </c:pt>
                <c:pt idx="138">
                  <c:v>187.83558025831312</c:v>
                </c:pt>
                <c:pt idx="139">
                  <c:v>183.47114650674447</c:v>
                </c:pt>
                <c:pt idx="140">
                  <c:v>181.18239559743577</c:v>
                </c:pt>
                <c:pt idx="141">
                  <c:v>180.22365341810945</c:v>
                </c:pt>
                <c:pt idx="142">
                  <c:v>185.65470636674493</c:v>
                </c:pt>
                <c:pt idx="143">
                  <c:v>191.97562266791664</c:v>
                </c:pt>
                <c:pt idx="144">
                  <c:v>197.61280585991648</c:v>
                </c:pt>
                <c:pt idx="145">
                  <c:v>197.9015010987911</c:v>
                </c:pt>
                <c:pt idx="146">
                  <c:v>193.10957261343538</c:v>
                </c:pt>
                <c:pt idx="147">
                  <c:v>189.21525285874552</c:v>
                </c:pt>
                <c:pt idx="148">
                  <c:v>199.47418747571956</c:v>
                </c:pt>
                <c:pt idx="149">
                  <c:v>200.6455901073609</c:v>
                </c:pt>
                <c:pt idx="150">
                  <c:v>204.46738674339778</c:v>
                </c:pt>
                <c:pt idx="151">
                  <c:v>204.96668388088068</c:v>
                </c:pt>
                <c:pt idx="152">
                  <c:v>209.79402021084474</c:v>
                </c:pt>
                <c:pt idx="153">
                  <c:v>207.79219227734868</c:v>
                </c:pt>
                <c:pt idx="154">
                  <c:v>205.95172714994627</c:v>
                </c:pt>
                <c:pt idx="155">
                  <c:v>205.52246107866654</c:v>
                </c:pt>
                <c:pt idx="156">
                  <c:v>199.81365729131329</c:v>
                </c:pt>
                <c:pt idx="157">
                  <c:v>192.26947230204766</c:v>
                </c:pt>
                <c:pt idx="158">
                  <c:v>187.50451318847635</c:v>
                </c:pt>
                <c:pt idx="159">
                  <c:v>187.65002724839124</c:v>
                </c:pt>
                <c:pt idx="160">
                  <c:v>192.42304065532693</c:v>
                </c:pt>
                <c:pt idx="161">
                  <c:v>197.03257037141714</c:v>
                </c:pt>
                <c:pt idx="162">
                  <c:v>203.7484158446286</c:v>
                </c:pt>
                <c:pt idx="163">
                  <c:v>206.35476934039076</c:v>
                </c:pt>
                <c:pt idx="164">
                  <c:v>204.00169306513655</c:v>
                </c:pt>
                <c:pt idx="165">
                  <c:v>200.5336196471531</c:v>
                </c:pt>
                <c:pt idx="166">
                  <c:v>204.87287027750079</c:v>
                </c:pt>
                <c:pt idx="167">
                  <c:v>212.6450789964797</c:v>
                </c:pt>
                <c:pt idx="168">
                  <c:v>223.567304127348</c:v>
                </c:pt>
                <c:pt idx="169">
                  <c:v>232.01052931931193</c:v>
                </c:pt>
                <c:pt idx="170">
                  <c:v>234.68172294404866</c:v>
                </c:pt>
                <c:pt idx="171">
                  <c:v>235.5314735588741</c:v>
                </c:pt>
                <c:pt idx="172">
                  <c:v>233.41596435900803</c:v>
                </c:pt>
                <c:pt idx="173">
                  <c:v>225.99551038214389</c:v>
                </c:pt>
                <c:pt idx="174">
                  <c:v>220.11196788554534</c:v>
                </c:pt>
                <c:pt idx="175">
                  <c:v>213.58700490751301</c:v>
                </c:pt>
                <c:pt idx="176">
                  <c:v>217.86727468801308</c:v>
                </c:pt>
                <c:pt idx="177">
                  <c:v>223.93994159857127</c:v>
                </c:pt>
                <c:pt idx="178">
                  <c:v>226.13091029593403</c:v>
                </c:pt>
                <c:pt idx="179">
                  <c:v>230.20174097997455</c:v>
                </c:pt>
                <c:pt idx="180">
                  <c:v>233.26717218806149</c:v>
                </c:pt>
                <c:pt idx="181">
                  <c:v>245.18675985183714</c:v>
                </c:pt>
                <c:pt idx="182">
                  <c:v>252.62687614276084</c:v>
                </c:pt>
                <c:pt idx="183">
                  <c:v>259.7171629207682</c:v>
                </c:pt>
                <c:pt idx="184">
                  <c:v>263.30010787765775</c:v>
                </c:pt>
                <c:pt idx="185">
                  <c:v>269.81703998250987</c:v>
                </c:pt>
                <c:pt idx="186">
                  <c:v>269.69475706728599</c:v>
                </c:pt>
                <c:pt idx="187">
                  <c:v>275.85734308198528</c:v>
                </c:pt>
                <c:pt idx="188">
                  <c:v>267.43916195440681</c:v>
                </c:pt>
                <c:pt idx="189">
                  <c:v>255.96766876352788</c:v>
                </c:pt>
                <c:pt idx="190">
                  <c:v>246.39462909087922</c:v>
                </c:pt>
                <c:pt idx="191">
                  <c:v>245.23616308872874</c:v>
                </c:pt>
                <c:pt idx="192">
                  <c:v>248.3008927740201</c:v>
                </c:pt>
                <c:pt idx="193">
                  <c:v>246.5914440446075</c:v>
                </c:pt>
                <c:pt idx="194">
                  <c:v>238.38141937565814</c:v>
                </c:pt>
                <c:pt idx="195">
                  <c:v>230.827394666413</c:v>
                </c:pt>
                <c:pt idx="196">
                  <c:v>230.00491362369627</c:v>
                </c:pt>
                <c:pt idx="197">
                  <c:v>232.2799932664839</c:v>
                </c:pt>
                <c:pt idx="198">
                  <c:v>232.73394386278684</c:v>
                </c:pt>
                <c:pt idx="199">
                  <c:v>238.81537766631135</c:v>
                </c:pt>
                <c:pt idx="200">
                  <c:v>242.47699719525556</c:v>
                </c:pt>
                <c:pt idx="201">
                  <c:v>255.31064019293404</c:v>
                </c:pt>
                <c:pt idx="202">
                  <c:v>257.6175592244482</c:v>
                </c:pt>
                <c:pt idx="203">
                  <c:v>248.23010518902507</c:v>
                </c:pt>
                <c:pt idx="204">
                  <c:v>234.72096030016368</c:v>
                </c:pt>
                <c:pt idx="205">
                  <c:v>222.85622108714674</c:v>
                </c:pt>
                <c:pt idx="206">
                  <c:v>225.33038386981877</c:v>
                </c:pt>
                <c:pt idx="207">
                  <c:v>234.36953058717089</c:v>
                </c:pt>
                <c:pt idx="208">
                  <c:v>251.69151361253429</c:v>
                </c:pt>
                <c:pt idx="209">
                  <c:v>261.83212904438</c:v>
                </c:pt>
                <c:pt idx="210">
                  <c:v>269.2585848240663</c:v>
                </c:pt>
                <c:pt idx="211">
                  <c:v>275.07564467099598</c:v>
                </c:pt>
                <c:pt idx="212">
                  <c:v>278.39819741686688</c:v>
                </c:pt>
                <c:pt idx="213">
                  <c:v>276.11358857433129</c:v>
                </c:pt>
                <c:pt idx="214">
                  <c:v>273.49450350160373</c:v>
                </c:pt>
                <c:pt idx="215">
                  <c:v>282.37281274740997</c:v>
                </c:pt>
                <c:pt idx="216">
                  <c:v>293.8130614868046</c:v>
                </c:pt>
                <c:pt idx="217">
                  <c:v>303.79777493470965</c:v>
                </c:pt>
                <c:pt idx="218">
                  <c:v>301.47062952707938</c:v>
                </c:pt>
                <c:pt idx="219">
                  <c:v>301.01420427919754</c:v>
                </c:pt>
                <c:pt idx="220">
                  <c:v>297.923265141309</c:v>
                </c:pt>
                <c:pt idx="221">
                  <c:v>301.10204435342166</c:v>
                </c:pt>
                <c:pt idx="222">
                  <c:v>300.63219749717467</c:v>
                </c:pt>
                <c:pt idx="223">
                  <c:v>304.19379307987305</c:v>
                </c:pt>
                <c:pt idx="224">
                  <c:v>305.60934563594753</c:v>
                </c:pt>
                <c:pt idx="225">
                  <c:v>309.93068483264739</c:v>
                </c:pt>
                <c:pt idx="226">
                  <c:v>301.06172425040734</c:v>
                </c:pt>
                <c:pt idx="227">
                  <c:v>292.79753196372138</c:v>
                </c:pt>
                <c:pt idx="228">
                  <c:v>283.33255551422985</c:v>
                </c:pt>
                <c:pt idx="229">
                  <c:v>280.68818442938641</c:v>
                </c:pt>
                <c:pt idx="230">
                  <c:v>281.54516980495515</c:v>
                </c:pt>
                <c:pt idx="231">
                  <c:v>291.84444545919797</c:v>
                </c:pt>
                <c:pt idx="232">
                  <c:v>309.17376369740413</c:v>
                </c:pt>
                <c:pt idx="233">
                  <c:v>331.41946926314358</c:v>
                </c:pt>
                <c:pt idx="234">
                  <c:v>344.25454252983911</c:v>
                </c:pt>
                <c:pt idx="235">
                  <c:v>362.87180252921866</c:v>
                </c:pt>
                <c:pt idx="236">
                  <c:v>372.3078951721393</c:v>
                </c:pt>
                <c:pt idx="237">
                  <c:v>390.47901697699996</c:v>
                </c:pt>
                <c:pt idx="238">
                  <c:v>400.86531684471942</c:v>
                </c:pt>
                <c:pt idx="239">
                  <c:v>409.94064180749245</c:v>
                </c:pt>
                <c:pt idx="240">
                  <c:v>409.25541961416468</c:v>
                </c:pt>
              </c:numCache>
            </c:numRef>
          </c:val>
          <c:smooth val="1"/>
          <c:extLst>
            <c:ext xmlns:c16="http://schemas.microsoft.com/office/drawing/2014/chart" uri="{C3380CC4-5D6E-409C-BE32-E72D297353CC}">
              <c16:uniqueId val="{00000002-C738-C643-AB7C-F2E4E319D700}"/>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majorGridlines>
          <c:spPr>
            <a:ln w="9525">
              <a:solidFill>
                <a:srgbClr val="AB853F">
                  <a:alpha val="10000"/>
                </a:srgbClr>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72768"/>
        <c:crosses val="autoZero"/>
        <c:auto val="1"/>
        <c:lblAlgn val="ctr"/>
        <c:lblOffset val="100"/>
        <c:tickLblSkip val="60"/>
        <c:noMultiLvlLbl val="0"/>
      </c:catAx>
      <c:valAx>
        <c:axId val="48672768"/>
        <c:scaling>
          <c:orientation val="minMax"/>
          <c:max val="1200"/>
          <c:min val="-50"/>
        </c:scaling>
        <c:delete val="0"/>
        <c:axPos val="l"/>
        <c:majorGridlines>
          <c:spPr>
            <a:ln w="9525">
              <a:solidFill>
                <a:srgbClr val="CCCCCC"/>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50112"/>
        <c:crosses val="autoZero"/>
        <c:crossBetween val="between"/>
      </c:valAx>
    </c:plotArea>
    <c:plotVisOnly val="1"/>
    <c:dispBlanksAs val="zero"/>
    <c:showDLblsOverMax val="1"/>
  </c:chart>
  <c:spPr>
    <a:solidFill>
      <a:srgbClr val="FCF9EF"/>
    </a:solidFill>
    <a:ln w="9525">
      <a:noFill/>
      <a:prstDash val="solid"/>
    </a:ln>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ln>
              <a:prstDash val="solid"/>
            </a:ln>
          </c:spPr>
          <c:dPt>
            <c:idx val="0"/>
            <c:bubble3D val="0"/>
            <c:spPr>
              <a:solidFill>
                <a:srgbClr val="102D1A"/>
              </a:solidFill>
              <a:ln w="15875">
                <a:solidFill>
                  <a:srgbClr val="FFFFFF"/>
                </a:solidFill>
                <a:prstDash val="solid"/>
              </a:ln>
            </c:spPr>
            <c:extLst>
              <c:ext xmlns:c16="http://schemas.microsoft.com/office/drawing/2014/chart" uri="{C3380CC4-5D6E-409C-BE32-E72D297353CC}">
                <c16:uniqueId val="{00000001-30A3-7E4B-8891-043F82974D48}"/>
              </c:ext>
            </c:extLst>
          </c:dPt>
          <c:dPt>
            <c:idx val="1"/>
            <c:bubble3D val="0"/>
            <c:spPr>
              <a:solidFill>
                <a:srgbClr val="102D1A"/>
              </a:solidFill>
              <a:ln w="15875">
                <a:solidFill>
                  <a:srgbClr val="FFFFFF"/>
                </a:solidFill>
                <a:prstDash val="solid"/>
              </a:ln>
            </c:spPr>
            <c:extLst>
              <c:ext xmlns:c16="http://schemas.microsoft.com/office/drawing/2014/chart" uri="{C3380CC4-5D6E-409C-BE32-E72D297353CC}">
                <c16:uniqueId val="{00000003-30A3-7E4B-8891-043F82974D48}"/>
              </c:ext>
            </c:extLst>
          </c:dPt>
          <c:dPt>
            <c:idx val="2"/>
            <c:bubble3D val="0"/>
            <c:spPr>
              <a:solidFill>
                <a:srgbClr val="102D1A"/>
              </a:solidFill>
              <a:ln w="15875">
                <a:solidFill>
                  <a:srgbClr val="FFFFFF"/>
                </a:solidFill>
                <a:prstDash val="solid"/>
              </a:ln>
            </c:spPr>
            <c:extLst>
              <c:ext xmlns:c16="http://schemas.microsoft.com/office/drawing/2014/chart" uri="{C3380CC4-5D6E-409C-BE32-E72D297353CC}">
                <c16:uniqueId val="{00000005-30A3-7E4B-8891-043F82974D48}"/>
              </c:ext>
            </c:extLst>
          </c:dPt>
          <c:dPt>
            <c:idx val="3"/>
            <c:bubble3D val="0"/>
            <c:spPr>
              <a:solidFill>
                <a:srgbClr val="A8823F"/>
              </a:solidFill>
              <a:ln w="15875">
                <a:solidFill>
                  <a:srgbClr val="FFFFFF"/>
                </a:solidFill>
                <a:prstDash val="solid"/>
              </a:ln>
            </c:spPr>
            <c:extLst>
              <c:ext xmlns:c16="http://schemas.microsoft.com/office/drawing/2014/chart" uri="{C3380CC4-5D6E-409C-BE32-E72D297353CC}">
                <c16:uniqueId val="{00000007-30A3-7E4B-8891-043F82974D48}"/>
              </c:ext>
            </c:extLst>
          </c:dPt>
          <c:dPt>
            <c:idx val="4"/>
            <c:bubble3D val="0"/>
            <c:spPr>
              <a:solidFill>
                <a:srgbClr val="A8823F"/>
              </a:solidFill>
              <a:ln w="15875">
                <a:solidFill>
                  <a:srgbClr val="FFFFFF"/>
                </a:solidFill>
                <a:prstDash val="solid"/>
              </a:ln>
            </c:spPr>
            <c:extLst>
              <c:ext xmlns:c16="http://schemas.microsoft.com/office/drawing/2014/chart" uri="{C3380CC4-5D6E-409C-BE32-E72D297353CC}">
                <c16:uniqueId val="{00000009-30A3-7E4B-8891-043F82974D48}"/>
              </c:ext>
            </c:extLst>
          </c:dPt>
          <c:dPt>
            <c:idx val="5"/>
            <c:bubble3D val="0"/>
            <c:spPr>
              <a:solidFill>
                <a:srgbClr val="B3A792"/>
              </a:solidFill>
              <a:ln w="15875">
                <a:solidFill>
                  <a:srgbClr val="FFFFFF"/>
                </a:solidFill>
                <a:prstDash val="solid"/>
              </a:ln>
            </c:spPr>
            <c:extLst>
              <c:ext xmlns:c16="http://schemas.microsoft.com/office/drawing/2014/chart" uri="{C3380CC4-5D6E-409C-BE32-E72D297353CC}">
                <c16:uniqueId val="{0000000B-30A3-7E4B-8891-043F82974D48}"/>
              </c:ext>
            </c:extLst>
          </c:dPt>
          <c:dPt>
            <c:idx val="6"/>
            <c:bubble3D val="0"/>
            <c:spPr>
              <a:solidFill>
                <a:srgbClr val="B3A792"/>
              </a:solidFill>
              <a:ln w="15875">
                <a:solidFill>
                  <a:srgbClr val="FFFFFF"/>
                </a:solidFill>
                <a:prstDash val="solid"/>
              </a:ln>
            </c:spPr>
            <c:extLst>
              <c:ext xmlns:c16="http://schemas.microsoft.com/office/drawing/2014/chart" uri="{C3380CC4-5D6E-409C-BE32-E72D297353CC}">
                <c16:uniqueId val="{0000000D-30A3-7E4B-8891-043F82974D48}"/>
              </c:ext>
            </c:extLst>
          </c:dPt>
          <c:dPt>
            <c:idx val="7"/>
            <c:bubble3D val="0"/>
            <c:spPr>
              <a:solidFill>
                <a:srgbClr val="B3A792"/>
              </a:solidFill>
              <a:ln w="15875">
                <a:solidFill>
                  <a:srgbClr val="FFFFFF"/>
                </a:solidFill>
                <a:prstDash val="solid"/>
              </a:ln>
            </c:spPr>
            <c:extLst>
              <c:ext xmlns:c16="http://schemas.microsoft.com/office/drawing/2014/chart" uri="{C3380CC4-5D6E-409C-BE32-E72D297353CC}">
                <c16:uniqueId val="{0000000F-30A3-7E4B-8891-043F82974D48}"/>
              </c:ext>
            </c:extLst>
          </c:dPt>
          <c:dPt>
            <c:idx val="8"/>
            <c:bubble3D val="0"/>
            <c:spPr>
              <a:solidFill>
                <a:srgbClr val="183E26"/>
              </a:solidFill>
              <a:ln w="15875">
                <a:solidFill>
                  <a:srgbClr val="FFFFFF"/>
                </a:solidFill>
                <a:prstDash val="solid"/>
              </a:ln>
            </c:spPr>
            <c:extLst>
              <c:ext xmlns:c16="http://schemas.microsoft.com/office/drawing/2014/chart" uri="{C3380CC4-5D6E-409C-BE32-E72D297353CC}">
                <c16:uniqueId val="{00000011-30A3-7E4B-8891-043F82974D48}"/>
              </c:ext>
            </c:extLst>
          </c:dPt>
          <c:dLbls>
            <c:dLbl>
              <c:idx val="1"/>
              <c:layout>
                <c:manualLayout>
                  <c:x val="0.18184205445969356"/>
                  <c:y val="6.9681568036461194E-2"/>
                </c:manualLayout>
              </c:layout>
              <c:tx>
                <c:rich>
                  <a:bodyPr/>
                  <a:lstStyle/>
                  <a:p>
                    <a:pPr>
                      <a:defRPr sz="1050" b="1">
                        <a:solidFill>
                          <a:srgbClr val="1A1A1A"/>
                        </a:solidFill>
                        <a:latin typeface="Arial"/>
                      </a:defRPr>
                    </a:pPr>
                    <a:r>
                      <a:rPr lang="en-US" b="0" i="0">
                        <a:latin typeface="Jost Light" pitchFamily="2" charset="77"/>
                        <a:ea typeface="Jost Light" pitchFamily="2" charset="77"/>
                      </a:rPr>
                      <a:t>Exposition</a:t>
                    </a:r>
                    <a:r>
                      <a:rPr lang="en-US" b="0" i="0" baseline="0">
                        <a:latin typeface="Jost Light" pitchFamily="2" charset="77"/>
                        <a:ea typeface="Jost Light" pitchFamily="2" charset="77"/>
                      </a:rPr>
                      <a:t> actions</a:t>
                    </a:r>
                  </a:p>
                  <a:p>
                    <a:pPr>
                      <a:defRPr sz="1050" b="1">
                        <a:solidFill>
                          <a:srgbClr val="1A1A1A"/>
                        </a:solidFill>
                        <a:latin typeface="Arial"/>
                      </a:defRPr>
                    </a:pPr>
                    <a:r>
                      <a:rPr lang="en-US" sz="1400" b="0" i="0" baseline="0">
                        <a:latin typeface="Jost Medium" pitchFamily="2" charset="77"/>
                        <a:ea typeface="Jost Medium" pitchFamily="2" charset="77"/>
                      </a:rPr>
                      <a:t>69%</a:t>
                    </a:r>
                    <a:endParaRPr lang="en-US" sz="1400" b="0" i="0">
                      <a:latin typeface="Jost Medium" pitchFamily="2" charset="77"/>
                      <a:ea typeface="Jost Medium" pitchFamily="2" charset="77"/>
                    </a:endParaRPr>
                  </a:p>
                </c:rich>
              </c:tx>
              <c:spPr/>
              <c:showLegendKey val="0"/>
              <c:showVal val="0"/>
              <c:showCatName val="1"/>
              <c:showSerName val="0"/>
              <c:showPercent val="0"/>
              <c:showBubbleSize val="0"/>
              <c:extLst>
                <c:ext xmlns:c15="http://schemas.microsoft.com/office/drawing/2012/chart" uri="{CE6537A1-D6FC-4f65-9D91-7224C49458BB}">
                  <c15:layout>
                    <c:manualLayout>
                      <c:w val="0.24906176357084842"/>
                      <c:h val="0.13015534521900052"/>
                    </c:manualLayout>
                  </c15:layout>
                  <c15:showDataLabelsRange val="0"/>
                </c:ext>
                <c:ext xmlns:c16="http://schemas.microsoft.com/office/drawing/2014/chart" uri="{C3380CC4-5D6E-409C-BE32-E72D297353CC}">
                  <c16:uniqueId val="{00000003-30A3-7E4B-8891-043F82974D48}"/>
                </c:ext>
              </c:extLst>
            </c:dLbl>
            <c:dLbl>
              <c:idx val="6"/>
              <c:layout>
                <c:manualLayout>
                  <c:x val="-0.19050119991015529"/>
                  <c:y val="-1.9909019438988929E-2"/>
                </c:manualLayout>
              </c:layout>
              <c:tx>
                <c:rich>
                  <a:bodyPr/>
                  <a:lstStyle/>
                  <a:p>
                    <a:pPr>
                      <a:defRPr sz="1050" b="1">
                        <a:solidFill>
                          <a:srgbClr val="9C8E74"/>
                        </a:solidFill>
                        <a:latin typeface="Arial"/>
                      </a:defRPr>
                    </a:pPr>
                    <a:r>
                      <a:rPr lang="en-US" b="0" i="0">
                        <a:latin typeface="Jost Light" pitchFamily="2" charset="77"/>
                        <a:ea typeface="Jost Light" pitchFamily="2" charset="77"/>
                      </a:rPr>
                      <a:t>Exposition mixte</a:t>
                    </a:r>
                  </a:p>
                  <a:p>
                    <a:pPr>
                      <a:defRPr sz="1050" b="1">
                        <a:solidFill>
                          <a:srgbClr val="9C8E74"/>
                        </a:solidFill>
                        <a:latin typeface="Arial"/>
                      </a:defRPr>
                    </a:pPr>
                    <a:r>
                      <a:rPr lang="en-US" sz="1400" b="0" i="0">
                        <a:latin typeface="Jost Medium" pitchFamily="2" charset="77"/>
                        <a:ea typeface="Jost Medium" pitchFamily="2" charset="77"/>
                      </a:rPr>
                      <a:t>31%</a:t>
                    </a:r>
                  </a:p>
                </c:rich>
              </c:tx>
              <c:spPr/>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30A3-7E4B-8891-043F82974D4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Données!$R$3:$R$11</c:f>
              <c:strCache>
                <c:ptCount val="7"/>
                <c:pt idx="1">
                  <c:v>Exposition actions
69%</c:v>
                </c:pt>
                <c:pt idx="6">
                  <c:v>Exposition mixte
31%</c:v>
                </c:pt>
              </c:strCache>
            </c:strRef>
          </c:cat>
          <c:val>
            <c:numRef>
              <c:f>Données!$H$3:$H$11</c:f>
              <c:numCache>
                <c:formatCode>0%</c:formatCode>
                <c:ptCount val="9"/>
                <c:pt idx="0">
                  <c:v>0.25</c:v>
                </c:pt>
                <c:pt idx="1">
                  <c:v>0.27</c:v>
                </c:pt>
                <c:pt idx="2">
                  <c:v>0.17</c:v>
                </c:pt>
                <c:pt idx="3">
                  <c:v>0</c:v>
                </c:pt>
                <c:pt idx="4">
                  <c:v>0</c:v>
                </c:pt>
                <c:pt idx="5">
                  <c:v>0.11</c:v>
                </c:pt>
                <c:pt idx="6">
                  <c:v>0.2</c:v>
                </c:pt>
                <c:pt idx="7">
                  <c:v>0</c:v>
                </c:pt>
                <c:pt idx="8">
                  <c:v>0</c:v>
                </c:pt>
              </c:numCache>
            </c:numRef>
          </c:val>
          <c:extLst>
            <c:ext xmlns:c16="http://schemas.microsoft.com/office/drawing/2014/chart" uri="{C3380CC4-5D6E-409C-BE32-E72D297353CC}">
              <c16:uniqueId val="{00000012-30A3-7E4B-8891-043F82974D48}"/>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1"/>
  </c:chart>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Optimiste</c:v>
          </c:tx>
          <c:spPr>
            <a:ln w="12700">
              <a:solidFill>
                <a:srgbClr val="144629"/>
              </a:solidFill>
            </a:ln>
          </c:spPr>
          <c:marker>
            <c:symbol val="none"/>
          </c:marker>
          <c:cat>
            <c:numRef>
              <c:f>'13.4%'!$B$5:$B$245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'13.4%'!$D$5:$D$245</c:f>
              <c:numCache>
                <c:formatCode>0.0</c:formatCode>
                <c:ptCount val="241"/>
                <c:pt idx="0">
                  <c:v>100</c:v>
                </c:pt>
                <c:pt idx="1">
                  <c:v>107.29666239123799</c:v>
                </c:pt>
                <c:pt idx="2">
                  <c:v>112.70873743553388</c:v>
                </c:pt>
                <c:pt idx="3">
                  <c:v>113.83599708435919</c:v>
                </c:pt>
                <c:pt idx="4">
                  <c:v>112.09381367775846</c:v>
                </c:pt>
                <c:pt idx="5">
                  <c:v>112.84272671131858</c:v>
                </c:pt>
                <c:pt idx="6">
                  <c:v>114.82431368208479</c:v>
                </c:pt>
                <c:pt idx="7">
                  <c:v>120.46943858629395</c:v>
                </c:pt>
                <c:pt idx="8">
                  <c:v>123.60569144570873</c:v>
                </c:pt>
                <c:pt idx="9">
                  <c:v>128.65205718811978</c:v>
                </c:pt>
                <c:pt idx="10">
                  <c:v>127.91159411830887</c:v>
                </c:pt>
                <c:pt idx="11">
                  <c:v>133.29609121736564</c:v>
                </c:pt>
                <c:pt idx="12">
                  <c:v>134.90750446107717</c:v>
                </c:pt>
                <c:pt idx="13">
                  <c:v>139.32891950776738</c:v>
                </c:pt>
                <c:pt idx="14">
                  <c:v>138.4188793324783</c:v>
                </c:pt>
                <c:pt idx="15">
                  <c:v>140.83229491798051</c:v>
                </c:pt>
                <c:pt idx="16">
                  <c:v>142.45276746706222</c:v>
                </c:pt>
                <c:pt idx="17">
                  <c:v>143.18818710462045</c:v>
                </c:pt>
                <c:pt idx="18">
                  <c:v>141.6603541323193</c:v>
                </c:pt>
                <c:pt idx="19">
                  <c:v>142.08121349961306</c:v>
                </c:pt>
                <c:pt idx="20">
                  <c:v>144.66211197744633</c:v>
                </c:pt>
                <c:pt idx="21">
                  <c:v>141.9513988393154</c:v>
                </c:pt>
                <c:pt idx="22">
                  <c:v>143.51904408319459</c:v>
                </c:pt>
                <c:pt idx="23">
                  <c:v>141.43763690669212</c:v>
                </c:pt>
                <c:pt idx="24">
                  <c:v>148.16495223206906</c:v>
                </c:pt>
                <c:pt idx="25">
                  <c:v>150.5931748540475</c:v>
                </c:pt>
                <c:pt idx="26">
                  <c:v>153.23874182675002</c:v>
                </c:pt>
                <c:pt idx="27">
                  <c:v>151.36506432898992</c:v>
                </c:pt>
                <c:pt idx="28">
                  <c:v>151.5364856253816</c:v>
                </c:pt>
                <c:pt idx="29">
                  <c:v>151.21359268001189</c:v>
                </c:pt>
                <c:pt idx="30">
                  <c:v>153.91898857823335</c:v>
                </c:pt>
                <c:pt idx="31">
                  <c:v>160.72663693473086</c:v>
                </c:pt>
                <c:pt idx="32">
                  <c:v>170.29280707149124</c:v>
                </c:pt>
                <c:pt idx="33">
                  <c:v>177.9923557949937</c:v>
                </c:pt>
                <c:pt idx="34">
                  <c:v>184.41605249203124</c:v>
                </c:pt>
                <c:pt idx="35">
                  <c:v>182.95839783073379</c:v>
                </c:pt>
                <c:pt idx="36">
                  <c:v>189.93108936914021</c:v>
                </c:pt>
                <c:pt idx="37">
                  <c:v>191.36013673188947</c:v>
                </c:pt>
                <c:pt idx="38">
                  <c:v>198.21785709504667</c:v>
                </c:pt>
                <c:pt idx="39">
                  <c:v>199.26412672556046</c:v>
                </c:pt>
                <c:pt idx="40">
                  <c:v>202.98179690256043</c:v>
                </c:pt>
                <c:pt idx="41">
                  <c:v>208.56811966350429</c:v>
                </c:pt>
                <c:pt idx="42">
                  <c:v>210.63313271918724</c:v>
                </c:pt>
                <c:pt idx="43">
                  <c:v>207.29180628346387</c:v>
                </c:pt>
                <c:pt idx="44">
                  <c:v>204.69506764834671</c:v>
                </c:pt>
                <c:pt idx="45">
                  <c:v>205.0050306312198</c:v>
                </c:pt>
                <c:pt idx="46">
                  <c:v>209.98340684128033</c:v>
                </c:pt>
                <c:pt idx="47">
                  <c:v>215.80448903457074</c:v>
                </c:pt>
                <c:pt idx="48">
                  <c:v>220.30536141956418</c:v>
                </c:pt>
                <c:pt idx="49">
                  <c:v>225.85178390199226</c:v>
                </c:pt>
                <c:pt idx="50">
                  <c:v>235.63455372766012</c:v>
                </c:pt>
                <c:pt idx="51">
                  <c:v>247.09514264045632</c:v>
                </c:pt>
                <c:pt idx="52">
                  <c:v>258.86382778267892</c:v>
                </c:pt>
                <c:pt idx="53">
                  <c:v>265.12802555306291</c:v>
                </c:pt>
                <c:pt idx="54">
                  <c:v>265.86806808845557</c:v>
                </c:pt>
                <c:pt idx="55">
                  <c:v>268.12070624698595</c:v>
                </c:pt>
                <c:pt idx="56">
                  <c:v>271.67691473592788</c:v>
                </c:pt>
                <c:pt idx="57">
                  <c:v>278.15173869302544</c:v>
                </c:pt>
                <c:pt idx="58">
                  <c:v>276.20880722513004</c:v>
                </c:pt>
                <c:pt idx="59">
                  <c:v>270.82929684234989</c:v>
                </c:pt>
                <c:pt idx="60">
                  <c:v>261.71187692721185</c:v>
                </c:pt>
                <c:pt idx="61">
                  <c:v>251.09855354637008</c:v>
                </c:pt>
                <c:pt idx="62">
                  <c:v>242.2821516795793</c:v>
                </c:pt>
                <c:pt idx="63">
                  <c:v>236.99604966576007</c:v>
                </c:pt>
                <c:pt idx="64">
                  <c:v>241.5454550079854</c:v>
                </c:pt>
                <c:pt idx="65">
                  <c:v>251.59117465868752</c:v>
                </c:pt>
                <c:pt idx="66">
                  <c:v>264.85867068216669</c:v>
                </c:pt>
                <c:pt idx="67">
                  <c:v>268.49738198027603</c:v>
                </c:pt>
                <c:pt idx="68">
                  <c:v>269.37024950919545</c:v>
                </c:pt>
                <c:pt idx="69">
                  <c:v>267.06917992431278</c:v>
                </c:pt>
                <c:pt idx="70">
                  <c:v>268.07672278691462</c:v>
                </c:pt>
                <c:pt idx="71">
                  <c:v>266.81621099229898</c:v>
                </c:pt>
                <c:pt idx="72">
                  <c:v>278.04410001997206</c:v>
                </c:pt>
                <c:pt idx="73">
                  <c:v>289.71554383851839</c:v>
                </c:pt>
                <c:pt idx="74">
                  <c:v>292.7284688795479</c:v>
                </c:pt>
                <c:pt idx="75">
                  <c:v>282.77276479550574</c:v>
                </c:pt>
                <c:pt idx="76">
                  <c:v>276.48773597247055</c:v>
                </c:pt>
                <c:pt idx="77">
                  <c:v>287.60561695516958</c:v>
                </c:pt>
                <c:pt idx="78">
                  <c:v>310.31291733599977</c:v>
                </c:pt>
                <c:pt idx="79">
                  <c:v>324.52641447941352</c:v>
                </c:pt>
                <c:pt idx="80">
                  <c:v>339.93757214991228</c:v>
                </c:pt>
                <c:pt idx="81">
                  <c:v>346.16956778390647</c:v>
                </c:pt>
                <c:pt idx="82">
                  <c:v>361.94187092646126</c:v>
                </c:pt>
                <c:pt idx="83">
                  <c:v>358.12642621794885</c:v>
                </c:pt>
                <c:pt idx="84">
                  <c:v>353.95695885890984</c:v>
                </c:pt>
                <c:pt idx="85">
                  <c:v>352.09142036102355</c:v>
                </c:pt>
                <c:pt idx="86">
                  <c:v>358.87671738114886</c:v>
                </c:pt>
                <c:pt idx="87">
                  <c:v>366.87394259259497</c:v>
                </c:pt>
                <c:pt idx="88">
                  <c:v>378.39532600571465</c:v>
                </c:pt>
                <c:pt idx="89">
                  <c:v>385.21327839826125</c:v>
                </c:pt>
                <c:pt idx="90">
                  <c:v>387.93876743832629</c:v>
                </c:pt>
                <c:pt idx="91">
                  <c:v>383.64032408489027</c:v>
                </c:pt>
                <c:pt idx="92">
                  <c:v>366.26823892536498</c:v>
                </c:pt>
                <c:pt idx="93">
                  <c:v>348.91386953933528</c:v>
                </c:pt>
                <c:pt idx="94">
                  <c:v>340.72159997611669</c:v>
                </c:pt>
                <c:pt idx="95">
                  <c:v>348.10822990911919</c:v>
                </c:pt>
                <c:pt idx="96">
                  <c:v>357.20649893099676</c:v>
                </c:pt>
                <c:pt idx="97">
                  <c:v>363.55592836390946</c:v>
                </c:pt>
                <c:pt idx="98">
                  <c:v>360.49841487086843</c:v>
                </c:pt>
                <c:pt idx="99">
                  <c:v>353.33535366861622</c:v>
                </c:pt>
                <c:pt idx="100">
                  <c:v>361.63845635387338</c:v>
                </c:pt>
                <c:pt idx="101">
                  <c:v>365.86805349951862</c:v>
                </c:pt>
                <c:pt idx="102">
                  <c:v>380.2546056066999</c:v>
                </c:pt>
                <c:pt idx="103">
                  <c:v>397.66160007911714</c:v>
                </c:pt>
                <c:pt idx="104">
                  <c:v>406.3568519780307</c:v>
                </c:pt>
                <c:pt idx="105">
                  <c:v>404.05219985337425</c:v>
                </c:pt>
                <c:pt idx="106">
                  <c:v>411.52614233008785</c:v>
                </c:pt>
                <c:pt idx="107">
                  <c:v>417.51457616750827</c:v>
                </c:pt>
                <c:pt idx="108">
                  <c:v>435.75330862657592</c:v>
                </c:pt>
                <c:pt idx="109">
                  <c:v>432.78061789965989</c:v>
                </c:pt>
                <c:pt idx="110">
                  <c:v>423.17264203853227</c:v>
                </c:pt>
                <c:pt idx="111">
                  <c:v>418.84380036970742</c:v>
                </c:pt>
                <c:pt idx="112">
                  <c:v>427.65479013131909</c:v>
                </c:pt>
                <c:pt idx="113">
                  <c:v>442.51699195862352</c:v>
                </c:pt>
                <c:pt idx="114">
                  <c:v>459.82312223182839</c:v>
                </c:pt>
                <c:pt idx="115">
                  <c:v>469.49576709526775</c:v>
                </c:pt>
                <c:pt idx="116">
                  <c:v>481.57427933058335</c:v>
                </c:pt>
                <c:pt idx="117">
                  <c:v>496.83904653266785</c:v>
                </c:pt>
                <c:pt idx="118">
                  <c:v>495.75317676617249</c:v>
                </c:pt>
                <c:pt idx="119">
                  <c:v>491.91944712170789</c:v>
                </c:pt>
                <c:pt idx="120">
                  <c:v>471.10064918005992</c:v>
                </c:pt>
                <c:pt idx="121">
                  <c:v>462.21508525571517</c:v>
                </c:pt>
                <c:pt idx="122">
                  <c:v>453.31734342874665</c:v>
                </c:pt>
                <c:pt idx="123">
                  <c:v>456.00688766966141</c:v>
                </c:pt>
                <c:pt idx="124">
                  <c:v>475.65594952235313</c:v>
                </c:pt>
                <c:pt idx="125">
                  <c:v>491.44962332914929</c:v>
                </c:pt>
                <c:pt idx="126">
                  <c:v>516.8659931594101</c:v>
                </c:pt>
                <c:pt idx="127">
                  <c:v>539.91938108414968</c:v>
                </c:pt>
                <c:pt idx="128">
                  <c:v>560.75873237380267</c:v>
                </c:pt>
                <c:pt idx="129">
                  <c:v>574.0351826805985</c:v>
                </c:pt>
                <c:pt idx="130">
                  <c:v>589.2797596111908</c:v>
                </c:pt>
                <c:pt idx="131">
                  <c:v>607.09169411350808</c:v>
                </c:pt>
                <c:pt idx="132">
                  <c:v>613.23721165652239</c:v>
                </c:pt>
                <c:pt idx="133">
                  <c:v>603.94602547786167</c:v>
                </c:pt>
                <c:pt idx="134">
                  <c:v>589.64576959208603</c:v>
                </c:pt>
                <c:pt idx="135">
                  <c:v>582.26146293744159</c:v>
                </c:pt>
                <c:pt idx="136">
                  <c:v>636.49321147619855</c:v>
                </c:pt>
                <c:pt idx="137">
                  <c:v>660.7246905710673</c:v>
                </c:pt>
                <c:pt idx="138">
                  <c:v>649.59645143625141</c:v>
                </c:pt>
                <c:pt idx="139">
                  <c:v>631.41957568466125</c:v>
                </c:pt>
                <c:pt idx="140">
                  <c:v>619.32771584737407</c:v>
                </c:pt>
                <c:pt idx="141">
                  <c:v>622.23434955923301</c:v>
                </c:pt>
                <c:pt idx="142">
                  <c:v>645.10619010064943</c:v>
                </c:pt>
                <c:pt idx="143">
                  <c:v>668.52652022974337</c:v>
                </c:pt>
                <c:pt idx="144">
                  <c:v>681.17190446563495</c:v>
                </c:pt>
                <c:pt idx="145">
                  <c:v>699.29871510180794</c:v>
                </c:pt>
                <c:pt idx="146">
                  <c:v>688.28844393221584</c:v>
                </c:pt>
                <c:pt idx="147">
                  <c:v>696.77068952633613</c:v>
                </c:pt>
                <c:pt idx="148">
                  <c:v>745.94012639923687</c:v>
                </c:pt>
                <c:pt idx="149">
                  <c:v>794.10899249859244</c:v>
                </c:pt>
                <c:pt idx="150">
                  <c:v>826.95923272294021</c:v>
                </c:pt>
                <c:pt idx="151">
                  <c:v>841.4568291735103</c:v>
                </c:pt>
                <c:pt idx="152">
                  <c:v>846.70264224548544</c:v>
                </c:pt>
                <c:pt idx="153">
                  <c:v>852.3398632594326</c:v>
                </c:pt>
                <c:pt idx="154">
                  <c:v>895.17638869603911</c:v>
                </c:pt>
                <c:pt idx="155">
                  <c:v>940.65819680848927</c:v>
                </c:pt>
                <c:pt idx="156">
                  <c:v>955.5880404818264</c:v>
                </c:pt>
                <c:pt idx="157">
                  <c:v>927.74065432657073</c:v>
                </c:pt>
                <c:pt idx="158">
                  <c:v>943.04824656298922</c:v>
                </c:pt>
                <c:pt idx="159">
                  <c:v>1000.7799251798484</c:v>
                </c:pt>
                <c:pt idx="160">
                  <c:v>1037.2058732291191</c:v>
                </c:pt>
                <c:pt idx="161">
                  <c:v>1003.2744848594363</c:v>
                </c:pt>
                <c:pt idx="162">
                  <c:v>962.52185831338193</c:v>
                </c:pt>
                <c:pt idx="163">
                  <c:v>987.49435793419229</c:v>
                </c:pt>
                <c:pt idx="164">
                  <c:v>1041.6588778200103</c:v>
                </c:pt>
                <c:pt idx="165">
                  <c:v>1056.4183100801679</c:v>
                </c:pt>
                <c:pt idx="166">
                  <c:v>1054.6556099124202</c:v>
                </c:pt>
                <c:pt idx="167">
                  <c:v>1042.1501022679993</c:v>
                </c:pt>
                <c:pt idx="168">
                  <c:v>1031.1161219151281</c:v>
                </c:pt>
                <c:pt idx="169">
                  <c:v>972.57028784114959</c:v>
                </c:pt>
                <c:pt idx="170">
                  <c:v>906.03257446715463</c:v>
                </c:pt>
                <c:pt idx="171">
                  <c:v>885.54206788575539</c:v>
                </c:pt>
                <c:pt idx="172">
                  <c:v>897.65850751082485</c:v>
                </c:pt>
                <c:pt idx="173">
                  <c:v>909.3821548577497</c:v>
                </c:pt>
                <c:pt idx="174">
                  <c:v>934.23606755965989</c:v>
                </c:pt>
                <c:pt idx="175">
                  <c:v>960.84718358250427</c:v>
                </c:pt>
                <c:pt idx="176">
                  <c:v>1022.8309470354716</c:v>
                </c:pt>
                <c:pt idx="177">
                  <c:v>1032.4560267437896</c:v>
                </c:pt>
                <c:pt idx="178">
                  <c:v>1055.4067277014908</c:v>
                </c:pt>
                <c:pt idx="179">
                  <c:v>1091.9113158156395</c:v>
                </c:pt>
                <c:pt idx="180">
                  <c:v>1194.7399454831477</c:v>
                </c:pt>
                <c:pt idx="181">
                  <c:v>1282.6584529069967</c:v>
                </c:pt>
                <c:pt idx="182">
                  <c:v>1302.613026073132</c:v>
                </c:pt>
                <c:pt idx="183">
                  <c:v>1260.8465002314533</c:v>
                </c:pt>
                <c:pt idx="184">
                  <c:v>1189.5903954545242</c:v>
                </c:pt>
                <c:pt idx="185">
                  <c:v>1159.3016361465641</c:v>
                </c:pt>
                <c:pt idx="186">
                  <c:v>1149.5261754060914</c:v>
                </c:pt>
                <c:pt idx="187">
                  <c:v>1170.490372332486</c:v>
                </c:pt>
                <c:pt idx="188">
                  <c:v>1188.9361469777957</c:v>
                </c:pt>
                <c:pt idx="189">
                  <c:v>1169.8155945657338</c:v>
                </c:pt>
                <c:pt idx="190">
                  <c:v>1173.1148629292518</c:v>
                </c:pt>
                <c:pt idx="191">
                  <c:v>1192.3343644415856</c:v>
                </c:pt>
                <c:pt idx="192">
                  <c:v>1227.8583448587228</c:v>
                </c:pt>
                <c:pt idx="193">
                  <c:v>1265.1336723340833</c:v>
                </c:pt>
                <c:pt idx="194">
                  <c:v>1284.0508253829953</c:v>
                </c:pt>
                <c:pt idx="195">
                  <c:v>1294.2277629861469</c:v>
                </c:pt>
                <c:pt idx="196">
                  <c:v>1304.1975429467489</c:v>
                </c:pt>
                <c:pt idx="197">
                  <c:v>1283.1618655594066</c:v>
                </c:pt>
                <c:pt idx="198">
                  <c:v>1302.2905380581199</c:v>
                </c:pt>
                <c:pt idx="199">
                  <c:v>1345.3065146269853</c:v>
                </c:pt>
                <c:pt idx="200">
                  <c:v>1388.8869945201006</c:v>
                </c:pt>
                <c:pt idx="201">
                  <c:v>1425.5808448156001</c:v>
                </c:pt>
                <c:pt idx="202">
                  <c:v>1448.8191318399208</c:v>
                </c:pt>
                <c:pt idx="203">
                  <c:v>1397.0940628380479</c:v>
                </c:pt>
                <c:pt idx="204">
                  <c:v>1411.5473869520265</c:v>
                </c:pt>
                <c:pt idx="205">
                  <c:v>1502.1022261853268</c:v>
                </c:pt>
                <c:pt idx="206">
                  <c:v>1700.5172055721443</c:v>
                </c:pt>
                <c:pt idx="207">
                  <c:v>1830.7527257225508</c:v>
                </c:pt>
                <c:pt idx="208">
                  <c:v>1892.9785828040353</c:v>
                </c:pt>
                <c:pt idx="209">
                  <c:v>1820.1456735200522</c:v>
                </c:pt>
                <c:pt idx="210">
                  <c:v>1818.4480550533442</c:v>
                </c:pt>
                <c:pt idx="211">
                  <c:v>1859.2462122604697</c:v>
                </c:pt>
                <c:pt idx="212">
                  <c:v>1915.2119590843665</c:v>
                </c:pt>
                <c:pt idx="213">
                  <c:v>1878.390754823123</c:v>
                </c:pt>
                <c:pt idx="214">
                  <c:v>1847.1501160897799</c:v>
                </c:pt>
                <c:pt idx="215">
                  <c:v>1859.344315006417</c:v>
                </c:pt>
                <c:pt idx="216">
                  <c:v>1947.066146214813</c:v>
                </c:pt>
                <c:pt idx="217">
                  <c:v>2012.6656487038192</c:v>
                </c:pt>
                <c:pt idx="218">
                  <c:v>2027.6615100593931</c:v>
                </c:pt>
                <c:pt idx="219">
                  <c:v>2045.3501159203383</c:v>
                </c:pt>
                <c:pt idx="220">
                  <c:v>2090.2643724004001</c:v>
                </c:pt>
                <c:pt idx="221">
                  <c:v>2167.7385310705758</c:v>
                </c:pt>
                <c:pt idx="222">
                  <c:v>2177.1669176319092</c:v>
                </c:pt>
                <c:pt idx="223">
                  <c:v>2134.2967224358754</c:v>
                </c:pt>
                <c:pt idx="224">
                  <c:v>2089.2799684506517</c:v>
                </c:pt>
                <c:pt idx="225">
                  <c:v>2100.9298318429046</c:v>
                </c:pt>
                <c:pt idx="226">
                  <c:v>2292.7864429288911</c:v>
                </c:pt>
                <c:pt idx="227">
                  <c:v>2221.6748303292311</c:v>
                </c:pt>
                <c:pt idx="228">
                  <c:v>2245.9694388035641</c:v>
                </c:pt>
                <c:pt idx="229">
                  <c:v>2257.7979101445844</c:v>
                </c:pt>
                <c:pt idx="230">
                  <c:v>2304.0573443530338</c:v>
                </c:pt>
                <c:pt idx="231">
                  <c:v>2278.8833142087847</c:v>
                </c:pt>
                <c:pt idx="232">
                  <c:v>2163.8677566215333</c:v>
                </c:pt>
                <c:pt idx="233">
                  <c:v>2180.0476662040637</c:v>
                </c:pt>
                <c:pt idx="234">
                  <c:v>2251.8294084684667</c:v>
                </c:pt>
                <c:pt idx="235">
                  <c:v>2268.4505028627545</c:v>
                </c:pt>
                <c:pt idx="236">
                  <c:v>2246.4700081947958</c:v>
                </c:pt>
                <c:pt idx="237">
                  <c:v>2246.1728858481797</c:v>
                </c:pt>
                <c:pt idx="238">
                  <c:v>2258.9207962616874</c:v>
                </c:pt>
                <c:pt idx="239">
                  <c:v>2293.51355455558</c:v>
                </c:pt>
                <c:pt idx="240">
                  <c:v>2390.8494712667753</c:v>
                </c:pt>
              </c:numCache>
            </c:numRef>
          </c:val>
          <c:smooth val="1"/>
          <c:extLst>
            <c:ext xmlns:c16="http://schemas.microsoft.com/office/drawing/2014/chart" uri="{C3380CC4-5D6E-409C-BE32-E72D297353CC}">
              <c16:uniqueId val="{00000000-88E6-4E4A-80FC-51977FE4EAD0}"/>
            </c:ext>
          </c:extLst>
        </c:ser>
        <c:ser>
          <c:idx val="1"/>
          <c:order val="1"/>
          <c:tx>
            <c:v>Médian</c:v>
          </c:tx>
          <c:spPr>
            <a:ln w="12700">
              <a:solidFill>
                <a:srgbClr val="AB853F"/>
              </a:solidFill>
            </a:ln>
          </c:spPr>
          <c:marker>
            <c:symbol val="none"/>
          </c:marker>
          <c:cat>
            <c:numRef>
              <c:f>'13.4%'!$B$5:$B$245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'13.4%'!$H$5:$H$245</c:f>
              <c:numCache>
                <c:formatCode>0.0</c:formatCode>
                <c:ptCount val="241"/>
                <c:pt idx="0">
                  <c:v>100</c:v>
                </c:pt>
                <c:pt idx="1">
                  <c:v>101.34253381783604</c:v>
                </c:pt>
                <c:pt idx="2">
                  <c:v>97.679831365003622</c:v>
                </c:pt>
                <c:pt idx="3">
                  <c:v>94.288840094380575</c:v>
                </c:pt>
                <c:pt idx="4">
                  <c:v>95.742063704234937</c:v>
                </c:pt>
                <c:pt idx="5">
                  <c:v>103.49421157016157</c:v>
                </c:pt>
                <c:pt idx="6">
                  <c:v>112.69022320513567</c:v>
                </c:pt>
                <c:pt idx="7">
                  <c:v>117.62264004351154</c:v>
                </c:pt>
                <c:pt idx="8">
                  <c:v>118.81569833273306</c:v>
                </c:pt>
                <c:pt idx="9">
                  <c:v>116.55179515494436</c:v>
                </c:pt>
                <c:pt idx="10">
                  <c:v>115.42825932593837</c:v>
                </c:pt>
                <c:pt idx="11">
                  <c:v>116.15731390327817</c:v>
                </c:pt>
                <c:pt idx="12">
                  <c:v>116.26648851493496</c:v>
                </c:pt>
                <c:pt idx="13">
                  <c:v>115.50891563188804</c:v>
                </c:pt>
                <c:pt idx="14">
                  <c:v>115.24246692565578</c:v>
                </c:pt>
                <c:pt idx="15">
                  <c:v>115.63296884661075</c:v>
                </c:pt>
                <c:pt idx="16">
                  <c:v>119.20195781120924</c:v>
                </c:pt>
                <c:pt idx="17">
                  <c:v>124.4576517798217</c:v>
                </c:pt>
                <c:pt idx="18">
                  <c:v>131.7735669217472</c:v>
                </c:pt>
                <c:pt idx="19">
                  <c:v>139.40987374226412</c:v>
                </c:pt>
                <c:pt idx="20">
                  <c:v>141.56075892107418</c:v>
                </c:pt>
                <c:pt idx="21">
                  <c:v>140.98458682837716</c:v>
                </c:pt>
                <c:pt idx="22">
                  <c:v>138.49496412987622</c:v>
                </c:pt>
                <c:pt idx="23">
                  <c:v>138.74209238466028</c:v>
                </c:pt>
                <c:pt idx="24">
                  <c:v>142.74700470102982</c:v>
                </c:pt>
                <c:pt idx="25">
                  <c:v>152.09312110595243</c:v>
                </c:pt>
                <c:pt idx="26">
                  <c:v>161.58920172949468</c:v>
                </c:pt>
                <c:pt idx="27">
                  <c:v>173.49899442605982</c:v>
                </c:pt>
                <c:pt idx="28">
                  <c:v>176.97900126346283</c:v>
                </c:pt>
                <c:pt idx="29">
                  <c:v>182.82914502429475</c:v>
                </c:pt>
                <c:pt idx="30">
                  <c:v>179.29218068739604</c:v>
                </c:pt>
                <c:pt idx="31">
                  <c:v>175.15802140379108</c:v>
                </c:pt>
                <c:pt idx="32">
                  <c:v>176.40348481235796</c:v>
                </c:pt>
                <c:pt idx="33">
                  <c:v>183.64267591815462</c:v>
                </c:pt>
                <c:pt idx="34">
                  <c:v>202.26436068531646</c:v>
                </c:pt>
                <c:pt idx="35">
                  <c:v>215.35811404052401</c:v>
                </c:pt>
                <c:pt idx="36">
                  <c:v>226.05601535426734</c:v>
                </c:pt>
                <c:pt idx="37">
                  <c:v>225.55657464926702</c:v>
                </c:pt>
                <c:pt idx="38">
                  <c:v>219.82568856531947</c:v>
                </c:pt>
                <c:pt idx="39">
                  <c:v>217.31645491316419</c:v>
                </c:pt>
                <c:pt idx="40">
                  <c:v>218.49165795487394</c:v>
                </c:pt>
                <c:pt idx="41">
                  <c:v>210.26288433086646</c:v>
                </c:pt>
                <c:pt idx="42">
                  <c:v>208.60451640456935</c:v>
                </c:pt>
                <c:pt idx="43">
                  <c:v>202.04767231199966</c:v>
                </c:pt>
                <c:pt idx="44">
                  <c:v>208.45729731362454</c:v>
                </c:pt>
                <c:pt idx="45">
                  <c:v>208.45749419507126</c:v>
                </c:pt>
                <c:pt idx="46">
                  <c:v>213.50849584405447</c:v>
                </c:pt>
                <c:pt idx="47">
                  <c:v>217.6023275672087</c:v>
                </c:pt>
                <c:pt idx="48">
                  <c:v>226.480572568767</c:v>
                </c:pt>
                <c:pt idx="49">
                  <c:v>241.47590286608423</c:v>
                </c:pt>
                <c:pt idx="50">
                  <c:v>261.48228863714633</c:v>
                </c:pt>
                <c:pt idx="51">
                  <c:v>266.82759293671666</c:v>
                </c:pt>
                <c:pt idx="52">
                  <c:v>270.06117524140882</c:v>
                </c:pt>
                <c:pt idx="53">
                  <c:v>277.052810729935</c:v>
                </c:pt>
                <c:pt idx="54">
                  <c:v>289.34289413318083</c:v>
                </c:pt>
                <c:pt idx="55">
                  <c:v>287.63759361134225</c:v>
                </c:pt>
                <c:pt idx="56">
                  <c:v>283.51898089969933</c:v>
                </c:pt>
                <c:pt idx="57">
                  <c:v>275.10111505858055</c:v>
                </c:pt>
                <c:pt idx="58">
                  <c:v>271.89236004241928</c:v>
                </c:pt>
                <c:pt idx="59">
                  <c:v>263.29214419791219</c:v>
                </c:pt>
                <c:pt idx="60">
                  <c:v>266.42492311779648</c:v>
                </c:pt>
                <c:pt idx="61">
                  <c:v>274.78766545946775</c:v>
                </c:pt>
                <c:pt idx="62">
                  <c:v>278.17920335518386</c:v>
                </c:pt>
                <c:pt idx="63">
                  <c:v>278.52465781035829</c:v>
                </c:pt>
                <c:pt idx="64">
                  <c:v>268.27539711577344</c:v>
                </c:pt>
                <c:pt idx="65">
                  <c:v>261.87770234288945</c:v>
                </c:pt>
                <c:pt idx="66">
                  <c:v>254.71255402726746</c:v>
                </c:pt>
                <c:pt idx="67">
                  <c:v>264.29196092122311</c:v>
                </c:pt>
                <c:pt idx="68">
                  <c:v>279.63547750490847</c:v>
                </c:pt>
                <c:pt idx="69">
                  <c:v>293.89881588143106</c:v>
                </c:pt>
                <c:pt idx="70">
                  <c:v>293.07071136404767</c:v>
                </c:pt>
                <c:pt idx="71">
                  <c:v>300.01916852014625</c:v>
                </c:pt>
                <c:pt idx="72">
                  <c:v>303.90529339385165</c:v>
                </c:pt>
                <c:pt idx="73">
                  <c:v>316.72436321129192</c:v>
                </c:pt>
                <c:pt idx="74">
                  <c:v>318.66981488367384</c:v>
                </c:pt>
                <c:pt idx="75">
                  <c:v>329.15905040489008</c:v>
                </c:pt>
                <c:pt idx="76">
                  <c:v>323.92384649436809</c:v>
                </c:pt>
                <c:pt idx="77">
                  <c:v>331.98535272541773</c:v>
                </c:pt>
                <c:pt idx="78">
                  <c:v>337.65160127851175</c:v>
                </c:pt>
                <c:pt idx="79">
                  <c:v>365.4399470049072</c:v>
                </c:pt>
                <c:pt idx="80">
                  <c:v>380.21881050940061</c:v>
                </c:pt>
                <c:pt idx="81">
                  <c:v>373.48884561960386</c:v>
                </c:pt>
                <c:pt idx="82">
                  <c:v>354.51833750457848</c:v>
                </c:pt>
                <c:pt idx="83">
                  <c:v>337.83721858248776</c:v>
                </c:pt>
                <c:pt idx="84">
                  <c:v>333.36588911237936</c:v>
                </c:pt>
                <c:pt idx="85">
                  <c:v>334.09357428141431</c:v>
                </c:pt>
                <c:pt idx="86">
                  <c:v>336.2298021827379</c:v>
                </c:pt>
                <c:pt idx="87">
                  <c:v>341.55196855177121</c:v>
                </c:pt>
                <c:pt idx="88">
                  <c:v>335.78922473906681</c:v>
                </c:pt>
                <c:pt idx="89">
                  <c:v>335.09655539221598</c:v>
                </c:pt>
                <c:pt idx="90">
                  <c:v>344.58578659753425</c:v>
                </c:pt>
                <c:pt idx="91">
                  <c:v>367.23665824617871</c:v>
                </c:pt>
                <c:pt idx="92">
                  <c:v>356.90355651896118</c:v>
                </c:pt>
                <c:pt idx="93">
                  <c:v>342.65774182424974</c:v>
                </c:pt>
                <c:pt idx="94">
                  <c:v>326.48368708056205</c:v>
                </c:pt>
                <c:pt idx="95">
                  <c:v>327.96964119978992</c:v>
                </c:pt>
                <c:pt idx="96">
                  <c:v>332.33183802957393</c:v>
                </c:pt>
                <c:pt idx="97">
                  <c:v>334.26380562216752</c:v>
                </c:pt>
                <c:pt idx="98">
                  <c:v>340.9910018189812</c:v>
                </c:pt>
                <c:pt idx="99">
                  <c:v>343.50992270966645</c:v>
                </c:pt>
                <c:pt idx="100">
                  <c:v>353.16255503307963</c:v>
                </c:pt>
                <c:pt idx="101">
                  <c:v>355.2117024267173</c:v>
                </c:pt>
                <c:pt idx="102">
                  <c:v>367.04112510299234</c:v>
                </c:pt>
                <c:pt idx="103">
                  <c:v>381.63301351162886</c:v>
                </c:pt>
                <c:pt idx="104">
                  <c:v>387.74508776529666</c:v>
                </c:pt>
                <c:pt idx="105">
                  <c:v>383.35123325747099</c:v>
                </c:pt>
                <c:pt idx="106">
                  <c:v>388.23220974536611</c:v>
                </c:pt>
                <c:pt idx="107">
                  <c:v>391.66470559803798</c:v>
                </c:pt>
                <c:pt idx="108">
                  <c:v>406.48629536061213</c:v>
                </c:pt>
                <c:pt idx="109">
                  <c:v>401.46625037074227</c:v>
                </c:pt>
                <c:pt idx="110">
                  <c:v>390.38066608720709</c:v>
                </c:pt>
                <c:pt idx="111">
                  <c:v>377.64436143326753</c:v>
                </c:pt>
                <c:pt idx="112">
                  <c:v>382.13290914493223</c:v>
                </c:pt>
                <c:pt idx="113">
                  <c:v>401.25439427880565</c:v>
                </c:pt>
                <c:pt idx="114">
                  <c:v>415.00281789876232</c:v>
                </c:pt>
                <c:pt idx="115">
                  <c:v>421.45041929557271</c:v>
                </c:pt>
                <c:pt idx="116">
                  <c:v>429.9770351165925</c:v>
                </c:pt>
                <c:pt idx="117">
                  <c:v>441.24249248016713</c:v>
                </c:pt>
                <c:pt idx="118">
                  <c:v>437.94450244361548</c:v>
                </c:pt>
                <c:pt idx="119">
                  <c:v>432.26664949183498</c:v>
                </c:pt>
                <c:pt idx="120">
                  <c:v>411.80126676578692</c:v>
                </c:pt>
                <c:pt idx="121">
                  <c:v>401.92616109192664</c:v>
                </c:pt>
                <c:pt idx="122">
                  <c:v>392.14303064770513</c:v>
                </c:pt>
                <c:pt idx="123">
                  <c:v>390.85353039694616</c:v>
                </c:pt>
                <c:pt idx="124">
                  <c:v>395.62929253988136</c:v>
                </c:pt>
                <c:pt idx="125">
                  <c:v>400.40046406710871</c:v>
                </c:pt>
                <c:pt idx="126">
                  <c:v>399.09834378884347</c:v>
                </c:pt>
                <c:pt idx="127">
                  <c:v>389.44025380044081</c:v>
                </c:pt>
                <c:pt idx="128">
                  <c:v>372.75110753746981</c:v>
                </c:pt>
                <c:pt idx="129">
                  <c:v>365.34194075647088</c:v>
                </c:pt>
                <c:pt idx="130">
                  <c:v>354.71274290141145</c:v>
                </c:pt>
                <c:pt idx="131">
                  <c:v>352.08298315053003</c:v>
                </c:pt>
                <c:pt idx="132">
                  <c:v>355.72196511730522</c:v>
                </c:pt>
                <c:pt idx="133">
                  <c:v>375.8896029179237</c:v>
                </c:pt>
                <c:pt idx="134">
                  <c:v>414.98573101728869</c:v>
                </c:pt>
                <c:pt idx="135">
                  <c:v>471.8488354436322</c:v>
                </c:pt>
                <c:pt idx="136">
                  <c:v>513.30097699693476</c:v>
                </c:pt>
                <c:pt idx="137">
                  <c:v>530.27663769748631</c:v>
                </c:pt>
                <c:pt idx="138">
                  <c:v>518.84700593949844</c:v>
                </c:pt>
                <c:pt idx="139">
                  <c:v>501.92335110068507</c:v>
                </c:pt>
                <c:pt idx="140">
                  <c:v>489.97445874001153</c:v>
                </c:pt>
                <c:pt idx="141">
                  <c:v>489.94830673955391</c:v>
                </c:pt>
                <c:pt idx="142">
                  <c:v>505.56911449894204</c:v>
                </c:pt>
                <c:pt idx="143">
                  <c:v>521.47154464098594</c:v>
                </c:pt>
                <c:pt idx="144">
                  <c:v>528.86017427456181</c:v>
                </c:pt>
                <c:pt idx="145">
                  <c:v>540.41631769846106</c:v>
                </c:pt>
                <c:pt idx="146">
                  <c:v>529.45264917862801</c:v>
                </c:pt>
                <c:pt idx="147">
                  <c:v>533.51507620699601</c:v>
                </c:pt>
                <c:pt idx="148">
                  <c:v>568.55192560917487</c:v>
                </c:pt>
                <c:pt idx="149">
                  <c:v>602.51061646327241</c:v>
                </c:pt>
                <c:pt idx="150">
                  <c:v>624.59156550071054</c:v>
                </c:pt>
                <c:pt idx="151">
                  <c:v>632.67430764925632</c:v>
                </c:pt>
                <c:pt idx="152">
                  <c:v>633.75946275859735</c:v>
                </c:pt>
                <c:pt idx="153">
                  <c:v>635.12657470896659</c:v>
                </c:pt>
                <c:pt idx="154">
                  <c:v>664.07743968548948</c:v>
                </c:pt>
                <c:pt idx="155">
                  <c:v>694.72540384674312</c:v>
                </c:pt>
                <c:pt idx="156">
                  <c:v>702.63826506016733</c:v>
                </c:pt>
                <c:pt idx="157">
                  <c:v>679.16592556850048</c:v>
                </c:pt>
                <c:pt idx="158">
                  <c:v>687.35294938993468</c:v>
                </c:pt>
                <c:pt idx="159">
                  <c:v>726.25538837434647</c:v>
                </c:pt>
                <c:pt idx="160">
                  <c:v>749.42620898057828</c:v>
                </c:pt>
                <c:pt idx="161">
                  <c:v>721.78020493484689</c:v>
                </c:pt>
                <c:pt idx="162">
                  <c:v>689.48557185772427</c:v>
                </c:pt>
                <c:pt idx="163">
                  <c:v>704.3469029487826</c:v>
                </c:pt>
                <c:pt idx="164">
                  <c:v>739.81454390625822</c:v>
                </c:pt>
                <c:pt idx="165">
                  <c:v>747.113373465466</c:v>
                </c:pt>
                <c:pt idx="166">
                  <c:v>742.7152182481841</c:v>
                </c:pt>
                <c:pt idx="167">
                  <c:v>730.82054857503545</c:v>
                </c:pt>
                <c:pt idx="168">
                  <c:v>720.05315776196187</c:v>
                </c:pt>
                <c:pt idx="169">
                  <c:v>676.33538792847753</c:v>
                </c:pt>
                <c:pt idx="170">
                  <c:v>627.44638120994148</c:v>
                </c:pt>
                <c:pt idx="171">
                  <c:v>610.7186675074181</c:v>
                </c:pt>
                <c:pt idx="172">
                  <c:v>616.52370021347917</c:v>
                </c:pt>
                <c:pt idx="173">
                  <c:v>622.01241782335876</c:v>
                </c:pt>
                <c:pt idx="174">
                  <c:v>636.40059098069537</c:v>
                </c:pt>
                <c:pt idx="175">
                  <c:v>651.86376091079057</c:v>
                </c:pt>
                <c:pt idx="176">
                  <c:v>691.10199124018425</c:v>
                </c:pt>
                <c:pt idx="177">
                  <c:v>694.78871247899781</c:v>
                </c:pt>
                <c:pt idx="178">
                  <c:v>707.37716333880155</c:v>
                </c:pt>
                <c:pt idx="179">
                  <c:v>728.9127608916159</c:v>
                </c:pt>
                <c:pt idx="180">
                  <c:v>794.37496375209366</c:v>
                </c:pt>
                <c:pt idx="181">
                  <c:v>849.44268404436946</c:v>
                </c:pt>
                <c:pt idx="182">
                  <c:v>859.243420892568</c:v>
                </c:pt>
                <c:pt idx="183">
                  <c:v>828.41425770792023</c:v>
                </c:pt>
                <c:pt idx="184">
                  <c:v>778.52774571631244</c:v>
                </c:pt>
                <c:pt idx="185">
                  <c:v>755.73770283348449</c:v>
                </c:pt>
                <c:pt idx="186">
                  <c:v>746.4455684455146</c:v>
                </c:pt>
                <c:pt idx="187">
                  <c:v>757.1089083651276</c:v>
                </c:pt>
                <c:pt idx="188">
                  <c:v>766.06710501146711</c:v>
                </c:pt>
                <c:pt idx="189">
                  <c:v>750.84441242986838</c:v>
                </c:pt>
                <c:pt idx="190">
                  <c:v>750.07344177062214</c:v>
                </c:pt>
                <c:pt idx="191">
                  <c:v>759.44863977171133</c:v>
                </c:pt>
                <c:pt idx="192">
                  <c:v>779.09793455502813</c:v>
                </c:pt>
                <c:pt idx="193">
                  <c:v>799.70522903545191</c:v>
                </c:pt>
                <c:pt idx="194">
                  <c:v>808.59623764672335</c:v>
                </c:pt>
                <c:pt idx="195">
                  <c:v>811.93711605153601</c:v>
                </c:pt>
                <c:pt idx="196">
                  <c:v>815.12346434171889</c:v>
                </c:pt>
                <c:pt idx="197">
                  <c:v>798.97999100834875</c:v>
                </c:pt>
                <c:pt idx="198">
                  <c:v>807.87254221967817</c:v>
                </c:pt>
                <c:pt idx="199">
                  <c:v>831.46261719838492</c:v>
                </c:pt>
                <c:pt idx="200">
                  <c:v>855.22598184735352</c:v>
                </c:pt>
                <c:pt idx="201">
                  <c:v>874.58947534699507</c:v>
                </c:pt>
                <c:pt idx="202">
                  <c:v>848.35802324983445</c:v>
                </c:pt>
                <c:pt idx="203">
                  <c:v>794.79012909716755</c:v>
                </c:pt>
                <c:pt idx="204">
                  <c:v>771.34371482971244</c:v>
                </c:pt>
                <c:pt idx="205">
                  <c:v>777.42999998169489</c:v>
                </c:pt>
                <c:pt idx="206">
                  <c:v>828.36080736527765</c:v>
                </c:pt>
                <c:pt idx="207">
                  <c:v>846.52597140483067</c:v>
                </c:pt>
                <c:pt idx="208">
                  <c:v>856.79508177459616</c:v>
                </c:pt>
                <c:pt idx="209">
                  <c:v>832.83979171662861</c:v>
                </c:pt>
                <c:pt idx="210">
                  <c:v>853.70031577299733</c:v>
                </c:pt>
                <c:pt idx="211">
                  <c:v>888.11586143527916</c:v>
                </c:pt>
                <c:pt idx="212">
                  <c:v>903.93769983495883</c:v>
                </c:pt>
                <c:pt idx="213">
                  <c:v>882.21853403946159</c:v>
                </c:pt>
                <c:pt idx="214">
                  <c:v>850.36803746023918</c:v>
                </c:pt>
                <c:pt idx="215">
                  <c:v>843.28288356760993</c:v>
                </c:pt>
                <c:pt idx="216">
                  <c:v>865.84316840792906</c:v>
                </c:pt>
                <c:pt idx="217">
                  <c:v>918.49248013376234</c:v>
                </c:pt>
                <c:pt idx="218">
                  <c:v>952.29300022898019</c:v>
                </c:pt>
                <c:pt idx="219">
                  <c:v>952.51503158705384</c:v>
                </c:pt>
                <c:pt idx="220">
                  <c:v>961.52029863372752</c:v>
                </c:pt>
                <c:pt idx="221">
                  <c:v>999.35757344254637</c:v>
                </c:pt>
                <c:pt idx="222">
                  <c:v>1029.1761877026247</c:v>
                </c:pt>
                <c:pt idx="223">
                  <c:v>1026.6724179222701</c:v>
                </c:pt>
                <c:pt idx="224">
                  <c:v>1096.8231403376112</c:v>
                </c:pt>
                <c:pt idx="225">
                  <c:v>1184.2896459091926</c:v>
                </c:pt>
                <c:pt idx="226">
                  <c:v>1288.0822713083678</c:v>
                </c:pt>
                <c:pt idx="227">
                  <c:v>1240.7660254367704</c:v>
                </c:pt>
                <c:pt idx="228">
                  <c:v>1229.6224979088229</c:v>
                </c:pt>
                <c:pt idx="229">
                  <c:v>1251.9670450636361</c:v>
                </c:pt>
                <c:pt idx="230">
                  <c:v>1277.1936498631028</c:v>
                </c:pt>
                <c:pt idx="231">
                  <c:v>1259.0515548114852</c:v>
                </c:pt>
                <c:pt idx="232">
                  <c:v>1191.5571347034891</c:v>
                </c:pt>
                <c:pt idx="233">
                  <c:v>1196.5135379824737</c:v>
                </c:pt>
                <c:pt idx="234">
                  <c:v>1231.8541621818765</c:v>
                </c:pt>
                <c:pt idx="235">
                  <c:v>1236.886860884819</c:v>
                </c:pt>
                <c:pt idx="236">
                  <c:v>1188.135677023361</c:v>
                </c:pt>
                <c:pt idx="237">
                  <c:v>1142.7504089664701</c:v>
                </c:pt>
                <c:pt idx="238">
                  <c:v>1130.9604445945299</c:v>
                </c:pt>
                <c:pt idx="239">
                  <c:v>1180.8689861279458</c:v>
                </c:pt>
                <c:pt idx="240">
                  <c:v>1236.690689355182</c:v>
                </c:pt>
              </c:numCache>
            </c:numRef>
          </c:val>
          <c:smooth val="1"/>
          <c:extLst>
            <c:ext xmlns:c16="http://schemas.microsoft.com/office/drawing/2014/chart" uri="{C3380CC4-5D6E-409C-BE32-E72D297353CC}">
              <c16:uniqueId val="{00000001-88E6-4E4A-80FC-51977FE4EAD0}"/>
            </c:ext>
          </c:extLst>
        </c:ser>
        <c:ser>
          <c:idx val="2"/>
          <c:order val="2"/>
          <c:tx>
            <c:v>Pessimiste</c:v>
          </c:tx>
          <c:spPr>
            <a:ln w="12700">
              <a:solidFill>
                <a:schemeClr val="tx1"/>
              </a:solidFill>
            </a:ln>
          </c:spPr>
          <c:marker>
            <c:symbol val="none"/>
          </c:marker>
          <c:cat>
            <c:numRef>
              <c:f>'13.4%'!$B$5:$B$245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'13.4%'!$L$5:$L$245</c:f>
              <c:numCache>
                <c:formatCode>0.0</c:formatCode>
                <c:ptCount val="241"/>
                <c:pt idx="0">
                  <c:v>100</c:v>
                </c:pt>
                <c:pt idx="1">
                  <c:v>100.2858190299154</c:v>
                </c:pt>
                <c:pt idx="2">
                  <c:v>96.968400581972773</c:v>
                </c:pt>
                <c:pt idx="3">
                  <c:v>96.542011927105534</c:v>
                </c:pt>
                <c:pt idx="4">
                  <c:v>99.465342931386786</c:v>
                </c:pt>
                <c:pt idx="5">
                  <c:v>103.90227170471823</c:v>
                </c:pt>
                <c:pt idx="6">
                  <c:v>106.4034259641074</c:v>
                </c:pt>
                <c:pt idx="7">
                  <c:v>102.23415950123378</c:v>
                </c:pt>
                <c:pt idx="8">
                  <c:v>98.730615679322284</c:v>
                </c:pt>
                <c:pt idx="9">
                  <c:v>93.731166618431672</c:v>
                </c:pt>
                <c:pt idx="10">
                  <c:v>90.52072435902879</c:v>
                </c:pt>
                <c:pt idx="11">
                  <c:v>92.026628576748578</c:v>
                </c:pt>
                <c:pt idx="12">
                  <c:v>92.572409466485496</c:v>
                </c:pt>
                <c:pt idx="13">
                  <c:v>97.467764933155152</c:v>
                </c:pt>
                <c:pt idx="14">
                  <c:v>98.844473539463564</c:v>
                </c:pt>
                <c:pt idx="15">
                  <c:v>100.9784557928708</c:v>
                </c:pt>
                <c:pt idx="16">
                  <c:v>97.923059075932073</c:v>
                </c:pt>
                <c:pt idx="17">
                  <c:v>96.933957289003274</c:v>
                </c:pt>
                <c:pt idx="18">
                  <c:v>99.379808449480791</c:v>
                </c:pt>
                <c:pt idx="19">
                  <c:v>103.97152542490571</c:v>
                </c:pt>
                <c:pt idx="20">
                  <c:v>106.86273893705641</c:v>
                </c:pt>
                <c:pt idx="21">
                  <c:v>106.23263294260032</c:v>
                </c:pt>
                <c:pt idx="22">
                  <c:v>106.14595618937997</c:v>
                </c:pt>
                <c:pt idx="23">
                  <c:v>107.1108257783719</c:v>
                </c:pt>
                <c:pt idx="24">
                  <c:v>108.62508568605969</c:v>
                </c:pt>
                <c:pt idx="25">
                  <c:v>109.47718708585248</c:v>
                </c:pt>
                <c:pt idx="26">
                  <c:v>107.8244540455305</c:v>
                </c:pt>
                <c:pt idx="27">
                  <c:v>105.24372122690988</c:v>
                </c:pt>
                <c:pt idx="28">
                  <c:v>107.55744800676096</c:v>
                </c:pt>
                <c:pt idx="29">
                  <c:v>109.24581301289081</c:v>
                </c:pt>
                <c:pt idx="30">
                  <c:v>110.51668261199386</c:v>
                </c:pt>
                <c:pt idx="31">
                  <c:v>106.04195984325624</c:v>
                </c:pt>
                <c:pt idx="32">
                  <c:v>103.55072016829109</c:v>
                </c:pt>
                <c:pt idx="33">
                  <c:v>102.84426715585386</c:v>
                </c:pt>
                <c:pt idx="34">
                  <c:v>102.33097393697351</c:v>
                </c:pt>
                <c:pt idx="35">
                  <c:v>101.06144549516453</c:v>
                </c:pt>
                <c:pt idx="36">
                  <c:v>102.62884624888355</c:v>
                </c:pt>
                <c:pt idx="37">
                  <c:v>106.50150178628385</c:v>
                </c:pt>
                <c:pt idx="38">
                  <c:v>103.91482604860865</c:v>
                </c:pt>
                <c:pt idx="39">
                  <c:v>101.12149528837597</c:v>
                </c:pt>
                <c:pt idx="40">
                  <c:v>96.27261759113965</c:v>
                </c:pt>
                <c:pt idx="41">
                  <c:v>96.874079422379367</c:v>
                </c:pt>
                <c:pt idx="42">
                  <c:v>99.209088705743397</c:v>
                </c:pt>
                <c:pt idx="43">
                  <c:v>104.84865015859036</c:v>
                </c:pt>
                <c:pt idx="44">
                  <c:v>116.80230411906759</c:v>
                </c:pt>
                <c:pt idx="45">
                  <c:v>126.46834364844428</c:v>
                </c:pt>
                <c:pt idx="46">
                  <c:v>130.48988234794606</c:v>
                </c:pt>
                <c:pt idx="47">
                  <c:v>128.91157399853128</c:v>
                </c:pt>
                <c:pt idx="48">
                  <c:v>125.47209072938871</c:v>
                </c:pt>
                <c:pt idx="49">
                  <c:v>121.42729751110444</c:v>
                </c:pt>
                <c:pt idx="50">
                  <c:v>120.9826154750055</c:v>
                </c:pt>
                <c:pt idx="51">
                  <c:v>122.45707975957257</c:v>
                </c:pt>
                <c:pt idx="52">
                  <c:v>126.80363953921223</c:v>
                </c:pt>
                <c:pt idx="53">
                  <c:v>126.85704191735996</c:v>
                </c:pt>
                <c:pt idx="54">
                  <c:v>129.53077766735277</c:v>
                </c:pt>
                <c:pt idx="55">
                  <c:v>135.36476837401992</c:v>
                </c:pt>
                <c:pt idx="56">
                  <c:v>143.15073364087192</c:v>
                </c:pt>
                <c:pt idx="57">
                  <c:v>150.50632883359563</c:v>
                </c:pt>
                <c:pt idx="58">
                  <c:v>165.62579686600787</c:v>
                </c:pt>
                <c:pt idx="59">
                  <c:v>185.69054085445325</c:v>
                </c:pt>
                <c:pt idx="60">
                  <c:v>204.90860121411848</c:v>
                </c:pt>
                <c:pt idx="61">
                  <c:v>213.9123793097184</c:v>
                </c:pt>
                <c:pt idx="62">
                  <c:v>219.50195309641157</c:v>
                </c:pt>
                <c:pt idx="63">
                  <c:v>216.53699309262979</c:v>
                </c:pt>
                <c:pt idx="64">
                  <c:v>212.81868723390696</c:v>
                </c:pt>
                <c:pt idx="65">
                  <c:v>206.84471336688225</c:v>
                </c:pt>
                <c:pt idx="66">
                  <c:v>209.74679524291597</c:v>
                </c:pt>
                <c:pt idx="67">
                  <c:v>209.73525845023599</c:v>
                </c:pt>
                <c:pt idx="68">
                  <c:v>210.41507798956641</c:v>
                </c:pt>
                <c:pt idx="69">
                  <c:v>206.33313388823035</c:v>
                </c:pt>
                <c:pt idx="70">
                  <c:v>209.17644952314626</c:v>
                </c:pt>
                <c:pt idx="71">
                  <c:v>208.98427986486851</c:v>
                </c:pt>
                <c:pt idx="72">
                  <c:v>205.15978862420141</c:v>
                </c:pt>
                <c:pt idx="73">
                  <c:v>194.94140076867606</c:v>
                </c:pt>
                <c:pt idx="74">
                  <c:v>191.13225358258046</c:v>
                </c:pt>
                <c:pt idx="75">
                  <c:v>190.28913014482958</c:v>
                </c:pt>
                <c:pt idx="76">
                  <c:v>194.18739006923764</c:v>
                </c:pt>
                <c:pt idx="77">
                  <c:v>191.29609133718805</c:v>
                </c:pt>
                <c:pt idx="78">
                  <c:v>197.04431714459704</c:v>
                </c:pt>
                <c:pt idx="79">
                  <c:v>193.59490593535077</c:v>
                </c:pt>
                <c:pt idx="80">
                  <c:v>191.79716524963703</c:v>
                </c:pt>
                <c:pt idx="81">
                  <c:v>174.8481673730343</c:v>
                </c:pt>
                <c:pt idx="82">
                  <c:v>161.57159456297566</c:v>
                </c:pt>
                <c:pt idx="83">
                  <c:v>154.98575491304621</c:v>
                </c:pt>
                <c:pt idx="84">
                  <c:v>156.39015830191155</c:v>
                </c:pt>
                <c:pt idx="85">
                  <c:v>160.70251207150199</c:v>
                </c:pt>
                <c:pt idx="86">
                  <c:v>156.09332523278971</c:v>
                </c:pt>
                <c:pt idx="87">
                  <c:v>148.06714622254913</c:v>
                </c:pt>
                <c:pt idx="88">
                  <c:v>140.71667446112451</c:v>
                </c:pt>
                <c:pt idx="89">
                  <c:v>141.85510030863657</c:v>
                </c:pt>
                <c:pt idx="90">
                  <c:v>148.52720590821104</c:v>
                </c:pt>
                <c:pt idx="91">
                  <c:v>149.03804270376406</c:v>
                </c:pt>
                <c:pt idx="92">
                  <c:v>129.69732614540001</c:v>
                </c:pt>
                <c:pt idx="93">
                  <c:v>117.26061896207914</c:v>
                </c:pt>
                <c:pt idx="94">
                  <c:v>115.5459726805979</c:v>
                </c:pt>
                <c:pt idx="95">
                  <c:v>127.89207762392968</c:v>
                </c:pt>
                <c:pt idx="96">
                  <c:v>131.73314921918845</c:v>
                </c:pt>
                <c:pt idx="97">
                  <c:v>136.77797156369544</c:v>
                </c:pt>
                <c:pt idx="98">
                  <c:v>137.10797226935838</c:v>
                </c:pt>
                <c:pt idx="99">
                  <c:v>142.00102477160669</c:v>
                </c:pt>
                <c:pt idx="100">
                  <c:v>141.34702712810878</c:v>
                </c:pt>
                <c:pt idx="101">
                  <c:v>144.32132941579258</c:v>
                </c:pt>
                <c:pt idx="102">
                  <c:v>143.21524562614715</c:v>
                </c:pt>
                <c:pt idx="103">
                  <c:v>145.23204003804094</c:v>
                </c:pt>
                <c:pt idx="104">
                  <c:v>150.08434171908371</c:v>
                </c:pt>
                <c:pt idx="105">
                  <c:v>154.29088866450812</c:v>
                </c:pt>
                <c:pt idx="106">
                  <c:v>157.15999248438149</c:v>
                </c:pt>
                <c:pt idx="107">
                  <c:v>144.9553890736328</c:v>
                </c:pt>
                <c:pt idx="108">
                  <c:v>139.47357507739173</c:v>
                </c:pt>
                <c:pt idx="109">
                  <c:v>136.72473670674216</c:v>
                </c:pt>
                <c:pt idx="110">
                  <c:v>144.73344469116503</c:v>
                </c:pt>
                <c:pt idx="111">
                  <c:v>150.13344304126917</c:v>
                </c:pt>
                <c:pt idx="112">
                  <c:v>148.96199236545121</c:v>
                </c:pt>
                <c:pt idx="113">
                  <c:v>141.88295188867963</c:v>
                </c:pt>
                <c:pt idx="114">
                  <c:v>134.29952532827224</c:v>
                </c:pt>
                <c:pt idx="115">
                  <c:v>130.63315792614972</c:v>
                </c:pt>
                <c:pt idx="116">
                  <c:v>124.52615622276555</c:v>
                </c:pt>
                <c:pt idx="117">
                  <c:v>123.61579236129094</c:v>
                </c:pt>
                <c:pt idx="118">
                  <c:v>118.6399548240875</c:v>
                </c:pt>
                <c:pt idx="119">
                  <c:v>116.96734504107218</c:v>
                </c:pt>
                <c:pt idx="120">
                  <c:v>114.54050144571383</c:v>
                </c:pt>
                <c:pt idx="121">
                  <c:v>113.81424168454905</c:v>
                </c:pt>
                <c:pt idx="122">
                  <c:v>112.2844077306203</c:v>
                </c:pt>
                <c:pt idx="123">
                  <c:v>112.69247583767824</c:v>
                </c:pt>
                <c:pt idx="124">
                  <c:v>107.18472008371252</c:v>
                </c:pt>
                <c:pt idx="125">
                  <c:v>102.13042346558314</c:v>
                </c:pt>
                <c:pt idx="126">
                  <c:v>91.50045485998244</c:v>
                </c:pt>
                <c:pt idx="127">
                  <c:v>89.799120092186072</c:v>
                </c:pt>
                <c:pt idx="128">
                  <c:v>90.510318155485947</c:v>
                </c:pt>
                <c:pt idx="129">
                  <c:v>98.169222351775971</c:v>
                </c:pt>
                <c:pt idx="130">
                  <c:v>103.57143849526659</c:v>
                </c:pt>
                <c:pt idx="131">
                  <c:v>106.73581270370011</c:v>
                </c:pt>
                <c:pt idx="132">
                  <c:v>106.1076359483278</c:v>
                </c:pt>
                <c:pt idx="133">
                  <c:v>103.94946301656843</c:v>
                </c:pt>
                <c:pt idx="134">
                  <c:v>103.69990352566755</c:v>
                </c:pt>
                <c:pt idx="135">
                  <c:v>101.41008615259503</c:v>
                </c:pt>
                <c:pt idx="136">
                  <c:v>104.032474979209</c:v>
                </c:pt>
                <c:pt idx="137">
                  <c:v>105.69412317688588</c:v>
                </c:pt>
                <c:pt idx="138">
                  <c:v>109.05877879319605</c:v>
                </c:pt>
                <c:pt idx="139">
                  <c:v>112.52240249230516</c:v>
                </c:pt>
                <c:pt idx="140">
                  <c:v>119.52041654834657</c:v>
                </c:pt>
                <c:pt idx="141">
                  <c:v>126.04616879208481</c:v>
                </c:pt>
                <c:pt idx="142">
                  <c:v>127.66734162717866</c:v>
                </c:pt>
                <c:pt idx="143">
                  <c:v>123.15299270215181</c:v>
                </c:pt>
                <c:pt idx="144">
                  <c:v>114.66007610762634</c:v>
                </c:pt>
                <c:pt idx="145">
                  <c:v>107.54814285830717</c:v>
                </c:pt>
                <c:pt idx="146">
                  <c:v>96.687242786373616</c:v>
                </c:pt>
                <c:pt idx="147">
                  <c:v>90.215966535074159</c:v>
                </c:pt>
                <c:pt idx="148">
                  <c:v>95.35925054369838</c:v>
                </c:pt>
                <c:pt idx="149">
                  <c:v>97.493637342115264</c:v>
                </c:pt>
                <c:pt idx="150">
                  <c:v>98.86141646072771</c:v>
                </c:pt>
                <c:pt idx="151">
                  <c:v>102.45172761191004</c:v>
                </c:pt>
                <c:pt idx="152">
                  <c:v>111.76300492756081</c:v>
                </c:pt>
                <c:pt idx="153">
                  <c:v>123.17903061184947</c:v>
                </c:pt>
                <c:pt idx="154">
                  <c:v>125.8053191331539</c:v>
                </c:pt>
                <c:pt idx="155">
                  <c:v>129.22663532706252</c:v>
                </c:pt>
                <c:pt idx="156">
                  <c:v>135.2090354389467</c:v>
                </c:pt>
                <c:pt idx="157">
                  <c:v>141.37240488775652</c:v>
                </c:pt>
                <c:pt idx="158">
                  <c:v>147.55120825810477</c:v>
                </c:pt>
                <c:pt idx="159">
                  <c:v>151.19560869323698</c:v>
                </c:pt>
                <c:pt idx="160">
                  <c:v>153.94721302806266</c:v>
                </c:pt>
                <c:pt idx="161">
                  <c:v>158.4221892626133</c:v>
                </c:pt>
                <c:pt idx="162">
                  <c:v>169.11369921342674</c:v>
                </c:pt>
                <c:pt idx="163">
                  <c:v>180.49284527638889</c:v>
                </c:pt>
                <c:pt idx="164">
                  <c:v>183.57865294769084</c:v>
                </c:pt>
                <c:pt idx="165">
                  <c:v>177.65580245762544</c:v>
                </c:pt>
                <c:pt idx="166">
                  <c:v>180.04850017523611</c:v>
                </c:pt>
                <c:pt idx="167">
                  <c:v>183.62416860251449</c:v>
                </c:pt>
                <c:pt idx="168">
                  <c:v>190.47939744130613</c:v>
                </c:pt>
                <c:pt idx="169">
                  <c:v>199.85863239658303</c:v>
                </c:pt>
                <c:pt idx="170">
                  <c:v>216.75361050627575</c:v>
                </c:pt>
                <c:pt idx="171">
                  <c:v>235.33583190829432</c:v>
                </c:pt>
                <c:pt idx="172">
                  <c:v>247.51262205244652</c:v>
                </c:pt>
                <c:pt idx="173">
                  <c:v>255.1789421373679</c:v>
                </c:pt>
                <c:pt idx="174">
                  <c:v>257.02136756597798</c:v>
                </c:pt>
                <c:pt idx="175">
                  <c:v>257.9620083157572</c:v>
                </c:pt>
                <c:pt idx="176">
                  <c:v>265.59221454172399</c:v>
                </c:pt>
                <c:pt idx="177">
                  <c:v>286.09169138431156</c:v>
                </c:pt>
                <c:pt idx="178">
                  <c:v>290.37111369156753</c:v>
                </c:pt>
                <c:pt idx="179">
                  <c:v>293.743885461498</c:v>
                </c:pt>
                <c:pt idx="180">
                  <c:v>284.86136386131619</c:v>
                </c:pt>
                <c:pt idx="181">
                  <c:v>278.65638259288755</c:v>
                </c:pt>
                <c:pt idx="182">
                  <c:v>262.91174929124998</c:v>
                </c:pt>
                <c:pt idx="183">
                  <c:v>248.26997195276115</c:v>
                </c:pt>
                <c:pt idx="184">
                  <c:v>245.68001485324268</c:v>
                </c:pt>
                <c:pt idx="185">
                  <c:v>257.21012754997815</c:v>
                </c:pt>
                <c:pt idx="186">
                  <c:v>274.47251459503786</c:v>
                </c:pt>
                <c:pt idx="187">
                  <c:v>295.98996488507413</c:v>
                </c:pt>
                <c:pt idx="188">
                  <c:v>303.70820195150503</c:v>
                </c:pt>
                <c:pt idx="189">
                  <c:v>314.62022953932762</c:v>
                </c:pt>
                <c:pt idx="190">
                  <c:v>312.7596877060019</c:v>
                </c:pt>
                <c:pt idx="191">
                  <c:v>312.00933694379933</c:v>
                </c:pt>
                <c:pt idx="192">
                  <c:v>305.1970607885371</c:v>
                </c:pt>
                <c:pt idx="193">
                  <c:v>312.37707173479231</c:v>
                </c:pt>
                <c:pt idx="194">
                  <c:v>321.89323486860394</c:v>
                </c:pt>
                <c:pt idx="195">
                  <c:v>323.71431473945535</c:v>
                </c:pt>
                <c:pt idx="196">
                  <c:v>323.72008007374217</c:v>
                </c:pt>
                <c:pt idx="197">
                  <c:v>315.95308871491625</c:v>
                </c:pt>
                <c:pt idx="198">
                  <c:v>320.165173390527</c:v>
                </c:pt>
                <c:pt idx="199">
                  <c:v>324.64581870203347</c:v>
                </c:pt>
                <c:pt idx="200">
                  <c:v>357.60312013326262</c:v>
                </c:pt>
                <c:pt idx="201">
                  <c:v>404.43928439748737</c:v>
                </c:pt>
                <c:pt idx="202">
                  <c:v>447.87956603461419</c:v>
                </c:pt>
                <c:pt idx="203">
                  <c:v>427.94111927196786</c:v>
                </c:pt>
                <c:pt idx="204">
                  <c:v>410.82996290495225</c:v>
                </c:pt>
                <c:pt idx="205">
                  <c:v>396.34342801013025</c:v>
                </c:pt>
                <c:pt idx="206">
                  <c:v>410.95694586910491</c:v>
                </c:pt>
                <c:pt idx="207">
                  <c:v>426.72856045891217</c:v>
                </c:pt>
                <c:pt idx="208">
                  <c:v>441.6015952417722</c:v>
                </c:pt>
                <c:pt idx="209">
                  <c:v>432.19839573536734</c:v>
                </c:pt>
                <c:pt idx="210">
                  <c:v>430.51467866688921</c:v>
                </c:pt>
                <c:pt idx="211">
                  <c:v>445.74969595646701</c:v>
                </c:pt>
                <c:pt idx="212">
                  <c:v>474.98826182232983</c:v>
                </c:pt>
                <c:pt idx="213">
                  <c:v>483.33108157226042</c:v>
                </c:pt>
                <c:pt idx="214">
                  <c:v>468.93968114498267</c:v>
                </c:pt>
                <c:pt idx="215">
                  <c:v>437.58193415707206</c:v>
                </c:pt>
                <c:pt idx="216">
                  <c:v>416.91634022005621</c:v>
                </c:pt>
                <c:pt idx="217">
                  <c:v>420.93510622103679</c:v>
                </c:pt>
                <c:pt idx="218">
                  <c:v>441.22864280703715</c:v>
                </c:pt>
                <c:pt idx="219">
                  <c:v>448.40919051993808</c:v>
                </c:pt>
                <c:pt idx="220">
                  <c:v>469.98704561749258</c:v>
                </c:pt>
                <c:pt idx="221">
                  <c:v>482.51221015584576</c:v>
                </c:pt>
                <c:pt idx="222">
                  <c:v>515.41592144958008</c:v>
                </c:pt>
                <c:pt idx="223">
                  <c:v>530.25136669965593</c:v>
                </c:pt>
                <c:pt idx="224">
                  <c:v>538.9360688115878</c:v>
                </c:pt>
                <c:pt idx="225">
                  <c:v>530.25961425972048</c:v>
                </c:pt>
                <c:pt idx="226">
                  <c:v>510.98784252377112</c:v>
                </c:pt>
                <c:pt idx="227">
                  <c:v>492.20893938908659</c:v>
                </c:pt>
                <c:pt idx="228">
                  <c:v>490.32448860688567</c:v>
                </c:pt>
                <c:pt idx="229">
                  <c:v>512.34443045974979</c:v>
                </c:pt>
                <c:pt idx="230">
                  <c:v>551.19532933519633</c:v>
                </c:pt>
                <c:pt idx="231">
                  <c:v>575.38728676440439</c:v>
                </c:pt>
                <c:pt idx="232">
                  <c:v>589.13284243529029</c:v>
                </c:pt>
                <c:pt idx="233">
                  <c:v>597.26680129351735</c:v>
                </c:pt>
                <c:pt idx="234">
                  <c:v>615.16870981445902</c:v>
                </c:pt>
                <c:pt idx="235">
                  <c:v>610.4099634341153</c:v>
                </c:pt>
                <c:pt idx="236">
                  <c:v>617.80130207056357</c:v>
                </c:pt>
                <c:pt idx="237">
                  <c:v>619.041391639474</c:v>
                </c:pt>
                <c:pt idx="238">
                  <c:v>610.66978649812575</c:v>
                </c:pt>
                <c:pt idx="239">
                  <c:v>635.55919597844172</c:v>
                </c:pt>
                <c:pt idx="240">
                  <c:v>625.47662337363533</c:v>
                </c:pt>
              </c:numCache>
            </c:numRef>
          </c:val>
          <c:smooth val="1"/>
          <c:extLst>
            <c:ext xmlns:c16="http://schemas.microsoft.com/office/drawing/2014/chart" uri="{C3380CC4-5D6E-409C-BE32-E72D297353CC}">
              <c16:uniqueId val="{00000002-88E6-4E4A-80FC-51977FE4EAD0}"/>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majorGridlines>
          <c:spPr>
            <a:ln w="9525">
              <a:solidFill>
                <a:srgbClr val="AB853F">
                  <a:alpha val="10000"/>
                </a:srgbClr>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72768"/>
        <c:crosses val="autoZero"/>
        <c:auto val="1"/>
        <c:lblAlgn val="ctr"/>
        <c:lblOffset val="100"/>
        <c:tickLblSkip val="60"/>
        <c:noMultiLvlLbl val="0"/>
      </c:catAx>
      <c:valAx>
        <c:axId val="48672768"/>
        <c:scaling>
          <c:orientation val="minMax"/>
          <c:min val="50"/>
        </c:scaling>
        <c:delete val="0"/>
        <c:axPos val="l"/>
        <c:majorGridlines>
          <c:spPr>
            <a:ln w="9525">
              <a:solidFill>
                <a:srgbClr val="CCCCCC"/>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50112"/>
        <c:crosses val="autoZero"/>
        <c:crossBetween val="between"/>
      </c:valAx>
    </c:plotArea>
    <c:plotVisOnly val="1"/>
    <c:dispBlanksAs val="zero"/>
    <c:showDLblsOverMax val="1"/>
  </c:chart>
  <c:spPr>
    <a:solidFill>
      <a:srgbClr val="FCF9EF"/>
    </a:solidFill>
    <a:ln w="9525">
      <a:noFill/>
      <a:prstDash val="solid"/>
    </a:ln>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29703529141209E-2"/>
          <c:y val="3.1218316593060416E-2"/>
          <c:w val="0.90403635365646873"/>
          <c:h val="0.80925340401440293"/>
        </c:manualLayout>
      </c:layout>
      <c:lineChart>
        <c:grouping val="standard"/>
        <c:varyColors val="0"/>
        <c:ser>
          <c:idx val="0"/>
          <c:order val="0"/>
          <c:tx>
            <c:strRef>
              <c:f>Feuil1!$K$3</c:f>
              <c:strCache>
                <c:ptCount val="1"/>
                <c:pt idx="0">
                  <c:v>Cac Small NR</c:v>
                </c:pt>
              </c:strCache>
            </c:strRef>
          </c:tx>
          <c:spPr>
            <a:ln w="12700" cap="rnd">
              <a:solidFill>
                <a:srgbClr val="144629"/>
              </a:solidFill>
              <a:round/>
            </a:ln>
            <a:effectLst/>
          </c:spPr>
          <c:marker>
            <c:symbol val="none"/>
          </c:marker>
          <c:cat>
            <c:numRef>
              <c:f>Feuil1!$J$4:$J$302</c:f>
              <c:numCache>
                <c:formatCode>m/d/yy</c:formatCode>
                <c:ptCount val="299"/>
                <c:pt idx="0">
                  <c:v>46285</c:v>
                </c:pt>
                <c:pt idx="1">
                  <c:v>46278</c:v>
                </c:pt>
                <c:pt idx="2">
                  <c:v>46271</c:v>
                </c:pt>
                <c:pt idx="3">
                  <c:v>46264</c:v>
                </c:pt>
                <c:pt idx="4">
                  <c:v>46257</c:v>
                </c:pt>
                <c:pt idx="5">
                  <c:v>46250</c:v>
                </c:pt>
                <c:pt idx="6">
                  <c:v>46243</c:v>
                </c:pt>
                <c:pt idx="7">
                  <c:v>46236</c:v>
                </c:pt>
                <c:pt idx="8">
                  <c:v>46229</c:v>
                </c:pt>
                <c:pt idx="9">
                  <c:v>46222</c:v>
                </c:pt>
                <c:pt idx="10">
                  <c:v>46215</c:v>
                </c:pt>
                <c:pt idx="11">
                  <c:v>46208</c:v>
                </c:pt>
                <c:pt idx="12">
                  <c:v>46201</c:v>
                </c:pt>
                <c:pt idx="13">
                  <c:v>46194</c:v>
                </c:pt>
                <c:pt idx="14">
                  <c:v>46187</c:v>
                </c:pt>
                <c:pt idx="15">
                  <c:v>46180</c:v>
                </c:pt>
                <c:pt idx="16">
                  <c:v>46173</c:v>
                </c:pt>
                <c:pt idx="17">
                  <c:v>46166</c:v>
                </c:pt>
                <c:pt idx="18">
                  <c:v>46159</c:v>
                </c:pt>
                <c:pt idx="19">
                  <c:v>46152</c:v>
                </c:pt>
                <c:pt idx="20">
                  <c:v>46145</c:v>
                </c:pt>
                <c:pt idx="21">
                  <c:v>46138</c:v>
                </c:pt>
                <c:pt idx="22">
                  <c:v>46131</c:v>
                </c:pt>
                <c:pt idx="23">
                  <c:v>46124</c:v>
                </c:pt>
                <c:pt idx="24">
                  <c:v>46117</c:v>
                </c:pt>
                <c:pt idx="25">
                  <c:v>46110</c:v>
                </c:pt>
                <c:pt idx="26">
                  <c:v>46103</c:v>
                </c:pt>
                <c:pt idx="27">
                  <c:v>46096</c:v>
                </c:pt>
                <c:pt idx="28">
                  <c:v>46089</c:v>
                </c:pt>
                <c:pt idx="29">
                  <c:v>46082</c:v>
                </c:pt>
                <c:pt idx="30">
                  <c:v>46075</c:v>
                </c:pt>
                <c:pt idx="31">
                  <c:v>46068</c:v>
                </c:pt>
                <c:pt idx="32">
                  <c:v>46061</c:v>
                </c:pt>
                <c:pt idx="33">
                  <c:v>46054</c:v>
                </c:pt>
                <c:pt idx="34">
                  <c:v>46047</c:v>
                </c:pt>
                <c:pt idx="35">
                  <c:v>46040</c:v>
                </c:pt>
                <c:pt idx="36">
                  <c:v>46033</c:v>
                </c:pt>
                <c:pt idx="37">
                  <c:v>46026</c:v>
                </c:pt>
                <c:pt idx="38">
                  <c:v>46019</c:v>
                </c:pt>
                <c:pt idx="39">
                  <c:v>46012</c:v>
                </c:pt>
                <c:pt idx="40">
                  <c:v>46005</c:v>
                </c:pt>
                <c:pt idx="41">
                  <c:v>45998</c:v>
                </c:pt>
                <c:pt idx="42">
                  <c:v>45991</c:v>
                </c:pt>
                <c:pt idx="43">
                  <c:v>45984</c:v>
                </c:pt>
                <c:pt idx="44">
                  <c:v>45977</c:v>
                </c:pt>
                <c:pt idx="45">
                  <c:v>45970</c:v>
                </c:pt>
                <c:pt idx="46">
                  <c:v>45963</c:v>
                </c:pt>
                <c:pt idx="47">
                  <c:v>45956</c:v>
                </c:pt>
                <c:pt idx="48">
                  <c:v>45949</c:v>
                </c:pt>
                <c:pt idx="49">
                  <c:v>45942</c:v>
                </c:pt>
                <c:pt idx="50">
                  <c:v>45935</c:v>
                </c:pt>
                <c:pt idx="51">
                  <c:v>45928</c:v>
                </c:pt>
                <c:pt idx="52">
                  <c:v>45921</c:v>
                </c:pt>
                <c:pt idx="53">
                  <c:v>45914</c:v>
                </c:pt>
                <c:pt idx="54">
                  <c:v>45907</c:v>
                </c:pt>
                <c:pt idx="55">
                  <c:v>45900</c:v>
                </c:pt>
                <c:pt idx="56">
                  <c:v>45893</c:v>
                </c:pt>
                <c:pt idx="57">
                  <c:v>45886</c:v>
                </c:pt>
                <c:pt idx="58">
                  <c:v>45879</c:v>
                </c:pt>
                <c:pt idx="59">
                  <c:v>45872</c:v>
                </c:pt>
                <c:pt idx="60">
                  <c:v>45865</c:v>
                </c:pt>
                <c:pt idx="61">
                  <c:v>45858</c:v>
                </c:pt>
                <c:pt idx="62">
                  <c:v>45851</c:v>
                </c:pt>
                <c:pt idx="63">
                  <c:v>45844</c:v>
                </c:pt>
                <c:pt idx="64">
                  <c:v>45837</c:v>
                </c:pt>
                <c:pt idx="65">
                  <c:v>45830</c:v>
                </c:pt>
                <c:pt idx="66">
                  <c:v>45823</c:v>
                </c:pt>
                <c:pt idx="67">
                  <c:v>45816</c:v>
                </c:pt>
                <c:pt idx="68">
                  <c:v>45809</c:v>
                </c:pt>
                <c:pt idx="69">
                  <c:v>45802</c:v>
                </c:pt>
                <c:pt idx="70">
                  <c:v>45795</c:v>
                </c:pt>
                <c:pt idx="71">
                  <c:v>45788</c:v>
                </c:pt>
                <c:pt idx="72">
                  <c:v>45781</c:v>
                </c:pt>
                <c:pt idx="73">
                  <c:v>45774</c:v>
                </c:pt>
                <c:pt idx="74">
                  <c:v>45767</c:v>
                </c:pt>
                <c:pt idx="75">
                  <c:v>45760</c:v>
                </c:pt>
                <c:pt idx="76">
                  <c:v>45753</c:v>
                </c:pt>
                <c:pt idx="77">
                  <c:v>45746</c:v>
                </c:pt>
                <c:pt idx="78">
                  <c:v>45739</c:v>
                </c:pt>
                <c:pt idx="79">
                  <c:v>45732</c:v>
                </c:pt>
                <c:pt idx="80">
                  <c:v>45725</c:v>
                </c:pt>
                <c:pt idx="81">
                  <c:v>45718</c:v>
                </c:pt>
                <c:pt idx="82">
                  <c:v>45711</c:v>
                </c:pt>
                <c:pt idx="83">
                  <c:v>45704</c:v>
                </c:pt>
                <c:pt idx="84">
                  <c:v>45697</c:v>
                </c:pt>
                <c:pt idx="85">
                  <c:v>45690</c:v>
                </c:pt>
                <c:pt idx="86">
                  <c:v>45683</c:v>
                </c:pt>
                <c:pt idx="87">
                  <c:v>45676</c:v>
                </c:pt>
                <c:pt idx="88">
                  <c:v>45669</c:v>
                </c:pt>
                <c:pt idx="89">
                  <c:v>45662</c:v>
                </c:pt>
                <c:pt idx="90">
                  <c:v>45655</c:v>
                </c:pt>
                <c:pt idx="91">
                  <c:v>45648</c:v>
                </c:pt>
                <c:pt idx="92">
                  <c:v>45641</c:v>
                </c:pt>
                <c:pt idx="93">
                  <c:v>45634</c:v>
                </c:pt>
                <c:pt idx="94">
                  <c:v>45627</c:v>
                </c:pt>
                <c:pt idx="95">
                  <c:v>45620</c:v>
                </c:pt>
                <c:pt idx="96">
                  <c:v>45613</c:v>
                </c:pt>
                <c:pt idx="97">
                  <c:v>45606</c:v>
                </c:pt>
                <c:pt idx="98">
                  <c:v>45599</c:v>
                </c:pt>
                <c:pt idx="99">
                  <c:v>45592</c:v>
                </c:pt>
                <c:pt idx="100">
                  <c:v>45585</c:v>
                </c:pt>
                <c:pt idx="101">
                  <c:v>45578</c:v>
                </c:pt>
                <c:pt idx="102">
                  <c:v>45571</c:v>
                </c:pt>
                <c:pt idx="103">
                  <c:v>45564</c:v>
                </c:pt>
                <c:pt idx="104">
                  <c:v>45557</c:v>
                </c:pt>
                <c:pt idx="105">
                  <c:v>45550</c:v>
                </c:pt>
                <c:pt idx="106">
                  <c:v>45543</c:v>
                </c:pt>
                <c:pt idx="107">
                  <c:v>45536</c:v>
                </c:pt>
                <c:pt idx="108">
                  <c:v>45529</c:v>
                </c:pt>
                <c:pt idx="109">
                  <c:v>45522</c:v>
                </c:pt>
                <c:pt idx="110">
                  <c:v>45515</c:v>
                </c:pt>
                <c:pt idx="111">
                  <c:v>45508</c:v>
                </c:pt>
                <c:pt idx="112">
                  <c:v>45501</c:v>
                </c:pt>
                <c:pt idx="113">
                  <c:v>45494</c:v>
                </c:pt>
                <c:pt idx="114">
                  <c:v>45487</c:v>
                </c:pt>
                <c:pt idx="115">
                  <c:v>45480</c:v>
                </c:pt>
                <c:pt idx="116">
                  <c:v>45473</c:v>
                </c:pt>
                <c:pt idx="117">
                  <c:v>45466</c:v>
                </c:pt>
                <c:pt idx="118">
                  <c:v>45459</c:v>
                </c:pt>
                <c:pt idx="119">
                  <c:v>45452</c:v>
                </c:pt>
                <c:pt idx="120">
                  <c:v>45445</c:v>
                </c:pt>
                <c:pt idx="121">
                  <c:v>45438</c:v>
                </c:pt>
                <c:pt idx="122">
                  <c:v>45431</c:v>
                </c:pt>
                <c:pt idx="123">
                  <c:v>45424</c:v>
                </c:pt>
                <c:pt idx="124">
                  <c:v>45417</c:v>
                </c:pt>
                <c:pt idx="125">
                  <c:v>45410</c:v>
                </c:pt>
                <c:pt idx="126">
                  <c:v>45403</c:v>
                </c:pt>
                <c:pt idx="127">
                  <c:v>45396</c:v>
                </c:pt>
                <c:pt idx="128">
                  <c:v>45389</c:v>
                </c:pt>
                <c:pt idx="129">
                  <c:v>45382</c:v>
                </c:pt>
                <c:pt idx="130">
                  <c:v>45375</c:v>
                </c:pt>
                <c:pt idx="131">
                  <c:v>45368</c:v>
                </c:pt>
                <c:pt idx="132">
                  <c:v>45361</c:v>
                </c:pt>
                <c:pt idx="133">
                  <c:v>45354</c:v>
                </c:pt>
                <c:pt idx="134">
                  <c:v>45347</c:v>
                </c:pt>
                <c:pt idx="135">
                  <c:v>45340</c:v>
                </c:pt>
                <c:pt idx="136">
                  <c:v>45333</c:v>
                </c:pt>
                <c:pt idx="137">
                  <c:v>45326</c:v>
                </c:pt>
                <c:pt idx="138">
                  <c:v>45319</c:v>
                </c:pt>
                <c:pt idx="139">
                  <c:v>45312</c:v>
                </c:pt>
                <c:pt idx="140">
                  <c:v>45305</c:v>
                </c:pt>
                <c:pt idx="141">
                  <c:v>45298</c:v>
                </c:pt>
                <c:pt idx="142">
                  <c:v>45291</c:v>
                </c:pt>
                <c:pt idx="143">
                  <c:v>45284</c:v>
                </c:pt>
                <c:pt idx="144">
                  <c:v>45277</c:v>
                </c:pt>
                <c:pt idx="145">
                  <c:v>45270</c:v>
                </c:pt>
                <c:pt idx="146">
                  <c:v>45263</c:v>
                </c:pt>
                <c:pt idx="147">
                  <c:v>45256</c:v>
                </c:pt>
                <c:pt idx="148">
                  <c:v>45249</c:v>
                </c:pt>
                <c:pt idx="149">
                  <c:v>45242</c:v>
                </c:pt>
                <c:pt idx="150">
                  <c:v>45235</c:v>
                </c:pt>
                <c:pt idx="151">
                  <c:v>45228</c:v>
                </c:pt>
                <c:pt idx="152">
                  <c:v>45221</c:v>
                </c:pt>
                <c:pt idx="153">
                  <c:v>45214</c:v>
                </c:pt>
                <c:pt idx="154">
                  <c:v>45207</c:v>
                </c:pt>
                <c:pt idx="155">
                  <c:v>45200</c:v>
                </c:pt>
                <c:pt idx="156">
                  <c:v>45193</c:v>
                </c:pt>
                <c:pt idx="157">
                  <c:v>45186</c:v>
                </c:pt>
                <c:pt idx="158">
                  <c:v>45179</c:v>
                </c:pt>
                <c:pt idx="159">
                  <c:v>45172</c:v>
                </c:pt>
                <c:pt idx="160">
                  <c:v>45165</c:v>
                </c:pt>
                <c:pt idx="161">
                  <c:v>45158</c:v>
                </c:pt>
                <c:pt idx="162">
                  <c:v>45151</c:v>
                </c:pt>
                <c:pt idx="163">
                  <c:v>45144</c:v>
                </c:pt>
                <c:pt idx="164">
                  <c:v>45137</c:v>
                </c:pt>
                <c:pt idx="165">
                  <c:v>45130</c:v>
                </c:pt>
                <c:pt idx="166">
                  <c:v>45123</c:v>
                </c:pt>
                <c:pt idx="167">
                  <c:v>45116</c:v>
                </c:pt>
                <c:pt idx="168">
                  <c:v>45109</c:v>
                </c:pt>
                <c:pt idx="169">
                  <c:v>45102</c:v>
                </c:pt>
                <c:pt idx="170">
                  <c:v>45095</c:v>
                </c:pt>
                <c:pt idx="171">
                  <c:v>45088</c:v>
                </c:pt>
                <c:pt idx="172">
                  <c:v>45081</c:v>
                </c:pt>
                <c:pt idx="173">
                  <c:v>45074</c:v>
                </c:pt>
                <c:pt idx="174">
                  <c:v>45067</c:v>
                </c:pt>
                <c:pt idx="175">
                  <c:v>45060</c:v>
                </c:pt>
                <c:pt idx="176">
                  <c:v>45053</c:v>
                </c:pt>
                <c:pt idx="177">
                  <c:v>45046</c:v>
                </c:pt>
                <c:pt idx="178">
                  <c:v>45039</c:v>
                </c:pt>
                <c:pt idx="179">
                  <c:v>45032</c:v>
                </c:pt>
                <c:pt idx="180">
                  <c:v>45025</c:v>
                </c:pt>
                <c:pt idx="181">
                  <c:v>45018</c:v>
                </c:pt>
                <c:pt idx="182">
                  <c:v>45011</c:v>
                </c:pt>
                <c:pt idx="183">
                  <c:v>45004</c:v>
                </c:pt>
                <c:pt idx="184">
                  <c:v>44997</c:v>
                </c:pt>
                <c:pt idx="185">
                  <c:v>44990</c:v>
                </c:pt>
                <c:pt idx="186">
                  <c:v>44983</c:v>
                </c:pt>
                <c:pt idx="187">
                  <c:v>44976</c:v>
                </c:pt>
                <c:pt idx="188">
                  <c:v>44969</c:v>
                </c:pt>
                <c:pt idx="189">
                  <c:v>44962</c:v>
                </c:pt>
                <c:pt idx="190">
                  <c:v>44955</c:v>
                </c:pt>
                <c:pt idx="191">
                  <c:v>44948</c:v>
                </c:pt>
                <c:pt idx="192">
                  <c:v>44941</c:v>
                </c:pt>
                <c:pt idx="193">
                  <c:v>44934</c:v>
                </c:pt>
                <c:pt idx="194">
                  <c:v>44927</c:v>
                </c:pt>
                <c:pt idx="195">
                  <c:v>44920</c:v>
                </c:pt>
                <c:pt idx="196">
                  <c:v>44913</c:v>
                </c:pt>
                <c:pt idx="197">
                  <c:v>44906</c:v>
                </c:pt>
                <c:pt idx="198">
                  <c:v>44899</c:v>
                </c:pt>
                <c:pt idx="199">
                  <c:v>44892</c:v>
                </c:pt>
                <c:pt idx="200">
                  <c:v>44885</c:v>
                </c:pt>
                <c:pt idx="201">
                  <c:v>44878</c:v>
                </c:pt>
                <c:pt idx="202">
                  <c:v>44871</c:v>
                </c:pt>
                <c:pt idx="203">
                  <c:v>44864</c:v>
                </c:pt>
                <c:pt idx="204">
                  <c:v>44857</c:v>
                </c:pt>
                <c:pt idx="205">
                  <c:v>44850</c:v>
                </c:pt>
                <c:pt idx="206">
                  <c:v>44843</c:v>
                </c:pt>
                <c:pt idx="207">
                  <c:v>44836</c:v>
                </c:pt>
                <c:pt idx="208">
                  <c:v>44829</c:v>
                </c:pt>
                <c:pt idx="209">
                  <c:v>44822</c:v>
                </c:pt>
                <c:pt idx="210">
                  <c:v>44815</c:v>
                </c:pt>
                <c:pt idx="211">
                  <c:v>44808</c:v>
                </c:pt>
                <c:pt idx="212">
                  <c:v>44801</c:v>
                </c:pt>
                <c:pt idx="213">
                  <c:v>44794</c:v>
                </c:pt>
                <c:pt idx="214">
                  <c:v>44787</c:v>
                </c:pt>
                <c:pt idx="215">
                  <c:v>44780</c:v>
                </c:pt>
                <c:pt idx="216">
                  <c:v>44773</c:v>
                </c:pt>
                <c:pt idx="217">
                  <c:v>44766</c:v>
                </c:pt>
                <c:pt idx="218">
                  <c:v>44759</c:v>
                </c:pt>
                <c:pt idx="219">
                  <c:v>44752</c:v>
                </c:pt>
                <c:pt idx="220">
                  <c:v>44745</c:v>
                </c:pt>
                <c:pt idx="221">
                  <c:v>44738</c:v>
                </c:pt>
                <c:pt idx="222">
                  <c:v>44731</c:v>
                </c:pt>
                <c:pt idx="223">
                  <c:v>44724</c:v>
                </c:pt>
                <c:pt idx="224">
                  <c:v>44717</c:v>
                </c:pt>
                <c:pt idx="225">
                  <c:v>44710</c:v>
                </c:pt>
                <c:pt idx="226">
                  <c:v>44703</c:v>
                </c:pt>
                <c:pt idx="227">
                  <c:v>44696</c:v>
                </c:pt>
                <c:pt idx="228">
                  <c:v>44689</c:v>
                </c:pt>
                <c:pt idx="229">
                  <c:v>44682</c:v>
                </c:pt>
                <c:pt idx="230">
                  <c:v>44675</c:v>
                </c:pt>
                <c:pt idx="231">
                  <c:v>44668</c:v>
                </c:pt>
                <c:pt idx="232">
                  <c:v>44661</c:v>
                </c:pt>
                <c:pt idx="233">
                  <c:v>44654</c:v>
                </c:pt>
                <c:pt idx="234">
                  <c:v>44647</c:v>
                </c:pt>
                <c:pt idx="235">
                  <c:v>44640</c:v>
                </c:pt>
                <c:pt idx="236">
                  <c:v>44633</c:v>
                </c:pt>
                <c:pt idx="237">
                  <c:v>44626</c:v>
                </c:pt>
                <c:pt idx="238">
                  <c:v>44619</c:v>
                </c:pt>
                <c:pt idx="239">
                  <c:v>44612</c:v>
                </c:pt>
                <c:pt idx="240">
                  <c:v>44605</c:v>
                </c:pt>
                <c:pt idx="241">
                  <c:v>44598</c:v>
                </c:pt>
                <c:pt idx="242">
                  <c:v>44591</c:v>
                </c:pt>
                <c:pt idx="243">
                  <c:v>44584</c:v>
                </c:pt>
                <c:pt idx="244">
                  <c:v>44577</c:v>
                </c:pt>
                <c:pt idx="245">
                  <c:v>44570</c:v>
                </c:pt>
                <c:pt idx="246">
                  <c:v>44563</c:v>
                </c:pt>
                <c:pt idx="247">
                  <c:v>44556</c:v>
                </c:pt>
                <c:pt idx="248">
                  <c:v>44549</c:v>
                </c:pt>
                <c:pt idx="249">
                  <c:v>44542</c:v>
                </c:pt>
                <c:pt idx="250">
                  <c:v>44535</c:v>
                </c:pt>
                <c:pt idx="251">
                  <c:v>44528</c:v>
                </c:pt>
                <c:pt idx="252">
                  <c:v>44521</c:v>
                </c:pt>
                <c:pt idx="253">
                  <c:v>44514</c:v>
                </c:pt>
                <c:pt idx="254">
                  <c:v>44507</c:v>
                </c:pt>
                <c:pt idx="255">
                  <c:v>44500</c:v>
                </c:pt>
                <c:pt idx="256">
                  <c:v>44493</c:v>
                </c:pt>
                <c:pt idx="257">
                  <c:v>44486</c:v>
                </c:pt>
                <c:pt idx="258">
                  <c:v>44479</c:v>
                </c:pt>
                <c:pt idx="259">
                  <c:v>44472</c:v>
                </c:pt>
                <c:pt idx="260">
                  <c:v>44465</c:v>
                </c:pt>
                <c:pt idx="261">
                  <c:v>44458</c:v>
                </c:pt>
                <c:pt idx="262">
                  <c:v>44451</c:v>
                </c:pt>
                <c:pt idx="263">
                  <c:v>44444</c:v>
                </c:pt>
                <c:pt idx="264">
                  <c:v>44437</c:v>
                </c:pt>
                <c:pt idx="265">
                  <c:v>44430</c:v>
                </c:pt>
                <c:pt idx="266">
                  <c:v>44423</c:v>
                </c:pt>
                <c:pt idx="267">
                  <c:v>44416</c:v>
                </c:pt>
                <c:pt idx="268">
                  <c:v>44409</c:v>
                </c:pt>
                <c:pt idx="269">
                  <c:v>44402</c:v>
                </c:pt>
                <c:pt idx="270">
                  <c:v>44395</c:v>
                </c:pt>
                <c:pt idx="271">
                  <c:v>44388</c:v>
                </c:pt>
                <c:pt idx="272">
                  <c:v>44381</c:v>
                </c:pt>
                <c:pt idx="273">
                  <c:v>44374</c:v>
                </c:pt>
                <c:pt idx="274">
                  <c:v>44367</c:v>
                </c:pt>
                <c:pt idx="275">
                  <c:v>44360</c:v>
                </c:pt>
                <c:pt idx="276">
                  <c:v>44353</c:v>
                </c:pt>
                <c:pt idx="277">
                  <c:v>44346</c:v>
                </c:pt>
                <c:pt idx="278">
                  <c:v>44339</c:v>
                </c:pt>
                <c:pt idx="279">
                  <c:v>44332</c:v>
                </c:pt>
                <c:pt idx="280">
                  <c:v>44325</c:v>
                </c:pt>
                <c:pt idx="281">
                  <c:v>44318</c:v>
                </c:pt>
                <c:pt idx="282">
                  <c:v>44311</c:v>
                </c:pt>
                <c:pt idx="283">
                  <c:v>44304</c:v>
                </c:pt>
                <c:pt idx="284">
                  <c:v>44297</c:v>
                </c:pt>
                <c:pt idx="285">
                  <c:v>44290</c:v>
                </c:pt>
                <c:pt idx="286">
                  <c:v>44283</c:v>
                </c:pt>
                <c:pt idx="287">
                  <c:v>44276</c:v>
                </c:pt>
                <c:pt idx="288">
                  <c:v>44269</c:v>
                </c:pt>
                <c:pt idx="289">
                  <c:v>44262</c:v>
                </c:pt>
                <c:pt idx="290">
                  <c:v>44255</c:v>
                </c:pt>
                <c:pt idx="291">
                  <c:v>44248</c:v>
                </c:pt>
                <c:pt idx="292">
                  <c:v>44241</c:v>
                </c:pt>
                <c:pt idx="293">
                  <c:v>44234</c:v>
                </c:pt>
                <c:pt idx="294">
                  <c:v>44227</c:v>
                </c:pt>
                <c:pt idx="295">
                  <c:v>44220</c:v>
                </c:pt>
                <c:pt idx="296">
                  <c:v>44213</c:v>
                </c:pt>
                <c:pt idx="297">
                  <c:v>44206</c:v>
                </c:pt>
                <c:pt idx="298">
                  <c:v>44199</c:v>
                </c:pt>
              </c:numCache>
            </c:numRef>
          </c:cat>
          <c:val>
            <c:numRef>
              <c:f>Feuil1!$K$4:$K$302</c:f>
              <c:numCache>
                <c:formatCode>General</c:formatCode>
                <c:ptCount val="299"/>
                <c:pt idx="0">
                  <c:v>121</c:v>
                </c:pt>
                <c:pt idx="1">
                  <c:v>120</c:v>
                </c:pt>
                <c:pt idx="2">
                  <c:v>122</c:v>
                </c:pt>
                <c:pt idx="3">
                  <c:v>123</c:v>
                </c:pt>
                <c:pt idx="4">
                  <c:v>126</c:v>
                </c:pt>
                <c:pt idx="5">
                  <c:v>129</c:v>
                </c:pt>
                <c:pt idx="6">
                  <c:v>128</c:v>
                </c:pt>
                <c:pt idx="7">
                  <c:v>126</c:v>
                </c:pt>
                <c:pt idx="8">
                  <c:v>124</c:v>
                </c:pt>
                <c:pt idx="9">
                  <c:v>122</c:v>
                </c:pt>
                <c:pt idx="10">
                  <c:v>123</c:v>
                </c:pt>
                <c:pt idx="11">
                  <c:v>119</c:v>
                </c:pt>
                <c:pt idx="12">
                  <c:v>116</c:v>
                </c:pt>
                <c:pt idx="13">
                  <c:v>119</c:v>
                </c:pt>
                <c:pt idx="14">
                  <c:v>120</c:v>
                </c:pt>
                <c:pt idx="15">
                  <c:v>121</c:v>
                </c:pt>
                <c:pt idx="16">
                  <c:v>123</c:v>
                </c:pt>
                <c:pt idx="17">
                  <c:v>125</c:v>
                </c:pt>
                <c:pt idx="18">
                  <c:v>127</c:v>
                </c:pt>
                <c:pt idx="19">
                  <c:v>126</c:v>
                </c:pt>
                <c:pt idx="20">
                  <c:v>123</c:v>
                </c:pt>
                <c:pt idx="21">
                  <c:v>125</c:v>
                </c:pt>
                <c:pt idx="22">
                  <c:v>123</c:v>
                </c:pt>
                <c:pt idx="23">
                  <c:v>122</c:v>
                </c:pt>
                <c:pt idx="24">
                  <c:v>122</c:v>
                </c:pt>
                <c:pt idx="25">
                  <c:v>120</c:v>
                </c:pt>
                <c:pt idx="26">
                  <c:v>119</c:v>
                </c:pt>
                <c:pt idx="27">
                  <c:v>121</c:v>
                </c:pt>
                <c:pt idx="28">
                  <c:v>123</c:v>
                </c:pt>
                <c:pt idx="29">
                  <c:v>122</c:v>
                </c:pt>
                <c:pt idx="30">
                  <c:v>123</c:v>
                </c:pt>
                <c:pt idx="31">
                  <c:v>121</c:v>
                </c:pt>
                <c:pt idx="32">
                  <c:v>117</c:v>
                </c:pt>
                <c:pt idx="33">
                  <c:v>116</c:v>
                </c:pt>
                <c:pt idx="34">
                  <c:v>120</c:v>
                </c:pt>
                <c:pt idx="35">
                  <c:v>121</c:v>
                </c:pt>
                <c:pt idx="36">
                  <c:v>122</c:v>
                </c:pt>
                <c:pt idx="37">
                  <c:v>123</c:v>
                </c:pt>
                <c:pt idx="38">
                  <c:v>121</c:v>
                </c:pt>
                <c:pt idx="39">
                  <c:v>123</c:v>
                </c:pt>
                <c:pt idx="40">
                  <c:v>126</c:v>
                </c:pt>
                <c:pt idx="41">
                  <c:v>126</c:v>
                </c:pt>
                <c:pt idx="42">
                  <c:v>124</c:v>
                </c:pt>
                <c:pt idx="43">
                  <c:v>121</c:v>
                </c:pt>
                <c:pt idx="44">
                  <c:v>115</c:v>
                </c:pt>
                <c:pt idx="45">
                  <c:v>118</c:v>
                </c:pt>
                <c:pt idx="46">
                  <c:v>121</c:v>
                </c:pt>
                <c:pt idx="47">
                  <c:v>117</c:v>
                </c:pt>
                <c:pt idx="48">
                  <c:v>119</c:v>
                </c:pt>
                <c:pt idx="49">
                  <c:v>116</c:v>
                </c:pt>
                <c:pt idx="50">
                  <c:v>118</c:v>
                </c:pt>
                <c:pt idx="51">
                  <c:v>117</c:v>
                </c:pt>
                <c:pt idx="52">
                  <c:v>121</c:v>
                </c:pt>
                <c:pt idx="53">
                  <c:v>119</c:v>
                </c:pt>
                <c:pt idx="54">
                  <c:v>117</c:v>
                </c:pt>
                <c:pt idx="55">
                  <c:v>116</c:v>
                </c:pt>
                <c:pt idx="56">
                  <c:v>114</c:v>
                </c:pt>
                <c:pt idx="57">
                  <c:v>112</c:v>
                </c:pt>
                <c:pt idx="58">
                  <c:v>113</c:v>
                </c:pt>
                <c:pt idx="59">
                  <c:v>116</c:v>
                </c:pt>
                <c:pt idx="60">
                  <c:v>115</c:v>
                </c:pt>
                <c:pt idx="61">
                  <c:v>114</c:v>
                </c:pt>
                <c:pt idx="62">
                  <c:v>118.90077813902158</c:v>
                </c:pt>
                <c:pt idx="63">
                  <c:v>117.86830049063066</c:v>
                </c:pt>
                <c:pt idx="64">
                  <c:v>116.55641015982742</c:v>
                </c:pt>
                <c:pt idx="65">
                  <c:v>113.72961959959093</c:v>
                </c:pt>
                <c:pt idx="66">
                  <c:v>110.3816709777926</c:v>
                </c:pt>
                <c:pt idx="67">
                  <c:v>109.19807435750543</c:v>
                </c:pt>
                <c:pt idx="68">
                  <c:v>110.20924468061779</c:v>
                </c:pt>
                <c:pt idx="69">
                  <c:v>108.05130174264686</c:v>
                </c:pt>
                <c:pt idx="70">
                  <c:v>105.67590040315258</c:v>
                </c:pt>
                <c:pt idx="71">
                  <c:v>105.39800565684187</c:v>
                </c:pt>
                <c:pt idx="72">
                  <c:v>104.24932156689235</c:v>
                </c:pt>
                <c:pt idx="73">
                  <c:v>102.77844148440659</c:v>
                </c:pt>
                <c:pt idx="74">
                  <c:v>97.857292642901029</c:v>
                </c:pt>
                <c:pt idx="75">
                  <c:v>96.144498521698893</c:v>
                </c:pt>
                <c:pt idx="76">
                  <c:v>91.397687452459081</c:v>
                </c:pt>
                <c:pt idx="77">
                  <c:v>89.712103741375174</c:v>
                </c:pt>
                <c:pt idx="78">
                  <c:v>96.809073434937602</c:v>
                </c:pt>
                <c:pt idx="79">
                  <c:v>97.846329771055878</c:v>
                </c:pt>
                <c:pt idx="80">
                  <c:v>98.547897349290025</c:v>
                </c:pt>
                <c:pt idx="81">
                  <c:v>101.39228472433437</c:v>
                </c:pt>
                <c:pt idx="82">
                  <c:v>94.221161041214202</c:v>
                </c:pt>
                <c:pt idx="83">
                  <c:v>95.585335837740502</c:v>
                </c:pt>
                <c:pt idx="84">
                  <c:v>94.646126929816816</c:v>
                </c:pt>
                <c:pt idx="85">
                  <c:v>93.140671636127109</c:v>
                </c:pt>
                <c:pt idx="86">
                  <c:v>93.489684499792261</c:v>
                </c:pt>
                <c:pt idx="87">
                  <c:v>91.171571193170848</c:v>
                </c:pt>
                <c:pt idx="88">
                  <c:v>90.256817922440206</c:v>
                </c:pt>
                <c:pt idx="89">
                  <c:v>91.223181020626498</c:v>
                </c:pt>
                <c:pt idx="90">
                  <c:v>92.167168616277564</c:v>
                </c:pt>
                <c:pt idx="91">
                  <c:v>90.357957442693689</c:v>
                </c:pt>
                <c:pt idx="92">
                  <c:v>88.694524354722546</c:v>
                </c:pt>
                <c:pt idx="93">
                  <c:v>90.138756225646262</c:v>
                </c:pt>
                <c:pt idx="94">
                  <c:v>89.227095046974497</c:v>
                </c:pt>
                <c:pt idx="95">
                  <c:v>89.036397296724459</c:v>
                </c:pt>
                <c:pt idx="96">
                  <c:v>89.221416841557271</c:v>
                </c:pt>
                <c:pt idx="97">
                  <c:v>90.632760096945503</c:v>
                </c:pt>
                <c:pt idx="98">
                  <c:v>93.770727558017484</c:v>
                </c:pt>
                <c:pt idx="99">
                  <c:v>93.524878129407981</c:v>
                </c:pt>
                <c:pt idx="100">
                  <c:v>94.369244140907199</c:v>
                </c:pt>
                <c:pt idx="101">
                  <c:v>96.330586243788403</c:v>
                </c:pt>
                <c:pt idx="102">
                  <c:v>95.268818050621462</c:v>
                </c:pt>
                <c:pt idx="103">
                  <c:v>95.30136934702324</c:v>
                </c:pt>
                <c:pt idx="104">
                  <c:v>98.241274256759453</c:v>
                </c:pt>
                <c:pt idx="105">
                  <c:v>94.865609246142341</c:v>
                </c:pt>
                <c:pt idx="106">
                  <c:v>94.915195158795783</c:v>
                </c:pt>
                <c:pt idx="107">
                  <c:v>94.678509566651712</c:v>
                </c:pt>
                <c:pt idx="108">
                  <c:v>98.84799893856912</c:v>
                </c:pt>
                <c:pt idx="109">
                  <c:v>97.711345897721472</c:v>
                </c:pt>
                <c:pt idx="110">
                  <c:v>97.236175678053613</c:v>
                </c:pt>
                <c:pt idx="111">
                  <c:v>94.640392504543954</c:v>
                </c:pt>
                <c:pt idx="112">
                  <c:v>94.784034235643261</c:v>
                </c:pt>
                <c:pt idx="113">
                  <c:v>97.465271589689493</c:v>
                </c:pt>
                <c:pt idx="114">
                  <c:v>97.893048471072916</c:v>
                </c:pt>
                <c:pt idx="115">
                  <c:v>99.512461412096599</c:v>
                </c:pt>
                <c:pt idx="116">
                  <c:v>99.337561441274701</c:v>
                </c:pt>
                <c:pt idx="117">
                  <c:v>91.91817087575356</c:v>
                </c:pt>
                <c:pt idx="118">
                  <c:v>97.115752747323782</c:v>
                </c:pt>
                <c:pt idx="119">
                  <c:v>97.974342382293884</c:v>
                </c:pt>
                <c:pt idx="120">
                  <c:v>109.84848186712885</c:v>
                </c:pt>
                <c:pt idx="121">
                  <c:v>109.08602818526241</c:v>
                </c:pt>
                <c:pt idx="122">
                  <c:v>107.61351772696376</c:v>
                </c:pt>
                <c:pt idx="123">
                  <c:v>107.29115307486066</c:v>
                </c:pt>
                <c:pt idx="124">
                  <c:v>105.04106579353483</c:v>
                </c:pt>
                <c:pt idx="125">
                  <c:v>101.27860817627847</c:v>
                </c:pt>
                <c:pt idx="126">
                  <c:v>99.180258285260663</c:v>
                </c:pt>
                <c:pt idx="127">
                  <c:v>96.987402816952084</c:v>
                </c:pt>
                <c:pt idx="128">
                  <c:v>98.879144738580464</c:v>
                </c:pt>
                <c:pt idx="129">
                  <c:v>99.396536069816065</c:v>
                </c:pt>
                <c:pt idx="130">
                  <c:v>98.531368711738878</c:v>
                </c:pt>
                <c:pt idx="131">
                  <c:v>97.629658447511162</c:v>
                </c:pt>
                <c:pt idx="132">
                  <c:v>95.984721692037738</c:v>
                </c:pt>
                <c:pt idx="133">
                  <c:v>96.626640003463123</c:v>
                </c:pt>
                <c:pt idx="134">
                  <c:v>96.528480135557302</c:v>
                </c:pt>
                <c:pt idx="135">
                  <c:v>97.906990995265716</c:v>
                </c:pt>
                <c:pt idx="136">
                  <c:v>99.160412676228162</c:v>
                </c:pt>
                <c:pt idx="137">
                  <c:v>97.586200499119869</c:v>
                </c:pt>
                <c:pt idx="138">
                  <c:v>98.083690001467332</c:v>
                </c:pt>
                <c:pt idx="139">
                  <c:v>99.430099323618904</c:v>
                </c:pt>
                <c:pt idx="140">
                  <c:v>95.908656227389059</c:v>
                </c:pt>
                <c:pt idx="141">
                  <c:v>96.682410100234378</c:v>
                </c:pt>
                <c:pt idx="142">
                  <c:v>96.167436222790286</c:v>
                </c:pt>
                <c:pt idx="143">
                  <c:v>97.949886745100869</c:v>
                </c:pt>
                <c:pt idx="144">
                  <c:v>96.770900152974221</c:v>
                </c:pt>
                <c:pt idx="145">
                  <c:v>95.114101007965786</c:v>
                </c:pt>
                <c:pt idx="146">
                  <c:v>91.633473526913278</c:v>
                </c:pt>
                <c:pt idx="147">
                  <c:v>90.074496930676972</c:v>
                </c:pt>
                <c:pt idx="148">
                  <c:v>89.685961508513643</c:v>
                </c:pt>
                <c:pt idx="149">
                  <c:v>90.609147757586726</c:v>
                </c:pt>
                <c:pt idx="150">
                  <c:v>86.900661201721903</c:v>
                </c:pt>
                <c:pt idx="151">
                  <c:v>86.76550866882063</c:v>
                </c:pt>
                <c:pt idx="152">
                  <c:v>81.843966288325774</c:v>
                </c:pt>
                <c:pt idx="153">
                  <c:v>82.306093501490679</c:v>
                </c:pt>
                <c:pt idx="154">
                  <c:v>86.269930641564116</c:v>
                </c:pt>
                <c:pt idx="155">
                  <c:v>87.536058009895811</c:v>
                </c:pt>
                <c:pt idx="156">
                  <c:v>91.910356315822895</c:v>
                </c:pt>
                <c:pt idx="157">
                  <c:v>94.173711483074172</c:v>
                </c:pt>
                <c:pt idx="158">
                  <c:v>97.833342984408532</c:v>
                </c:pt>
                <c:pt idx="159">
                  <c:v>99.269085657134198</c:v>
                </c:pt>
                <c:pt idx="160">
                  <c:v>100.85842097540325</c:v>
                </c:pt>
                <c:pt idx="161">
                  <c:v>100.19418338129822</c:v>
                </c:pt>
                <c:pt idx="162">
                  <c:v>100.44756627056029</c:v>
                </c:pt>
                <c:pt idx="163">
                  <c:v>102.04482858847122</c:v>
                </c:pt>
                <c:pt idx="164">
                  <c:v>101.63217484824855</c:v>
                </c:pt>
                <c:pt idx="165">
                  <c:v>104.32454373370676</c:v>
                </c:pt>
                <c:pt idx="166">
                  <c:v>103.00933643142216</c:v>
                </c:pt>
                <c:pt idx="167">
                  <c:v>103.31927649543411</c:v>
                </c:pt>
                <c:pt idx="168">
                  <c:v>102.17115460404074</c:v>
                </c:pt>
                <c:pt idx="169">
                  <c:v>102.78378237069012</c:v>
                </c:pt>
                <c:pt idx="170">
                  <c:v>101.01960330145478</c:v>
                </c:pt>
                <c:pt idx="171">
                  <c:v>104.03804734948679</c:v>
                </c:pt>
                <c:pt idx="172">
                  <c:v>102.36747433985238</c:v>
                </c:pt>
                <c:pt idx="173">
                  <c:v>101.9669078685872</c:v>
                </c:pt>
                <c:pt idx="174">
                  <c:v>100.72815956994059</c:v>
                </c:pt>
                <c:pt idx="175">
                  <c:v>102.50819263845968</c:v>
                </c:pt>
                <c:pt idx="176">
                  <c:v>102.39204241675665</c:v>
                </c:pt>
                <c:pt idx="177">
                  <c:v>101.52220881066332</c:v>
                </c:pt>
                <c:pt idx="178">
                  <c:v>100.31944121961105</c:v>
                </c:pt>
                <c:pt idx="179">
                  <c:v>101.11455863759051</c:v>
                </c:pt>
                <c:pt idx="180">
                  <c:v>102.15873001594957</c:v>
                </c:pt>
                <c:pt idx="181">
                  <c:v>100.58642931393223</c:v>
                </c:pt>
                <c:pt idx="182">
                  <c:v>101.08296307873421</c:v>
                </c:pt>
                <c:pt idx="183">
                  <c:v>100.00725236137447</c:v>
                </c:pt>
                <c:pt idx="184">
                  <c:v>99.711535920833441</c:v>
                </c:pt>
                <c:pt idx="185">
                  <c:v>104.93649686208875</c:v>
                </c:pt>
                <c:pt idx="186">
                  <c:v>107.71252089270385</c:v>
                </c:pt>
                <c:pt idx="187">
                  <c:v>105.76562729271599</c:v>
                </c:pt>
                <c:pt idx="188">
                  <c:v>106.8162639544709</c:v>
                </c:pt>
                <c:pt idx="189">
                  <c:v>106.19621516688021</c:v>
                </c:pt>
                <c:pt idx="190">
                  <c:v>106.65929811759057</c:v>
                </c:pt>
                <c:pt idx="191">
                  <c:v>104.82698058334847</c:v>
                </c:pt>
                <c:pt idx="192">
                  <c:v>104.05727454010754</c:v>
                </c:pt>
                <c:pt idx="193">
                  <c:v>104.56910010563709</c:v>
                </c:pt>
                <c:pt idx="194">
                  <c:v>102.04364797150328</c:v>
                </c:pt>
                <c:pt idx="195">
                  <c:v>99.278586812733352</c:v>
                </c:pt>
                <c:pt idx="196">
                  <c:v>97.52531439548757</c:v>
                </c:pt>
                <c:pt idx="197">
                  <c:v>96.458261535892731</c:v>
                </c:pt>
                <c:pt idx="198">
                  <c:v>98.554868611386411</c:v>
                </c:pt>
                <c:pt idx="199">
                  <c:v>98.799987181872922</c:v>
                </c:pt>
                <c:pt idx="200">
                  <c:v>98.783964523022291</c:v>
                </c:pt>
                <c:pt idx="201">
                  <c:v>96.498402512802656</c:v>
                </c:pt>
                <c:pt idx="202">
                  <c:v>100.128743469361</c:v>
                </c:pt>
                <c:pt idx="203">
                  <c:v>96.564741942429748</c:v>
                </c:pt>
                <c:pt idx="204">
                  <c:v>96.647891108886057</c:v>
                </c:pt>
                <c:pt idx="205">
                  <c:v>94.885398635319234</c:v>
                </c:pt>
                <c:pt idx="206">
                  <c:v>93.620395664099846</c:v>
                </c:pt>
                <c:pt idx="207">
                  <c:v>92.458837227214218</c:v>
                </c:pt>
                <c:pt idx="208">
                  <c:v>91.219301850588977</c:v>
                </c:pt>
                <c:pt idx="209">
                  <c:v>92.002050900332875</c:v>
                </c:pt>
                <c:pt idx="210">
                  <c:v>98.78334610461053</c:v>
                </c:pt>
                <c:pt idx="211">
                  <c:v>101.63706597568716</c:v>
                </c:pt>
                <c:pt idx="212">
                  <c:v>102.00047112239005</c:v>
                </c:pt>
                <c:pt idx="213">
                  <c:v>104.64943827931262</c:v>
                </c:pt>
                <c:pt idx="214">
                  <c:v>107.29306454995159</c:v>
                </c:pt>
                <c:pt idx="215">
                  <c:v>109.13645739575011</c:v>
                </c:pt>
                <c:pt idx="216">
                  <c:v>106.87703761839198</c:v>
                </c:pt>
                <c:pt idx="217">
                  <c:v>105.89757529384714</c:v>
                </c:pt>
                <c:pt idx="218">
                  <c:v>103.47967174350703</c:v>
                </c:pt>
                <c:pt idx="219">
                  <c:v>100.48382807743272</c:v>
                </c:pt>
                <c:pt idx="220">
                  <c:v>100.75137837031005</c:v>
                </c:pt>
                <c:pt idx="221">
                  <c:v>98.042537067156303</c:v>
                </c:pt>
                <c:pt idx="222">
                  <c:v>100.40140976909942</c:v>
                </c:pt>
                <c:pt idx="223">
                  <c:v>99.330252860044595</c:v>
                </c:pt>
                <c:pt idx="224">
                  <c:v>106.0977179798407</c:v>
                </c:pt>
                <c:pt idx="225">
                  <c:v>109.14781380658457</c:v>
                </c:pt>
                <c:pt idx="226">
                  <c:v>108.45456676698161</c:v>
                </c:pt>
                <c:pt idx="227">
                  <c:v>106.1516890412322</c:v>
                </c:pt>
                <c:pt idx="228">
                  <c:v>104.88123274401806</c:v>
                </c:pt>
                <c:pt idx="229">
                  <c:v>106.26418497232015</c:v>
                </c:pt>
                <c:pt idx="230">
                  <c:v>108.2117532105754</c:v>
                </c:pt>
                <c:pt idx="231">
                  <c:v>109.96193353576228</c:v>
                </c:pt>
                <c:pt idx="232">
                  <c:v>109.73480531907296</c:v>
                </c:pt>
                <c:pt idx="233">
                  <c:v>108.82201974328889</c:v>
                </c:pt>
                <c:pt idx="234">
                  <c:v>112.04414832821826</c:v>
                </c:pt>
                <c:pt idx="235">
                  <c:v>109.84898784582941</c:v>
                </c:pt>
                <c:pt idx="236">
                  <c:v>110.17489434883633</c:v>
                </c:pt>
                <c:pt idx="237">
                  <c:v>106.083606796081</c:v>
                </c:pt>
                <c:pt idx="238">
                  <c:v>101.06643444118306</c:v>
                </c:pt>
                <c:pt idx="239">
                  <c:v>109.91335958050992</c:v>
                </c:pt>
                <c:pt idx="240">
                  <c:v>112.46630322404005</c:v>
                </c:pt>
                <c:pt idx="241">
                  <c:v>115.01902198814773</c:v>
                </c:pt>
                <c:pt idx="242">
                  <c:v>114.13198510623583</c:v>
                </c:pt>
                <c:pt idx="243">
                  <c:v>113.9030016343112</c:v>
                </c:pt>
                <c:pt idx="244">
                  <c:v>118.01261685999738</c:v>
                </c:pt>
                <c:pt idx="245">
                  <c:v>120.71257542596379</c:v>
                </c:pt>
                <c:pt idx="246">
                  <c:v>121.81729558882147</c:v>
                </c:pt>
                <c:pt idx="247">
                  <c:v>121.3823787857748</c:v>
                </c:pt>
                <c:pt idx="248">
                  <c:v>118.73031953679336</c:v>
                </c:pt>
                <c:pt idx="249">
                  <c:v>116.72883645700219</c:v>
                </c:pt>
                <c:pt idx="250">
                  <c:v>116.95680797152576</c:v>
                </c:pt>
                <c:pt idx="251">
                  <c:v>113.79202363932488</c:v>
                </c:pt>
                <c:pt idx="252">
                  <c:v>115.25711307668219</c:v>
                </c:pt>
                <c:pt idx="253">
                  <c:v>119.88968539930995</c:v>
                </c:pt>
                <c:pt idx="254">
                  <c:v>122.29381508502408</c:v>
                </c:pt>
                <c:pt idx="255">
                  <c:v>121.69737863679218</c:v>
                </c:pt>
                <c:pt idx="256">
                  <c:v>119.64226181474319</c:v>
                </c:pt>
                <c:pt idx="257">
                  <c:v>119.94905356684062</c:v>
                </c:pt>
                <c:pt idx="258">
                  <c:v>118.87699714009594</c:v>
                </c:pt>
                <c:pt idx="259">
                  <c:v>116.01984785782673</c:v>
                </c:pt>
                <c:pt idx="260">
                  <c:v>116.86471984802648</c:v>
                </c:pt>
                <c:pt idx="261">
                  <c:v>120.07374920659728</c:v>
                </c:pt>
                <c:pt idx="262">
                  <c:v>119.3536290760098</c:v>
                </c:pt>
                <c:pt idx="263">
                  <c:v>119.76352804330726</c:v>
                </c:pt>
                <c:pt idx="264">
                  <c:v>120.21609788101742</c:v>
                </c:pt>
                <c:pt idx="265">
                  <c:v>118.52612902119543</c:v>
                </c:pt>
                <c:pt idx="266">
                  <c:v>115.28696582001439</c:v>
                </c:pt>
                <c:pt idx="267">
                  <c:v>118.27611932327034</c:v>
                </c:pt>
                <c:pt idx="268">
                  <c:v>116.49102646774581</c:v>
                </c:pt>
                <c:pt idx="269">
                  <c:v>116.63551149667937</c:v>
                </c:pt>
                <c:pt idx="270">
                  <c:v>113.43660171211947</c:v>
                </c:pt>
                <c:pt idx="271">
                  <c:v>111.73988646962356</c:v>
                </c:pt>
                <c:pt idx="272">
                  <c:v>113.72129906095974</c:v>
                </c:pt>
                <c:pt idx="273">
                  <c:v>115.16817326509741</c:v>
                </c:pt>
                <c:pt idx="274">
                  <c:v>114.12788105677585</c:v>
                </c:pt>
                <c:pt idx="275">
                  <c:v>114.48718215401878</c:v>
                </c:pt>
                <c:pt idx="276">
                  <c:v>116.81249160215906</c:v>
                </c:pt>
                <c:pt idx="277">
                  <c:v>117.67681566240201</c:v>
                </c:pt>
                <c:pt idx="278">
                  <c:v>116.08388227337355</c:v>
                </c:pt>
                <c:pt idx="279">
                  <c:v>113.35547646046533</c:v>
                </c:pt>
                <c:pt idx="280">
                  <c:v>113.22841958677282</c:v>
                </c:pt>
                <c:pt idx="281">
                  <c:v>114.082455413438</c:v>
                </c:pt>
                <c:pt idx="282">
                  <c:v>113.74294370537197</c:v>
                </c:pt>
                <c:pt idx="283">
                  <c:v>111.76080025591277</c:v>
                </c:pt>
                <c:pt idx="284">
                  <c:v>113.52947691359738</c:v>
                </c:pt>
                <c:pt idx="285">
                  <c:v>112.51459608001433</c:v>
                </c:pt>
                <c:pt idx="286">
                  <c:v>111.73437692377317</c:v>
                </c:pt>
                <c:pt idx="287">
                  <c:v>108.28973015031502</c:v>
                </c:pt>
                <c:pt idx="288">
                  <c:v>107.70330083638278</c:v>
                </c:pt>
                <c:pt idx="289">
                  <c:v>108.26651134994553</c:v>
                </c:pt>
                <c:pt idx="290">
                  <c:v>104.44513532400346</c:v>
                </c:pt>
                <c:pt idx="291">
                  <c:v>105.00767119929881</c:v>
                </c:pt>
                <c:pt idx="292">
                  <c:v>106.93134599891718</c:v>
                </c:pt>
                <c:pt idx="293">
                  <c:v>107.91080832346205</c:v>
                </c:pt>
                <c:pt idx="294">
                  <c:v>105.95115281624933</c:v>
                </c:pt>
                <c:pt idx="295">
                  <c:v>100.01506692130513</c:v>
                </c:pt>
                <c:pt idx="296">
                  <c:v>102.29585024379739</c:v>
                </c:pt>
                <c:pt idx="297">
                  <c:v>100</c:v>
                </c:pt>
                <c:pt idx="298">
                  <c:v>100</c:v>
                </c:pt>
              </c:numCache>
            </c:numRef>
          </c:val>
          <c:smooth val="0"/>
          <c:extLst>
            <c:ext xmlns:c16="http://schemas.microsoft.com/office/drawing/2014/chart" uri="{C3380CC4-5D6E-409C-BE32-E72D297353CC}">
              <c16:uniqueId val="{00000000-9CA7-1640-AC1B-846166C4A072}"/>
            </c:ext>
          </c:extLst>
        </c:ser>
        <c:ser>
          <c:idx val="1"/>
          <c:order val="1"/>
          <c:tx>
            <c:strRef>
              <c:f>Feuil1!$L$3</c:f>
              <c:strCache>
                <c:ptCount val="1"/>
                <c:pt idx="0">
                  <c:v>HMG Découvertes</c:v>
                </c:pt>
              </c:strCache>
            </c:strRef>
          </c:tx>
          <c:spPr>
            <a:ln w="12700" cap="rnd">
              <a:solidFill>
                <a:srgbClr val="AB853F"/>
              </a:solidFill>
              <a:round/>
            </a:ln>
            <a:effectLst/>
          </c:spPr>
          <c:marker>
            <c:symbol val="none"/>
          </c:marker>
          <c:cat>
            <c:numRef>
              <c:f>Feuil1!$J$4:$J$302</c:f>
              <c:numCache>
                <c:formatCode>m/d/yy</c:formatCode>
                <c:ptCount val="299"/>
                <c:pt idx="0">
                  <c:v>46285</c:v>
                </c:pt>
                <c:pt idx="1">
                  <c:v>46278</c:v>
                </c:pt>
                <c:pt idx="2">
                  <c:v>46271</c:v>
                </c:pt>
                <c:pt idx="3">
                  <c:v>46264</c:v>
                </c:pt>
                <c:pt idx="4">
                  <c:v>46257</c:v>
                </c:pt>
                <c:pt idx="5">
                  <c:v>46250</c:v>
                </c:pt>
                <c:pt idx="6">
                  <c:v>46243</c:v>
                </c:pt>
                <c:pt idx="7">
                  <c:v>46236</c:v>
                </c:pt>
                <c:pt idx="8">
                  <c:v>46229</c:v>
                </c:pt>
                <c:pt idx="9">
                  <c:v>46222</c:v>
                </c:pt>
                <c:pt idx="10">
                  <c:v>46215</c:v>
                </c:pt>
                <c:pt idx="11">
                  <c:v>46208</c:v>
                </c:pt>
                <c:pt idx="12">
                  <c:v>46201</c:v>
                </c:pt>
                <c:pt idx="13">
                  <c:v>46194</c:v>
                </c:pt>
                <c:pt idx="14">
                  <c:v>46187</c:v>
                </c:pt>
                <c:pt idx="15">
                  <c:v>46180</c:v>
                </c:pt>
                <c:pt idx="16">
                  <c:v>46173</c:v>
                </c:pt>
                <c:pt idx="17">
                  <c:v>46166</c:v>
                </c:pt>
                <c:pt idx="18">
                  <c:v>46159</c:v>
                </c:pt>
                <c:pt idx="19">
                  <c:v>46152</c:v>
                </c:pt>
                <c:pt idx="20">
                  <c:v>46145</c:v>
                </c:pt>
                <c:pt idx="21">
                  <c:v>46138</c:v>
                </c:pt>
                <c:pt idx="22">
                  <c:v>46131</c:v>
                </c:pt>
                <c:pt idx="23">
                  <c:v>46124</c:v>
                </c:pt>
                <c:pt idx="24">
                  <c:v>46117</c:v>
                </c:pt>
                <c:pt idx="25">
                  <c:v>46110</c:v>
                </c:pt>
                <c:pt idx="26">
                  <c:v>46103</c:v>
                </c:pt>
                <c:pt idx="27">
                  <c:v>46096</c:v>
                </c:pt>
                <c:pt idx="28">
                  <c:v>46089</c:v>
                </c:pt>
                <c:pt idx="29">
                  <c:v>46082</c:v>
                </c:pt>
                <c:pt idx="30">
                  <c:v>46075</c:v>
                </c:pt>
                <c:pt idx="31">
                  <c:v>46068</c:v>
                </c:pt>
                <c:pt idx="32">
                  <c:v>46061</c:v>
                </c:pt>
                <c:pt idx="33">
                  <c:v>46054</c:v>
                </c:pt>
                <c:pt idx="34">
                  <c:v>46047</c:v>
                </c:pt>
                <c:pt idx="35">
                  <c:v>46040</c:v>
                </c:pt>
                <c:pt idx="36">
                  <c:v>46033</c:v>
                </c:pt>
                <c:pt idx="37">
                  <c:v>46026</c:v>
                </c:pt>
                <c:pt idx="38">
                  <c:v>46019</c:v>
                </c:pt>
                <c:pt idx="39">
                  <c:v>46012</c:v>
                </c:pt>
                <c:pt idx="40">
                  <c:v>46005</c:v>
                </c:pt>
                <c:pt idx="41">
                  <c:v>45998</c:v>
                </c:pt>
                <c:pt idx="42">
                  <c:v>45991</c:v>
                </c:pt>
                <c:pt idx="43">
                  <c:v>45984</c:v>
                </c:pt>
                <c:pt idx="44">
                  <c:v>45977</c:v>
                </c:pt>
                <c:pt idx="45">
                  <c:v>45970</c:v>
                </c:pt>
                <c:pt idx="46">
                  <c:v>45963</c:v>
                </c:pt>
                <c:pt idx="47">
                  <c:v>45956</c:v>
                </c:pt>
                <c:pt idx="48">
                  <c:v>45949</c:v>
                </c:pt>
                <c:pt idx="49">
                  <c:v>45942</c:v>
                </c:pt>
                <c:pt idx="50">
                  <c:v>45935</c:v>
                </c:pt>
                <c:pt idx="51">
                  <c:v>45928</c:v>
                </c:pt>
                <c:pt idx="52">
                  <c:v>45921</c:v>
                </c:pt>
                <c:pt idx="53">
                  <c:v>45914</c:v>
                </c:pt>
                <c:pt idx="54">
                  <c:v>45907</c:v>
                </c:pt>
                <c:pt idx="55">
                  <c:v>45900</c:v>
                </c:pt>
                <c:pt idx="56">
                  <c:v>45893</c:v>
                </c:pt>
                <c:pt idx="57">
                  <c:v>45886</c:v>
                </c:pt>
                <c:pt idx="58">
                  <c:v>45879</c:v>
                </c:pt>
                <c:pt idx="59">
                  <c:v>45872</c:v>
                </c:pt>
                <c:pt idx="60">
                  <c:v>45865</c:v>
                </c:pt>
                <c:pt idx="61">
                  <c:v>45858</c:v>
                </c:pt>
                <c:pt idx="62">
                  <c:v>45851</c:v>
                </c:pt>
                <c:pt idx="63">
                  <c:v>45844</c:v>
                </c:pt>
                <c:pt idx="64">
                  <c:v>45837</c:v>
                </c:pt>
                <c:pt idx="65">
                  <c:v>45830</c:v>
                </c:pt>
                <c:pt idx="66">
                  <c:v>45823</c:v>
                </c:pt>
                <c:pt idx="67">
                  <c:v>45816</c:v>
                </c:pt>
                <c:pt idx="68">
                  <c:v>45809</c:v>
                </c:pt>
                <c:pt idx="69">
                  <c:v>45802</c:v>
                </c:pt>
                <c:pt idx="70">
                  <c:v>45795</c:v>
                </c:pt>
                <c:pt idx="71">
                  <c:v>45788</c:v>
                </c:pt>
                <c:pt idx="72">
                  <c:v>45781</c:v>
                </c:pt>
                <c:pt idx="73">
                  <c:v>45774</c:v>
                </c:pt>
                <c:pt idx="74">
                  <c:v>45767</c:v>
                </c:pt>
                <c:pt idx="75">
                  <c:v>45760</c:v>
                </c:pt>
                <c:pt idx="76">
                  <c:v>45753</c:v>
                </c:pt>
                <c:pt idx="77">
                  <c:v>45746</c:v>
                </c:pt>
                <c:pt idx="78">
                  <c:v>45739</c:v>
                </c:pt>
                <c:pt idx="79">
                  <c:v>45732</c:v>
                </c:pt>
                <c:pt idx="80">
                  <c:v>45725</c:v>
                </c:pt>
                <c:pt idx="81">
                  <c:v>45718</c:v>
                </c:pt>
                <c:pt idx="82">
                  <c:v>45711</c:v>
                </c:pt>
                <c:pt idx="83">
                  <c:v>45704</c:v>
                </c:pt>
                <c:pt idx="84">
                  <c:v>45697</c:v>
                </c:pt>
                <c:pt idx="85">
                  <c:v>45690</c:v>
                </c:pt>
                <c:pt idx="86">
                  <c:v>45683</c:v>
                </c:pt>
                <c:pt idx="87">
                  <c:v>45676</c:v>
                </c:pt>
                <c:pt idx="88">
                  <c:v>45669</c:v>
                </c:pt>
                <c:pt idx="89">
                  <c:v>45662</c:v>
                </c:pt>
                <c:pt idx="90">
                  <c:v>45655</c:v>
                </c:pt>
                <c:pt idx="91">
                  <c:v>45648</c:v>
                </c:pt>
                <c:pt idx="92">
                  <c:v>45641</c:v>
                </c:pt>
                <c:pt idx="93">
                  <c:v>45634</c:v>
                </c:pt>
                <c:pt idx="94">
                  <c:v>45627</c:v>
                </c:pt>
                <c:pt idx="95">
                  <c:v>45620</c:v>
                </c:pt>
                <c:pt idx="96">
                  <c:v>45613</c:v>
                </c:pt>
                <c:pt idx="97">
                  <c:v>45606</c:v>
                </c:pt>
                <c:pt idx="98">
                  <c:v>45599</c:v>
                </c:pt>
                <c:pt idx="99">
                  <c:v>45592</c:v>
                </c:pt>
                <c:pt idx="100">
                  <c:v>45585</c:v>
                </c:pt>
                <c:pt idx="101">
                  <c:v>45578</c:v>
                </c:pt>
                <c:pt idx="102">
                  <c:v>45571</c:v>
                </c:pt>
                <c:pt idx="103">
                  <c:v>45564</c:v>
                </c:pt>
                <c:pt idx="104">
                  <c:v>45557</c:v>
                </c:pt>
                <c:pt idx="105">
                  <c:v>45550</c:v>
                </c:pt>
                <c:pt idx="106">
                  <c:v>45543</c:v>
                </c:pt>
                <c:pt idx="107">
                  <c:v>45536</c:v>
                </c:pt>
                <c:pt idx="108">
                  <c:v>45529</c:v>
                </c:pt>
                <c:pt idx="109">
                  <c:v>45522</c:v>
                </c:pt>
                <c:pt idx="110">
                  <c:v>45515</c:v>
                </c:pt>
                <c:pt idx="111">
                  <c:v>45508</c:v>
                </c:pt>
                <c:pt idx="112">
                  <c:v>45501</c:v>
                </c:pt>
                <c:pt idx="113">
                  <c:v>45494</c:v>
                </c:pt>
                <c:pt idx="114">
                  <c:v>45487</c:v>
                </c:pt>
                <c:pt idx="115">
                  <c:v>45480</c:v>
                </c:pt>
                <c:pt idx="116">
                  <c:v>45473</c:v>
                </c:pt>
                <c:pt idx="117">
                  <c:v>45466</c:v>
                </c:pt>
                <c:pt idx="118">
                  <c:v>45459</c:v>
                </c:pt>
                <c:pt idx="119">
                  <c:v>45452</c:v>
                </c:pt>
                <c:pt idx="120">
                  <c:v>45445</c:v>
                </c:pt>
                <c:pt idx="121">
                  <c:v>45438</c:v>
                </c:pt>
                <c:pt idx="122">
                  <c:v>45431</c:v>
                </c:pt>
                <c:pt idx="123">
                  <c:v>45424</c:v>
                </c:pt>
                <c:pt idx="124">
                  <c:v>45417</c:v>
                </c:pt>
                <c:pt idx="125">
                  <c:v>45410</c:v>
                </c:pt>
                <c:pt idx="126">
                  <c:v>45403</c:v>
                </c:pt>
                <c:pt idx="127">
                  <c:v>45396</c:v>
                </c:pt>
                <c:pt idx="128">
                  <c:v>45389</c:v>
                </c:pt>
                <c:pt idx="129">
                  <c:v>45382</c:v>
                </c:pt>
                <c:pt idx="130">
                  <c:v>45375</c:v>
                </c:pt>
                <c:pt idx="131">
                  <c:v>45368</c:v>
                </c:pt>
                <c:pt idx="132">
                  <c:v>45361</c:v>
                </c:pt>
                <c:pt idx="133">
                  <c:v>45354</c:v>
                </c:pt>
                <c:pt idx="134">
                  <c:v>45347</c:v>
                </c:pt>
                <c:pt idx="135">
                  <c:v>45340</c:v>
                </c:pt>
                <c:pt idx="136">
                  <c:v>45333</c:v>
                </c:pt>
                <c:pt idx="137">
                  <c:v>45326</c:v>
                </c:pt>
                <c:pt idx="138">
                  <c:v>45319</c:v>
                </c:pt>
                <c:pt idx="139">
                  <c:v>45312</c:v>
                </c:pt>
                <c:pt idx="140">
                  <c:v>45305</c:v>
                </c:pt>
                <c:pt idx="141">
                  <c:v>45298</c:v>
                </c:pt>
                <c:pt idx="142">
                  <c:v>45291</c:v>
                </c:pt>
                <c:pt idx="143">
                  <c:v>45284</c:v>
                </c:pt>
                <c:pt idx="144">
                  <c:v>45277</c:v>
                </c:pt>
                <c:pt idx="145">
                  <c:v>45270</c:v>
                </c:pt>
                <c:pt idx="146">
                  <c:v>45263</c:v>
                </c:pt>
                <c:pt idx="147">
                  <c:v>45256</c:v>
                </c:pt>
                <c:pt idx="148">
                  <c:v>45249</c:v>
                </c:pt>
                <c:pt idx="149">
                  <c:v>45242</c:v>
                </c:pt>
                <c:pt idx="150">
                  <c:v>45235</c:v>
                </c:pt>
                <c:pt idx="151">
                  <c:v>45228</c:v>
                </c:pt>
                <c:pt idx="152">
                  <c:v>45221</c:v>
                </c:pt>
                <c:pt idx="153">
                  <c:v>45214</c:v>
                </c:pt>
                <c:pt idx="154">
                  <c:v>45207</c:v>
                </c:pt>
                <c:pt idx="155">
                  <c:v>45200</c:v>
                </c:pt>
                <c:pt idx="156">
                  <c:v>45193</c:v>
                </c:pt>
                <c:pt idx="157">
                  <c:v>45186</c:v>
                </c:pt>
                <c:pt idx="158">
                  <c:v>45179</c:v>
                </c:pt>
                <c:pt idx="159">
                  <c:v>45172</c:v>
                </c:pt>
                <c:pt idx="160">
                  <c:v>45165</c:v>
                </c:pt>
                <c:pt idx="161">
                  <c:v>45158</c:v>
                </c:pt>
                <c:pt idx="162">
                  <c:v>45151</c:v>
                </c:pt>
                <c:pt idx="163">
                  <c:v>45144</c:v>
                </c:pt>
                <c:pt idx="164">
                  <c:v>45137</c:v>
                </c:pt>
                <c:pt idx="165">
                  <c:v>45130</c:v>
                </c:pt>
                <c:pt idx="166">
                  <c:v>45123</c:v>
                </c:pt>
                <c:pt idx="167">
                  <c:v>45116</c:v>
                </c:pt>
                <c:pt idx="168">
                  <c:v>45109</c:v>
                </c:pt>
                <c:pt idx="169">
                  <c:v>45102</c:v>
                </c:pt>
                <c:pt idx="170">
                  <c:v>45095</c:v>
                </c:pt>
                <c:pt idx="171">
                  <c:v>45088</c:v>
                </c:pt>
                <c:pt idx="172">
                  <c:v>45081</c:v>
                </c:pt>
                <c:pt idx="173">
                  <c:v>45074</c:v>
                </c:pt>
                <c:pt idx="174">
                  <c:v>45067</c:v>
                </c:pt>
                <c:pt idx="175">
                  <c:v>45060</c:v>
                </c:pt>
                <c:pt idx="176">
                  <c:v>45053</c:v>
                </c:pt>
                <c:pt idx="177">
                  <c:v>45046</c:v>
                </c:pt>
                <c:pt idx="178">
                  <c:v>45039</c:v>
                </c:pt>
                <c:pt idx="179">
                  <c:v>45032</c:v>
                </c:pt>
                <c:pt idx="180">
                  <c:v>45025</c:v>
                </c:pt>
                <c:pt idx="181">
                  <c:v>45018</c:v>
                </c:pt>
                <c:pt idx="182">
                  <c:v>45011</c:v>
                </c:pt>
                <c:pt idx="183">
                  <c:v>45004</c:v>
                </c:pt>
                <c:pt idx="184">
                  <c:v>44997</c:v>
                </c:pt>
                <c:pt idx="185">
                  <c:v>44990</c:v>
                </c:pt>
                <c:pt idx="186">
                  <c:v>44983</c:v>
                </c:pt>
                <c:pt idx="187">
                  <c:v>44976</c:v>
                </c:pt>
                <c:pt idx="188">
                  <c:v>44969</c:v>
                </c:pt>
                <c:pt idx="189">
                  <c:v>44962</c:v>
                </c:pt>
                <c:pt idx="190">
                  <c:v>44955</c:v>
                </c:pt>
                <c:pt idx="191">
                  <c:v>44948</c:v>
                </c:pt>
                <c:pt idx="192">
                  <c:v>44941</c:v>
                </c:pt>
                <c:pt idx="193">
                  <c:v>44934</c:v>
                </c:pt>
                <c:pt idx="194">
                  <c:v>44927</c:v>
                </c:pt>
                <c:pt idx="195">
                  <c:v>44920</c:v>
                </c:pt>
                <c:pt idx="196">
                  <c:v>44913</c:v>
                </c:pt>
                <c:pt idx="197">
                  <c:v>44906</c:v>
                </c:pt>
                <c:pt idx="198">
                  <c:v>44899</c:v>
                </c:pt>
                <c:pt idx="199">
                  <c:v>44892</c:v>
                </c:pt>
                <c:pt idx="200">
                  <c:v>44885</c:v>
                </c:pt>
                <c:pt idx="201">
                  <c:v>44878</c:v>
                </c:pt>
                <c:pt idx="202">
                  <c:v>44871</c:v>
                </c:pt>
                <c:pt idx="203">
                  <c:v>44864</c:v>
                </c:pt>
                <c:pt idx="204">
                  <c:v>44857</c:v>
                </c:pt>
                <c:pt idx="205">
                  <c:v>44850</c:v>
                </c:pt>
                <c:pt idx="206">
                  <c:v>44843</c:v>
                </c:pt>
                <c:pt idx="207">
                  <c:v>44836</c:v>
                </c:pt>
                <c:pt idx="208">
                  <c:v>44829</c:v>
                </c:pt>
                <c:pt idx="209">
                  <c:v>44822</c:v>
                </c:pt>
                <c:pt idx="210">
                  <c:v>44815</c:v>
                </c:pt>
                <c:pt idx="211">
                  <c:v>44808</c:v>
                </c:pt>
                <c:pt idx="212">
                  <c:v>44801</c:v>
                </c:pt>
                <c:pt idx="213">
                  <c:v>44794</c:v>
                </c:pt>
                <c:pt idx="214">
                  <c:v>44787</c:v>
                </c:pt>
                <c:pt idx="215">
                  <c:v>44780</c:v>
                </c:pt>
                <c:pt idx="216">
                  <c:v>44773</c:v>
                </c:pt>
                <c:pt idx="217">
                  <c:v>44766</c:v>
                </c:pt>
                <c:pt idx="218">
                  <c:v>44759</c:v>
                </c:pt>
                <c:pt idx="219">
                  <c:v>44752</c:v>
                </c:pt>
                <c:pt idx="220">
                  <c:v>44745</c:v>
                </c:pt>
                <c:pt idx="221">
                  <c:v>44738</c:v>
                </c:pt>
                <c:pt idx="222">
                  <c:v>44731</c:v>
                </c:pt>
                <c:pt idx="223">
                  <c:v>44724</c:v>
                </c:pt>
                <c:pt idx="224">
                  <c:v>44717</c:v>
                </c:pt>
                <c:pt idx="225">
                  <c:v>44710</c:v>
                </c:pt>
                <c:pt idx="226">
                  <c:v>44703</c:v>
                </c:pt>
                <c:pt idx="227">
                  <c:v>44696</c:v>
                </c:pt>
                <c:pt idx="228">
                  <c:v>44689</c:v>
                </c:pt>
                <c:pt idx="229">
                  <c:v>44682</c:v>
                </c:pt>
                <c:pt idx="230">
                  <c:v>44675</c:v>
                </c:pt>
                <c:pt idx="231">
                  <c:v>44668</c:v>
                </c:pt>
                <c:pt idx="232">
                  <c:v>44661</c:v>
                </c:pt>
                <c:pt idx="233">
                  <c:v>44654</c:v>
                </c:pt>
                <c:pt idx="234">
                  <c:v>44647</c:v>
                </c:pt>
                <c:pt idx="235">
                  <c:v>44640</c:v>
                </c:pt>
                <c:pt idx="236">
                  <c:v>44633</c:v>
                </c:pt>
                <c:pt idx="237">
                  <c:v>44626</c:v>
                </c:pt>
                <c:pt idx="238">
                  <c:v>44619</c:v>
                </c:pt>
                <c:pt idx="239">
                  <c:v>44612</c:v>
                </c:pt>
                <c:pt idx="240">
                  <c:v>44605</c:v>
                </c:pt>
                <c:pt idx="241">
                  <c:v>44598</c:v>
                </c:pt>
                <c:pt idx="242">
                  <c:v>44591</c:v>
                </c:pt>
                <c:pt idx="243">
                  <c:v>44584</c:v>
                </c:pt>
                <c:pt idx="244">
                  <c:v>44577</c:v>
                </c:pt>
                <c:pt idx="245">
                  <c:v>44570</c:v>
                </c:pt>
                <c:pt idx="246">
                  <c:v>44563</c:v>
                </c:pt>
                <c:pt idx="247">
                  <c:v>44556</c:v>
                </c:pt>
                <c:pt idx="248">
                  <c:v>44549</c:v>
                </c:pt>
                <c:pt idx="249">
                  <c:v>44542</c:v>
                </c:pt>
                <c:pt idx="250">
                  <c:v>44535</c:v>
                </c:pt>
                <c:pt idx="251">
                  <c:v>44528</c:v>
                </c:pt>
                <c:pt idx="252">
                  <c:v>44521</c:v>
                </c:pt>
                <c:pt idx="253">
                  <c:v>44514</c:v>
                </c:pt>
                <c:pt idx="254">
                  <c:v>44507</c:v>
                </c:pt>
                <c:pt idx="255">
                  <c:v>44500</c:v>
                </c:pt>
                <c:pt idx="256">
                  <c:v>44493</c:v>
                </c:pt>
                <c:pt idx="257">
                  <c:v>44486</c:v>
                </c:pt>
                <c:pt idx="258">
                  <c:v>44479</c:v>
                </c:pt>
                <c:pt idx="259">
                  <c:v>44472</c:v>
                </c:pt>
                <c:pt idx="260">
                  <c:v>44465</c:v>
                </c:pt>
                <c:pt idx="261">
                  <c:v>44458</c:v>
                </c:pt>
                <c:pt idx="262">
                  <c:v>44451</c:v>
                </c:pt>
                <c:pt idx="263">
                  <c:v>44444</c:v>
                </c:pt>
                <c:pt idx="264">
                  <c:v>44437</c:v>
                </c:pt>
                <c:pt idx="265">
                  <c:v>44430</c:v>
                </c:pt>
                <c:pt idx="266">
                  <c:v>44423</c:v>
                </c:pt>
                <c:pt idx="267">
                  <c:v>44416</c:v>
                </c:pt>
                <c:pt idx="268">
                  <c:v>44409</c:v>
                </c:pt>
                <c:pt idx="269">
                  <c:v>44402</c:v>
                </c:pt>
                <c:pt idx="270">
                  <c:v>44395</c:v>
                </c:pt>
                <c:pt idx="271">
                  <c:v>44388</c:v>
                </c:pt>
                <c:pt idx="272">
                  <c:v>44381</c:v>
                </c:pt>
                <c:pt idx="273">
                  <c:v>44374</c:v>
                </c:pt>
                <c:pt idx="274">
                  <c:v>44367</c:v>
                </c:pt>
                <c:pt idx="275">
                  <c:v>44360</c:v>
                </c:pt>
                <c:pt idx="276">
                  <c:v>44353</c:v>
                </c:pt>
                <c:pt idx="277">
                  <c:v>44346</c:v>
                </c:pt>
                <c:pt idx="278">
                  <c:v>44339</c:v>
                </c:pt>
                <c:pt idx="279">
                  <c:v>44332</c:v>
                </c:pt>
                <c:pt idx="280">
                  <c:v>44325</c:v>
                </c:pt>
                <c:pt idx="281">
                  <c:v>44318</c:v>
                </c:pt>
                <c:pt idx="282">
                  <c:v>44311</c:v>
                </c:pt>
                <c:pt idx="283">
                  <c:v>44304</c:v>
                </c:pt>
                <c:pt idx="284">
                  <c:v>44297</c:v>
                </c:pt>
                <c:pt idx="285">
                  <c:v>44290</c:v>
                </c:pt>
                <c:pt idx="286">
                  <c:v>44283</c:v>
                </c:pt>
                <c:pt idx="287">
                  <c:v>44276</c:v>
                </c:pt>
                <c:pt idx="288">
                  <c:v>44269</c:v>
                </c:pt>
                <c:pt idx="289">
                  <c:v>44262</c:v>
                </c:pt>
                <c:pt idx="290">
                  <c:v>44255</c:v>
                </c:pt>
                <c:pt idx="291">
                  <c:v>44248</c:v>
                </c:pt>
                <c:pt idx="292">
                  <c:v>44241</c:v>
                </c:pt>
                <c:pt idx="293">
                  <c:v>44234</c:v>
                </c:pt>
                <c:pt idx="294">
                  <c:v>44227</c:v>
                </c:pt>
                <c:pt idx="295">
                  <c:v>44220</c:v>
                </c:pt>
                <c:pt idx="296">
                  <c:v>44213</c:v>
                </c:pt>
                <c:pt idx="297">
                  <c:v>44206</c:v>
                </c:pt>
                <c:pt idx="298">
                  <c:v>44199</c:v>
                </c:pt>
              </c:numCache>
            </c:numRef>
          </c:cat>
          <c:val>
            <c:numRef>
              <c:f>Feuil1!$L$4:$L$302</c:f>
              <c:numCache>
                <c:formatCode>General</c:formatCode>
                <c:ptCount val="299"/>
                <c:pt idx="0">
                  <c:v>175</c:v>
                </c:pt>
                <c:pt idx="1">
                  <c:v>172</c:v>
                </c:pt>
                <c:pt idx="2">
                  <c:v>172</c:v>
                </c:pt>
                <c:pt idx="3">
                  <c:v>170</c:v>
                </c:pt>
                <c:pt idx="4">
                  <c:v>167</c:v>
                </c:pt>
                <c:pt idx="5">
                  <c:v>162</c:v>
                </c:pt>
                <c:pt idx="6">
                  <c:v>157.30188762265146</c:v>
                </c:pt>
                <c:pt idx="7">
                  <c:v>157.80349364192369</c:v>
                </c:pt>
                <c:pt idx="8">
                  <c:v>155.31746380956571</c:v>
                </c:pt>
                <c:pt idx="9">
                  <c:v>155.81026972323667</c:v>
                </c:pt>
                <c:pt idx="10">
                  <c:v>155.65186782241386</c:v>
                </c:pt>
                <c:pt idx="11">
                  <c:v>154.85545826549918</c:v>
                </c:pt>
                <c:pt idx="12">
                  <c:v>155.6694680336164</c:v>
                </c:pt>
                <c:pt idx="13">
                  <c:v>152.24622695472345</c:v>
                </c:pt>
                <c:pt idx="14">
                  <c:v>153.38144057728692</c:v>
                </c:pt>
                <c:pt idx="15">
                  <c:v>154.37145245742948</c:v>
                </c:pt>
                <c:pt idx="16">
                  <c:v>155.35706428477141</c:v>
                </c:pt>
                <c:pt idx="17">
                  <c:v>156.11387336648039</c:v>
                </c:pt>
                <c:pt idx="18">
                  <c:v>153.24063888766665</c:v>
                </c:pt>
                <c:pt idx="19">
                  <c:v>151.40581686980244</c:v>
                </c:pt>
                <c:pt idx="20">
                  <c:v>152.9194350332204</c:v>
                </c:pt>
                <c:pt idx="21">
                  <c:v>149.87019844238131</c:v>
                </c:pt>
                <c:pt idx="22">
                  <c:v>149.12658951907423</c:v>
                </c:pt>
                <c:pt idx="23">
                  <c:v>152.01742420909051</c:v>
                </c:pt>
                <c:pt idx="24">
                  <c:v>148.46658159897919</c:v>
                </c:pt>
                <c:pt idx="25">
                  <c:v>144.29973159677917</c:v>
                </c:pt>
                <c:pt idx="26">
                  <c:v>140.51568618823427</c:v>
                </c:pt>
                <c:pt idx="27">
                  <c:v>143.5869230430765</c:v>
                </c:pt>
                <c:pt idx="28">
                  <c:v>143.73212478549743</c:v>
                </c:pt>
                <c:pt idx="29">
                  <c:v>146.55695868350418</c:v>
                </c:pt>
                <c:pt idx="30">
                  <c:v>149.13978967747613</c:v>
                </c:pt>
                <c:pt idx="31">
                  <c:v>148.73938487261847</c:v>
                </c:pt>
                <c:pt idx="32">
                  <c:v>147.71857262287148</c:v>
                </c:pt>
                <c:pt idx="33">
                  <c:v>149.15738988867867</c:v>
                </c:pt>
                <c:pt idx="34">
                  <c:v>150.8910106921283</c:v>
                </c:pt>
                <c:pt idx="35">
                  <c:v>149.92739912878955</c:v>
                </c:pt>
                <c:pt idx="36">
                  <c:v>149.43459321511858</c:v>
                </c:pt>
                <c:pt idx="37">
                  <c:v>150.02860034320412</c:v>
                </c:pt>
                <c:pt idx="38">
                  <c:v>146.89136269635236</c:v>
                </c:pt>
                <c:pt idx="39">
                  <c:v>146.28855546266556</c:v>
                </c:pt>
                <c:pt idx="40">
                  <c:v>144.87613851366214</c:v>
                </c:pt>
                <c:pt idx="41">
                  <c:v>144.38333259999118</c:v>
                </c:pt>
                <c:pt idx="42">
                  <c:v>144.77933735204823</c:v>
                </c:pt>
                <c:pt idx="43">
                  <c:v>144.56373476481718</c:v>
                </c:pt>
                <c:pt idx="44">
                  <c:v>142.34170810049719</c:v>
                </c:pt>
                <c:pt idx="45">
                  <c:v>142.14370572446867</c:v>
                </c:pt>
                <c:pt idx="46">
                  <c:v>140.19008228098738</c:v>
                </c:pt>
                <c:pt idx="47">
                  <c:v>142.81251375016498</c:v>
                </c:pt>
                <c:pt idx="48">
                  <c:v>143.16891802701633</c:v>
                </c:pt>
                <c:pt idx="49">
                  <c:v>140.70488845866149</c:v>
                </c:pt>
                <c:pt idx="50">
                  <c:v>140.04928059136711</c:v>
                </c:pt>
                <c:pt idx="51">
                  <c:v>142.46490957891493</c:v>
                </c:pt>
                <c:pt idx="52">
                  <c:v>140.98649183790207</c:v>
                </c:pt>
                <c:pt idx="53">
                  <c:v>142.58371100453203</c:v>
                </c:pt>
                <c:pt idx="54">
                  <c:v>141.24169490033879</c:v>
                </c:pt>
                <c:pt idx="55">
                  <c:v>138.76446517358207</c:v>
                </c:pt>
                <c:pt idx="56">
                  <c:v>141.61129933559201</c:v>
                </c:pt>
                <c:pt idx="57">
                  <c:v>145.68134817617812</c:v>
                </c:pt>
                <c:pt idx="58">
                  <c:v>144.57693492321906</c:v>
                </c:pt>
                <c:pt idx="59">
                  <c:v>145.20614247370966</c:v>
                </c:pt>
                <c:pt idx="60">
                  <c:v>143.75412504950057</c:v>
                </c:pt>
                <c:pt idx="61">
                  <c:v>146.06415276983321</c:v>
                </c:pt>
                <c:pt idx="62">
                  <c:v>145.8925507106085</c:v>
                </c:pt>
                <c:pt idx="63">
                  <c:v>146.61415936991241</c:v>
                </c:pt>
                <c:pt idx="64">
                  <c:v>146.56135873630484</c:v>
                </c:pt>
                <c:pt idx="65">
                  <c:v>144.41413296959561</c:v>
                </c:pt>
                <c:pt idx="66">
                  <c:v>142.79491353896245</c:v>
                </c:pt>
                <c:pt idx="67">
                  <c:v>142.74211290535487</c:v>
                </c:pt>
                <c:pt idx="68">
                  <c:v>142.42970915650989</c:v>
                </c:pt>
                <c:pt idx="69">
                  <c:v>142.05130461565537</c:v>
                </c:pt>
                <c:pt idx="70">
                  <c:v>140.22968275619306</c:v>
                </c:pt>
                <c:pt idx="71">
                  <c:v>140.3924847098165</c:v>
                </c:pt>
                <c:pt idx="72">
                  <c:v>139.30127161525937</c:v>
                </c:pt>
                <c:pt idx="73">
                  <c:v>137.25524706296474</c:v>
                </c:pt>
                <c:pt idx="74">
                  <c:v>133.20719848638183</c:v>
                </c:pt>
                <c:pt idx="75">
                  <c:v>132.96519558234698</c:v>
                </c:pt>
                <c:pt idx="76">
                  <c:v>129.81475777709329</c:v>
                </c:pt>
                <c:pt idx="77">
                  <c:v>129.56835482025787</c:v>
                </c:pt>
                <c:pt idx="78">
                  <c:v>137.44444933339199</c:v>
                </c:pt>
                <c:pt idx="79">
                  <c:v>139.35407224886697</c:v>
                </c:pt>
                <c:pt idx="80">
                  <c:v>139.05926871122455</c:v>
                </c:pt>
                <c:pt idx="81">
                  <c:v>141.01289215470584</c:v>
                </c:pt>
                <c:pt idx="82">
                  <c:v>140.25608307299686</c:v>
                </c:pt>
                <c:pt idx="83">
                  <c:v>137.6908522902275</c:v>
                </c:pt>
                <c:pt idx="84">
                  <c:v>137.95045540546485</c:v>
                </c:pt>
                <c:pt idx="85">
                  <c:v>135.81202974435692</c:v>
                </c:pt>
                <c:pt idx="86">
                  <c:v>135.12562150745808</c:v>
                </c:pt>
                <c:pt idx="87">
                  <c:v>133.23359880318563</c:v>
                </c:pt>
                <c:pt idx="88">
                  <c:v>133.57240286883442</c:v>
                </c:pt>
                <c:pt idx="89">
                  <c:v>135.29722356668279</c:v>
                </c:pt>
                <c:pt idx="90">
                  <c:v>134.37321247854973</c:v>
                </c:pt>
                <c:pt idx="91">
                  <c:v>130.56716680600167</c:v>
                </c:pt>
                <c:pt idx="92">
                  <c:v>130.39116469397632</c:v>
                </c:pt>
                <c:pt idx="93">
                  <c:v>130.64636775641307</c:v>
                </c:pt>
                <c:pt idx="94">
                  <c:v>128.27473929687153</c:v>
                </c:pt>
                <c:pt idx="95">
                  <c:v>128.72354468253619</c:v>
                </c:pt>
                <c:pt idx="96">
                  <c:v>127.94473533682402</c:v>
                </c:pt>
                <c:pt idx="97">
                  <c:v>129.84995819949839</c:v>
                </c:pt>
                <c:pt idx="98">
                  <c:v>130.31636379636555</c:v>
                </c:pt>
                <c:pt idx="99">
                  <c:v>130.23716284595415</c:v>
                </c:pt>
                <c:pt idx="100">
                  <c:v>131.85638227658731</c:v>
                </c:pt>
                <c:pt idx="101">
                  <c:v>133.04879658555902</c:v>
                </c:pt>
                <c:pt idx="102">
                  <c:v>133.52840234082811</c:v>
                </c:pt>
                <c:pt idx="103">
                  <c:v>131.58797905574866</c:v>
                </c:pt>
                <c:pt idx="104">
                  <c:v>134.65041580498965</c:v>
                </c:pt>
                <c:pt idx="105">
                  <c:v>133.41400096801158</c:v>
                </c:pt>
                <c:pt idx="106">
                  <c:v>128.83354600255203</c:v>
                </c:pt>
                <c:pt idx="107">
                  <c:v>130.23276279315351</c:v>
                </c:pt>
                <c:pt idx="108">
                  <c:v>130.53636643639723</c:v>
                </c:pt>
                <c:pt idx="109">
                  <c:v>129.83235798829585</c:v>
                </c:pt>
                <c:pt idx="110">
                  <c:v>127.53113037356447</c:v>
                </c:pt>
                <c:pt idx="111">
                  <c:v>126.37391648699783</c:v>
                </c:pt>
                <c:pt idx="112">
                  <c:v>129.52875434505214</c:v>
                </c:pt>
                <c:pt idx="113">
                  <c:v>130.05676068112817</c:v>
                </c:pt>
                <c:pt idx="114">
                  <c:v>132.36678840146081</c:v>
                </c:pt>
                <c:pt idx="115">
                  <c:v>131.53957847494169</c:v>
                </c:pt>
                <c:pt idx="116">
                  <c:v>130.58916707000486</c:v>
                </c:pt>
                <c:pt idx="117">
                  <c:v>126.54111849342191</c:v>
                </c:pt>
                <c:pt idx="118">
                  <c:v>129.26475117701409</c:v>
                </c:pt>
                <c:pt idx="119">
                  <c:v>132.74079288951469</c:v>
                </c:pt>
                <c:pt idx="120">
                  <c:v>137.28164737976854</c:v>
                </c:pt>
                <c:pt idx="121">
                  <c:v>135.97043164517973</c:v>
                </c:pt>
                <c:pt idx="122">
                  <c:v>134.83521802261626</c:v>
                </c:pt>
                <c:pt idx="123">
                  <c:v>135.18282219386631</c:v>
                </c:pt>
                <c:pt idx="124">
                  <c:v>132.52519030228362</c:v>
                </c:pt>
                <c:pt idx="125">
                  <c:v>130.0479605755269</c:v>
                </c:pt>
                <c:pt idx="126">
                  <c:v>129.09314911778941</c:v>
                </c:pt>
                <c:pt idx="127">
                  <c:v>129.26915122981478</c:v>
                </c:pt>
                <c:pt idx="128">
                  <c:v>129.8939587275047</c:v>
                </c:pt>
                <c:pt idx="129">
                  <c:v>131.1743740924891</c:v>
                </c:pt>
                <c:pt idx="130">
                  <c:v>130.34716416596999</c:v>
                </c:pt>
                <c:pt idx="131">
                  <c:v>127.41232894794736</c:v>
                </c:pt>
                <c:pt idx="132">
                  <c:v>126.70392044704535</c:v>
                </c:pt>
                <c:pt idx="133">
                  <c:v>126.86232234786816</c:v>
                </c:pt>
                <c:pt idx="134">
                  <c:v>125.74470893650722</c:v>
                </c:pt>
                <c:pt idx="135">
                  <c:v>126.85352224226692</c:v>
                </c:pt>
                <c:pt idx="136">
                  <c:v>127.45192942315309</c:v>
                </c:pt>
                <c:pt idx="137">
                  <c:v>125.6083072996876</c:v>
                </c:pt>
                <c:pt idx="138">
                  <c:v>125.5027060324724</c:v>
                </c:pt>
                <c:pt idx="139">
                  <c:v>124.39829277951335</c:v>
                </c:pt>
                <c:pt idx="140">
                  <c:v>123.32907994895939</c:v>
                </c:pt>
                <c:pt idx="141">
                  <c:v>122.96387556650679</c:v>
                </c:pt>
                <c:pt idx="142">
                  <c:v>123.56668280019359</c:v>
                </c:pt>
                <c:pt idx="143">
                  <c:v>124.29269151229816</c:v>
                </c:pt>
                <c:pt idx="144">
                  <c:v>123.67668412020943</c:v>
                </c:pt>
                <c:pt idx="145">
                  <c:v>121.96506358076296</c:v>
                </c:pt>
                <c:pt idx="146">
                  <c:v>122.01786421437058</c:v>
                </c:pt>
                <c:pt idx="147">
                  <c:v>121.62625951511419</c:v>
                </c:pt>
                <c:pt idx="148">
                  <c:v>121.47225766709199</c:v>
                </c:pt>
                <c:pt idx="149">
                  <c:v>120.53064636775642</c:v>
                </c:pt>
                <c:pt idx="150">
                  <c:v>119.38223258679103</c:v>
                </c:pt>
                <c:pt idx="151">
                  <c:v>117.86861442337306</c:v>
                </c:pt>
                <c:pt idx="152">
                  <c:v>115.13618163417961</c:v>
                </c:pt>
                <c:pt idx="153">
                  <c:v>116.27579530954371</c:v>
                </c:pt>
                <c:pt idx="154">
                  <c:v>119.9542394508734</c:v>
                </c:pt>
                <c:pt idx="155">
                  <c:v>120.48224578694943</c:v>
                </c:pt>
                <c:pt idx="156">
                  <c:v>122.13226558718704</c:v>
                </c:pt>
                <c:pt idx="157">
                  <c:v>124.0506886082633</c:v>
                </c:pt>
                <c:pt idx="158">
                  <c:v>125.26950323403881</c:v>
                </c:pt>
                <c:pt idx="159">
                  <c:v>125.951511418137</c:v>
                </c:pt>
                <c:pt idx="160">
                  <c:v>125.58630703568443</c:v>
                </c:pt>
                <c:pt idx="161">
                  <c:v>125.66110793329518</c:v>
                </c:pt>
                <c:pt idx="162">
                  <c:v>125.30910370924451</c:v>
                </c:pt>
                <c:pt idx="163">
                  <c:v>126.01751221014649</c:v>
                </c:pt>
                <c:pt idx="164">
                  <c:v>125.85911030932371</c:v>
                </c:pt>
                <c:pt idx="165">
                  <c:v>127.34632815593787</c:v>
                </c:pt>
                <c:pt idx="166">
                  <c:v>126.78312139745675</c:v>
                </c:pt>
                <c:pt idx="167">
                  <c:v>126.14951379416553</c:v>
                </c:pt>
                <c:pt idx="168">
                  <c:v>124.3146917763013</c:v>
                </c:pt>
                <c:pt idx="169">
                  <c:v>123.1750781009372</c:v>
                </c:pt>
                <c:pt idx="170">
                  <c:v>119.84863818365821</c:v>
                </c:pt>
                <c:pt idx="171">
                  <c:v>118.63862366348394</c:v>
                </c:pt>
                <c:pt idx="172">
                  <c:v>118.48462181546178</c:v>
                </c:pt>
                <c:pt idx="173">
                  <c:v>117.40220882650591</c:v>
                </c:pt>
                <c:pt idx="174">
                  <c:v>117.08100497205965</c:v>
                </c:pt>
                <c:pt idx="175">
                  <c:v>116.48699784397411</c:v>
                </c:pt>
                <c:pt idx="176">
                  <c:v>116.21859462313546</c:v>
                </c:pt>
                <c:pt idx="177">
                  <c:v>115.10538126457519</c:v>
                </c:pt>
                <c:pt idx="178">
                  <c:v>114.73577682932195</c:v>
                </c:pt>
                <c:pt idx="179">
                  <c:v>116.26699520394243</c:v>
                </c:pt>
                <c:pt idx="180">
                  <c:v>115.80498965987591</c:v>
                </c:pt>
                <c:pt idx="181">
                  <c:v>114.17697012364147</c:v>
                </c:pt>
                <c:pt idx="182">
                  <c:v>114.35297223566683</c:v>
                </c:pt>
                <c:pt idx="183">
                  <c:v>115.54538654463855</c:v>
                </c:pt>
                <c:pt idx="184">
                  <c:v>115.08778105337262</c:v>
                </c:pt>
                <c:pt idx="185">
                  <c:v>117.98741584899017</c:v>
                </c:pt>
                <c:pt idx="186">
                  <c:v>118.76622519470234</c:v>
                </c:pt>
                <c:pt idx="187">
                  <c:v>118.3042196506358</c:v>
                </c:pt>
                <c:pt idx="188">
                  <c:v>118.98622783473402</c:v>
                </c:pt>
                <c:pt idx="189">
                  <c:v>118.09741716900601</c:v>
                </c:pt>
                <c:pt idx="190">
                  <c:v>118.38782065384785</c:v>
                </c:pt>
                <c:pt idx="191">
                  <c:v>118.45822149865799</c:v>
                </c:pt>
                <c:pt idx="192">
                  <c:v>117.65301183614203</c:v>
                </c:pt>
                <c:pt idx="193">
                  <c:v>117.88181458177498</c:v>
                </c:pt>
                <c:pt idx="194">
                  <c:v>116.62779953359438</c:v>
                </c:pt>
                <c:pt idx="195">
                  <c:v>114.63457561490735</c:v>
                </c:pt>
                <c:pt idx="196">
                  <c:v>114.87657851894222</c:v>
                </c:pt>
                <c:pt idx="197">
                  <c:v>114.99537994455935</c:v>
                </c:pt>
                <c:pt idx="198">
                  <c:v>114.55097461169532</c:v>
                </c:pt>
                <c:pt idx="199">
                  <c:v>115.72578870946451</c:v>
                </c:pt>
                <c:pt idx="200">
                  <c:v>112.61935143221717</c:v>
                </c:pt>
                <c:pt idx="201">
                  <c:v>111.28173538082456</c:v>
                </c:pt>
                <c:pt idx="202">
                  <c:v>109.13450961411537</c:v>
                </c:pt>
                <c:pt idx="203">
                  <c:v>107.1368856426277</c:v>
                </c:pt>
                <c:pt idx="204">
                  <c:v>107.08408500902011</c:v>
                </c:pt>
                <c:pt idx="205">
                  <c:v>106.08967307607691</c:v>
                </c:pt>
                <c:pt idx="206">
                  <c:v>103.21643859726318</c:v>
                </c:pt>
                <c:pt idx="207">
                  <c:v>103.25603907246885</c:v>
                </c:pt>
                <c:pt idx="208">
                  <c:v>100.34760417125005</c:v>
                </c:pt>
                <c:pt idx="209">
                  <c:v>102.44202930435165</c:v>
                </c:pt>
                <c:pt idx="210">
                  <c:v>104.70805649667795</c:v>
                </c:pt>
                <c:pt idx="211">
                  <c:v>104.37805253663043</c:v>
                </c:pt>
                <c:pt idx="212">
                  <c:v>105.71126853522242</c:v>
                </c:pt>
                <c:pt idx="213">
                  <c:v>107.33048796585558</c:v>
                </c:pt>
                <c:pt idx="214">
                  <c:v>108.76930523166277</c:v>
                </c:pt>
                <c:pt idx="215">
                  <c:v>109.57011484137809</c:v>
                </c:pt>
                <c:pt idx="216">
                  <c:v>109.04210850530205</c:v>
                </c:pt>
                <c:pt idx="217">
                  <c:v>102.3452281427377</c:v>
                </c:pt>
                <c:pt idx="218">
                  <c:v>103.18123817485809</c:v>
                </c:pt>
                <c:pt idx="219">
                  <c:v>101.27601531218373</c:v>
                </c:pt>
                <c:pt idx="220">
                  <c:v>101.7952215426585</c:v>
                </c:pt>
                <c:pt idx="221">
                  <c:v>102.48602983235797</c:v>
                </c:pt>
                <c:pt idx="222">
                  <c:v>103.27363928367139</c:v>
                </c:pt>
                <c:pt idx="223">
                  <c:v>104.58045496545958</c:v>
                </c:pt>
                <c:pt idx="224">
                  <c:v>109.98371980463766</c:v>
                </c:pt>
                <c:pt idx="225">
                  <c:v>108.39970079640955</c:v>
                </c:pt>
                <c:pt idx="226">
                  <c:v>107.40088881066572</c:v>
                </c:pt>
                <c:pt idx="227">
                  <c:v>106.97848374180489</c:v>
                </c:pt>
                <c:pt idx="228">
                  <c:v>105.49566594799136</c:v>
                </c:pt>
                <c:pt idx="229">
                  <c:v>107.20288643463721</c:v>
                </c:pt>
                <c:pt idx="230">
                  <c:v>107.72649271791262</c:v>
                </c:pt>
                <c:pt idx="231">
                  <c:v>108.41730100761208</c:v>
                </c:pt>
                <c:pt idx="232">
                  <c:v>108.1972983675804</c:v>
                </c:pt>
                <c:pt idx="233">
                  <c:v>108.88810665727988</c:v>
                </c:pt>
                <c:pt idx="234">
                  <c:v>109.94411932943196</c:v>
                </c:pt>
                <c:pt idx="235">
                  <c:v>108.50090201082412</c:v>
                </c:pt>
                <c:pt idx="236">
                  <c:v>108.2104985259823</c:v>
                </c:pt>
                <c:pt idx="237">
                  <c:v>105.87407048884587</c:v>
                </c:pt>
                <c:pt idx="238">
                  <c:v>107.02688432261186</c:v>
                </c:pt>
                <c:pt idx="239">
                  <c:v>104.67725612707352</c:v>
                </c:pt>
                <c:pt idx="240">
                  <c:v>109.05970871650459</c:v>
                </c:pt>
                <c:pt idx="241">
                  <c:v>110.18172218066616</c:v>
                </c:pt>
                <c:pt idx="242">
                  <c:v>109.63171558058696</c:v>
                </c:pt>
                <c:pt idx="243">
                  <c:v>109.42931315175781</c:v>
                </c:pt>
                <c:pt idx="244">
                  <c:v>112.71615259383113</c:v>
                </c:pt>
                <c:pt idx="245">
                  <c:v>112.88775465305582</c:v>
                </c:pt>
                <c:pt idx="246">
                  <c:v>112.64135169622035</c:v>
                </c:pt>
                <c:pt idx="247">
                  <c:v>112.39054868658425</c:v>
                </c:pt>
                <c:pt idx="248">
                  <c:v>111.09693316319795</c:v>
                </c:pt>
                <c:pt idx="249">
                  <c:v>110.30932371188453</c:v>
                </c:pt>
                <c:pt idx="250">
                  <c:v>111.40493685924231</c:v>
                </c:pt>
                <c:pt idx="251">
                  <c:v>110.37532450389405</c:v>
                </c:pt>
                <c:pt idx="252">
                  <c:v>112.72495269943239</c:v>
                </c:pt>
                <c:pt idx="253">
                  <c:v>112.79975359704318</c:v>
                </c:pt>
                <c:pt idx="254">
                  <c:v>112.4785497425969</c:v>
                </c:pt>
                <c:pt idx="255">
                  <c:v>113.48616183394201</c:v>
                </c:pt>
                <c:pt idx="256">
                  <c:v>113.09015708188497</c:v>
                </c:pt>
                <c:pt idx="257">
                  <c:v>112.80855370264442</c:v>
                </c:pt>
                <c:pt idx="258">
                  <c:v>112.68975227702734</c:v>
                </c:pt>
                <c:pt idx="259">
                  <c:v>111.68214018568221</c:v>
                </c:pt>
                <c:pt idx="260">
                  <c:v>111.72174066088792</c:v>
                </c:pt>
                <c:pt idx="261">
                  <c:v>112.65015180182161</c:v>
                </c:pt>
                <c:pt idx="262">
                  <c:v>112.24534694416333</c:v>
                </c:pt>
                <c:pt idx="263">
                  <c:v>112.82615391384697</c:v>
                </c:pt>
                <c:pt idx="264">
                  <c:v>113.58736304835656</c:v>
                </c:pt>
                <c:pt idx="265">
                  <c:v>112.68095217142604</c:v>
                </c:pt>
                <c:pt idx="266">
                  <c:v>111.66013992167908</c:v>
                </c:pt>
                <c:pt idx="267">
                  <c:v>112.89215470585646</c:v>
                </c:pt>
                <c:pt idx="268">
                  <c:v>113.14295771549257</c:v>
                </c:pt>
                <c:pt idx="269">
                  <c:v>112.72935275223301</c:v>
                </c:pt>
                <c:pt idx="270">
                  <c:v>110.49412592951116</c:v>
                </c:pt>
                <c:pt idx="271">
                  <c:v>110.42372508470102</c:v>
                </c:pt>
                <c:pt idx="272">
                  <c:v>111.68654023848286</c:v>
                </c:pt>
                <c:pt idx="273">
                  <c:v>113.06375676508115</c:v>
                </c:pt>
                <c:pt idx="274">
                  <c:v>112.333348000176</c:v>
                </c:pt>
                <c:pt idx="275">
                  <c:v>112.02094425133102</c:v>
                </c:pt>
                <c:pt idx="276">
                  <c:v>110.23892286707439</c:v>
                </c:pt>
                <c:pt idx="277">
                  <c:v>110.27412328947948</c:v>
                </c:pt>
                <c:pt idx="278">
                  <c:v>109.34131209574514</c:v>
                </c:pt>
                <c:pt idx="279">
                  <c:v>108.71650459805518</c:v>
                </c:pt>
                <c:pt idx="280">
                  <c:v>107.52409028908347</c:v>
                </c:pt>
                <c:pt idx="281">
                  <c:v>106.99608395300741</c:v>
                </c:pt>
                <c:pt idx="282">
                  <c:v>107.28208738504861</c:v>
                </c:pt>
                <c:pt idx="283">
                  <c:v>106.27887534650415</c:v>
                </c:pt>
                <c:pt idx="284">
                  <c:v>105.64086769041228</c:v>
                </c:pt>
                <c:pt idx="285">
                  <c:v>106.44167730012759</c:v>
                </c:pt>
                <c:pt idx="286">
                  <c:v>104.31205174462093</c:v>
                </c:pt>
                <c:pt idx="287">
                  <c:v>103.96444757337086</c:v>
                </c:pt>
                <c:pt idx="288">
                  <c:v>104.39125269503234</c:v>
                </c:pt>
                <c:pt idx="289">
                  <c:v>102.26602719232629</c:v>
                </c:pt>
                <c:pt idx="290">
                  <c:v>101.46081752981036</c:v>
                </c:pt>
                <c:pt idx="291">
                  <c:v>101.85242222906675</c:v>
                </c:pt>
                <c:pt idx="292">
                  <c:v>102.74563294759535</c:v>
                </c:pt>
                <c:pt idx="293">
                  <c:v>101.55321863862366</c:v>
                </c:pt>
                <c:pt idx="294">
                  <c:v>99.964799577594917</c:v>
                </c:pt>
                <c:pt idx="295">
                  <c:v>97.597571170854053</c:v>
                </c:pt>
                <c:pt idx="296">
                  <c:v>100</c:v>
                </c:pt>
                <c:pt idx="297">
                  <c:v>99.55999471993664</c:v>
                </c:pt>
                <c:pt idx="298">
                  <c:v>100</c:v>
                </c:pt>
              </c:numCache>
            </c:numRef>
          </c:val>
          <c:smooth val="0"/>
          <c:extLst>
            <c:ext xmlns:c16="http://schemas.microsoft.com/office/drawing/2014/chart" uri="{C3380CC4-5D6E-409C-BE32-E72D297353CC}">
              <c16:uniqueId val="{00000001-9CA7-1640-AC1B-846166C4A072}"/>
            </c:ext>
          </c:extLst>
        </c:ser>
        <c:dLbls>
          <c:showLegendKey val="0"/>
          <c:showVal val="0"/>
          <c:showCatName val="0"/>
          <c:showSerName val="0"/>
          <c:showPercent val="0"/>
          <c:showBubbleSize val="0"/>
        </c:dLbls>
        <c:smooth val="0"/>
        <c:axId val="2071188736"/>
        <c:axId val="2071191424"/>
      </c:lineChart>
      <c:dateAx>
        <c:axId val="2071188736"/>
        <c:scaling>
          <c:orientation val="minMax"/>
        </c:scaling>
        <c:delete val="0"/>
        <c:axPos val="b"/>
        <c:numFmt formatCode="yyyy" sourceLinked="0"/>
        <c:majorTickMark val="out"/>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Jost Medium" pitchFamily="2" charset="77"/>
                <a:ea typeface="Jost Medium" pitchFamily="2" charset="77"/>
                <a:cs typeface="+mn-cs"/>
              </a:defRPr>
            </a:pPr>
            <a:endParaRPr lang="fr-FR"/>
          </a:p>
        </c:txPr>
        <c:crossAx val="2071191424"/>
        <c:crosses val="autoZero"/>
        <c:auto val="1"/>
        <c:lblOffset val="100"/>
        <c:baseTimeUnit val="days"/>
        <c:majorUnit val="1"/>
        <c:majorTimeUnit val="years"/>
      </c:dateAx>
      <c:valAx>
        <c:axId val="2071191424"/>
        <c:scaling>
          <c:orientation val="minMax"/>
          <c:min val="8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Jost Medium" pitchFamily="2" charset="77"/>
                <a:ea typeface="Jost Medium" pitchFamily="2" charset="77"/>
                <a:cs typeface="+mn-cs"/>
              </a:defRPr>
            </a:pPr>
            <a:endParaRPr lang="fr-FR"/>
          </a:p>
        </c:txPr>
        <c:crossAx val="2071188736"/>
        <c:crosses val="autoZero"/>
        <c:crossBetween val="between"/>
        <c:majorUnit val="20"/>
        <c:minorUnit val="10"/>
      </c:valAx>
      <c:spPr>
        <a:pattFill prst="narHorz">
          <a:fgClr>
            <a:srgbClr val="E7DCC7"/>
          </a:fgClr>
          <a:bgClr>
            <a:schemeClr val="bg1"/>
          </a:bgClr>
        </a:pattFill>
        <a:ln>
          <a:noFill/>
        </a:ln>
        <a:effectLst/>
      </c:spPr>
    </c:plotArea>
    <c:legend>
      <c:legendPos val="b"/>
      <c:layout>
        <c:manualLayout>
          <c:xMode val="edge"/>
          <c:yMode val="edge"/>
          <c:x val="0.26487914130102691"/>
          <c:y val="0.92211219956839618"/>
          <c:w val="0.46530807901979071"/>
          <c:h val="4.9507512619730736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Jost Medium" pitchFamily="2" charset="77"/>
              <a:ea typeface="Jost Medium" pitchFamily="2" charset="77"/>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066785884188764"/>
          <c:y val="3.1427310883810351E-2"/>
          <c:w val="0.86698051344725802"/>
          <c:h val="0.78727186106439984"/>
        </c:manualLayout>
      </c:layout>
      <c:scatterChart>
        <c:scatterStyle val="lineMarker"/>
        <c:varyColors val="1"/>
        <c:ser>
          <c:idx val="0"/>
          <c:order val="0"/>
          <c:tx>
            <c:v>ETF obligataires</c:v>
          </c:tx>
          <c:spPr>
            <a:ln w="38100">
              <a:noFill/>
            </a:ln>
          </c:spPr>
          <c:marker>
            <c:spPr>
              <a:solidFill>
                <a:srgbClr val="AB853F"/>
              </a:solidFill>
              <a:ln>
                <a:noFill/>
              </a:ln>
            </c:spPr>
          </c:marker>
          <c:dLbls>
            <c:dLbl>
              <c:idx val="0"/>
              <c:tx>
                <c:rich>
                  <a:bodyPr/>
                  <a:lstStyle/>
                  <a:p>
                    <a:r>
                      <a:rPr lang="en-US"/>
                      <a:t>ETF souverain (1 à 3 ans)</a:t>
                    </a:r>
                    <a:endParaRPr lang="en-US" dirty="0"/>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7760-C942-BDFC-DEBA29BDC004}"/>
                </c:ext>
              </c:extLst>
            </c:dLbl>
            <c:dLbl>
              <c:idx val="1"/>
              <c:tx>
                <c:rich>
                  <a:bodyPr/>
                  <a:lstStyle/>
                  <a:p>
                    <a:r>
                      <a:rPr lang="en-US"/>
                      <a:t>ETF souverain (7 à 10 ans)</a:t>
                    </a:r>
                    <a:endParaRPr lang="en-US" dirty="0"/>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7760-C942-BDFC-DEBA29BDC004}"/>
                </c:ext>
              </c:extLst>
            </c:dLbl>
            <c:dLbl>
              <c:idx val="2"/>
              <c:tx>
                <c:rich>
                  <a:bodyPr/>
                  <a:lstStyle/>
                  <a:p>
                    <a:r>
                      <a:rPr lang="en-US" dirty="0"/>
                      <a:t>ETF credit Investment Grade</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760-C942-BDFC-DEBA29BDC004}"/>
                </c:ext>
              </c:extLst>
            </c:dLbl>
            <c:dLbl>
              <c:idx val="3"/>
              <c:layout>
                <c:manualLayout>
                  <c:x val="-5.3949094993311587E-3"/>
                  <c:y val="7.3529411764705656E-3"/>
                </c:manualLayout>
              </c:layout>
              <c:tx>
                <c:rich>
                  <a:bodyPr wrap="square" lIns="38100" tIns="19050" rIns="38100" bIns="19050" anchor="ctr">
                    <a:noAutofit/>
                  </a:bodyPr>
                  <a:lstStyle/>
                  <a:p>
                    <a:pPr>
                      <a:defRPr sz="900" b="0" i="0">
                        <a:solidFill>
                          <a:srgbClr val="AB853F"/>
                        </a:solidFill>
                        <a:latin typeface="Jost Medium" pitchFamily="2" charset="77"/>
                        <a:ea typeface="Jost Medium" pitchFamily="2" charset="77"/>
                      </a:defRPr>
                    </a:pPr>
                    <a:r>
                      <a:rPr lang="en-US" dirty="0"/>
                      <a:t>ETF High Yield</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layout>
                    <c:manualLayout>
                      <c:w val="9.4862192109131369E-2"/>
                      <c:h val="8.3345684730585151E-2"/>
                    </c:manualLayout>
                  </c15:layout>
                  <c15:showDataLabelsRange val="0"/>
                </c:ext>
                <c:ext xmlns:c16="http://schemas.microsoft.com/office/drawing/2014/chart" uri="{C3380CC4-5D6E-409C-BE32-E72D297353CC}">
                  <c16:uniqueId val="{00000008-7760-C942-BDFC-DEBA29BDC004}"/>
                </c:ext>
              </c:extLst>
            </c:dLbl>
            <c:spPr>
              <a:noFill/>
              <a:ln>
                <a:noFill/>
              </a:ln>
              <a:effectLst/>
            </c:spPr>
            <c:txPr>
              <a:bodyPr wrap="square" lIns="38100" tIns="19050" rIns="38100" bIns="19050" anchor="ctr">
                <a:spAutoFit/>
              </a:bodyPr>
              <a:lstStyle/>
              <a:p>
                <a:pPr>
                  <a:defRPr sz="900" b="0" i="0">
                    <a:solidFill>
                      <a:srgbClr val="AB853F"/>
                    </a:solidFill>
                    <a:latin typeface="Jost Medium" pitchFamily="2" charset="77"/>
                    <a:ea typeface="Jost Medium" pitchFamily="2" charset="77"/>
                  </a:defRPr>
                </a:pPr>
                <a:endParaRPr lang="fr-FR"/>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xVal>
            <c:numLit>
              <c:ptCount val="0"/>
            </c:numLit>
          </c:xVal>
          <c:yVal>
            <c:numRef>
              <c:f>'Matrice obligataire'!$C$6:$C$9</c:f>
              <c:numCache>
                <c:formatCode>0.0"%"</c:formatCode>
                <c:ptCount val="4"/>
                <c:pt idx="0">
                  <c:v>2.6</c:v>
                </c:pt>
                <c:pt idx="1">
                  <c:v>3.1</c:v>
                </c:pt>
                <c:pt idx="2">
                  <c:v>3.7</c:v>
                </c:pt>
                <c:pt idx="3">
                  <c:v>5.8</c:v>
                </c:pt>
              </c:numCache>
            </c:numRef>
          </c:yVal>
          <c:smooth val="0"/>
          <c:extLst>
            <c:ext xmlns:c16="http://schemas.microsoft.com/office/drawing/2014/chart" uri="{C3380CC4-5D6E-409C-BE32-E72D297353CC}">
              <c16:uniqueId val="{00000000-7760-C942-BDFC-DEBA29BDC004}"/>
            </c:ext>
          </c:extLst>
        </c:ser>
        <c:ser>
          <c:idx val="1"/>
          <c:order val="1"/>
          <c:tx>
            <c:v>Fonds obligataires alternatifs</c:v>
          </c:tx>
          <c:spPr>
            <a:ln w="38100">
              <a:noFill/>
            </a:ln>
          </c:spPr>
          <c:marker>
            <c:symbol val="square"/>
            <c:size val="6"/>
            <c:spPr>
              <a:solidFill>
                <a:srgbClr val="144629"/>
              </a:solidFill>
              <a:ln>
                <a:noFill/>
              </a:ln>
            </c:spPr>
          </c:marker>
          <c:dLbls>
            <c:dLbl>
              <c:idx val="0"/>
              <c:layout>
                <c:manualLayout>
                  <c:x val="-1.0400362357683449E-2"/>
                  <c:y val="1.3480392156862746E-2"/>
                </c:manualLayout>
              </c:layout>
              <c:tx>
                <c:rich>
                  <a:bodyPr wrap="square" lIns="38100" tIns="19050" rIns="38100" bIns="19050" anchor="ctr">
                    <a:noAutofit/>
                  </a:bodyPr>
                  <a:lstStyle/>
                  <a:p>
                    <a:pPr>
                      <a:defRPr sz="900">
                        <a:solidFill>
                          <a:srgbClr val="144629"/>
                        </a:solidFill>
                        <a:latin typeface="Jost Medium" pitchFamily="2" charset="77"/>
                        <a:ea typeface="Jost Medium" pitchFamily="2" charset="77"/>
                      </a:defRPr>
                    </a:pPr>
                    <a:r>
                      <a:rPr lang="en-US" sz="900" dirty="0">
                        <a:solidFill>
                          <a:srgbClr val="144629"/>
                        </a:solidFill>
                      </a:rPr>
                      <a:t>Fonds </a:t>
                    </a:r>
                    <a:r>
                      <a:rPr lang="en-US" sz="900" dirty="0" err="1">
                        <a:solidFill>
                          <a:srgbClr val="144629"/>
                        </a:solidFill>
                      </a:rPr>
                      <a:t>obligataires</a:t>
                    </a:r>
                    <a:r>
                      <a:rPr lang="en-US" sz="900" dirty="0">
                        <a:solidFill>
                          <a:srgbClr val="144629"/>
                        </a:solidFill>
                      </a:rPr>
                      <a:t> flexible</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layout>
                    <c:manualLayout>
                      <c:w val="0.16144422526688443"/>
                      <c:h val="7.2450980392156861E-2"/>
                    </c:manualLayout>
                  </c15:layout>
                  <c15:showDataLabelsRange val="0"/>
                </c:ext>
                <c:ext xmlns:c16="http://schemas.microsoft.com/office/drawing/2014/chart" uri="{C3380CC4-5D6E-409C-BE32-E72D297353CC}">
                  <c16:uniqueId val="{00000002-7760-C942-BDFC-DEBA29BDC004}"/>
                </c:ext>
              </c:extLst>
            </c:dLbl>
            <c:dLbl>
              <c:idx val="1"/>
              <c:tx>
                <c:rich>
                  <a:bodyPr/>
                  <a:lstStyle/>
                  <a:p>
                    <a:r>
                      <a:rPr lang="en-US"/>
                      <a:t>Performance absolue obligataire</a:t>
                    </a:r>
                    <a:endParaRPr lang="en-US" dirty="0"/>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760-C942-BDFC-DEBA29BDC004}"/>
                </c:ext>
              </c:extLst>
            </c:dLbl>
            <c:dLbl>
              <c:idx val="2"/>
              <c:tx>
                <c:rich>
                  <a:bodyPr/>
                  <a:lstStyle/>
                  <a:p>
                    <a:r>
                      <a:rPr lang="en-US"/>
                      <a:t>Crédit opportuniste</a:t>
                    </a:r>
                    <a:endParaRPr lang="en-US" dirty="0"/>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760-C942-BDFC-DEBA29BDC004}"/>
                </c:ext>
              </c:extLst>
            </c:dLbl>
            <c:spPr>
              <a:noFill/>
              <a:ln>
                <a:noFill/>
              </a:ln>
              <a:effectLst/>
            </c:spPr>
            <c:txPr>
              <a:bodyPr wrap="square" lIns="38100" tIns="19050" rIns="38100" bIns="19050" anchor="ctr">
                <a:spAutoFit/>
              </a:bodyPr>
              <a:lstStyle/>
              <a:p>
                <a:pPr>
                  <a:defRPr sz="900">
                    <a:solidFill>
                      <a:srgbClr val="144629"/>
                    </a:solidFill>
                    <a:latin typeface="Jost Medium" pitchFamily="2" charset="77"/>
                    <a:ea typeface="Jost Medium" pitchFamily="2" charset="77"/>
                  </a:defRPr>
                </a:pPr>
                <a:endParaRPr lang="fr-FR"/>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xVal>
            <c:numLit>
              <c:ptCount val="0"/>
            </c:numLit>
          </c:xVal>
          <c:yVal>
            <c:numRef>
              <c:f>'Matrice obligataire'!$C$10:$C$12</c:f>
              <c:numCache>
                <c:formatCode>0.0"%"</c:formatCode>
                <c:ptCount val="3"/>
                <c:pt idx="0">
                  <c:v>4.5999999999999996</c:v>
                </c:pt>
                <c:pt idx="1">
                  <c:v>3.9</c:v>
                </c:pt>
                <c:pt idx="2">
                  <c:v>6.3</c:v>
                </c:pt>
              </c:numCache>
            </c:numRef>
          </c:yVal>
          <c:smooth val="0"/>
          <c:extLst>
            <c:ext xmlns:c16="http://schemas.microsoft.com/office/drawing/2014/chart" uri="{C3380CC4-5D6E-409C-BE32-E72D297353CC}">
              <c16:uniqueId val="{00000001-7760-C942-BDFC-DEBA29BDC004}"/>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majorGridlines>
          <c:spPr>
            <a:ln w="9525">
              <a:solidFill>
                <a:srgbClr val="CCCCCC"/>
              </a:solidFill>
              <a:prstDash val="dash"/>
            </a:ln>
          </c:spPr>
        </c:majorGridlines>
        <c:title>
          <c:tx>
            <c:rich>
              <a:bodyPr/>
              <a:lstStyle/>
              <a:p>
                <a:r>
                  <a:rPr lang="fr-FR" sz="750" b="0" dirty="0">
                    <a:latin typeface="Jost Medium" pitchFamily="2" charset="77"/>
                    <a:ea typeface="Jost Medium" pitchFamily="2" charset="77"/>
                  </a:rPr>
                  <a:t>Rendement indicatif (%)</a:t>
                </a:r>
              </a:p>
            </c:rich>
          </c:tx>
          <c:layout>
            <c:manualLayout>
              <c:xMode val="edge"/>
              <c:yMode val="edge"/>
              <c:x val="8.2730595043251833E-3"/>
              <c:y val="0.29264463409041858"/>
            </c:manualLayout>
          </c:layout>
          <c:overlay val="1"/>
        </c:title>
        <c:numFmt formatCode="0&quot;%&quot;" sourceLinked="0"/>
        <c:majorTickMark val="none"/>
        <c:minorTickMark val="none"/>
        <c:tickLblPos val="nextTo"/>
        <c:txPr>
          <a:bodyPr/>
          <a:lstStyle/>
          <a:p>
            <a:pPr>
              <a:defRPr sz="800" b="0" i="0">
                <a:latin typeface="Jost Medium" pitchFamily="2" charset="77"/>
                <a:ea typeface="Jost Medium" pitchFamily="2" charset="77"/>
              </a:defRPr>
            </a:pPr>
            <a:endParaRPr lang="fr-FR"/>
          </a:p>
        </c:txPr>
        <c:crossAx val="48650112"/>
        <c:crosses val="autoZero"/>
        <c:crossBetween val="midCat"/>
      </c:valAx>
      <c:valAx>
        <c:axId val="48650112"/>
        <c:scaling>
          <c:orientation val="minMax"/>
        </c:scaling>
        <c:delete val="0"/>
        <c:axPos val="b"/>
        <c:majorGridlines>
          <c:spPr>
            <a:ln w="9525">
              <a:solidFill>
                <a:srgbClr val="CCCCCC"/>
              </a:solidFill>
              <a:prstDash val="dash"/>
            </a:ln>
          </c:spPr>
        </c:majorGridlines>
        <c:title>
          <c:tx>
            <c:rich>
              <a:bodyPr/>
              <a:lstStyle/>
              <a:p>
                <a:r>
                  <a:rPr lang="fr-FR" sz="750" b="0" i="0" dirty="0">
                    <a:latin typeface="Jost Medium" pitchFamily="2" charset="77"/>
                    <a:ea typeface="Jost Medium" pitchFamily="2" charset="77"/>
                  </a:rPr>
                  <a:t>Sensibilité aux taux (duration modifiée)</a:t>
                </a:r>
              </a:p>
            </c:rich>
          </c:tx>
          <c:layout>
            <c:manualLayout>
              <c:xMode val="edge"/>
              <c:yMode val="edge"/>
              <c:x val="0.39668598119569415"/>
              <c:y val="0.88652772244626077"/>
            </c:manualLayout>
          </c:layout>
          <c:overlay val="1"/>
        </c:title>
        <c:numFmt formatCode="0.0" sourceLinked="1"/>
        <c:majorTickMark val="none"/>
        <c:minorTickMark val="none"/>
        <c:tickLblPos val="nextTo"/>
        <c:txPr>
          <a:bodyPr/>
          <a:lstStyle/>
          <a:p>
            <a:pPr>
              <a:defRPr sz="800" b="0" i="0">
                <a:latin typeface="Jost Medium" pitchFamily="2" charset="77"/>
                <a:ea typeface="Jost Medium" pitchFamily="2" charset="77"/>
              </a:defRPr>
            </a:pPr>
            <a:endParaRPr lang="fr-FR"/>
          </a:p>
        </c:txPr>
        <c:crossAx val="48672768"/>
        <c:crosses val="autoZero"/>
        <c:crossBetween val="midCat"/>
      </c:valAx>
      <c:spPr>
        <a:pattFill prst="dkVert">
          <a:fgClr>
            <a:srgbClr val="FCF9EF"/>
          </a:fgClr>
          <a:bgClr>
            <a:schemeClr val="bg1"/>
          </a:bgClr>
        </a:pattFill>
      </c:spPr>
    </c:plotArea>
    <c:legend>
      <c:legendPos val="b"/>
      <c:layout>
        <c:manualLayout>
          <c:xMode val="edge"/>
          <c:yMode val="edge"/>
          <c:x val="0.27289831105348988"/>
          <c:y val="0.93342538984097578"/>
          <c:w val="0.45420350398212272"/>
          <c:h val="5.5869111121601221E-2"/>
        </c:manualLayout>
      </c:layout>
      <c:overlay val="0"/>
      <c:txPr>
        <a:bodyPr/>
        <a:lstStyle/>
        <a:p>
          <a:pPr>
            <a:defRPr sz="900" b="0" i="0">
              <a:latin typeface="Jost Medium" pitchFamily="2" charset="77"/>
              <a:ea typeface="Jost Medium" pitchFamily="2" charset="77"/>
            </a:defRPr>
          </a:pPr>
          <a:endParaRPr lang="fr-FR"/>
        </a:p>
      </c:txPr>
    </c:legend>
    <c:plotVisOnly val="1"/>
    <c:dispBlanksAs val="zero"/>
    <c:showDLblsOverMax val="1"/>
  </c:chart>
  <c:spPr>
    <a:ln w="9525">
      <a:noFill/>
      <a:prstDash val="solid"/>
    </a:ln>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12700" cap="rnd">
              <a:solidFill>
                <a:srgbClr val="AA853F"/>
              </a:solidFill>
              <a:round/>
            </a:ln>
            <a:effectLst/>
          </c:spPr>
          <c:marker>
            <c:symbol val="none"/>
          </c:marker>
          <c:dPt>
            <c:idx val="219"/>
            <c:marker>
              <c:symbol val="picture"/>
              <c:spPr>
                <a:blipFill>
                  <a:blip xmlns:r="http://schemas.openxmlformats.org/officeDocument/2006/relationships" r:embed="rId1"/>
                  <a:stretch>
                    <a:fillRect/>
                  </a:stretch>
                </a:blipFill>
                <a:ln w="25400">
                  <a:noFill/>
                </a:ln>
                <a:effectLst/>
              </c:spPr>
            </c:marker>
            <c:bubble3D val="0"/>
            <c:extLst>
              <c:ext xmlns:c16="http://schemas.microsoft.com/office/drawing/2014/chart" uri="{C3380CC4-5D6E-409C-BE32-E72D297353CC}">
                <c16:uniqueId val="{00000006-0588-9842-94ED-F80D3D648A8E}"/>
              </c:ext>
            </c:extLst>
          </c:dPt>
          <c:dPt>
            <c:idx val="439"/>
            <c:marker>
              <c:symbol val="picture"/>
              <c:spPr>
                <a:blipFill>
                  <a:blip xmlns:r="http://schemas.openxmlformats.org/officeDocument/2006/relationships" r:embed="rId2"/>
                  <a:stretch>
                    <a:fillRect/>
                  </a:stretch>
                </a:blipFill>
                <a:ln w="25400">
                  <a:noFill/>
                </a:ln>
                <a:effectLst/>
              </c:spPr>
            </c:marker>
            <c:bubble3D val="0"/>
            <c:spPr>
              <a:ln w="0" cap="rnd">
                <a:solidFill>
                  <a:srgbClr val="AA853F"/>
                </a:solidFill>
                <a:round/>
              </a:ln>
              <a:effectLst/>
            </c:spPr>
            <c:extLst>
              <c:ext xmlns:c16="http://schemas.microsoft.com/office/drawing/2014/chart" uri="{C3380CC4-5D6E-409C-BE32-E72D297353CC}">
                <c16:uniqueId val="{00000005-0588-9842-94ED-F80D3D648A8E}"/>
              </c:ext>
            </c:extLst>
          </c:dPt>
          <c:dPt>
            <c:idx val="443"/>
            <c:marker>
              <c:symbol val="picture"/>
              <c:spPr>
                <a:solidFill>
                  <a:schemeClr val="accent1"/>
                </a:solidFill>
                <a:ln w="25400">
                  <a:noFill/>
                </a:ln>
                <a:effectLst/>
              </c:spPr>
            </c:marker>
            <c:bubble3D val="0"/>
            <c:extLst>
              <c:ext xmlns:c16="http://schemas.microsoft.com/office/drawing/2014/chart" uri="{C3380CC4-5D6E-409C-BE32-E72D297353CC}">
                <c16:uniqueId val="{00000002-0588-9842-94ED-F80D3D648A8E}"/>
              </c:ext>
            </c:extLst>
          </c:dPt>
          <c:dPt>
            <c:idx val="549"/>
            <c:marker>
              <c:symbol val="picture"/>
              <c:spPr>
                <a:blipFill>
                  <a:blip xmlns:r="http://schemas.openxmlformats.org/officeDocument/2006/relationships" r:embed="rId3"/>
                  <a:stretch>
                    <a:fillRect/>
                  </a:stretch>
                </a:blipFill>
                <a:ln w="25400">
                  <a:noFill/>
                </a:ln>
                <a:effectLst/>
              </c:spPr>
            </c:marker>
            <c:bubble3D val="0"/>
            <c:extLst>
              <c:ext xmlns:c16="http://schemas.microsoft.com/office/drawing/2014/chart" uri="{C3380CC4-5D6E-409C-BE32-E72D297353CC}">
                <c16:uniqueId val="{00000001-0588-9842-94ED-F80D3D648A8E}"/>
              </c:ext>
            </c:extLst>
          </c:dPt>
          <c:cat>
            <c:numRef>
              <c:f>Feuil1!$F$6:$F$631</c:f>
              <c:numCache>
                <c:formatCode>m/d/yy</c:formatCode>
                <c:ptCount val="626"/>
                <c:pt idx="0">
                  <c:v>41910</c:v>
                </c:pt>
                <c:pt idx="1">
                  <c:v>41917</c:v>
                </c:pt>
                <c:pt idx="2">
                  <c:v>41924</c:v>
                </c:pt>
                <c:pt idx="3">
                  <c:v>41931</c:v>
                </c:pt>
                <c:pt idx="4">
                  <c:v>41938</c:v>
                </c:pt>
                <c:pt idx="5">
                  <c:v>41945</c:v>
                </c:pt>
                <c:pt idx="6">
                  <c:v>41952</c:v>
                </c:pt>
                <c:pt idx="7">
                  <c:v>41959</c:v>
                </c:pt>
                <c:pt idx="8">
                  <c:v>41966</c:v>
                </c:pt>
                <c:pt idx="9">
                  <c:v>41973</c:v>
                </c:pt>
                <c:pt idx="10">
                  <c:v>41980</c:v>
                </c:pt>
                <c:pt idx="11">
                  <c:v>41987</c:v>
                </c:pt>
                <c:pt idx="12">
                  <c:v>41994</c:v>
                </c:pt>
                <c:pt idx="13">
                  <c:v>42001</c:v>
                </c:pt>
                <c:pt idx="14">
                  <c:v>42008</c:v>
                </c:pt>
                <c:pt idx="15">
                  <c:v>42015</c:v>
                </c:pt>
                <c:pt idx="16">
                  <c:v>42022</c:v>
                </c:pt>
                <c:pt idx="17">
                  <c:v>42029</c:v>
                </c:pt>
                <c:pt idx="18">
                  <c:v>42036</c:v>
                </c:pt>
                <c:pt idx="19">
                  <c:v>42043</c:v>
                </c:pt>
                <c:pt idx="20">
                  <c:v>42050</c:v>
                </c:pt>
                <c:pt idx="21">
                  <c:v>42057</c:v>
                </c:pt>
                <c:pt idx="22">
                  <c:v>42064</c:v>
                </c:pt>
                <c:pt idx="23">
                  <c:v>42071</c:v>
                </c:pt>
                <c:pt idx="24">
                  <c:v>42078</c:v>
                </c:pt>
                <c:pt idx="25">
                  <c:v>42085</c:v>
                </c:pt>
                <c:pt idx="26">
                  <c:v>42092</c:v>
                </c:pt>
                <c:pt idx="27">
                  <c:v>42099</c:v>
                </c:pt>
                <c:pt idx="28">
                  <c:v>42106</c:v>
                </c:pt>
                <c:pt idx="29">
                  <c:v>42113</c:v>
                </c:pt>
                <c:pt idx="30">
                  <c:v>42120</c:v>
                </c:pt>
                <c:pt idx="31">
                  <c:v>42127</c:v>
                </c:pt>
                <c:pt idx="32">
                  <c:v>42134</c:v>
                </c:pt>
                <c:pt idx="33">
                  <c:v>42141</c:v>
                </c:pt>
                <c:pt idx="34">
                  <c:v>42148</c:v>
                </c:pt>
                <c:pt idx="35">
                  <c:v>42155</c:v>
                </c:pt>
                <c:pt idx="36">
                  <c:v>42162</c:v>
                </c:pt>
                <c:pt idx="37">
                  <c:v>42169</c:v>
                </c:pt>
                <c:pt idx="38">
                  <c:v>42176</c:v>
                </c:pt>
                <c:pt idx="39">
                  <c:v>42183</c:v>
                </c:pt>
                <c:pt idx="40">
                  <c:v>42190</c:v>
                </c:pt>
                <c:pt idx="41">
                  <c:v>42197</c:v>
                </c:pt>
                <c:pt idx="42">
                  <c:v>42204</c:v>
                </c:pt>
                <c:pt idx="43">
                  <c:v>42211</c:v>
                </c:pt>
                <c:pt idx="44">
                  <c:v>42218</c:v>
                </c:pt>
                <c:pt idx="45">
                  <c:v>42225</c:v>
                </c:pt>
                <c:pt idx="46">
                  <c:v>42232</c:v>
                </c:pt>
                <c:pt idx="47">
                  <c:v>42239</c:v>
                </c:pt>
                <c:pt idx="48">
                  <c:v>42246</c:v>
                </c:pt>
                <c:pt idx="49">
                  <c:v>42253</c:v>
                </c:pt>
                <c:pt idx="50">
                  <c:v>42260</c:v>
                </c:pt>
                <c:pt idx="51">
                  <c:v>42267</c:v>
                </c:pt>
                <c:pt idx="52">
                  <c:v>42274</c:v>
                </c:pt>
                <c:pt idx="53">
                  <c:v>42281</c:v>
                </c:pt>
                <c:pt idx="54">
                  <c:v>42288</c:v>
                </c:pt>
                <c:pt idx="55">
                  <c:v>42295</c:v>
                </c:pt>
                <c:pt idx="56">
                  <c:v>42302</c:v>
                </c:pt>
                <c:pt idx="57">
                  <c:v>42309</c:v>
                </c:pt>
                <c:pt idx="58">
                  <c:v>42316</c:v>
                </c:pt>
                <c:pt idx="59">
                  <c:v>42323</c:v>
                </c:pt>
                <c:pt idx="60">
                  <c:v>42330</c:v>
                </c:pt>
                <c:pt idx="61">
                  <c:v>42337</c:v>
                </c:pt>
                <c:pt idx="62">
                  <c:v>42344</c:v>
                </c:pt>
                <c:pt idx="63">
                  <c:v>42351</c:v>
                </c:pt>
                <c:pt idx="64">
                  <c:v>42358</c:v>
                </c:pt>
                <c:pt idx="65">
                  <c:v>42365</c:v>
                </c:pt>
                <c:pt idx="66">
                  <c:v>42372</c:v>
                </c:pt>
                <c:pt idx="67">
                  <c:v>42379</c:v>
                </c:pt>
                <c:pt idx="68">
                  <c:v>42386</c:v>
                </c:pt>
                <c:pt idx="69">
                  <c:v>42393</c:v>
                </c:pt>
                <c:pt idx="70">
                  <c:v>42400</c:v>
                </c:pt>
                <c:pt idx="71">
                  <c:v>42407</c:v>
                </c:pt>
                <c:pt idx="72">
                  <c:v>42414</c:v>
                </c:pt>
                <c:pt idx="73">
                  <c:v>42421</c:v>
                </c:pt>
                <c:pt idx="74">
                  <c:v>42428</c:v>
                </c:pt>
                <c:pt idx="75">
                  <c:v>42435</c:v>
                </c:pt>
                <c:pt idx="76">
                  <c:v>42442</c:v>
                </c:pt>
                <c:pt idx="77">
                  <c:v>42449</c:v>
                </c:pt>
                <c:pt idx="78">
                  <c:v>42456</c:v>
                </c:pt>
                <c:pt idx="79">
                  <c:v>42463</c:v>
                </c:pt>
                <c:pt idx="80">
                  <c:v>42470</c:v>
                </c:pt>
                <c:pt idx="81">
                  <c:v>42477</c:v>
                </c:pt>
                <c:pt idx="82">
                  <c:v>42484</c:v>
                </c:pt>
                <c:pt idx="83">
                  <c:v>42491</c:v>
                </c:pt>
                <c:pt idx="84">
                  <c:v>42498</c:v>
                </c:pt>
                <c:pt idx="85">
                  <c:v>42505</c:v>
                </c:pt>
                <c:pt idx="86">
                  <c:v>42512</c:v>
                </c:pt>
                <c:pt idx="87">
                  <c:v>42519</c:v>
                </c:pt>
                <c:pt idx="88">
                  <c:v>42526</c:v>
                </c:pt>
                <c:pt idx="89">
                  <c:v>42533</c:v>
                </c:pt>
                <c:pt idx="90">
                  <c:v>42540</c:v>
                </c:pt>
                <c:pt idx="91">
                  <c:v>42547</c:v>
                </c:pt>
                <c:pt idx="92">
                  <c:v>42554</c:v>
                </c:pt>
                <c:pt idx="93">
                  <c:v>42561</c:v>
                </c:pt>
                <c:pt idx="94">
                  <c:v>42568</c:v>
                </c:pt>
                <c:pt idx="95">
                  <c:v>42575</c:v>
                </c:pt>
                <c:pt idx="96">
                  <c:v>42582</c:v>
                </c:pt>
                <c:pt idx="97">
                  <c:v>42589</c:v>
                </c:pt>
                <c:pt idx="98">
                  <c:v>42596</c:v>
                </c:pt>
                <c:pt idx="99">
                  <c:v>42603</c:v>
                </c:pt>
                <c:pt idx="100">
                  <c:v>42610</c:v>
                </c:pt>
                <c:pt idx="101">
                  <c:v>42617</c:v>
                </c:pt>
                <c:pt idx="102">
                  <c:v>42624</c:v>
                </c:pt>
                <c:pt idx="103">
                  <c:v>42631</c:v>
                </c:pt>
                <c:pt idx="104">
                  <c:v>42638</c:v>
                </c:pt>
                <c:pt idx="105">
                  <c:v>42645</c:v>
                </c:pt>
                <c:pt idx="106">
                  <c:v>42652</c:v>
                </c:pt>
                <c:pt idx="107">
                  <c:v>42659</c:v>
                </c:pt>
                <c:pt idx="108">
                  <c:v>42666</c:v>
                </c:pt>
                <c:pt idx="109">
                  <c:v>42673</c:v>
                </c:pt>
                <c:pt idx="110">
                  <c:v>42680</c:v>
                </c:pt>
                <c:pt idx="111">
                  <c:v>42687</c:v>
                </c:pt>
                <c:pt idx="112">
                  <c:v>42694</c:v>
                </c:pt>
                <c:pt idx="113">
                  <c:v>42701</c:v>
                </c:pt>
                <c:pt idx="114">
                  <c:v>42708</c:v>
                </c:pt>
                <c:pt idx="115">
                  <c:v>42715</c:v>
                </c:pt>
                <c:pt idx="116">
                  <c:v>42722</c:v>
                </c:pt>
                <c:pt idx="117">
                  <c:v>42729</c:v>
                </c:pt>
                <c:pt idx="118">
                  <c:v>42736</c:v>
                </c:pt>
                <c:pt idx="119">
                  <c:v>42743</c:v>
                </c:pt>
                <c:pt idx="120">
                  <c:v>42750</c:v>
                </c:pt>
                <c:pt idx="121">
                  <c:v>42757</c:v>
                </c:pt>
                <c:pt idx="122">
                  <c:v>42764</c:v>
                </c:pt>
                <c:pt idx="123">
                  <c:v>42771</c:v>
                </c:pt>
                <c:pt idx="124">
                  <c:v>42778</c:v>
                </c:pt>
                <c:pt idx="125">
                  <c:v>42785</c:v>
                </c:pt>
                <c:pt idx="126">
                  <c:v>42792</c:v>
                </c:pt>
                <c:pt idx="127">
                  <c:v>42799</c:v>
                </c:pt>
                <c:pt idx="128">
                  <c:v>42806</c:v>
                </c:pt>
                <c:pt idx="129">
                  <c:v>42813</c:v>
                </c:pt>
                <c:pt idx="130">
                  <c:v>42820</c:v>
                </c:pt>
                <c:pt idx="131">
                  <c:v>42827</c:v>
                </c:pt>
                <c:pt idx="132">
                  <c:v>42834</c:v>
                </c:pt>
                <c:pt idx="133">
                  <c:v>42841</c:v>
                </c:pt>
                <c:pt idx="134">
                  <c:v>42848</c:v>
                </c:pt>
                <c:pt idx="135">
                  <c:v>42855</c:v>
                </c:pt>
                <c:pt idx="136">
                  <c:v>42862</c:v>
                </c:pt>
                <c:pt idx="137">
                  <c:v>42869</c:v>
                </c:pt>
                <c:pt idx="138">
                  <c:v>42876</c:v>
                </c:pt>
                <c:pt idx="139">
                  <c:v>42883</c:v>
                </c:pt>
                <c:pt idx="140">
                  <c:v>42890</c:v>
                </c:pt>
                <c:pt idx="141">
                  <c:v>42897</c:v>
                </c:pt>
                <c:pt idx="142">
                  <c:v>42904</c:v>
                </c:pt>
                <c:pt idx="143">
                  <c:v>42911</c:v>
                </c:pt>
                <c:pt idx="144">
                  <c:v>42918</c:v>
                </c:pt>
                <c:pt idx="145">
                  <c:v>42925</c:v>
                </c:pt>
                <c:pt idx="146">
                  <c:v>42932</c:v>
                </c:pt>
                <c:pt idx="147">
                  <c:v>42939</c:v>
                </c:pt>
                <c:pt idx="148">
                  <c:v>42946</c:v>
                </c:pt>
                <c:pt idx="149">
                  <c:v>42953</c:v>
                </c:pt>
                <c:pt idx="150">
                  <c:v>42960</c:v>
                </c:pt>
                <c:pt idx="151">
                  <c:v>42967</c:v>
                </c:pt>
                <c:pt idx="152">
                  <c:v>42974</c:v>
                </c:pt>
                <c:pt idx="153">
                  <c:v>42981</c:v>
                </c:pt>
                <c:pt idx="154">
                  <c:v>42988</c:v>
                </c:pt>
                <c:pt idx="155">
                  <c:v>42995</c:v>
                </c:pt>
                <c:pt idx="156">
                  <c:v>43002</c:v>
                </c:pt>
                <c:pt idx="157">
                  <c:v>43009</c:v>
                </c:pt>
                <c:pt idx="158">
                  <c:v>43016</c:v>
                </c:pt>
                <c:pt idx="159">
                  <c:v>43023</c:v>
                </c:pt>
                <c:pt idx="160">
                  <c:v>43030</c:v>
                </c:pt>
                <c:pt idx="161">
                  <c:v>43037</c:v>
                </c:pt>
                <c:pt idx="162">
                  <c:v>43044</c:v>
                </c:pt>
                <c:pt idx="163">
                  <c:v>43051</c:v>
                </c:pt>
                <c:pt idx="164">
                  <c:v>43058</c:v>
                </c:pt>
                <c:pt idx="165">
                  <c:v>43065</c:v>
                </c:pt>
                <c:pt idx="166">
                  <c:v>43072</c:v>
                </c:pt>
                <c:pt idx="167">
                  <c:v>43079</c:v>
                </c:pt>
                <c:pt idx="168">
                  <c:v>43086</c:v>
                </c:pt>
                <c:pt idx="169">
                  <c:v>43093</c:v>
                </c:pt>
                <c:pt idx="170">
                  <c:v>43100</c:v>
                </c:pt>
                <c:pt idx="171">
                  <c:v>43107</c:v>
                </c:pt>
                <c:pt idx="172">
                  <c:v>43114</c:v>
                </c:pt>
                <c:pt idx="173">
                  <c:v>43121</c:v>
                </c:pt>
                <c:pt idx="174">
                  <c:v>43128</c:v>
                </c:pt>
                <c:pt idx="175">
                  <c:v>43135</c:v>
                </c:pt>
                <c:pt idx="176">
                  <c:v>43142</c:v>
                </c:pt>
                <c:pt idx="177">
                  <c:v>43149</c:v>
                </c:pt>
                <c:pt idx="178">
                  <c:v>43156</c:v>
                </c:pt>
                <c:pt idx="179">
                  <c:v>43163</c:v>
                </c:pt>
                <c:pt idx="180">
                  <c:v>43170</c:v>
                </c:pt>
                <c:pt idx="181">
                  <c:v>43177</c:v>
                </c:pt>
                <c:pt idx="182">
                  <c:v>43184</c:v>
                </c:pt>
                <c:pt idx="183">
                  <c:v>43191</c:v>
                </c:pt>
                <c:pt idx="184">
                  <c:v>43198</c:v>
                </c:pt>
                <c:pt idx="185">
                  <c:v>43205</c:v>
                </c:pt>
                <c:pt idx="186">
                  <c:v>43212</c:v>
                </c:pt>
                <c:pt idx="187">
                  <c:v>43219</c:v>
                </c:pt>
                <c:pt idx="188">
                  <c:v>43226</c:v>
                </c:pt>
                <c:pt idx="189">
                  <c:v>43233</c:v>
                </c:pt>
                <c:pt idx="190">
                  <c:v>43240</c:v>
                </c:pt>
                <c:pt idx="191">
                  <c:v>43247</c:v>
                </c:pt>
                <c:pt idx="192">
                  <c:v>43254</c:v>
                </c:pt>
                <c:pt idx="193">
                  <c:v>43261</c:v>
                </c:pt>
                <c:pt idx="194">
                  <c:v>43268</c:v>
                </c:pt>
                <c:pt idx="195">
                  <c:v>43275</c:v>
                </c:pt>
                <c:pt idx="196">
                  <c:v>43282</c:v>
                </c:pt>
                <c:pt idx="197">
                  <c:v>43289</c:v>
                </c:pt>
                <c:pt idx="198">
                  <c:v>43296</c:v>
                </c:pt>
                <c:pt idx="199">
                  <c:v>43303</c:v>
                </c:pt>
                <c:pt idx="200">
                  <c:v>43310</c:v>
                </c:pt>
                <c:pt idx="201">
                  <c:v>43317</c:v>
                </c:pt>
                <c:pt idx="202">
                  <c:v>43324</c:v>
                </c:pt>
                <c:pt idx="203">
                  <c:v>43331</c:v>
                </c:pt>
                <c:pt idx="204">
                  <c:v>43338</c:v>
                </c:pt>
                <c:pt idx="205">
                  <c:v>43345</c:v>
                </c:pt>
                <c:pt idx="206">
                  <c:v>43352</c:v>
                </c:pt>
                <c:pt idx="207">
                  <c:v>43359</c:v>
                </c:pt>
                <c:pt idx="208">
                  <c:v>43366</c:v>
                </c:pt>
                <c:pt idx="209">
                  <c:v>43373</c:v>
                </c:pt>
                <c:pt idx="210">
                  <c:v>43380</c:v>
                </c:pt>
                <c:pt idx="211">
                  <c:v>43387</c:v>
                </c:pt>
                <c:pt idx="212">
                  <c:v>43394</c:v>
                </c:pt>
                <c:pt idx="213">
                  <c:v>43401</c:v>
                </c:pt>
                <c:pt idx="214">
                  <c:v>43408</c:v>
                </c:pt>
                <c:pt idx="215">
                  <c:v>43415</c:v>
                </c:pt>
                <c:pt idx="216">
                  <c:v>43422</c:v>
                </c:pt>
                <c:pt idx="217">
                  <c:v>43429</c:v>
                </c:pt>
                <c:pt idx="218">
                  <c:v>43436</c:v>
                </c:pt>
                <c:pt idx="219">
                  <c:v>43443</c:v>
                </c:pt>
                <c:pt idx="220">
                  <c:v>43450</c:v>
                </c:pt>
                <c:pt idx="221">
                  <c:v>43457</c:v>
                </c:pt>
                <c:pt idx="222">
                  <c:v>43464</c:v>
                </c:pt>
                <c:pt idx="223">
                  <c:v>43471</c:v>
                </c:pt>
                <c:pt idx="224">
                  <c:v>43478</c:v>
                </c:pt>
                <c:pt idx="225">
                  <c:v>43485</c:v>
                </c:pt>
                <c:pt idx="226">
                  <c:v>43492</c:v>
                </c:pt>
                <c:pt idx="227">
                  <c:v>43499</c:v>
                </c:pt>
                <c:pt idx="228">
                  <c:v>43506</c:v>
                </c:pt>
                <c:pt idx="229">
                  <c:v>43513</c:v>
                </c:pt>
                <c:pt idx="230">
                  <c:v>43520</c:v>
                </c:pt>
                <c:pt idx="231">
                  <c:v>43527</c:v>
                </c:pt>
                <c:pt idx="232">
                  <c:v>43534</c:v>
                </c:pt>
                <c:pt idx="233">
                  <c:v>43541</c:v>
                </c:pt>
                <c:pt idx="234">
                  <c:v>43548</c:v>
                </c:pt>
                <c:pt idx="235">
                  <c:v>43555</c:v>
                </c:pt>
                <c:pt idx="236">
                  <c:v>43562</c:v>
                </c:pt>
                <c:pt idx="237">
                  <c:v>43569</c:v>
                </c:pt>
                <c:pt idx="238">
                  <c:v>43576</c:v>
                </c:pt>
                <c:pt idx="239">
                  <c:v>43583</c:v>
                </c:pt>
                <c:pt idx="240">
                  <c:v>43590</c:v>
                </c:pt>
                <c:pt idx="241">
                  <c:v>43597</c:v>
                </c:pt>
                <c:pt idx="242">
                  <c:v>43604</c:v>
                </c:pt>
                <c:pt idx="243">
                  <c:v>43611</c:v>
                </c:pt>
                <c:pt idx="244">
                  <c:v>43618</c:v>
                </c:pt>
                <c:pt idx="245">
                  <c:v>43625</c:v>
                </c:pt>
                <c:pt idx="246">
                  <c:v>43632</c:v>
                </c:pt>
                <c:pt idx="247">
                  <c:v>43639</c:v>
                </c:pt>
                <c:pt idx="248">
                  <c:v>43646</c:v>
                </c:pt>
                <c:pt idx="249">
                  <c:v>43653</c:v>
                </c:pt>
                <c:pt idx="250">
                  <c:v>43660</c:v>
                </c:pt>
                <c:pt idx="251">
                  <c:v>43667</c:v>
                </c:pt>
                <c:pt idx="252">
                  <c:v>43674</c:v>
                </c:pt>
                <c:pt idx="253">
                  <c:v>43681</c:v>
                </c:pt>
                <c:pt idx="254">
                  <c:v>43688</c:v>
                </c:pt>
                <c:pt idx="255">
                  <c:v>43695</c:v>
                </c:pt>
                <c:pt idx="256">
                  <c:v>43702</c:v>
                </c:pt>
                <c:pt idx="257">
                  <c:v>43709</c:v>
                </c:pt>
                <c:pt idx="258">
                  <c:v>43716</c:v>
                </c:pt>
                <c:pt idx="259">
                  <c:v>43723</c:v>
                </c:pt>
                <c:pt idx="260">
                  <c:v>43730</c:v>
                </c:pt>
                <c:pt idx="261">
                  <c:v>43737</c:v>
                </c:pt>
                <c:pt idx="262">
                  <c:v>43744</c:v>
                </c:pt>
                <c:pt idx="263">
                  <c:v>43751</c:v>
                </c:pt>
                <c:pt idx="264">
                  <c:v>43758</c:v>
                </c:pt>
                <c:pt idx="265">
                  <c:v>43765</c:v>
                </c:pt>
                <c:pt idx="266">
                  <c:v>43772</c:v>
                </c:pt>
                <c:pt idx="267">
                  <c:v>43779</c:v>
                </c:pt>
                <c:pt idx="268">
                  <c:v>43786</c:v>
                </c:pt>
                <c:pt idx="269">
                  <c:v>43793</c:v>
                </c:pt>
                <c:pt idx="270">
                  <c:v>43800</c:v>
                </c:pt>
                <c:pt idx="271">
                  <c:v>43807</c:v>
                </c:pt>
                <c:pt idx="272">
                  <c:v>43814</c:v>
                </c:pt>
                <c:pt idx="273">
                  <c:v>43821</c:v>
                </c:pt>
                <c:pt idx="274">
                  <c:v>43828</c:v>
                </c:pt>
                <c:pt idx="275">
                  <c:v>43835</c:v>
                </c:pt>
                <c:pt idx="276">
                  <c:v>43842</c:v>
                </c:pt>
                <c:pt idx="277">
                  <c:v>43849</c:v>
                </c:pt>
                <c:pt idx="278">
                  <c:v>43856</c:v>
                </c:pt>
                <c:pt idx="279">
                  <c:v>43863</c:v>
                </c:pt>
                <c:pt idx="280">
                  <c:v>43870</c:v>
                </c:pt>
                <c:pt idx="281">
                  <c:v>43877</c:v>
                </c:pt>
                <c:pt idx="282">
                  <c:v>43884</c:v>
                </c:pt>
                <c:pt idx="283">
                  <c:v>43891</c:v>
                </c:pt>
                <c:pt idx="284">
                  <c:v>43898</c:v>
                </c:pt>
                <c:pt idx="285">
                  <c:v>43905</c:v>
                </c:pt>
                <c:pt idx="286">
                  <c:v>43912</c:v>
                </c:pt>
                <c:pt idx="287">
                  <c:v>43919</c:v>
                </c:pt>
                <c:pt idx="288">
                  <c:v>43926</c:v>
                </c:pt>
                <c:pt idx="289">
                  <c:v>43933</c:v>
                </c:pt>
                <c:pt idx="290">
                  <c:v>43940</c:v>
                </c:pt>
                <c:pt idx="291">
                  <c:v>43947</c:v>
                </c:pt>
                <c:pt idx="292">
                  <c:v>43954</c:v>
                </c:pt>
                <c:pt idx="293">
                  <c:v>43961</c:v>
                </c:pt>
                <c:pt idx="294">
                  <c:v>43968</c:v>
                </c:pt>
                <c:pt idx="295">
                  <c:v>43975</c:v>
                </c:pt>
                <c:pt idx="296">
                  <c:v>43982</c:v>
                </c:pt>
                <c:pt idx="297">
                  <c:v>43989</c:v>
                </c:pt>
                <c:pt idx="298">
                  <c:v>43996</c:v>
                </c:pt>
                <c:pt idx="299">
                  <c:v>44003</c:v>
                </c:pt>
                <c:pt idx="300">
                  <c:v>44010</c:v>
                </c:pt>
                <c:pt idx="301">
                  <c:v>44017</c:v>
                </c:pt>
                <c:pt idx="302">
                  <c:v>44024</c:v>
                </c:pt>
                <c:pt idx="303">
                  <c:v>44031</c:v>
                </c:pt>
                <c:pt idx="304">
                  <c:v>44038</c:v>
                </c:pt>
                <c:pt idx="305">
                  <c:v>44045</c:v>
                </c:pt>
                <c:pt idx="306">
                  <c:v>44052</c:v>
                </c:pt>
                <c:pt idx="307">
                  <c:v>44059</c:v>
                </c:pt>
                <c:pt idx="308">
                  <c:v>44066</c:v>
                </c:pt>
                <c:pt idx="309">
                  <c:v>44073</c:v>
                </c:pt>
                <c:pt idx="310">
                  <c:v>44080</c:v>
                </c:pt>
                <c:pt idx="311">
                  <c:v>44087</c:v>
                </c:pt>
                <c:pt idx="312">
                  <c:v>44094</c:v>
                </c:pt>
                <c:pt idx="313">
                  <c:v>44101</c:v>
                </c:pt>
                <c:pt idx="314">
                  <c:v>44108</c:v>
                </c:pt>
                <c:pt idx="315">
                  <c:v>44115</c:v>
                </c:pt>
                <c:pt idx="316">
                  <c:v>44122</c:v>
                </c:pt>
                <c:pt idx="317">
                  <c:v>44129</c:v>
                </c:pt>
                <c:pt idx="318">
                  <c:v>44136</c:v>
                </c:pt>
                <c:pt idx="319">
                  <c:v>44143</c:v>
                </c:pt>
                <c:pt idx="320">
                  <c:v>44150</c:v>
                </c:pt>
                <c:pt idx="321">
                  <c:v>44157</c:v>
                </c:pt>
                <c:pt idx="322">
                  <c:v>44164</c:v>
                </c:pt>
                <c:pt idx="323">
                  <c:v>44171</c:v>
                </c:pt>
                <c:pt idx="324">
                  <c:v>44178</c:v>
                </c:pt>
                <c:pt idx="325">
                  <c:v>44185</c:v>
                </c:pt>
                <c:pt idx="326">
                  <c:v>44192</c:v>
                </c:pt>
                <c:pt idx="327">
                  <c:v>44199</c:v>
                </c:pt>
                <c:pt idx="328">
                  <c:v>44206</c:v>
                </c:pt>
                <c:pt idx="329">
                  <c:v>44213</c:v>
                </c:pt>
                <c:pt idx="330">
                  <c:v>44220</c:v>
                </c:pt>
                <c:pt idx="331">
                  <c:v>44227</c:v>
                </c:pt>
                <c:pt idx="332">
                  <c:v>44234</c:v>
                </c:pt>
                <c:pt idx="333">
                  <c:v>44241</c:v>
                </c:pt>
                <c:pt idx="334">
                  <c:v>44248</c:v>
                </c:pt>
                <c:pt idx="335">
                  <c:v>44255</c:v>
                </c:pt>
                <c:pt idx="336">
                  <c:v>44262</c:v>
                </c:pt>
                <c:pt idx="337">
                  <c:v>44269</c:v>
                </c:pt>
                <c:pt idx="338">
                  <c:v>44276</c:v>
                </c:pt>
                <c:pt idx="339">
                  <c:v>44283</c:v>
                </c:pt>
                <c:pt idx="340">
                  <c:v>44290</c:v>
                </c:pt>
                <c:pt idx="341">
                  <c:v>44297</c:v>
                </c:pt>
                <c:pt idx="342">
                  <c:v>44304</c:v>
                </c:pt>
                <c:pt idx="343">
                  <c:v>44311</c:v>
                </c:pt>
                <c:pt idx="344">
                  <c:v>44318</c:v>
                </c:pt>
                <c:pt idx="345">
                  <c:v>44325</c:v>
                </c:pt>
                <c:pt idx="346">
                  <c:v>44332</c:v>
                </c:pt>
                <c:pt idx="347">
                  <c:v>44339</c:v>
                </c:pt>
                <c:pt idx="348">
                  <c:v>44346</c:v>
                </c:pt>
                <c:pt idx="349">
                  <c:v>44353</c:v>
                </c:pt>
                <c:pt idx="350">
                  <c:v>44360</c:v>
                </c:pt>
                <c:pt idx="351">
                  <c:v>44367</c:v>
                </c:pt>
                <c:pt idx="352">
                  <c:v>44374</c:v>
                </c:pt>
                <c:pt idx="353">
                  <c:v>44381</c:v>
                </c:pt>
                <c:pt idx="354">
                  <c:v>44388</c:v>
                </c:pt>
                <c:pt idx="355">
                  <c:v>44395</c:v>
                </c:pt>
                <c:pt idx="356">
                  <c:v>44402</c:v>
                </c:pt>
                <c:pt idx="357">
                  <c:v>44409</c:v>
                </c:pt>
                <c:pt idx="358">
                  <c:v>44416</c:v>
                </c:pt>
                <c:pt idx="359">
                  <c:v>44423</c:v>
                </c:pt>
                <c:pt idx="360">
                  <c:v>44430</c:v>
                </c:pt>
                <c:pt idx="361">
                  <c:v>44437</c:v>
                </c:pt>
                <c:pt idx="362">
                  <c:v>44444</c:v>
                </c:pt>
                <c:pt idx="363">
                  <c:v>44451</c:v>
                </c:pt>
                <c:pt idx="364">
                  <c:v>44458</c:v>
                </c:pt>
                <c:pt idx="365">
                  <c:v>44465</c:v>
                </c:pt>
                <c:pt idx="366">
                  <c:v>44472</c:v>
                </c:pt>
                <c:pt idx="367">
                  <c:v>44479</c:v>
                </c:pt>
                <c:pt idx="368">
                  <c:v>44486</c:v>
                </c:pt>
                <c:pt idx="369">
                  <c:v>44493</c:v>
                </c:pt>
                <c:pt idx="370">
                  <c:v>44500</c:v>
                </c:pt>
                <c:pt idx="371">
                  <c:v>44507</c:v>
                </c:pt>
                <c:pt idx="372">
                  <c:v>44514</c:v>
                </c:pt>
                <c:pt idx="373">
                  <c:v>44521</c:v>
                </c:pt>
                <c:pt idx="374">
                  <c:v>44528</c:v>
                </c:pt>
                <c:pt idx="375">
                  <c:v>44535</c:v>
                </c:pt>
                <c:pt idx="376">
                  <c:v>44542</c:v>
                </c:pt>
                <c:pt idx="377">
                  <c:v>44549</c:v>
                </c:pt>
                <c:pt idx="378">
                  <c:v>44556</c:v>
                </c:pt>
                <c:pt idx="379">
                  <c:v>44563</c:v>
                </c:pt>
                <c:pt idx="380">
                  <c:v>44570</c:v>
                </c:pt>
                <c:pt idx="381">
                  <c:v>44577</c:v>
                </c:pt>
                <c:pt idx="382">
                  <c:v>44584</c:v>
                </c:pt>
                <c:pt idx="383">
                  <c:v>44591</c:v>
                </c:pt>
                <c:pt idx="384">
                  <c:v>44598</c:v>
                </c:pt>
                <c:pt idx="385">
                  <c:v>44605</c:v>
                </c:pt>
                <c:pt idx="386">
                  <c:v>44612</c:v>
                </c:pt>
                <c:pt idx="387">
                  <c:v>44619</c:v>
                </c:pt>
                <c:pt idx="388">
                  <c:v>44626</c:v>
                </c:pt>
                <c:pt idx="389">
                  <c:v>44633</c:v>
                </c:pt>
                <c:pt idx="390">
                  <c:v>44640</c:v>
                </c:pt>
                <c:pt idx="391">
                  <c:v>44647</c:v>
                </c:pt>
                <c:pt idx="392">
                  <c:v>44654</c:v>
                </c:pt>
                <c:pt idx="393">
                  <c:v>44661</c:v>
                </c:pt>
                <c:pt idx="394">
                  <c:v>44668</c:v>
                </c:pt>
                <c:pt idx="395">
                  <c:v>44675</c:v>
                </c:pt>
                <c:pt idx="396">
                  <c:v>44682</c:v>
                </c:pt>
                <c:pt idx="397">
                  <c:v>44689</c:v>
                </c:pt>
                <c:pt idx="398">
                  <c:v>44696</c:v>
                </c:pt>
                <c:pt idx="399">
                  <c:v>44703</c:v>
                </c:pt>
                <c:pt idx="400">
                  <c:v>44710</c:v>
                </c:pt>
                <c:pt idx="401">
                  <c:v>44717</c:v>
                </c:pt>
                <c:pt idx="402">
                  <c:v>44724</c:v>
                </c:pt>
                <c:pt idx="403">
                  <c:v>44731</c:v>
                </c:pt>
                <c:pt idx="404">
                  <c:v>44738</c:v>
                </c:pt>
                <c:pt idx="405">
                  <c:v>44745</c:v>
                </c:pt>
                <c:pt idx="406">
                  <c:v>44752</c:v>
                </c:pt>
                <c:pt idx="407">
                  <c:v>44759</c:v>
                </c:pt>
                <c:pt idx="408">
                  <c:v>44766</c:v>
                </c:pt>
                <c:pt idx="409">
                  <c:v>44773</c:v>
                </c:pt>
                <c:pt idx="410">
                  <c:v>44780</c:v>
                </c:pt>
                <c:pt idx="411">
                  <c:v>44787</c:v>
                </c:pt>
                <c:pt idx="412">
                  <c:v>44794</c:v>
                </c:pt>
                <c:pt idx="413">
                  <c:v>44801</c:v>
                </c:pt>
                <c:pt idx="414">
                  <c:v>44808</c:v>
                </c:pt>
                <c:pt idx="415">
                  <c:v>44815</c:v>
                </c:pt>
                <c:pt idx="416">
                  <c:v>44822</c:v>
                </c:pt>
                <c:pt idx="417">
                  <c:v>44829</c:v>
                </c:pt>
                <c:pt idx="418">
                  <c:v>44836</c:v>
                </c:pt>
                <c:pt idx="419">
                  <c:v>44843</c:v>
                </c:pt>
                <c:pt idx="420">
                  <c:v>44850</c:v>
                </c:pt>
                <c:pt idx="421">
                  <c:v>44857</c:v>
                </c:pt>
                <c:pt idx="422">
                  <c:v>44864</c:v>
                </c:pt>
                <c:pt idx="423">
                  <c:v>44871</c:v>
                </c:pt>
                <c:pt idx="424">
                  <c:v>44878</c:v>
                </c:pt>
                <c:pt idx="425">
                  <c:v>44885</c:v>
                </c:pt>
                <c:pt idx="426">
                  <c:v>44892</c:v>
                </c:pt>
                <c:pt idx="427">
                  <c:v>44899</c:v>
                </c:pt>
                <c:pt idx="428">
                  <c:v>44906</c:v>
                </c:pt>
                <c:pt idx="429">
                  <c:v>44913</c:v>
                </c:pt>
                <c:pt idx="430">
                  <c:v>44920</c:v>
                </c:pt>
                <c:pt idx="431">
                  <c:v>44927</c:v>
                </c:pt>
                <c:pt idx="432">
                  <c:v>44934</c:v>
                </c:pt>
                <c:pt idx="433">
                  <c:v>44941</c:v>
                </c:pt>
                <c:pt idx="434">
                  <c:v>44948</c:v>
                </c:pt>
                <c:pt idx="435">
                  <c:v>44955</c:v>
                </c:pt>
                <c:pt idx="436">
                  <c:v>44962</c:v>
                </c:pt>
                <c:pt idx="437">
                  <c:v>44969</c:v>
                </c:pt>
                <c:pt idx="438">
                  <c:v>44976</c:v>
                </c:pt>
                <c:pt idx="439">
                  <c:v>44983</c:v>
                </c:pt>
                <c:pt idx="440">
                  <c:v>44990</c:v>
                </c:pt>
                <c:pt idx="441">
                  <c:v>44997</c:v>
                </c:pt>
                <c:pt idx="442">
                  <c:v>45004</c:v>
                </c:pt>
                <c:pt idx="443">
                  <c:v>45011</c:v>
                </c:pt>
                <c:pt idx="444">
                  <c:v>45018</c:v>
                </c:pt>
                <c:pt idx="445">
                  <c:v>45025</c:v>
                </c:pt>
                <c:pt idx="446">
                  <c:v>45032</c:v>
                </c:pt>
                <c:pt idx="447">
                  <c:v>45039</c:v>
                </c:pt>
                <c:pt idx="448">
                  <c:v>45046</c:v>
                </c:pt>
                <c:pt idx="449">
                  <c:v>45053</c:v>
                </c:pt>
                <c:pt idx="450">
                  <c:v>45060</c:v>
                </c:pt>
                <c:pt idx="451">
                  <c:v>45067</c:v>
                </c:pt>
                <c:pt idx="452">
                  <c:v>45074</c:v>
                </c:pt>
                <c:pt idx="453">
                  <c:v>45081</c:v>
                </c:pt>
                <c:pt idx="454">
                  <c:v>45088</c:v>
                </c:pt>
                <c:pt idx="455">
                  <c:v>45095</c:v>
                </c:pt>
                <c:pt idx="456">
                  <c:v>45102</c:v>
                </c:pt>
                <c:pt idx="457">
                  <c:v>45109</c:v>
                </c:pt>
                <c:pt idx="458">
                  <c:v>45116</c:v>
                </c:pt>
                <c:pt idx="459">
                  <c:v>45123</c:v>
                </c:pt>
                <c:pt idx="460">
                  <c:v>45130</c:v>
                </c:pt>
                <c:pt idx="461">
                  <c:v>45137</c:v>
                </c:pt>
                <c:pt idx="462">
                  <c:v>45144</c:v>
                </c:pt>
                <c:pt idx="463">
                  <c:v>45151</c:v>
                </c:pt>
                <c:pt idx="464">
                  <c:v>45158</c:v>
                </c:pt>
                <c:pt idx="465">
                  <c:v>45165</c:v>
                </c:pt>
                <c:pt idx="466">
                  <c:v>45172</c:v>
                </c:pt>
                <c:pt idx="467">
                  <c:v>45179</c:v>
                </c:pt>
                <c:pt idx="468">
                  <c:v>45186</c:v>
                </c:pt>
                <c:pt idx="469">
                  <c:v>45193</c:v>
                </c:pt>
                <c:pt idx="470">
                  <c:v>45200</c:v>
                </c:pt>
                <c:pt idx="471">
                  <c:v>45207</c:v>
                </c:pt>
                <c:pt idx="472">
                  <c:v>45214</c:v>
                </c:pt>
                <c:pt idx="473">
                  <c:v>45221</c:v>
                </c:pt>
                <c:pt idx="474">
                  <c:v>45228</c:v>
                </c:pt>
                <c:pt idx="475">
                  <c:v>45235</c:v>
                </c:pt>
                <c:pt idx="476">
                  <c:v>45242</c:v>
                </c:pt>
                <c:pt idx="477">
                  <c:v>45249</c:v>
                </c:pt>
                <c:pt idx="478">
                  <c:v>45256</c:v>
                </c:pt>
                <c:pt idx="479">
                  <c:v>45263</c:v>
                </c:pt>
                <c:pt idx="480">
                  <c:v>45270</c:v>
                </c:pt>
                <c:pt idx="481">
                  <c:v>45277</c:v>
                </c:pt>
                <c:pt idx="482">
                  <c:v>45284</c:v>
                </c:pt>
                <c:pt idx="483">
                  <c:v>45291</c:v>
                </c:pt>
                <c:pt idx="484">
                  <c:v>45298</c:v>
                </c:pt>
                <c:pt idx="485">
                  <c:v>45305</c:v>
                </c:pt>
                <c:pt idx="486">
                  <c:v>45312</c:v>
                </c:pt>
                <c:pt idx="487">
                  <c:v>45319</c:v>
                </c:pt>
                <c:pt idx="488">
                  <c:v>45326</c:v>
                </c:pt>
                <c:pt idx="489">
                  <c:v>45333</c:v>
                </c:pt>
                <c:pt idx="490">
                  <c:v>45340</c:v>
                </c:pt>
                <c:pt idx="491">
                  <c:v>45347</c:v>
                </c:pt>
                <c:pt idx="492">
                  <c:v>45354</c:v>
                </c:pt>
                <c:pt idx="493">
                  <c:v>45361</c:v>
                </c:pt>
                <c:pt idx="494">
                  <c:v>45368</c:v>
                </c:pt>
                <c:pt idx="495">
                  <c:v>45375</c:v>
                </c:pt>
                <c:pt idx="496">
                  <c:v>45382</c:v>
                </c:pt>
                <c:pt idx="497">
                  <c:v>45389</c:v>
                </c:pt>
                <c:pt idx="498">
                  <c:v>45396</c:v>
                </c:pt>
                <c:pt idx="499">
                  <c:v>45403</c:v>
                </c:pt>
                <c:pt idx="500">
                  <c:v>45410</c:v>
                </c:pt>
                <c:pt idx="501">
                  <c:v>45417</c:v>
                </c:pt>
                <c:pt idx="502">
                  <c:v>45424</c:v>
                </c:pt>
                <c:pt idx="503">
                  <c:v>45431</c:v>
                </c:pt>
                <c:pt idx="504">
                  <c:v>45438</c:v>
                </c:pt>
                <c:pt idx="505">
                  <c:v>45445</c:v>
                </c:pt>
                <c:pt idx="506">
                  <c:v>45452</c:v>
                </c:pt>
                <c:pt idx="507">
                  <c:v>45459</c:v>
                </c:pt>
                <c:pt idx="508">
                  <c:v>45466</c:v>
                </c:pt>
                <c:pt idx="509">
                  <c:v>45473</c:v>
                </c:pt>
                <c:pt idx="510">
                  <c:v>45480</c:v>
                </c:pt>
                <c:pt idx="511">
                  <c:v>45487</c:v>
                </c:pt>
                <c:pt idx="512">
                  <c:v>45494</c:v>
                </c:pt>
                <c:pt idx="513">
                  <c:v>45501</c:v>
                </c:pt>
                <c:pt idx="514">
                  <c:v>45508</c:v>
                </c:pt>
                <c:pt idx="515">
                  <c:v>45515</c:v>
                </c:pt>
                <c:pt idx="516">
                  <c:v>45522</c:v>
                </c:pt>
                <c:pt idx="517">
                  <c:v>45529</c:v>
                </c:pt>
                <c:pt idx="518">
                  <c:v>45536</c:v>
                </c:pt>
                <c:pt idx="519">
                  <c:v>45543</c:v>
                </c:pt>
                <c:pt idx="520">
                  <c:v>45550</c:v>
                </c:pt>
                <c:pt idx="521">
                  <c:v>45557</c:v>
                </c:pt>
                <c:pt idx="522">
                  <c:v>45564</c:v>
                </c:pt>
                <c:pt idx="523">
                  <c:v>45571</c:v>
                </c:pt>
                <c:pt idx="524">
                  <c:v>45578</c:v>
                </c:pt>
                <c:pt idx="525">
                  <c:v>45585</c:v>
                </c:pt>
                <c:pt idx="526">
                  <c:v>45592</c:v>
                </c:pt>
                <c:pt idx="527">
                  <c:v>45599</c:v>
                </c:pt>
                <c:pt idx="528">
                  <c:v>45606</c:v>
                </c:pt>
                <c:pt idx="529">
                  <c:v>45613</c:v>
                </c:pt>
                <c:pt idx="530">
                  <c:v>45620</c:v>
                </c:pt>
                <c:pt idx="531">
                  <c:v>45627</c:v>
                </c:pt>
                <c:pt idx="532">
                  <c:v>45634</c:v>
                </c:pt>
                <c:pt idx="533">
                  <c:v>45641</c:v>
                </c:pt>
                <c:pt idx="534">
                  <c:v>45648</c:v>
                </c:pt>
                <c:pt idx="535">
                  <c:v>45655</c:v>
                </c:pt>
                <c:pt idx="536">
                  <c:v>45662</c:v>
                </c:pt>
                <c:pt idx="537">
                  <c:v>45669</c:v>
                </c:pt>
                <c:pt idx="538">
                  <c:v>45676</c:v>
                </c:pt>
                <c:pt idx="539">
                  <c:v>45683</c:v>
                </c:pt>
                <c:pt idx="540">
                  <c:v>45690</c:v>
                </c:pt>
                <c:pt idx="541">
                  <c:v>45697</c:v>
                </c:pt>
                <c:pt idx="542">
                  <c:v>45704</c:v>
                </c:pt>
                <c:pt idx="543">
                  <c:v>45711</c:v>
                </c:pt>
                <c:pt idx="544">
                  <c:v>45718</c:v>
                </c:pt>
                <c:pt idx="545">
                  <c:v>45725</c:v>
                </c:pt>
                <c:pt idx="546">
                  <c:v>45732</c:v>
                </c:pt>
                <c:pt idx="547">
                  <c:v>45739</c:v>
                </c:pt>
                <c:pt idx="548">
                  <c:v>45746</c:v>
                </c:pt>
                <c:pt idx="549">
                  <c:v>45753</c:v>
                </c:pt>
                <c:pt idx="550">
                  <c:v>45760</c:v>
                </c:pt>
                <c:pt idx="551">
                  <c:v>45767</c:v>
                </c:pt>
                <c:pt idx="552">
                  <c:v>45774</c:v>
                </c:pt>
                <c:pt idx="553">
                  <c:v>45781</c:v>
                </c:pt>
                <c:pt idx="554">
                  <c:v>45788</c:v>
                </c:pt>
                <c:pt idx="555">
                  <c:v>45795</c:v>
                </c:pt>
                <c:pt idx="556">
                  <c:v>45802</c:v>
                </c:pt>
                <c:pt idx="557">
                  <c:v>45809</c:v>
                </c:pt>
                <c:pt idx="558">
                  <c:v>45816</c:v>
                </c:pt>
                <c:pt idx="559">
                  <c:v>45823</c:v>
                </c:pt>
                <c:pt idx="560">
                  <c:v>45830</c:v>
                </c:pt>
                <c:pt idx="561">
                  <c:v>45837</c:v>
                </c:pt>
                <c:pt idx="562">
                  <c:v>45844</c:v>
                </c:pt>
                <c:pt idx="563">
                  <c:v>45851</c:v>
                </c:pt>
                <c:pt idx="564">
                  <c:v>45858</c:v>
                </c:pt>
                <c:pt idx="565">
                  <c:v>45865</c:v>
                </c:pt>
                <c:pt idx="566">
                  <c:v>45872</c:v>
                </c:pt>
                <c:pt idx="567">
                  <c:v>45879</c:v>
                </c:pt>
                <c:pt idx="568">
                  <c:v>45886</c:v>
                </c:pt>
                <c:pt idx="569">
                  <c:v>45893</c:v>
                </c:pt>
                <c:pt idx="570">
                  <c:v>45900</c:v>
                </c:pt>
                <c:pt idx="571">
                  <c:v>45907</c:v>
                </c:pt>
                <c:pt idx="572">
                  <c:v>45914</c:v>
                </c:pt>
                <c:pt idx="573">
                  <c:v>45921</c:v>
                </c:pt>
                <c:pt idx="574">
                  <c:v>45928</c:v>
                </c:pt>
                <c:pt idx="575">
                  <c:v>45935</c:v>
                </c:pt>
                <c:pt idx="576">
                  <c:v>45942</c:v>
                </c:pt>
                <c:pt idx="577">
                  <c:v>45949</c:v>
                </c:pt>
                <c:pt idx="578">
                  <c:v>45956</c:v>
                </c:pt>
                <c:pt idx="579">
                  <c:v>45963</c:v>
                </c:pt>
                <c:pt idx="580">
                  <c:v>45970</c:v>
                </c:pt>
                <c:pt idx="581">
                  <c:v>45977</c:v>
                </c:pt>
                <c:pt idx="582">
                  <c:v>45984</c:v>
                </c:pt>
                <c:pt idx="583">
                  <c:v>45991</c:v>
                </c:pt>
                <c:pt idx="584">
                  <c:v>45998</c:v>
                </c:pt>
                <c:pt idx="585">
                  <c:v>46005</c:v>
                </c:pt>
                <c:pt idx="586">
                  <c:v>46012</c:v>
                </c:pt>
                <c:pt idx="587">
                  <c:v>46019</c:v>
                </c:pt>
                <c:pt idx="588">
                  <c:v>46026</c:v>
                </c:pt>
                <c:pt idx="589">
                  <c:v>46033</c:v>
                </c:pt>
                <c:pt idx="590">
                  <c:v>46040</c:v>
                </c:pt>
                <c:pt idx="591">
                  <c:v>46047</c:v>
                </c:pt>
                <c:pt idx="592">
                  <c:v>46054</c:v>
                </c:pt>
                <c:pt idx="593">
                  <c:v>46061</c:v>
                </c:pt>
                <c:pt idx="594">
                  <c:v>46068</c:v>
                </c:pt>
                <c:pt idx="595">
                  <c:v>46075</c:v>
                </c:pt>
                <c:pt idx="596">
                  <c:v>46082</c:v>
                </c:pt>
                <c:pt idx="597">
                  <c:v>46089</c:v>
                </c:pt>
                <c:pt idx="598">
                  <c:v>46096</c:v>
                </c:pt>
                <c:pt idx="599">
                  <c:v>46103</c:v>
                </c:pt>
                <c:pt idx="600">
                  <c:v>46110</c:v>
                </c:pt>
                <c:pt idx="601">
                  <c:v>46117</c:v>
                </c:pt>
                <c:pt idx="602">
                  <c:v>46124</c:v>
                </c:pt>
                <c:pt idx="603">
                  <c:v>46131</c:v>
                </c:pt>
                <c:pt idx="604">
                  <c:v>46138</c:v>
                </c:pt>
                <c:pt idx="605">
                  <c:v>46145</c:v>
                </c:pt>
                <c:pt idx="606">
                  <c:v>46152</c:v>
                </c:pt>
                <c:pt idx="607">
                  <c:v>46159</c:v>
                </c:pt>
                <c:pt idx="608">
                  <c:v>46166</c:v>
                </c:pt>
                <c:pt idx="609">
                  <c:v>46173</c:v>
                </c:pt>
                <c:pt idx="610">
                  <c:v>46180</c:v>
                </c:pt>
                <c:pt idx="611">
                  <c:v>46187</c:v>
                </c:pt>
                <c:pt idx="612">
                  <c:v>46194</c:v>
                </c:pt>
                <c:pt idx="613">
                  <c:v>46201</c:v>
                </c:pt>
                <c:pt idx="614">
                  <c:v>46208</c:v>
                </c:pt>
                <c:pt idx="615">
                  <c:v>46215</c:v>
                </c:pt>
                <c:pt idx="616">
                  <c:v>46222</c:v>
                </c:pt>
                <c:pt idx="617">
                  <c:v>46229</c:v>
                </c:pt>
                <c:pt idx="618">
                  <c:v>46236</c:v>
                </c:pt>
                <c:pt idx="619">
                  <c:v>46243</c:v>
                </c:pt>
                <c:pt idx="620">
                  <c:v>46250</c:v>
                </c:pt>
                <c:pt idx="621">
                  <c:v>46257</c:v>
                </c:pt>
                <c:pt idx="622">
                  <c:v>46264</c:v>
                </c:pt>
                <c:pt idx="623">
                  <c:v>46271</c:v>
                </c:pt>
                <c:pt idx="624">
                  <c:v>46278</c:v>
                </c:pt>
                <c:pt idx="625">
                  <c:v>46285</c:v>
                </c:pt>
              </c:numCache>
            </c:numRef>
          </c:cat>
          <c:val>
            <c:numRef>
              <c:f>Feuil1!$G$6:$G$631</c:f>
              <c:numCache>
                <c:formatCode>General</c:formatCode>
                <c:ptCount val="626"/>
                <c:pt idx="0">
                  <c:v>100</c:v>
                </c:pt>
                <c:pt idx="1">
                  <c:v>99.369428702404377</c:v>
                </c:pt>
                <c:pt idx="2">
                  <c:v>98.26002358136472</c:v>
                </c:pt>
                <c:pt idx="3">
                  <c:v>98.084064162130886</c:v>
                </c:pt>
                <c:pt idx="4">
                  <c:v>98.049232604739885</c:v>
                </c:pt>
                <c:pt idx="5">
                  <c:v>98.613944233475522</c:v>
                </c:pt>
                <c:pt idx="6">
                  <c:v>99.090175699183462</c:v>
                </c:pt>
                <c:pt idx="7">
                  <c:v>99.9503550216496</c:v>
                </c:pt>
                <c:pt idx="8">
                  <c:v>100.38594967040137</c:v>
                </c:pt>
                <c:pt idx="9">
                  <c:v>100.52247336086492</c:v>
                </c:pt>
                <c:pt idx="10">
                  <c:v>98.556292000552489</c:v>
                </c:pt>
                <c:pt idx="11">
                  <c:v>99.099183860577682</c:v>
                </c:pt>
                <c:pt idx="12">
                  <c:v>99.174652234924835</c:v>
                </c:pt>
                <c:pt idx="13">
                  <c:v>98.805717980490329</c:v>
                </c:pt>
                <c:pt idx="14">
                  <c:v>98.230997283538883</c:v>
                </c:pt>
                <c:pt idx="15">
                  <c:v>98.371924964017381</c:v>
                </c:pt>
                <c:pt idx="16">
                  <c:v>100.59233665701124</c:v>
                </c:pt>
                <c:pt idx="17">
                  <c:v>99.959763545772461</c:v>
                </c:pt>
                <c:pt idx="18">
                  <c:v>101.4040720893129</c:v>
                </c:pt>
                <c:pt idx="19">
                  <c:v>102.1973908360975</c:v>
                </c:pt>
                <c:pt idx="20">
                  <c:v>103.01633279751454</c:v>
                </c:pt>
                <c:pt idx="21">
                  <c:v>103.90353660416338</c:v>
                </c:pt>
                <c:pt idx="22">
                  <c:v>103.53940670247242</c:v>
                </c:pt>
                <c:pt idx="23">
                  <c:v>103.43351076074923</c:v>
                </c:pt>
                <c:pt idx="24">
                  <c:v>104.46064134105499</c:v>
                </c:pt>
                <c:pt idx="25">
                  <c:v>103.81465607840703</c:v>
                </c:pt>
                <c:pt idx="26">
                  <c:v>104.22522805661929</c:v>
                </c:pt>
                <c:pt idx="27">
                  <c:v>105.97901698939238</c:v>
                </c:pt>
                <c:pt idx="28">
                  <c:v>105.14926523430226</c:v>
                </c:pt>
                <c:pt idx="29">
                  <c:v>105.90915369324607</c:v>
                </c:pt>
                <c:pt idx="30">
                  <c:v>105.26577078833421</c:v>
                </c:pt>
                <c:pt idx="31">
                  <c:v>105.94078234880801</c:v>
                </c:pt>
                <c:pt idx="32">
                  <c:v>106.43903376459069</c:v>
                </c:pt>
                <c:pt idx="33">
                  <c:v>107.04758511211156</c:v>
                </c:pt>
                <c:pt idx="34">
                  <c:v>106.43482995594007</c:v>
                </c:pt>
                <c:pt idx="35">
                  <c:v>105.77703399279746</c:v>
                </c:pt>
                <c:pt idx="36">
                  <c:v>106.02085489453445</c:v>
                </c:pt>
                <c:pt idx="37">
                  <c:v>105.85530490624507</c:v>
                </c:pt>
                <c:pt idx="38">
                  <c:v>106.40820583448603</c:v>
                </c:pt>
                <c:pt idx="39">
                  <c:v>105.70817160347275</c:v>
                </c:pt>
                <c:pt idx="40">
                  <c:v>105.28178529747952</c:v>
                </c:pt>
                <c:pt idx="41">
                  <c:v>106.23124550843062</c:v>
                </c:pt>
                <c:pt idx="42">
                  <c:v>106.13035410081535</c:v>
                </c:pt>
                <c:pt idx="43">
                  <c:v>106.1087345134692</c:v>
                </c:pt>
                <c:pt idx="44">
                  <c:v>106.38358352667517</c:v>
                </c:pt>
                <c:pt idx="45">
                  <c:v>106.2941024568259</c:v>
                </c:pt>
                <c:pt idx="46">
                  <c:v>104.58435342420232</c:v>
                </c:pt>
                <c:pt idx="47">
                  <c:v>104.7673191911872</c:v>
                </c:pt>
                <c:pt idx="48">
                  <c:v>104.18238924465567</c:v>
                </c:pt>
                <c:pt idx="49">
                  <c:v>104.56453546913505</c:v>
                </c:pt>
                <c:pt idx="50">
                  <c:v>104.91945702806743</c:v>
                </c:pt>
                <c:pt idx="51">
                  <c:v>103.11442166602941</c:v>
                </c:pt>
                <c:pt idx="52">
                  <c:v>103.34402969089993</c:v>
                </c:pt>
                <c:pt idx="53">
                  <c:v>104.27687484861285</c:v>
                </c:pt>
                <c:pt idx="54">
                  <c:v>104.58995850240318</c:v>
                </c:pt>
                <c:pt idx="55">
                  <c:v>105.03876512119979</c:v>
                </c:pt>
                <c:pt idx="56">
                  <c:v>105.25456063193252</c:v>
                </c:pt>
                <c:pt idx="57">
                  <c:v>105.30140307118248</c:v>
                </c:pt>
                <c:pt idx="58">
                  <c:v>105.22973814275733</c:v>
                </c:pt>
                <c:pt idx="59">
                  <c:v>105.46314961354986</c:v>
                </c:pt>
                <c:pt idx="60">
                  <c:v>105.79805303605066</c:v>
                </c:pt>
                <c:pt idx="61">
                  <c:v>106.49268237022741</c:v>
                </c:pt>
                <c:pt idx="62">
                  <c:v>106.01845271816264</c:v>
                </c:pt>
                <c:pt idx="63">
                  <c:v>105.55843594296432</c:v>
                </c:pt>
                <c:pt idx="64">
                  <c:v>106.24746019894022</c:v>
                </c:pt>
                <c:pt idx="65">
                  <c:v>106.52471138851797</c:v>
                </c:pt>
                <c:pt idx="66">
                  <c:v>106.59297323374976</c:v>
                </c:pt>
                <c:pt idx="67">
                  <c:v>106.91706686257749</c:v>
                </c:pt>
                <c:pt idx="68">
                  <c:v>107.18110608211038</c:v>
                </c:pt>
                <c:pt idx="69">
                  <c:v>108.46506935283364</c:v>
                </c:pt>
                <c:pt idx="70">
                  <c:v>108.78736134938252</c:v>
                </c:pt>
                <c:pt idx="71">
                  <c:v>108.15158533631471</c:v>
                </c:pt>
                <c:pt idx="72">
                  <c:v>109.12566785507668</c:v>
                </c:pt>
                <c:pt idx="73">
                  <c:v>109.76784967180264</c:v>
                </c:pt>
                <c:pt idx="74">
                  <c:v>110.69829265314375</c:v>
                </c:pt>
                <c:pt idx="75">
                  <c:v>110.37499974977329</c:v>
                </c:pt>
                <c:pt idx="76">
                  <c:v>111.03599861474495</c:v>
                </c:pt>
                <c:pt idx="77">
                  <c:v>111.9868600952463</c:v>
                </c:pt>
                <c:pt idx="78">
                  <c:v>112.39843298028012</c:v>
                </c:pt>
                <c:pt idx="79">
                  <c:v>111.95613225582377</c:v>
                </c:pt>
                <c:pt idx="80">
                  <c:v>112.28783277649551</c:v>
                </c:pt>
                <c:pt idx="81">
                  <c:v>111.99176453867203</c:v>
                </c:pt>
                <c:pt idx="82">
                  <c:v>112.2448938738497</c:v>
                </c:pt>
                <c:pt idx="83">
                  <c:v>112.48260924397503</c:v>
                </c:pt>
                <c:pt idx="84">
                  <c:v>112.86695746346189</c:v>
                </c:pt>
                <c:pt idx="85">
                  <c:v>113.10327156403702</c:v>
                </c:pt>
                <c:pt idx="86">
                  <c:v>113.39173291001647</c:v>
                </c:pt>
                <c:pt idx="87">
                  <c:v>113.73254168276459</c:v>
                </c:pt>
                <c:pt idx="88">
                  <c:v>113.67548999393449</c:v>
                </c:pt>
                <c:pt idx="89">
                  <c:v>113.44628233179259</c:v>
                </c:pt>
                <c:pt idx="90">
                  <c:v>113.27092345665173</c:v>
                </c:pt>
                <c:pt idx="91">
                  <c:v>113.91760935407478</c:v>
                </c:pt>
                <c:pt idx="92">
                  <c:v>113.83703635493757</c:v>
                </c:pt>
                <c:pt idx="93">
                  <c:v>114.1651336110516</c:v>
                </c:pt>
                <c:pt idx="94">
                  <c:v>114.44598806518704</c:v>
                </c:pt>
                <c:pt idx="95">
                  <c:v>114.68360334463024</c:v>
                </c:pt>
                <c:pt idx="96">
                  <c:v>114.93413032207178</c:v>
                </c:pt>
                <c:pt idx="97">
                  <c:v>115.26352875705388</c:v>
                </c:pt>
                <c:pt idx="98">
                  <c:v>115.83284455716878</c:v>
                </c:pt>
                <c:pt idx="99">
                  <c:v>115.59582982181857</c:v>
                </c:pt>
                <c:pt idx="100">
                  <c:v>116.05214324177705</c:v>
                </c:pt>
                <c:pt idx="101">
                  <c:v>116.26863938728489</c:v>
                </c:pt>
                <c:pt idx="102">
                  <c:v>116.4319873805668</c:v>
                </c:pt>
                <c:pt idx="103">
                  <c:v>116.66389749112696</c:v>
                </c:pt>
                <c:pt idx="104">
                  <c:v>116.91932891199426</c:v>
                </c:pt>
                <c:pt idx="105">
                  <c:v>117.05084806834994</c:v>
                </c:pt>
                <c:pt idx="106">
                  <c:v>116.7205488172284</c:v>
                </c:pt>
                <c:pt idx="107">
                  <c:v>117.04073890945195</c:v>
                </c:pt>
                <c:pt idx="108">
                  <c:v>115.75907772441832</c:v>
                </c:pt>
                <c:pt idx="109">
                  <c:v>115.77959631426071</c:v>
                </c:pt>
                <c:pt idx="110">
                  <c:v>116.04113326673966</c:v>
                </c:pt>
                <c:pt idx="111">
                  <c:v>116.6065455302504</c:v>
                </c:pt>
                <c:pt idx="112">
                  <c:v>116.71454337629892</c:v>
                </c:pt>
                <c:pt idx="113">
                  <c:v>116.42508112349788</c:v>
                </c:pt>
                <c:pt idx="114">
                  <c:v>117.13562487613778</c:v>
                </c:pt>
                <c:pt idx="115">
                  <c:v>117.23711682784601</c:v>
                </c:pt>
                <c:pt idx="116">
                  <c:v>117.35832664393939</c:v>
                </c:pt>
                <c:pt idx="117">
                  <c:v>117.47413156319624</c:v>
                </c:pt>
                <c:pt idx="118">
                  <c:v>118.10149995896282</c:v>
                </c:pt>
                <c:pt idx="119">
                  <c:v>118.76670263258511</c:v>
                </c:pt>
                <c:pt idx="120">
                  <c:v>118.47653974500898</c:v>
                </c:pt>
                <c:pt idx="121">
                  <c:v>118.41718597048924</c:v>
                </c:pt>
                <c:pt idx="122">
                  <c:v>117.86828866953458</c:v>
                </c:pt>
                <c:pt idx="123">
                  <c:v>118.17746878672075</c:v>
                </c:pt>
                <c:pt idx="124">
                  <c:v>118.09509415530471</c:v>
                </c:pt>
                <c:pt idx="125">
                  <c:v>117.82705130848548</c:v>
                </c:pt>
                <c:pt idx="126">
                  <c:v>118.68673017754084</c:v>
                </c:pt>
                <c:pt idx="127">
                  <c:v>118.669714761574</c:v>
                </c:pt>
                <c:pt idx="128">
                  <c:v>118.8831080959349</c:v>
                </c:pt>
                <c:pt idx="129">
                  <c:v>118.59184421085503</c:v>
                </c:pt>
                <c:pt idx="130">
                  <c:v>118.85668415584519</c:v>
                </c:pt>
                <c:pt idx="131">
                  <c:v>119.29668279461193</c:v>
                </c:pt>
                <c:pt idx="132">
                  <c:v>119.44701899921328</c:v>
                </c:pt>
                <c:pt idx="133">
                  <c:v>119.37835679125286</c:v>
                </c:pt>
                <c:pt idx="134">
                  <c:v>120.40578764360509</c:v>
                </c:pt>
                <c:pt idx="135">
                  <c:v>120.64790700374539</c:v>
                </c:pt>
                <c:pt idx="136">
                  <c:v>120.89413008185414</c:v>
                </c:pt>
                <c:pt idx="137">
                  <c:v>120.88322019749893</c:v>
                </c:pt>
                <c:pt idx="138">
                  <c:v>121.74710287520492</c:v>
                </c:pt>
                <c:pt idx="139">
                  <c:v>122.26327052309394</c:v>
                </c:pt>
                <c:pt idx="140">
                  <c:v>121.99142423035269</c:v>
                </c:pt>
                <c:pt idx="141">
                  <c:v>122.24575465371626</c:v>
                </c:pt>
                <c:pt idx="142">
                  <c:v>122.35335213703615</c:v>
                </c:pt>
                <c:pt idx="143">
                  <c:v>122.13585508470672</c:v>
                </c:pt>
                <c:pt idx="144">
                  <c:v>122.2053180181244</c:v>
                </c:pt>
                <c:pt idx="145">
                  <c:v>122.08390802066671</c:v>
                </c:pt>
                <c:pt idx="146">
                  <c:v>122.65072155372766</c:v>
                </c:pt>
                <c:pt idx="147">
                  <c:v>122.7062718823254</c:v>
                </c:pt>
                <c:pt idx="148">
                  <c:v>122.65792808284306</c:v>
                </c:pt>
                <c:pt idx="149">
                  <c:v>122.25075918782417</c:v>
                </c:pt>
                <c:pt idx="150">
                  <c:v>122.75431540976125</c:v>
                </c:pt>
                <c:pt idx="151">
                  <c:v>122.92807283398757</c:v>
                </c:pt>
                <c:pt idx="152">
                  <c:v>122.99933739968409</c:v>
                </c:pt>
                <c:pt idx="153">
                  <c:v>123.28809901771002</c:v>
                </c:pt>
                <c:pt idx="154">
                  <c:v>123.32483229806203</c:v>
                </c:pt>
                <c:pt idx="155">
                  <c:v>123.70948078959536</c:v>
                </c:pt>
                <c:pt idx="156">
                  <c:v>123.62870760909384</c:v>
                </c:pt>
                <c:pt idx="157">
                  <c:v>123.94399325789165</c:v>
                </c:pt>
                <c:pt idx="158">
                  <c:v>123.98503043757646</c:v>
                </c:pt>
                <c:pt idx="159">
                  <c:v>123.73160083035228</c:v>
                </c:pt>
                <c:pt idx="160">
                  <c:v>122.74690869928153</c:v>
                </c:pt>
                <c:pt idx="161">
                  <c:v>122.69436109114859</c:v>
                </c:pt>
                <c:pt idx="162">
                  <c:v>121.33843261995368</c:v>
                </c:pt>
                <c:pt idx="163">
                  <c:v>121.14645869157457</c:v>
                </c:pt>
                <c:pt idx="164">
                  <c:v>121.29389226639333</c:v>
                </c:pt>
                <c:pt idx="165">
                  <c:v>121.46975159494502</c:v>
                </c:pt>
                <c:pt idx="166">
                  <c:v>121.27987957089124</c:v>
                </c:pt>
                <c:pt idx="167">
                  <c:v>120.63299349210385</c:v>
                </c:pt>
                <c:pt idx="168">
                  <c:v>120.97790598282043</c:v>
                </c:pt>
                <c:pt idx="169">
                  <c:v>121.56353656412711</c:v>
                </c:pt>
                <c:pt idx="170">
                  <c:v>122.17398963460894</c:v>
                </c:pt>
                <c:pt idx="171">
                  <c:v>122.64581711030193</c:v>
                </c:pt>
                <c:pt idx="172">
                  <c:v>122.80466102288672</c:v>
                </c:pt>
                <c:pt idx="173">
                  <c:v>123.03436913843942</c:v>
                </c:pt>
                <c:pt idx="174">
                  <c:v>122.99002896624343</c:v>
                </c:pt>
                <c:pt idx="175">
                  <c:v>122.19600958468374</c:v>
                </c:pt>
                <c:pt idx="176">
                  <c:v>123.0608931692113</c:v>
                </c:pt>
                <c:pt idx="177">
                  <c:v>122.80005685150745</c:v>
                </c:pt>
                <c:pt idx="178">
                  <c:v>121.4127999967971</c:v>
                </c:pt>
                <c:pt idx="179">
                  <c:v>121.86070579945429</c:v>
                </c:pt>
                <c:pt idx="180">
                  <c:v>120.83857975325645</c:v>
                </c:pt>
                <c:pt idx="181">
                  <c:v>120.60556864519253</c:v>
                </c:pt>
                <c:pt idx="182">
                  <c:v>120.30589714281139</c:v>
                </c:pt>
                <c:pt idx="183">
                  <c:v>120.15365921524901</c:v>
                </c:pt>
                <c:pt idx="184">
                  <c:v>120.68644191637622</c:v>
                </c:pt>
                <c:pt idx="185">
                  <c:v>120.57223844803393</c:v>
                </c:pt>
                <c:pt idx="186">
                  <c:v>119.4128880765974</c:v>
                </c:pt>
                <c:pt idx="187">
                  <c:v>118.93995960340067</c:v>
                </c:pt>
                <c:pt idx="188">
                  <c:v>119.08919481049831</c:v>
                </c:pt>
                <c:pt idx="189">
                  <c:v>120.23453248643273</c:v>
                </c:pt>
                <c:pt idx="190">
                  <c:v>120.35233921933271</c:v>
                </c:pt>
                <c:pt idx="191">
                  <c:v>120.15145722024153</c:v>
                </c:pt>
                <c:pt idx="192">
                  <c:v>121.18219106510497</c:v>
                </c:pt>
                <c:pt idx="193">
                  <c:v>120.10041097234092</c:v>
                </c:pt>
                <c:pt idx="194">
                  <c:v>120.5052777816702</c:v>
                </c:pt>
                <c:pt idx="195">
                  <c:v>119.96949236007821</c:v>
                </c:pt>
                <c:pt idx="196">
                  <c:v>119.80864663385027</c:v>
                </c:pt>
                <c:pt idx="197">
                  <c:v>120.5746406244057</c:v>
                </c:pt>
                <c:pt idx="198">
                  <c:v>120.14334987498674</c:v>
                </c:pt>
                <c:pt idx="199">
                  <c:v>118.86579240792156</c:v>
                </c:pt>
                <c:pt idx="200">
                  <c:v>118.59274502699446</c:v>
                </c:pt>
                <c:pt idx="201">
                  <c:v>118.5415986884117</c:v>
                </c:pt>
                <c:pt idx="202">
                  <c:v>118.13893387408991</c:v>
                </c:pt>
                <c:pt idx="203">
                  <c:v>118.96768472235844</c:v>
                </c:pt>
                <c:pt idx="204">
                  <c:v>119.70485259645238</c:v>
                </c:pt>
                <c:pt idx="205">
                  <c:v>118.44511127081134</c:v>
                </c:pt>
                <c:pt idx="206">
                  <c:v>119.01082380636856</c:v>
                </c:pt>
                <c:pt idx="207">
                  <c:v>118.77260798283244</c:v>
                </c:pt>
                <c:pt idx="208">
                  <c:v>118.12742344564174</c:v>
                </c:pt>
                <c:pt idx="209">
                  <c:v>116.82764584713752</c:v>
                </c:pt>
                <c:pt idx="210">
                  <c:v>116.20428107865726</c:v>
                </c:pt>
                <c:pt idx="211">
                  <c:v>116.45030397540172</c:v>
                </c:pt>
                <c:pt idx="212">
                  <c:v>115.75967826851125</c:v>
                </c:pt>
                <c:pt idx="213">
                  <c:v>117.27415038024451</c:v>
                </c:pt>
                <c:pt idx="214">
                  <c:v>117.32239408904468</c:v>
                </c:pt>
                <c:pt idx="215">
                  <c:v>116.44720116425479</c:v>
                </c:pt>
                <c:pt idx="216">
                  <c:v>116.51175965424673</c:v>
                </c:pt>
                <c:pt idx="217">
                  <c:v>116.64688207516009</c:v>
                </c:pt>
                <c:pt idx="218">
                  <c:v>116.32569107611495</c:v>
                </c:pt>
                <c:pt idx="219">
                  <c:v>116.68861988961999</c:v>
                </c:pt>
                <c:pt idx="220">
                  <c:v>115.61424650733565</c:v>
                </c:pt>
                <c:pt idx="221">
                  <c:v>115.92492798475418</c:v>
                </c:pt>
                <c:pt idx="222">
                  <c:v>115.9234266245218</c:v>
                </c:pt>
                <c:pt idx="223">
                  <c:v>117.52367645086449</c:v>
                </c:pt>
                <c:pt idx="224">
                  <c:v>116.99699928134891</c:v>
                </c:pt>
                <c:pt idx="225">
                  <c:v>117.4768340116145</c:v>
                </c:pt>
                <c:pt idx="226">
                  <c:v>117.85717860381504</c:v>
                </c:pt>
                <c:pt idx="227">
                  <c:v>117.35342220051366</c:v>
                </c:pt>
                <c:pt idx="228">
                  <c:v>117.89431224689568</c:v>
                </c:pt>
                <c:pt idx="229">
                  <c:v>118.29437470348137</c:v>
                </c:pt>
                <c:pt idx="230">
                  <c:v>118.73167089382981</c:v>
                </c:pt>
                <c:pt idx="231">
                  <c:v>118.26254586655509</c:v>
                </c:pt>
                <c:pt idx="232">
                  <c:v>118.98560095446473</c:v>
                </c:pt>
                <c:pt idx="233">
                  <c:v>118.23902455624795</c:v>
                </c:pt>
                <c:pt idx="234">
                  <c:v>118.64859562763863</c:v>
                </c:pt>
                <c:pt idx="235">
                  <c:v>118.93705697361807</c:v>
                </c:pt>
                <c:pt idx="236">
                  <c:v>119.60326055406199</c:v>
                </c:pt>
                <c:pt idx="237">
                  <c:v>119.75850120208908</c:v>
                </c:pt>
                <c:pt idx="238">
                  <c:v>119.54040360566671</c:v>
                </c:pt>
                <c:pt idx="239">
                  <c:v>119.58774649832749</c:v>
                </c:pt>
                <c:pt idx="240">
                  <c:v>119.89502489255266</c:v>
                </c:pt>
                <c:pt idx="241">
                  <c:v>119.53019435608661</c:v>
                </c:pt>
                <c:pt idx="242">
                  <c:v>119.34332505249756</c:v>
                </c:pt>
                <c:pt idx="243">
                  <c:v>119.61256898750266</c:v>
                </c:pt>
                <c:pt idx="244">
                  <c:v>119.64049428782475</c:v>
                </c:pt>
                <c:pt idx="245">
                  <c:v>119.24563654671132</c:v>
                </c:pt>
                <c:pt idx="246">
                  <c:v>119.21891233457511</c:v>
                </c:pt>
                <c:pt idx="247">
                  <c:v>119.23172394189136</c:v>
                </c:pt>
                <c:pt idx="248">
                  <c:v>119.37275171305201</c:v>
                </c:pt>
                <c:pt idx="249">
                  <c:v>119.61567179864959</c:v>
                </c:pt>
                <c:pt idx="250">
                  <c:v>119.35933956164284</c:v>
                </c:pt>
                <c:pt idx="251">
                  <c:v>119.70144951325901</c:v>
                </c:pt>
                <c:pt idx="252">
                  <c:v>119.58554450331999</c:v>
                </c:pt>
                <c:pt idx="253">
                  <c:v>119.2366283853171</c:v>
                </c:pt>
                <c:pt idx="254">
                  <c:v>119.02964085461427</c:v>
                </c:pt>
                <c:pt idx="255">
                  <c:v>119.30949440192813</c:v>
                </c:pt>
                <c:pt idx="256">
                  <c:v>119.3799582421674</c:v>
                </c:pt>
                <c:pt idx="257">
                  <c:v>119.36674627212254</c:v>
                </c:pt>
                <c:pt idx="258">
                  <c:v>119.45502625378592</c:v>
                </c:pt>
                <c:pt idx="259">
                  <c:v>119.4078835424895</c:v>
                </c:pt>
                <c:pt idx="260">
                  <c:v>119.1750726157899</c:v>
                </c:pt>
                <c:pt idx="261">
                  <c:v>119.29428061824012</c:v>
                </c:pt>
                <c:pt idx="262">
                  <c:v>119.33181462404939</c:v>
                </c:pt>
                <c:pt idx="263">
                  <c:v>119.6377918394065</c:v>
                </c:pt>
                <c:pt idx="264">
                  <c:v>119.66131314971365</c:v>
                </c:pt>
                <c:pt idx="265">
                  <c:v>119.84758190920974</c:v>
                </c:pt>
                <c:pt idx="266">
                  <c:v>120.01653498069248</c:v>
                </c:pt>
                <c:pt idx="267">
                  <c:v>120.03284976188426</c:v>
                </c:pt>
                <c:pt idx="268">
                  <c:v>120.43471385074878</c:v>
                </c:pt>
                <c:pt idx="269">
                  <c:v>120.58815286649704</c:v>
                </c:pt>
                <c:pt idx="270">
                  <c:v>120.69855288891735</c:v>
                </c:pt>
                <c:pt idx="271">
                  <c:v>121.53711262403736</c:v>
                </c:pt>
                <c:pt idx="272">
                  <c:v>122.04587356144667</c:v>
                </c:pt>
                <c:pt idx="273">
                  <c:v>122.4877739231744</c:v>
                </c:pt>
                <c:pt idx="274">
                  <c:v>122.67554404290286</c:v>
                </c:pt>
                <c:pt idx="275">
                  <c:v>123.07180305356653</c:v>
                </c:pt>
                <c:pt idx="276">
                  <c:v>123.41251173563248</c:v>
                </c:pt>
                <c:pt idx="277">
                  <c:v>123.22163880475709</c:v>
                </c:pt>
                <c:pt idx="278">
                  <c:v>122.85650799624459</c:v>
                </c:pt>
                <c:pt idx="279">
                  <c:v>123.00043839718786</c:v>
                </c:pt>
                <c:pt idx="280">
                  <c:v>123.48848056339044</c:v>
                </c:pt>
                <c:pt idx="281">
                  <c:v>123.38828979055023</c:v>
                </c:pt>
                <c:pt idx="282">
                  <c:v>122.06939487175379</c:v>
                </c:pt>
                <c:pt idx="283">
                  <c:v>120.24153883418376</c:v>
                </c:pt>
                <c:pt idx="284">
                  <c:v>114.55658826897168</c:v>
                </c:pt>
                <c:pt idx="285">
                  <c:v>113</c:v>
                </c:pt>
                <c:pt idx="286">
                  <c:v>112</c:v>
                </c:pt>
                <c:pt idx="287">
                  <c:v>111</c:v>
                </c:pt>
                <c:pt idx="288">
                  <c:v>111.45107467365432</c:v>
                </c:pt>
                <c:pt idx="289">
                  <c:v>113.47420763211468</c:v>
                </c:pt>
                <c:pt idx="290">
                  <c:v>114.20466943050403</c:v>
                </c:pt>
                <c:pt idx="291">
                  <c:v>116.04603771016542</c:v>
                </c:pt>
                <c:pt idx="292">
                  <c:v>117.45671578450074</c:v>
                </c:pt>
                <c:pt idx="293">
                  <c:v>115.22339239350852</c:v>
                </c:pt>
                <c:pt idx="294">
                  <c:v>115.2195889475865</c:v>
                </c:pt>
                <c:pt idx="295">
                  <c:v>117.68322099822439</c:v>
                </c:pt>
                <c:pt idx="296">
                  <c:v>120.16036529095359</c:v>
                </c:pt>
                <c:pt idx="297">
                  <c:v>119.29418052755798</c:v>
                </c:pt>
                <c:pt idx="298">
                  <c:v>120.04065683509258</c:v>
                </c:pt>
                <c:pt idx="299">
                  <c:v>119.94236778521339</c:v>
                </c:pt>
                <c:pt idx="300">
                  <c:v>120.40138365359014</c:v>
                </c:pt>
                <c:pt idx="301">
                  <c:v>120.24143874350162</c:v>
                </c:pt>
                <c:pt idx="302">
                  <c:v>120.7702178173425</c:v>
                </c:pt>
                <c:pt idx="303">
                  <c:v>120.5391084322396</c:v>
                </c:pt>
                <c:pt idx="304">
                  <c:v>120.31270330919813</c:v>
                </c:pt>
                <c:pt idx="305">
                  <c:v>120.31620648307364</c:v>
                </c:pt>
                <c:pt idx="306">
                  <c:v>120.51178367601048</c:v>
                </c:pt>
                <c:pt idx="307">
                  <c:v>120.43621521098113</c:v>
                </c:pt>
                <c:pt idx="308">
                  <c:v>120.98921622990429</c:v>
                </c:pt>
                <c:pt idx="309">
                  <c:v>121.17738671236138</c:v>
                </c:pt>
                <c:pt idx="310">
                  <c:v>121.71407295009277</c:v>
                </c:pt>
                <c:pt idx="311">
                  <c:v>122.44503520189289</c:v>
                </c:pt>
                <c:pt idx="312">
                  <c:v>121.7109701389459</c:v>
                </c:pt>
                <c:pt idx="313">
                  <c:v>122.12584601649095</c:v>
                </c:pt>
                <c:pt idx="314">
                  <c:v>123.16768992707392</c:v>
                </c:pt>
                <c:pt idx="315">
                  <c:v>122.44493511121075</c:v>
                </c:pt>
                <c:pt idx="316">
                  <c:v>122.34604551723862</c:v>
                </c:pt>
                <c:pt idx="317">
                  <c:v>119.54370659817795</c:v>
                </c:pt>
                <c:pt idx="318">
                  <c:v>122.56934782913321</c:v>
                </c:pt>
                <c:pt idx="319">
                  <c:v>124.39320023941691</c:v>
                </c:pt>
                <c:pt idx="320">
                  <c:v>124.8105783840159</c:v>
                </c:pt>
                <c:pt idx="321">
                  <c:v>126.89266475426737</c:v>
                </c:pt>
                <c:pt idx="322">
                  <c:v>127.83361725723506</c:v>
                </c:pt>
                <c:pt idx="323">
                  <c:v>129.02519682832647</c:v>
                </c:pt>
                <c:pt idx="324">
                  <c:v>130.48702124124455</c:v>
                </c:pt>
                <c:pt idx="325">
                  <c:v>130.39223536524091</c:v>
                </c:pt>
                <c:pt idx="326">
                  <c:v>130.51784917134924</c:v>
                </c:pt>
                <c:pt idx="327">
                  <c:v>131.98447793701092</c:v>
                </c:pt>
                <c:pt idx="328">
                  <c:v>132.57671450334004</c:v>
                </c:pt>
                <c:pt idx="329">
                  <c:v>133.07596682594431</c:v>
                </c:pt>
                <c:pt idx="330">
                  <c:v>132.39104628793689</c:v>
                </c:pt>
                <c:pt idx="331">
                  <c:v>134.13993077728421</c:v>
                </c:pt>
                <c:pt idx="332">
                  <c:v>135.31559592991249</c:v>
                </c:pt>
                <c:pt idx="333">
                  <c:v>135.89872424416524</c:v>
                </c:pt>
                <c:pt idx="334">
                  <c:v>134.97778987762914</c:v>
                </c:pt>
                <c:pt idx="335">
                  <c:v>134.59684474133564</c:v>
                </c:pt>
                <c:pt idx="336">
                  <c:v>135.45982660290224</c:v>
                </c:pt>
                <c:pt idx="337">
                  <c:v>135.73747815520861</c:v>
                </c:pt>
                <c:pt idx="338">
                  <c:v>135.8612903290381</c:v>
                </c:pt>
                <c:pt idx="339">
                  <c:v>136.17197180645667</c:v>
                </c:pt>
                <c:pt idx="340">
                  <c:v>136.37075190122249</c:v>
                </c:pt>
                <c:pt idx="341">
                  <c:v>136.63649266235208</c:v>
                </c:pt>
                <c:pt idx="342">
                  <c:v>137.08129565386238</c:v>
                </c:pt>
                <c:pt idx="343">
                  <c:v>137.48466110295931</c:v>
                </c:pt>
                <c:pt idx="344">
                  <c:v>137.85239426920791</c:v>
                </c:pt>
                <c:pt idx="345">
                  <c:v>137.85199390647927</c:v>
                </c:pt>
                <c:pt idx="346">
                  <c:v>138.4903722772832</c:v>
                </c:pt>
                <c:pt idx="347">
                  <c:v>139.25426436351333</c:v>
                </c:pt>
                <c:pt idx="348">
                  <c:v>139.98852960782469</c:v>
                </c:pt>
                <c:pt idx="349">
                  <c:v>140.37618081982274</c:v>
                </c:pt>
                <c:pt idx="350">
                  <c:v>140.21163173835492</c:v>
                </c:pt>
                <c:pt idx="351">
                  <c:v>139.87412595811804</c:v>
                </c:pt>
                <c:pt idx="352">
                  <c:v>140.57846408846413</c:v>
                </c:pt>
                <c:pt idx="353">
                  <c:v>140.261076535341</c:v>
                </c:pt>
                <c:pt idx="354">
                  <c:v>140.73350455512696</c:v>
                </c:pt>
                <c:pt idx="355">
                  <c:v>141.19872604579749</c:v>
                </c:pt>
                <c:pt idx="356">
                  <c:v>140.48177648949948</c:v>
                </c:pt>
                <c:pt idx="357">
                  <c:v>140.50549798117095</c:v>
                </c:pt>
                <c:pt idx="358">
                  <c:v>140.58877342872643</c:v>
                </c:pt>
                <c:pt idx="359">
                  <c:v>140.94940015654183</c:v>
                </c:pt>
                <c:pt idx="360">
                  <c:v>141.07211133286756</c:v>
                </c:pt>
                <c:pt idx="361">
                  <c:v>141.45405737598264</c:v>
                </c:pt>
                <c:pt idx="362">
                  <c:v>141.44384812640251</c:v>
                </c:pt>
                <c:pt idx="363">
                  <c:v>141.80107177102454</c:v>
                </c:pt>
                <c:pt idx="364">
                  <c:v>143.0717229810208</c:v>
                </c:pt>
                <c:pt idx="365">
                  <c:v>143.1410858237563</c:v>
                </c:pt>
                <c:pt idx="366">
                  <c:v>143.32715440188809</c:v>
                </c:pt>
                <c:pt idx="367">
                  <c:v>143.61851837765013</c:v>
                </c:pt>
                <c:pt idx="368">
                  <c:v>144.35698743061212</c:v>
                </c:pt>
                <c:pt idx="369">
                  <c:v>144.4533747575303</c:v>
                </c:pt>
                <c:pt idx="370">
                  <c:v>144.51092689977119</c:v>
                </c:pt>
                <c:pt idx="371">
                  <c:v>144.57538529908095</c:v>
                </c:pt>
                <c:pt idx="372">
                  <c:v>144.45037203706556</c:v>
                </c:pt>
                <c:pt idx="373">
                  <c:v>144.55356553037052</c:v>
                </c:pt>
                <c:pt idx="374">
                  <c:v>144.08564159128167</c:v>
                </c:pt>
                <c:pt idx="375">
                  <c:v>144.48260123672048</c:v>
                </c:pt>
                <c:pt idx="376">
                  <c:v>144.81700420581046</c:v>
                </c:pt>
                <c:pt idx="377">
                  <c:v>145.55477262399734</c:v>
                </c:pt>
                <c:pt idx="378">
                  <c:v>145.45097858659946</c:v>
                </c:pt>
                <c:pt idx="379">
                  <c:v>145.60181524461163</c:v>
                </c:pt>
                <c:pt idx="380">
                  <c:v>145.7022061988161</c:v>
                </c:pt>
                <c:pt idx="381">
                  <c:v>145.5885031838846</c:v>
                </c:pt>
                <c:pt idx="382">
                  <c:v>145.41264385533293</c:v>
                </c:pt>
                <c:pt idx="383">
                  <c:v>145.72993131777389</c:v>
                </c:pt>
                <c:pt idx="384">
                  <c:v>146.03420699153432</c:v>
                </c:pt>
                <c:pt idx="385">
                  <c:v>145.97525357974322</c:v>
                </c:pt>
                <c:pt idx="386">
                  <c:v>145.9405221130344</c:v>
                </c:pt>
                <c:pt idx="387">
                  <c:v>145.10966936044053</c:v>
                </c:pt>
                <c:pt idx="388">
                  <c:v>145.40733904917855</c:v>
                </c:pt>
                <c:pt idx="389">
                  <c:v>144.49160939811466</c:v>
                </c:pt>
                <c:pt idx="390">
                  <c:v>144.79438371164275</c:v>
                </c:pt>
                <c:pt idx="391">
                  <c:v>144.87705861510528</c:v>
                </c:pt>
                <c:pt idx="392">
                  <c:v>144.48330187149557</c:v>
                </c:pt>
                <c:pt idx="393">
                  <c:v>144.41133667102395</c:v>
                </c:pt>
                <c:pt idx="394">
                  <c:v>144.29933519768909</c:v>
                </c:pt>
                <c:pt idx="395">
                  <c:v>144.05010939911557</c:v>
                </c:pt>
                <c:pt idx="396">
                  <c:v>143.16140423223439</c:v>
                </c:pt>
                <c:pt idx="397">
                  <c:v>142.37759410025484</c:v>
                </c:pt>
                <c:pt idx="398">
                  <c:v>142.18672116937944</c:v>
                </c:pt>
                <c:pt idx="399">
                  <c:v>142.33245320260156</c:v>
                </c:pt>
                <c:pt idx="400">
                  <c:v>142.59559160599503</c:v>
                </c:pt>
                <c:pt idx="401">
                  <c:v>142.51521878822214</c:v>
                </c:pt>
                <c:pt idx="402">
                  <c:v>140.78004672233044</c:v>
                </c:pt>
                <c:pt idx="403">
                  <c:v>141.09643336863195</c:v>
                </c:pt>
                <c:pt idx="404">
                  <c:v>140.94279417151941</c:v>
                </c:pt>
                <c:pt idx="405">
                  <c:v>140.57556145868156</c:v>
                </c:pt>
                <c:pt idx="406">
                  <c:v>140.46686297785794</c:v>
                </c:pt>
                <c:pt idx="407">
                  <c:v>141.92998856964408</c:v>
                </c:pt>
                <c:pt idx="408">
                  <c:v>142.59128770666223</c:v>
                </c:pt>
                <c:pt idx="409">
                  <c:v>144.39992633325792</c:v>
                </c:pt>
                <c:pt idx="410">
                  <c:v>144.97564793703094</c:v>
                </c:pt>
                <c:pt idx="411">
                  <c:v>144.86224519414588</c:v>
                </c:pt>
                <c:pt idx="412">
                  <c:v>144.67137226327051</c:v>
                </c:pt>
                <c:pt idx="413">
                  <c:v>144.40883440396999</c:v>
                </c:pt>
                <c:pt idx="414">
                  <c:v>145.23348153427006</c:v>
                </c:pt>
                <c:pt idx="415">
                  <c:v>145.13249003597258</c:v>
                </c:pt>
                <c:pt idx="416">
                  <c:v>144.52584041141273</c:v>
                </c:pt>
                <c:pt idx="417">
                  <c:v>142.87964896195953</c:v>
                </c:pt>
                <c:pt idx="418">
                  <c:v>144.21525902467636</c:v>
                </c:pt>
                <c:pt idx="419">
                  <c:v>143.99756179098262</c:v>
                </c:pt>
                <c:pt idx="420">
                  <c:v>144.7992881550685</c:v>
                </c:pt>
                <c:pt idx="421">
                  <c:v>145.40153378961341</c:v>
                </c:pt>
                <c:pt idx="422">
                  <c:v>145.87606371372465</c:v>
                </c:pt>
                <c:pt idx="423">
                  <c:v>146.51434199384644</c:v>
                </c:pt>
                <c:pt idx="424">
                  <c:v>146.67528781075654</c:v>
                </c:pt>
                <c:pt idx="425">
                  <c:v>147.48151825553953</c:v>
                </c:pt>
                <c:pt idx="426">
                  <c:v>147.70442020470546</c:v>
                </c:pt>
                <c:pt idx="427">
                  <c:v>147.85185377952425</c:v>
                </c:pt>
                <c:pt idx="428">
                  <c:v>148.36561925104144</c:v>
                </c:pt>
                <c:pt idx="429">
                  <c:v>148.81092269596252</c:v>
                </c:pt>
                <c:pt idx="430">
                  <c:v>149.12320562429562</c:v>
                </c:pt>
                <c:pt idx="431">
                  <c:v>149.72805361657663</c:v>
                </c:pt>
                <c:pt idx="432">
                  <c:v>149.83034629374211</c:v>
                </c:pt>
                <c:pt idx="433">
                  <c:v>150.10259294921198</c:v>
                </c:pt>
                <c:pt idx="434">
                  <c:v>150.45421151563318</c:v>
                </c:pt>
                <c:pt idx="435">
                  <c:v>151.19948673498189</c:v>
                </c:pt>
                <c:pt idx="436">
                  <c:v>151.20298990885743</c:v>
                </c:pt>
                <c:pt idx="437">
                  <c:v>151.26854930567092</c:v>
                </c:pt>
                <c:pt idx="438">
                  <c:v>151.30117886805445</c:v>
                </c:pt>
                <c:pt idx="439">
                  <c:v>151.33370833975579</c:v>
                </c:pt>
                <c:pt idx="440">
                  <c:v>151.37964996286635</c:v>
                </c:pt>
                <c:pt idx="441">
                  <c:v>151.0448466310477</c:v>
                </c:pt>
                <c:pt idx="442">
                  <c:v>151.37794842126965</c:v>
                </c:pt>
                <c:pt idx="443">
                  <c:v>151.65650078971549</c:v>
                </c:pt>
                <c:pt idx="444">
                  <c:v>151.55570947278235</c:v>
                </c:pt>
                <c:pt idx="445">
                  <c:v>151.88240545934616</c:v>
                </c:pt>
                <c:pt idx="446">
                  <c:v>152.09549852166063</c:v>
                </c:pt>
                <c:pt idx="447">
                  <c:v>152.13073044178026</c:v>
                </c:pt>
                <c:pt idx="448">
                  <c:v>152.23072103325615</c:v>
                </c:pt>
                <c:pt idx="449">
                  <c:v>152.42900067461122</c:v>
                </c:pt>
                <c:pt idx="450">
                  <c:v>151.72516299767588</c:v>
                </c:pt>
                <c:pt idx="451">
                  <c:v>151.6418875501204</c:v>
                </c:pt>
                <c:pt idx="452">
                  <c:v>151.85407979629545</c:v>
                </c:pt>
                <c:pt idx="453">
                  <c:v>152.08558954412698</c:v>
                </c:pt>
                <c:pt idx="454">
                  <c:v>152.42940103733983</c:v>
                </c:pt>
                <c:pt idx="455">
                  <c:v>152.42579777278215</c:v>
                </c:pt>
                <c:pt idx="456">
                  <c:v>152.52538800152939</c:v>
                </c:pt>
                <c:pt idx="457">
                  <c:v>152.4709386704354</c:v>
                </c:pt>
                <c:pt idx="458">
                  <c:v>153.22412105367462</c:v>
                </c:pt>
                <c:pt idx="459">
                  <c:v>153.19749693222059</c:v>
                </c:pt>
                <c:pt idx="460">
                  <c:v>152.92334855378974</c:v>
                </c:pt>
                <c:pt idx="461">
                  <c:v>152.94676977341473</c:v>
                </c:pt>
                <c:pt idx="462">
                  <c:v>153.47785093294524</c:v>
                </c:pt>
                <c:pt idx="463">
                  <c:v>153.29158217344914</c:v>
                </c:pt>
                <c:pt idx="464">
                  <c:v>153.98831341195122</c:v>
                </c:pt>
                <c:pt idx="465">
                  <c:v>154.57614598826538</c:v>
                </c:pt>
                <c:pt idx="466">
                  <c:v>154.60577283018412</c:v>
                </c:pt>
                <c:pt idx="467">
                  <c:v>155.09391508706889</c:v>
                </c:pt>
                <c:pt idx="468">
                  <c:v>154.85069472942484</c:v>
                </c:pt>
                <c:pt idx="469">
                  <c:v>155.12194047807313</c:v>
                </c:pt>
                <c:pt idx="470">
                  <c:v>154.70546314961356</c:v>
                </c:pt>
                <c:pt idx="471">
                  <c:v>155.14886487157364</c:v>
                </c:pt>
                <c:pt idx="472">
                  <c:v>154.75881148320377</c:v>
                </c:pt>
                <c:pt idx="473">
                  <c:v>154.63539967210292</c:v>
                </c:pt>
                <c:pt idx="474">
                  <c:v>155.90685160755643</c:v>
                </c:pt>
                <c:pt idx="475">
                  <c:v>156.35285568725266</c:v>
                </c:pt>
                <c:pt idx="476">
                  <c:v>156.58126262393728</c:v>
                </c:pt>
                <c:pt idx="477">
                  <c:v>157.21503682336197</c:v>
                </c:pt>
                <c:pt idx="478">
                  <c:v>157.353762508833</c:v>
                </c:pt>
                <c:pt idx="479">
                  <c:v>157.6626423539727</c:v>
                </c:pt>
                <c:pt idx="480">
                  <c:v>158.41372283288661</c:v>
                </c:pt>
                <c:pt idx="481">
                  <c:v>158.86403081191557</c:v>
                </c:pt>
                <c:pt idx="482">
                  <c:v>159.17261038500882</c:v>
                </c:pt>
                <c:pt idx="483">
                  <c:v>159.55866014609236</c:v>
                </c:pt>
                <c:pt idx="484">
                  <c:v>159.83941450954563</c:v>
                </c:pt>
                <c:pt idx="485">
                  <c:v>158.23235851681622</c:v>
                </c:pt>
                <c:pt idx="486">
                  <c:v>159.04559530935026</c:v>
                </c:pt>
                <c:pt idx="487">
                  <c:v>158.31773586869701</c:v>
                </c:pt>
                <c:pt idx="488">
                  <c:v>158.44615221390578</c:v>
                </c:pt>
                <c:pt idx="489">
                  <c:v>158.62631544179027</c:v>
                </c:pt>
                <c:pt idx="490">
                  <c:v>159.01606855811366</c:v>
                </c:pt>
                <c:pt idx="491">
                  <c:v>159.13537665124602</c:v>
                </c:pt>
                <c:pt idx="492">
                  <c:v>159.89196211767859</c:v>
                </c:pt>
                <c:pt idx="493">
                  <c:v>159.96022396291039</c:v>
                </c:pt>
                <c:pt idx="494">
                  <c:v>160.07392697784189</c:v>
                </c:pt>
                <c:pt idx="495">
                  <c:v>160.16040532722647</c:v>
                </c:pt>
                <c:pt idx="496">
                  <c:v>160.47388934374541</c:v>
                </c:pt>
                <c:pt idx="497">
                  <c:v>160.83321489269278</c:v>
                </c:pt>
                <c:pt idx="498">
                  <c:v>160.66005801255935</c:v>
                </c:pt>
                <c:pt idx="499">
                  <c:v>161.07293207646129</c:v>
                </c:pt>
                <c:pt idx="500">
                  <c:v>161.49481430175737</c:v>
                </c:pt>
                <c:pt idx="501">
                  <c:v>161.78898081661984</c:v>
                </c:pt>
                <c:pt idx="502">
                  <c:v>161.94442164601128</c:v>
                </c:pt>
                <c:pt idx="503">
                  <c:v>162.03680534564316</c:v>
                </c:pt>
                <c:pt idx="504">
                  <c:v>162.38311910590994</c:v>
                </c:pt>
                <c:pt idx="505">
                  <c:v>162.52064370319508</c:v>
                </c:pt>
                <c:pt idx="506">
                  <c:v>161.98075456363463</c:v>
                </c:pt>
                <c:pt idx="507">
                  <c:v>161.87085499462512</c:v>
                </c:pt>
                <c:pt idx="508">
                  <c:v>161.87776125169401</c:v>
                </c:pt>
                <c:pt idx="509">
                  <c:v>162.7140189011244</c:v>
                </c:pt>
                <c:pt idx="510">
                  <c:v>163.50563610631232</c:v>
                </c:pt>
                <c:pt idx="511">
                  <c:v>163.69270559126568</c:v>
                </c:pt>
                <c:pt idx="512">
                  <c:v>163.63695508130365</c:v>
                </c:pt>
                <c:pt idx="513">
                  <c:v>163.58080420861302</c:v>
                </c:pt>
                <c:pt idx="514">
                  <c:v>163.45248795408639</c:v>
                </c:pt>
                <c:pt idx="515">
                  <c:v>163.93232268435202</c:v>
                </c:pt>
                <c:pt idx="516">
                  <c:v>164.1668351526483</c:v>
                </c:pt>
                <c:pt idx="517">
                  <c:v>164.63886280970559</c:v>
                </c:pt>
                <c:pt idx="518">
                  <c:v>164.71383073064194</c:v>
                </c:pt>
                <c:pt idx="519">
                  <c:v>164.10087539310615</c:v>
                </c:pt>
                <c:pt idx="520">
                  <c:v>164.70282075560459</c:v>
                </c:pt>
                <c:pt idx="521">
                  <c:v>164.2508112349789</c:v>
                </c:pt>
                <c:pt idx="522">
                  <c:v>163.58510810794579</c:v>
                </c:pt>
                <c:pt idx="523">
                  <c:v>164.19315900205584</c:v>
                </c:pt>
                <c:pt idx="524">
                  <c:v>164.30556083811933</c:v>
                </c:pt>
                <c:pt idx="525">
                  <c:v>164.47851753688843</c:v>
                </c:pt>
                <c:pt idx="526">
                  <c:v>164.63696108674458</c:v>
                </c:pt>
                <c:pt idx="527">
                  <c:v>164.46740747116885</c:v>
                </c:pt>
                <c:pt idx="528">
                  <c:v>164.61574186212707</c:v>
                </c:pt>
                <c:pt idx="529">
                  <c:v>164.4752145443772</c:v>
                </c:pt>
                <c:pt idx="530">
                  <c:v>164.77448568402971</c:v>
                </c:pt>
                <c:pt idx="531">
                  <c:v>164.64356707176702</c:v>
                </c:pt>
                <c:pt idx="532">
                  <c:v>164.75917180965953</c:v>
                </c:pt>
                <c:pt idx="533">
                  <c:v>163.31296154315811</c:v>
                </c:pt>
                <c:pt idx="534">
                  <c:v>164.52836269660312</c:v>
                </c:pt>
                <c:pt idx="535">
                  <c:v>165.39634909227757</c:v>
                </c:pt>
                <c:pt idx="536">
                  <c:v>165.33789613389732</c:v>
                </c:pt>
                <c:pt idx="537">
                  <c:v>165.22999837853095</c:v>
                </c:pt>
                <c:pt idx="538">
                  <c:v>165.45540259475084</c:v>
                </c:pt>
                <c:pt idx="539">
                  <c:v>165.58021567540189</c:v>
                </c:pt>
                <c:pt idx="540">
                  <c:v>165.92152490156082</c:v>
                </c:pt>
                <c:pt idx="541">
                  <c:v>166.00019617773702</c:v>
                </c:pt>
                <c:pt idx="542">
                  <c:v>166.32519062270416</c:v>
                </c:pt>
                <c:pt idx="543">
                  <c:v>166.55279683393155</c:v>
                </c:pt>
                <c:pt idx="544">
                  <c:v>166.28095054119032</c:v>
                </c:pt>
                <c:pt idx="545">
                  <c:v>166.86007522815669</c:v>
                </c:pt>
                <c:pt idx="546">
                  <c:v>167.54529603821061</c:v>
                </c:pt>
                <c:pt idx="547">
                  <c:v>167.69483151735471</c:v>
                </c:pt>
                <c:pt idx="548">
                  <c:v>165.67820445323463</c:v>
                </c:pt>
                <c:pt idx="549">
                  <c:v>165.14131803413892</c:v>
                </c:pt>
                <c:pt idx="550">
                  <c:v>166.72845598111888</c:v>
                </c:pt>
                <c:pt idx="551">
                  <c:v>167.22300404166174</c:v>
                </c:pt>
                <c:pt idx="552">
                  <c:v>167.85787923859016</c:v>
                </c:pt>
                <c:pt idx="553">
                  <c:v>168.03053566531275</c:v>
                </c:pt>
                <c:pt idx="554">
                  <c:v>169.16085973892345</c:v>
                </c:pt>
                <c:pt idx="555">
                  <c:v>169.49846560984253</c:v>
                </c:pt>
                <c:pt idx="556">
                  <c:v>170.30459596394331</c:v>
                </c:pt>
                <c:pt idx="557">
                  <c:v>170.55192003955582</c:v>
                </c:pt>
                <c:pt idx="558">
                  <c:v>170.70966295463691</c:v>
                </c:pt>
                <c:pt idx="559">
                  <c:v>171.43061613822121</c:v>
                </c:pt>
                <c:pt idx="560">
                  <c:v>171.97060536846379</c:v>
                </c:pt>
                <c:pt idx="561">
                  <c:v>172.50348816027318</c:v>
                </c:pt>
                <c:pt idx="562">
                  <c:v>172.63831030914008</c:v>
                </c:pt>
                <c:pt idx="563">
                  <c:v>172.61378809201136</c:v>
                </c:pt>
                <c:pt idx="564">
                  <c:v>173.0945236384164</c:v>
                </c:pt>
                <c:pt idx="565">
                  <c:v>173.43463177638941</c:v>
                </c:pt>
                <c:pt idx="566">
                  <c:v>173.45334873395296</c:v>
                </c:pt>
                <c:pt idx="567">
                  <c:v>173.41261182631465</c:v>
                </c:pt>
                <c:pt idx="568">
                  <c:v>173.75642331952747</c:v>
                </c:pt>
                <c:pt idx="569">
                  <c:v>173.78925306327531</c:v>
                </c:pt>
                <c:pt idx="570">
                  <c:v>173.55173787451429</c:v>
                </c:pt>
                <c:pt idx="571">
                  <c:v>174.18921542917886</c:v>
                </c:pt>
                <c:pt idx="572">
                  <c:v>173.99173651328101</c:v>
                </c:pt>
                <c:pt idx="573">
                  <c:v>174.44274512708512</c:v>
                </c:pt>
                <c:pt idx="574">
                  <c:v>175.30802907434133</c:v>
                </c:pt>
                <c:pt idx="575">
                  <c:v>175.02907634316688</c:v>
                </c:pt>
                <c:pt idx="576">
                  <c:v>175.01246128992867</c:v>
                </c:pt>
                <c:pt idx="577">
                  <c:v>175.71149461412037</c:v>
                </c:pt>
                <c:pt idx="578">
                  <c:v>176.00486040352558</c:v>
                </c:pt>
                <c:pt idx="579">
                  <c:v>175.62391526723209</c:v>
                </c:pt>
                <c:pt idx="580">
                  <c:v>175.94220363649464</c:v>
                </c:pt>
                <c:pt idx="581">
                  <c:v>176.26329454485762</c:v>
                </c:pt>
                <c:pt idx="582">
                  <c:v>177.11876960526237</c:v>
                </c:pt>
                <c:pt idx="583">
                  <c:v>177.0581146518746</c:v>
                </c:pt>
                <c:pt idx="584">
                  <c:v>177.530842943707</c:v>
                </c:pt>
                <c:pt idx="585">
                  <c:v>177.75354471150862</c:v>
                </c:pt>
                <c:pt idx="586">
                  <c:v>177.90928581294651</c:v>
                </c:pt>
                <c:pt idx="587">
                  <c:v>178.18913936026038</c:v>
                </c:pt>
                <c:pt idx="588">
                  <c:v>178.84753586749596</c:v>
                </c:pt>
                <c:pt idx="589">
                  <c:v>179.6116281350904</c:v>
                </c:pt>
                <c:pt idx="590">
                  <c:v>180.07935189281488</c:v>
                </c:pt>
                <c:pt idx="591">
                  <c:v>179.99587626389507</c:v>
                </c:pt>
                <c:pt idx="592">
                  <c:v>180.30725837608875</c:v>
                </c:pt>
                <c:pt idx="593">
                  <c:v>180.27382808824794</c:v>
                </c:pt>
                <c:pt idx="594">
                  <c:v>180.83964071448733</c:v>
                </c:pt>
                <c:pt idx="595">
                  <c:v>180.79309854728382</c:v>
                </c:pt>
                <c:pt idx="596">
                  <c:v>179.80170034050849</c:v>
                </c:pt>
                <c:pt idx="597">
                  <c:v>178.80009288415303</c:v>
                </c:pt>
                <c:pt idx="598">
                  <c:v>178.91509707795262</c:v>
                </c:pt>
                <c:pt idx="599">
                  <c:v>179.1577168915037</c:v>
                </c:pt>
                <c:pt idx="600">
                  <c:v>179.71402090293805</c:v>
                </c:pt>
                <c:pt idx="601">
                  <c:v>180.58781255817769</c:v>
                </c:pt>
                <c:pt idx="602">
                  <c:v>181.71223128154108</c:v>
                </c:pt>
                <c:pt idx="603">
                  <c:v>181.4648071152464</c:v>
                </c:pt>
                <c:pt idx="604">
                  <c:v>181.41115850960972</c:v>
                </c:pt>
                <c:pt idx="605">
                  <c:v>181.94564275233361</c:v>
                </c:pt>
                <c:pt idx="606">
                  <c:v>182.24111044606411</c:v>
                </c:pt>
                <c:pt idx="607">
                  <c:v>182.33269342023871</c:v>
                </c:pt>
                <c:pt idx="608">
                  <c:v>182.79210965134411</c:v>
                </c:pt>
                <c:pt idx="609">
                  <c:v>182.58211940017654</c:v>
                </c:pt>
                <c:pt idx="610">
                  <c:v>182.32478625634826</c:v>
                </c:pt>
                <c:pt idx="611">
                  <c:v>182.4711188336633</c:v>
                </c:pt>
                <c:pt idx="612">
                  <c:v>182.43738827377604</c:v>
                </c:pt>
                <c:pt idx="613">
                  <c:v>183.65759377996466</c:v>
                </c:pt>
                <c:pt idx="614">
                  <c:v>183.27694891571761</c:v>
                </c:pt>
                <c:pt idx="615">
                  <c:v>183.10659457468466</c:v>
                </c:pt>
                <c:pt idx="616">
                  <c:v>182.83665000490444</c:v>
                </c:pt>
                <c:pt idx="617">
                  <c:v>183.40856816275544</c:v>
                </c:pt>
                <c:pt idx="618">
                  <c:v>183.64678398629158</c:v>
                </c:pt>
                <c:pt idx="619">
                  <c:v>183.89891241464767</c:v>
                </c:pt>
                <c:pt idx="620">
                  <c:v>184.00600944455675</c:v>
                </c:pt>
                <c:pt idx="621">
                  <c:v>183.95986764008191</c:v>
                </c:pt>
                <c:pt idx="622">
                  <c:v>184.26264195360997</c:v>
                </c:pt>
                <c:pt idx="623">
                  <c:v>184.14243304433816</c:v>
                </c:pt>
                <c:pt idx="624">
                  <c:v>184.1043985851181</c:v>
                </c:pt>
                <c:pt idx="625">
                  <c:v>184.49565306167389</c:v>
                </c:pt>
              </c:numCache>
            </c:numRef>
          </c:val>
          <c:smooth val="0"/>
          <c:extLst>
            <c:ext xmlns:c16="http://schemas.microsoft.com/office/drawing/2014/chart" uri="{C3380CC4-5D6E-409C-BE32-E72D297353CC}">
              <c16:uniqueId val="{00000000-0588-9842-94ED-F80D3D648A8E}"/>
            </c:ext>
          </c:extLst>
        </c:ser>
        <c:dLbls>
          <c:showLegendKey val="0"/>
          <c:showVal val="0"/>
          <c:showCatName val="0"/>
          <c:showSerName val="0"/>
          <c:showPercent val="0"/>
          <c:showBubbleSize val="0"/>
        </c:dLbls>
        <c:smooth val="0"/>
        <c:axId val="20364159"/>
        <c:axId val="20352959"/>
      </c:lineChart>
      <c:dateAx>
        <c:axId val="20364159"/>
        <c:scaling>
          <c:orientation val="minMax"/>
          <c:max val="46376"/>
          <c:min val="42005"/>
        </c:scaling>
        <c:delete val="0"/>
        <c:axPos val="b"/>
        <c:numFmt formatCode="yy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Jost Light" pitchFamily="2" charset="77"/>
                <a:ea typeface="Jost Light" pitchFamily="2" charset="77"/>
                <a:cs typeface="+mn-cs"/>
              </a:defRPr>
            </a:pPr>
            <a:endParaRPr lang="fr-FR"/>
          </a:p>
        </c:txPr>
        <c:crossAx val="20352959"/>
        <c:crosses val="autoZero"/>
        <c:auto val="0"/>
        <c:lblOffset val="100"/>
        <c:baseTimeUnit val="days"/>
        <c:majorUnit val="1"/>
        <c:majorTimeUnit val="years"/>
      </c:dateAx>
      <c:valAx>
        <c:axId val="20352959"/>
        <c:scaling>
          <c:orientation val="minMax"/>
          <c:min val="90"/>
        </c:scaling>
        <c:delete val="0"/>
        <c:axPos val="r"/>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Jost Light" pitchFamily="2" charset="77"/>
                <a:ea typeface="Jost Light" pitchFamily="2" charset="77"/>
                <a:cs typeface="+mn-cs"/>
              </a:defRPr>
            </a:pPr>
            <a:endParaRPr lang="fr-FR"/>
          </a:p>
        </c:txPr>
        <c:crossAx val="20364159"/>
        <c:crosses val="max"/>
        <c:crossBetween val="between"/>
        <c:majorUnit val="20"/>
        <c:minorUnit val="10"/>
      </c:valAx>
      <c:spPr>
        <a:pattFill prst="narHorz">
          <a:fgClr>
            <a:srgbClr val="E8DCC7"/>
          </a:fgClr>
          <a:bgClr>
            <a:schemeClr val="bg1"/>
          </a:bgClr>
        </a:pattFill>
        <a:ln>
          <a:noFill/>
        </a:ln>
        <a:effectLst/>
      </c:spPr>
    </c:plotArea>
    <c:plotVisOnly val="1"/>
    <c:dispBlanksAs val="gap"/>
    <c:showDLblsOverMax val="0"/>
  </c:chart>
  <c:spPr>
    <a:noFill/>
    <a:ln>
      <a:noFill/>
    </a:ln>
    <a:effectLst/>
  </c:spPr>
  <c:txPr>
    <a:bodyPr/>
    <a:lstStyle/>
    <a:p>
      <a:pPr>
        <a:defRPr/>
      </a:pPr>
      <a:endParaRPr lang="fr-FR"/>
    </a:p>
  </c:txPr>
  <c:externalData r:id="rId4">
    <c:autoUpdate val="0"/>
  </c:externalData>
  <c:userShapes r:id="rId5"/>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714633854332611"/>
          <c:y val="0.13531555090155722"/>
          <c:w val="0.56056572729765053"/>
          <c:h val="0.68381104701846296"/>
        </c:manualLayout>
      </c:layout>
      <c:doughnutChart>
        <c:varyColors val="1"/>
        <c:ser>
          <c:idx val="0"/>
          <c:order val="0"/>
          <c:spPr>
            <a:ln>
              <a:prstDash val="solid"/>
            </a:ln>
          </c:spPr>
          <c:dPt>
            <c:idx val="0"/>
            <c:bubble3D val="0"/>
            <c:spPr>
              <a:solidFill>
                <a:srgbClr val="102D1A"/>
              </a:solidFill>
              <a:ln w="15875">
                <a:solidFill>
                  <a:srgbClr val="FFFFFF"/>
                </a:solidFill>
                <a:prstDash val="solid"/>
              </a:ln>
            </c:spPr>
            <c:extLst>
              <c:ext xmlns:c16="http://schemas.microsoft.com/office/drawing/2014/chart" uri="{C3380CC4-5D6E-409C-BE32-E72D297353CC}">
                <c16:uniqueId val="{00000001-8DC9-9B48-A334-D782D411A9BF}"/>
              </c:ext>
            </c:extLst>
          </c:dPt>
          <c:dPt>
            <c:idx val="1"/>
            <c:bubble3D val="0"/>
            <c:spPr>
              <a:solidFill>
                <a:srgbClr val="102D1A"/>
              </a:solidFill>
              <a:ln w="15875">
                <a:solidFill>
                  <a:srgbClr val="FFFFFF"/>
                </a:solidFill>
                <a:prstDash val="solid"/>
              </a:ln>
            </c:spPr>
            <c:extLst>
              <c:ext xmlns:c16="http://schemas.microsoft.com/office/drawing/2014/chart" uri="{C3380CC4-5D6E-409C-BE32-E72D297353CC}">
                <c16:uniqueId val="{00000003-8DC9-9B48-A334-D782D411A9BF}"/>
              </c:ext>
            </c:extLst>
          </c:dPt>
          <c:dPt>
            <c:idx val="2"/>
            <c:bubble3D val="0"/>
            <c:spPr>
              <a:solidFill>
                <a:srgbClr val="102D1A"/>
              </a:solidFill>
              <a:ln w="15875">
                <a:solidFill>
                  <a:srgbClr val="FFFFFF"/>
                </a:solidFill>
                <a:prstDash val="solid"/>
              </a:ln>
            </c:spPr>
            <c:extLst>
              <c:ext xmlns:c16="http://schemas.microsoft.com/office/drawing/2014/chart" uri="{C3380CC4-5D6E-409C-BE32-E72D297353CC}">
                <c16:uniqueId val="{00000005-8DC9-9B48-A334-D782D411A9BF}"/>
              </c:ext>
            </c:extLst>
          </c:dPt>
          <c:dPt>
            <c:idx val="3"/>
            <c:bubble3D val="0"/>
            <c:spPr>
              <a:solidFill>
                <a:srgbClr val="A8823F"/>
              </a:solidFill>
              <a:ln w="15875">
                <a:solidFill>
                  <a:srgbClr val="FFFFFF"/>
                </a:solidFill>
                <a:prstDash val="solid"/>
              </a:ln>
            </c:spPr>
            <c:extLst>
              <c:ext xmlns:c16="http://schemas.microsoft.com/office/drawing/2014/chart" uri="{C3380CC4-5D6E-409C-BE32-E72D297353CC}">
                <c16:uniqueId val="{00000007-8DC9-9B48-A334-D782D411A9BF}"/>
              </c:ext>
            </c:extLst>
          </c:dPt>
          <c:dPt>
            <c:idx val="4"/>
            <c:bubble3D val="0"/>
            <c:spPr>
              <a:solidFill>
                <a:srgbClr val="A8823F"/>
              </a:solidFill>
              <a:ln w="15875">
                <a:solidFill>
                  <a:srgbClr val="FFFFFF"/>
                </a:solidFill>
                <a:prstDash val="solid"/>
              </a:ln>
            </c:spPr>
            <c:extLst>
              <c:ext xmlns:c16="http://schemas.microsoft.com/office/drawing/2014/chart" uri="{C3380CC4-5D6E-409C-BE32-E72D297353CC}">
                <c16:uniqueId val="{00000009-8DC9-9B48-A334-D782D411A9BF}"/>
              </c:ext>
            </c:extLst>
          </c:dPt>
          <c:dPt>
            <c:idx val="5"/>
            <c:bubble3D val="0"/>
            <c:spPr>
              <a:solidFill>
                <a:srgbClr val="B3A792"/>
              </a:solidFill>
              <a:ln w="15875">
                <a:solidFill>
                  <a:srgbClr val="FFFFFF"/>
                </a:solidFill>
                <a:prstDash val="solid"/>
              </a:ln>
            </c:spPr>
            <c:extLst>
              <c:ext xmlns:c16="http://schemas.microsoft.com/office/drawing/2014/chart" uri="{C3380CC4-5D6E-409C-BE32-E72D297353CC}">
                <c16:uniqueId val="{0000000B-8DC9-9B48-A334-D782D411A9BF}"/>
              </c:ext>
            </c:extLst>
          </c:dPt>
          <c:dPt>
            <c:idx val="6"/>
            <c:bubble3D val="0"/>
            <c:spPr>
              <a:solidFill>
                <a:srgbClr val="B3A792"/>
              </a:solidFill>
              <a:ln w="15875">
                <a:solidFill>
                  <a:srgbClr val="FFFFFF"/>
                </a:solidFill>
                <a:prstDash val="solid"/>
              </a:ln>
            </c:spPr>
            <c:extLst>
              <c:ext xmlns:c16="http://schemas.microsoft.com/office/drawing/2014/chart" uri="{C3380CC4-5D6E-409C-BE32-E72D297353CC}">
                <c16:uniqueId val="{0000000D-8DC9-9B48-A334-D782D411A9BF}"/>
              </c:ext>
            </c:extLst>
          </c:dPt>
          <c:dPt>
            <c:idx val="7"/>
            <c:bubble3D val="0"/>
            <c:spPr>
              <a:solidFill>
                <a:srgbClr val="B3A792"/>
              </a:solidFill>
              <a:ln w="15875">
                <a:solidFill>
                  <a:srgbClr val="FFFFFF"/>
                </a:solidFill>
                <a:prstDash val="solid"/>
              </a:ln>
            </c:spPr>
            <c:extLst>
              <c:ext xmlns:c16="http://schemas.microsoft.com/office/drawing/2014/chart" uri="{C3380CC4-5D6E-409C-BE32-E72D297353CC}">
                <c16:uniqueId val="{0000000F-8DC9-9B48-A334-D782D411A9BF}"/>
              </c:ext>
            </c:extLst>
          </c:dPt>
          <c:dPt>
            <c:idx val="8"/>
            <c:bubble3D val="0"/>
            <c:spPr>
              <a:solidFill>
                <a:srgbClr val="183E26"/>
              </a:solidFill>
              <a:ln w="15875">
                <a:solidFill>
                  <a:srgbClr val="FFFFFF"/>
                </a:solidFill>
                <a:prstDash val="solid"/>
              </a:ln>
            </c:spPr>
            <c:extLst>
              <c:ext xmlns:c16="http://schemas.microsoft.com/office/drawing/2014/chart" uri="{C3380CC4-5D6E-409C-BE32-E72D297353CC}">
                <c16:uniqueId val="{00000011-8DC9-9B48-A334-D782D411A9BF}"/>
              </c:ext>
            </c:extLst>
          </c:dPt>
          <c:dLbls>
            <c:dLbl>
              <c:idx val="1"/>
              <c:layout>
                <c:manualLayout>
                  <c:x val="7.3185065822647569E-2"/>
                  <c:y val="-0.29223385330281432"/>
                </c:manualLayout>
              </c:layout>
              <c:tx>
                <c:rich>
                  <a:bodyPr/>
                  <a:lstStyle/>
                  <a:p>
                    <a:pPr>
                      <a:defRPr sz="1050" b="1">
                        <a:solidFill>
                          <a:srgbClr val="1A1A1A"/>
                        </a:solidFill>
                        <a:latin typeface="Arial"/>
                      </a:defRPr>
                    </a:pPr>
                    <a:r>
                      <a:rPr lang="en-US" b="0" i="0">
                        <a:latin typeface="Jost Light" pitchFamily="2" charset="77"/>
                        <a:ea typeface="Jost Light" pitchFamily="2" charset="77"/>
                      </a:rPr>
                      <a:t>Exposition actions </a:t>
                    </a:r>
                  </a:p>
                  <a:p>
                    <a:pPr>
                      <a:defRPr sz="1050" b="1">
                        <a:solidFill>
                          <a:srgbClr val="1A1A1A"/>
                        </a:solidFill>
                        <a:latin typeface="Arial"/>
                      </a:defRPr>
                    </a:pPr>
                    <a:r>
                      <a:rPr lang="en-US" sz="1400" b="0" i="0">
                        <a:latin typeface="Jost Medium" pitchFamily="2" charset="77"/>
                        <a:ea typeface="Jost Medium" pitchFamily="2" charset="77"/>
                      </a:rPr>
                      <a:t>42%</a:t>
                    </a:r>
                  </a:p>
                </c:rich>
              </c:tx>
              <c:spPr/>
              <c:showLegendKey val="0"/>
              <c:showVal val="0"/>
              <c:showCatName val="1"/>
              <c:showSerName val="0"/>
              <c:showPercent val="0"/>
              <c:showBubbleSize val="0"/>
              <c:extLst>
                <c:ext xmlns:c15="http://schemas.microsoft.com/office/drawing/2012/chart" uri="{CE6537A1-D6FC-4f65-9D91-7224C49458BB}">
                  <c15:layout>
                    <c:manualLayout>
                      <c:w val="0.27507946802150657"/>
                      <c:h val="0.16182530766572228"/>
                    </c:manualLayout>
                  </c15:layout>
                  <c15:showDataLabelsRange val="0"/>
                </c:ext>
                <c:ext xmlns:c16="http://schemas.microsoft.com/office/drawing/2014/chart" uri="{C3380CC4-5D6E-409C-BE32-E72D297353CC}">
                  <c16:uniqueId val="{00000003-8DC9-9B48-A334-D782D411A9BF}"/>
                </c:ext>
              </c:extLst>
            </c:dLbl>
            <c:dLbl>
              <c:idx val="4"/>
              <c:layout>
                <c:manualLayout>
                  <c:x val="9.7816545181630882E-2"/>
                  <c:y val="0.13352117915672512"/>
                </c:manualLayout>
              </c:layout>
              <c:tx>
                <c:rich>
                  <a:bodyPr/>
                  <a:lstStyle/>
                  <a:p>
                    <a:pPr>
                      <a:defRPr sz="1050" b="1">
                        <a:solidFill>
                          <a:srgbClr val="A8823F"/>
                        </a:solidFill>
                        <a:latin typeface="Arial"/>
                      </a:defRPr>
                    </a:pPr>
                    <a:r>
                      <a:rPr lang="en-US" b="0" i="0">
                        <a:latin typeface="Jost Light" pitchFamily="2" charset="77"/>
                        <a:ea typeface="Jost Light" pitchFamily="2" charset="77"/>
                      </a:rPr>
                      <a:t>Exposition</a:t>
                    </a:r>
                    <a:r>
                      <a:rPr lang="en-US" b="0" i="0" baseline="0">
                        <a:latin typeface="Jost Light" pitchFamily="2" charset="77"/>
                        <a:ea typeface="Jost Light" pitchFamily="2" charset="77"/>
                      </a:rPr>
                      <a:t> </a:t>
                    </a:r>
                    <a:r>
                      <a:rPr lang="en-US" b="0" i="0" baseline="0" err="1">
                        <a:latin typeface="Jost Light" pitchFamily="2" charset="77"/>
                        <a:ea typeface="Jost Light" pitchFamily="2" charset="77"/>
                      </a:rPr>
                      <a:t>obligataire</a:t>
                    </a:r>
                    <a:endParaRPr lang="en-US" b="0" i="0" baseline="0">
                      <a:latin typeface="Jost Light" pitchFamily="2" charset="77"/>
                      <a:ea typeface="Jost Light" pitchFamily="2" charset="77"/>
                    </a:endParaRPr>
                  </a:p>
                  <a:p>
                    <a:pPr>
                      <a:defRPr sz="1050" b="1">
                        <a:solidFill>
                          <a:srgbClr val="A8823F"/>
                        </a:solidFill>
                        <a:latin typeface="Arial"/>
                      </a:defRPr>
                    </a:pPr>
                    <a:r>
                      <a:rPr lang="en-US" sz="1400" b="0" i="0" baseline="0">
                        <a:latin typeface="Jost Medium" pitchFamily="2" charset="77"/>
                        <a:ea typeface="Jost Medium" pitchFamily="2" charset="77"/>
                      </a:rPr>
                      <a:t>14%</a:t>
                    </a:r>
                    <a:endParaRPr lang="en-US" sz="1400" b="0" i="0">
                      <a:latin typeface="Jost Medium" pitchFamily="2" charset="77"/>
                      <a:ea typeface="Jost Medium" pitchFamily="2" charset="77"/>
                    </a:endParaRPr>
                  </a:p>
                </c:rich>
              </c:tx>
              <c:spPr/>
              <c:showLegendKey val="0"/>
              <c:showVal val="0"/>
              <c:showCatName val="1"/>
              <c:showSerName val="0"/>
              <c:showPercent val="0"/>
              <c:showBubbleSize val="0"/>
              <c:extLst>
                <c:ext xmlns:c15="http://schemas.microsoft.com/office/drawing/2012/chart" uri="{CE6537A1-D6FC-4f65-9D91-7224C49458BB}">
                  <c15:layout>
                    <c:manualLayout>
                      <c:w val="0.27324247076813041"/>
                      <c:h val="0.16182530766572228"/>
                    </c:manualLayout>
                  </c15:layout>
                  <c15:showDataLabelsRange val="0"/>
                </c:ext>
                <c:ext xmlns:c16="http://schemas.microsoft.com/office/drawing/2014/chart" uri="{C3380CC4-5D6E-409C-BE32-E72D297353CC}">
                  <c16:uniqueId val="{00000009-8DC9-9B48-A334-D782D411A9BF}"/>
                </c:ext>
              </c:extLst>
            </c:dLbl>
            <c:dLbl>
              <c:idx val="6"/>
              <c:layout>
                <c:manualLayout>
                  <c:x val="-0.14362935748188838"/>
                  <c:y val="-8.2745147811501607E-2"/>
                </c:manualLayout>
              </c:layout>
              <c:tx>
                <c:rich>
                  <a:bodyPr/>
                  <a:lstStyle/>
                  <a:p>
                    <a:pPr>
                      <a:defRPr sz="1050" b="1">
                        <a:solidFill>
                          <a:srgbClr val="9C8E74"/>
                        </a:solidFill>
                        <a:latin typeface="Arial"/>
                      </a:defRPr>
                    </a:pPr>
                    <a:r>
                      <a:rPr lang="en-US" sz="1050" b="0" i="0">
                        <a:latin typeface="Jost Light" pitchFamily="2" charset="77"/>
                        <a:ea typeface="Jost Light" pitchFamily="2" charset="77"/>
                      </a:rPr>
                      <a:t>Exposition</a:t>
                    </a:r>
                    <a:r>
                      <a:rPr lang="en-US" sz="1050" b="0" i="0" baseline="0">
                        <a:latin typeface="Jost Light" pitchFamily="2" charset="77"/>
                        <a:ea typeface="Jost Light" pitchFamily="2" charset="77"/>
                      </a:rPr>
                      <a:t> mixte</a:t>
                    </a:r>
                  </a:p>
                  <a:p>
                    <a:pPr>
                      <a:defRPr sz="1050" b="1">
                        <a:solidFill>
                          <a:srgbClr val="9C8E74"/>
                        </a:solidFill>
                        <a:latin typeface="Arial"/>
                      </a:defRPr>
                    </a:pPr>
                    <a:r>
                      <a:rPr lang="en-US" sz="1400" b="0" i="0" baseline="0">
                        <a:latin typeface="Jost Medium" pitchFamily="2" charset="77"/>
                        <a:ea typeface="Jost Medium" pitchFamily="2" charset="77"/>
                      </a:rPr>
                      <a:t>44%</a:t>
                    </a:r>
                    <a:endParaRPr lang="en-US" sz="1400" b="0" i="0">
                      <a:latin typeface="Jost Medium" pitchFamily="2" charset="77"/>
                      <a:ea typeface="Jost Medium" pitchFamily="2" charset="77"/>
                    </a:endParaRPr>
                  </a:p>
                </c:rich>
              </c:tx>
              <c:spPr/>
              <c:showLegendKey val="0"/>
              <c:showVal val="0"/>
              <c:showCatName val="1"/>
              <c:showSerName val="0"/>
              <c:showPercent val="0"/>
              <c:showBubbleSize val="0"/>
              <c:extLst>
                <c:ext xmlns:c15="http://schemas.microsoft.com/office/drawing/2012/chart" uri="{CE6537A1-D6FC-4f65-9D91-7224C49458BB}">
                  <c15:layout>
                    <c:manualLayout>
                      <c:w val="0.18642100053856134"/>
                      <c:h val="0.45145752645955278"/>
                    </c:manualLayout>
                  </c15:layout>
                  <c15:showDataLabelsRange val="0"/>
                </c:ext>
                <c:ext xmlns:c16="http://schemas.microsoft.com/office/drawing/2014/chart" uri="{C3380CC4-5D6E-409C-BE32-E72D297353CC}">
                  <c16:uniqueId val="{0000000D-8DC9-9B48-A334-D782D411A9B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Données!$P$3:$P$11</c:f>
              <c:strCache>
                <c:ptCount val="7"/>
                <c:pt idx="1">
                  <c:v>Exposition actions
42%</c:v>
                </c:pt>
                <c:pt idx="4">
                  <c:v>Exposition obligataire
14%</c:v>
                </c:pt>
                <c:pt idx="6">
                  <c:v>Exposition mixte
44%</c:v>
                </c:pt>
              </c:strCache>
            </c:strRef>
          </c:cat>
          <c:val>
            <c:numRef>
              <c:f>Données!$F$3:$F$11</c:f>
              <c:numCache>
                <c:formatCode>0%</c:formatCode>
                <c:ptCount val="9"/>
                <c:pt idx="0">
                  <c:v>0.16</c:v>
                </c:pt>
                <c:pt idx="1">
                  <c:v>0.17</c:v>
                </c:pt>
                <c:pt idx="2">
                  <c:v>0.09</c:v>
                </c:pt>
                <c:pt idx="3">
                  <c:v>7.0000000000000007E-2</c:v>
                </c:pt>
                <c:pt idx="4">
                  <c:v>7.0000000000000007E-2</c:v>
                </c:pt>
                <c:pt idx="5">
                  <c:v>0.05</c:v>
                </c:pt>
                <c:pt idx="6">
                  <c:v>0.24</c:v>
                </c:pt>
                <c:pt idx="7">
                  <c:v>0.15</c:v>
                </c:pt>
                <c:pt idx="8">
                  <c:v>0</c:v>
                </c:pt>
              </c:numCache>
            </c:numRef>
          </c:val>
          <c:extLst>
            <c:ext xmlns:c16="http://schemas.microsoft.com/office/drawing/2014/chart" uri="{C3380CC4-5D6E-409C-BE32-E72D297353CC}">
              <c16:uniqueId val="{00000012-8DC9-9B48-A334-D782D411A9BF}"/>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1"/>
  </c:chart>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Optimiste</c:v>
          </c:tx>
          <c:spPr>
            <a:ln w="12700">
              <a:solidFill>
                <a:srgbClr val="144629"/>
              </a:solidFill>
            </a:ln>
          </c:spPr>
          <c:marker>
            <c:symbol val="none"/>
          </c:marker>
          <c:cat>
            <c:numRef>
              <c:f>'8.4%'!$B$5:$B$245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'8.4%'!$D$5:$D$245</c:f>
              <c:numCache>
                <c:formatCode>0.0</c:formatCode>
                <c:ptCount val="241"/>
                <c:pt idx="0">
                  <c:v>100</c:v>
                </c:pt>
                <c:pt idx="1">
                  <c:v>97.984584346453062</c:v>
                </c:pt>
                <c:pt idx="2">
                  <c:v>96.236866892153031</c:v>
                </c:pt>
                <c:pt idx="3">
                  <c:v>96.395783765423317</c:v>
                </c:pt>
                <c:pt idx="4">
                  <c:v>96.584170863457899</c:v>
                </c:pt>
                <c:pt idx="5">
                  <c:v>98.946140171462631</c:v>
                </c:pt>
                <c:pt idx="6">
                  <c:v>100.65968010670878</c:v>
                </c:pt>
                <c:pt idx="7">
                  <c:v>101.91430987071709</c:v>
                </c:pt>
                <c:pt idx="8">
                  <c:v>102.66206126298013</c:v>
                </c:pt>
                <c:pt idx="9">
                  <c:v>103.51529796508089</c:v>
                </c:pt>
                <c:pt idx="10">
                  <c:v>105.95498073437234</c:v>
                </c:pt>
                <c:pt idx="11">
                  <c:v>107.61707695338082</c:v>
                </c:pt>
                <c:pt idx="12">
                  <c:v>110.12515328727015</c:v>
                </c:pt>
                <c:pt idx="13">
                  <c:v>111.09623780605325</c:v>
                </c:pt>
                <c:pt idx="14">
                  <c:v>112.44969139434403</c:v>
                </c:pt>
                <c:pt idx="15">
                  <c:v>111.96171207601533</c:v>
                </c:pt>
                <c:pt idx="16">
                  <c:v>114.35439228280907</c:v>
                </c:pt>
                <c:pt idx="17">
                  <c:v>116.11511660297266</c:v>
                </c:pt>
                <c:pt idx="18">
                  <c:v>119.0028415160313</c:v>
                </c:pt>
                <c:pt idx="19">
                  <c:v>120.12134958194385</c:v>
                </c:pt>
                <c:pt idx="20">
                  <c:v>121.79246711433895</c:v>
                </c:pt>
                <c:pt idx="21">
                  <c:v>123.21100443239138</c:v>
                </c:pt>
                <c:pt idx="22">
                  <c:v>124.2414886012654</c:v>
                </c:pt>
                <c:pt idx="23">
                  <c:v>126.53430491680291</c:v>
                </c:pt>
                <c:pt idx="24">
                  <c:v>129.090063087087</c:v>
                </c:pt>
                <c:pt idx="25">
                  <c:v>131.39520718660737</c:v>
                </c:pt>
                <c:pt idx="26">
                  <c:v>132.6765029367759</c:v>
                </c:pt>
                <c:pt idx="27">
                  <c:v>134.06142217135528</c:v>
                </c:pt>
                <c:pt idx="28">
                  <c:v>132.90130116595861</c:v>
                </c:pt>
                <c:pt idx="29">
                  <c:v>133.23084615108255</c:v>
                </c:pt>
                <c:pt idx="30">
                  <c:v>134.05872257629494</c:v>
                </c:pt>
                <c:pt idx="31">
                  <c:v>136.63953459655204</c:v>
                </c:pt>
                <c:pt idx="32">
                  <c:v>136.72141967670439</c:v>
                </c:pt>
                <c:pt idx="33">
                  <c:v>135.66688372410061</c:v>
                </c:pt>
                <c:pt idx="34">
                  <c:v>136.58429044538033</c:v>
                </c:pt>
                <c:pt idx="35">
                  <c:v>138.42383364058173</c:v>
                </c:pt>
                <c:pt idx="36">
                  <c:v>144.63868581996178</c:v>
                </c:pt>
                <c:pt idx="37">
                  <c:v>152.46250211515371</c:v>
                </c:pt>
                <c:pt idx="38">
                  <c:v>157.10474596671202</c:v>
                </c:pt>
                <c:pt idx="39">
                  <c:v>159.88121567330978</c:v>
                </c:pt>
                <c:pt idx="40">
                  <c:v>155.89998514192317</c:v>
                </c:pt>
                <c:pt idx="41">
                  <c:v>156.51880929443504</c:v>
                </c:pt>
                <c:pt idx="42">
                  <c:v>154.65712481055903</c:v>
                </c:pt>
                <c:pt idx="43">
                  <c:v>156.52204208410066</c:v>
                </c:pt>
                <c:pt idx="44">
                  <c:v>152.35952579198806</c:v>
                </c:pt>
                <c:pt idx="45">
                  <c:v>148.10075059255036</c:v>
                </c:pt>
                <c:pt idx="46">
                  <c:v>143.09294602404418</c:v>
                </c:pt>
                <c:pt idx="47">
                  <c:v>140.75773927372038</c:v>
                </c:pt>
                <c:pt idx="48">
                  <c:v>139.40762147022284</c:v>
                </c:pt>
                <c:pt idx="49">
                  <c:v>139.60883574366119</c:v>
                </c:pt>
                <c:pt idx="50">
                  <c:v>138.77493507010124</c:v>
                </c:pt>
                <c:pt idx="51">
                  <c:v>141.17257512986706</c:v>
                </c:pt>
                <c:pt idx="52">
                  <c:v>142.55009102640639</c:v>
                </c:pt>
                <c:pt idx="53">
                  <c:v>145.88993880807928</c:v>
                </c:pt>
                <c:pt idx="54">
                  <c:v>144.61442930672715</c:v>
                </c:pt>
                <c:pt idx="55">
                  <c:v>141.16982896883869</c:v>
                </c:pt>
                <c:pt idx="56">
                  <c:v>141.06332801687734</c:v>
                </c:pt>
                <c:pt idx="57">
                  <c:v>141.61928187584891</c:v>
                </c:pt>
                <c:pt idx="58">
                  <c:v>144.23341590304068</c:v>
                </c:pt>
                <c:pt idx="59">
                  <c:v>145.12243212355833</c:v>
                </c:pt>
                <c:pt idx="60">
                  <c:v>145.08639430711074</c:v>
                </c:pt>
                <c:pt idx="61">
                  <c:v>145.61134659252866</c:v>
                </c:pt>
                <c:pt idx="62">
                  <c:v>146.19774105956228</c:v>
                </c:pt>
                <c:pt idx="63">
                  <c:v>146.8966759369971</c:v>
                </c:pt>
                <c:pt idx="64">
                  <c:v>148.45822576464764</c:v>
                </c:pt>
                <c:pt idx="65">
                  <c:v>147.82693670517159</c:v>
                </c:pt>
                <c:pt idx="66">
                  <c:v>147.9201111861247</c:v>
                </c:pt>
                <c:pt idx="67">
                  <c:v>147.15937321918901</c:v>
                </c:pt>
                <c:pt idx="68">
                  <c:v>150.64799064705741</c:v>
                </c:pt>
                <c:pt idx="69">
                  <c:v>156.6677461114075</c:v>
                </c:pt>
                <c:pt idx="70">
                  <c:v>162.81082869185138</c:v>
                </c:pt>
                <c:pt idx="71">
                  <c:v>164.05611194015538</c:v>
                </c:pt>
                <c:pt idx="72">
                  <c:v>162.97852995979815</c:v>
                </c:pt>
                <c:pt idx="73">
                  <c:v>162.17732387055594</c:v>
                </c:pt>
                <c:pt idx="74">
                  <c:v>162.24355632106685</c:v>
                </c:pt>
                <c:pt idx="75">
                  <c:v>164.31932267879085</c:v>
                </c:pt>
                <c:pt idx="76">
                  <c:v>164.48150219039755</c:v>
                </c:pt>
                <c:pt idx="77">
                  <c:v>166.2801059491801</c:v>
                </c:pt>
                <c:pt idx="78">
                  <c:v>166.5730130450936</c:v>
                </c:pt>
                <c:pt idx="79">
                  <c:v>170.43082152658789</c:v>
                </c:pt>
                <c:pt idx="80">
                  <c:v>173.65622155129839</c:v>
                </c:pt>
                <c:pt idx="81">
                  <c:v>178.21270093273017</c:v>
                </c:pt>
                <c:pt idx="82">
                  <c:v>181.15622657258609</c:v>
                </c:pt>
                <c:pt idx="83">
                  <c:v>184.15788012379383</c:v>
                </c:pt>
                <c:pt idx="84">
                  <c:v>187.39492311684933</c:v>
                </c:pt>
                <c:pt idx="85">
                  <c:v>188.92209680667699</c:v>
                </c:pt>
                <c:pt idx="86">
                  <c:v>189.05206620445449</c:v>
                </c:pt>
                <c:pt idx="87">
                  <c:v>188.7161683692193</c:v>
                </c:pt>
                <c:pt idx="88">
                  <c:v>190.29619658373923</c:v>
                </c:pt>
                <c:pt idx="89">
                  <c:v>190.95982514628818</c:v>
                </c:pt>
                <c:pt idx="90">
                  <c:v>191.71120639571868</c:v>
                </c:pt>
                <c:pt idx="91">
                  <c:v>192.69462445666736</c:v>
                </c:pt>
                <c:pt idx="92">
                  <c:v>190.72438121943364</c:v>
                </c:pt>
                <c:pt idx="93">
                  <c:v>187.43884141343537</c:v>
                </c:pt>
                <c:pt idx="94">
                  <c:v>183.67419058513454</c:v>
                </c:pt>
                <c:pt idx="95">
                  <c:v>184.21025585611571</c:v>
                </c:pt>
                <c:pt idx="96">
                  <c:v>185.22127170711295</c:v>
                </c:pt>
                <c:pt idx="97">
                  <c:v>186.41969474346536</c:v>
                </c:pt>
                <c:pt idx="98">
                  <c:v>186.05028434097628</c:v>
                </c:pt>
                <c:pt idx="99">
                  <c:v>188.51491782647477</c:v>
                </c:pt>
                <c:pt idx="100">
                  <c:v>192.51578187684669</c:v>
                </c:pt>
                <c:pt idx="101">
                  <c:v>197.21930969373415</c:v>
                </c:pt>
                <c:pt idx="102">
                  <c:v>200.88774850418861</c:v>
                </c:pt>
                <c:pt idx="103">
                  <c:v>206.06138199306378</c:v>
                </c:pt>
                <c:pt idx="104">
                  <c:v>210.80382764087466</c:v>
                </c:pt>
                <c:pt idx="105">
                  <c:v>215.18902025011974</c:v>
                </c:pt>
                <c:pt idx="106">
                  <c:v>217.1694366312332</c:v>
                </c:pt>
                <c:pt idx="107">
                  <c:v>221.99481705775284</c:v>
                </c:pt>
                <c:pt idx="108">
                  <c:v>225.91009696550665</c:v>
                </c:pt>
                <c:pt idx="109">
                  <c:v>232.65552732414153</c:v>
                </c:pt>
                <c:pt idx="110">
                  <c:v>235.21700212275758</c:v>
                </c:pt>
                <c:pt idx="111">
                  <c:v>241.42430948338131</c:v>
                </c:pt>
                <c:pt idx="112">
                  <c:v>245.47153942147008</c:v>
                </c:pt>
                <c:pt idx="113">
                  <c:v>251.53813871628307</c:v>
                </c:pt>
                <c:pt idx="114">
                  <c:v>253.57247983176339</c:v>
                </c:pt>
                <c:pt idx="115">
                  <c:v>255.27792936356943</c:v>
                </c:pt>
                <c:pt idx="116">
                  <c:v>252.00464963056274</c:v>
                </c:pt>
                <c:pt idx="117">
                  <c:v>248.78973873958844</c:v>
                </c:pt>
                <c:pt idx="118">
                  <c:v>244.80329061364151</c:v>
                </c:pt>
                <c:pt idx="119">
                  <c:v>241.9313195724003</c:v>
                </c:pt>
                <c:pt idx="120">
                  <c:v>240.43950491109246</c:v>
                </c:pt>
                <c:pt idx="121">
                  <c:v>238.76562152651141</c:v>
                </c:pt>
                <c:pt idx="122">
                  <c:v>240.77330148082171</c:v>
                </c:pt>
                <c:pt idx="123">
                  <c:v>243.96726501417942</c:v>
                </c:pt>
                <c:pt idx="124">
                  <c:v>246.80222505572621</c:v>
                </c:pt>
                <c:pt idx="125">
                  <c:v>250.52521042739224</c:v>
                </c:pt>
                <c:pt idx="126">
                  <c:v>256.28944836789589</c:v>
                </c:pt>
                <c:pt idx="127">
                  <c:v>263.60800984940073</c:v>
                </c:pt>
                <c:pt idx="128">
                  <c:v>268.41764628066159</c:v>
                </c:pt>
                <c:pt idx="129">
                  <c:v>271.45115870310451</c:v>
                </c:pt>
                <c:pt idx="130">
                  <c:v>276.00381077958798</c:v>
                </c:pt>
                <c:pt idx="131">
                  <c:v>280.8846445731387</c:v>
                </c:pt>
                <c:pt idx="132">
                  <c:v>282.54961404635179</c:v>
                </c:pt>
                <c:pt idx="133">
                  <c:v>279.51277168169844</c:v>
                </c:pt>
                <c:pt idx="134">
                  <c:v>276.19332557181491</c:v>
                </c:pt>
                <c:pt idx="135">
                  <c:v>276.49983976652567</c:v>
                </c:pt>
                <c:pt idx="136">
                  <c:v>286.18366081408175</c:v>
                </c:pt>
                <c:pt idx="137">
                  <c:v>293.05017779686693</c:v>
                </c:pt>
                <c:pt idx="138">
                  <c:v>298.71251121653273</c:v>
                </c:pt>
                <c:pt idx="139">
                  <c:v>296.22374870723337</c:v>
                </c:pt>
                <c:pt idx="140">
                  <c:v>292.71435706135776</c:v>
                </c:pt>
                <c:pt idx="141">
                  <c:v>285.34198451096648</c:v>
                </c:pt>
                <c:pt idx="142">
                  <c:v>280.81365057819784</c:v>
                </c:pt>
                <c:pt idx="143">
                  <c:v>278.89654497718408</c:v>
                </c:pt>
                <c:pt idx="144">
                  <c:v>279.59370895766449</c:v>
                </c:pt>
                <c:pt idx="145">
                  <c:v>283.25315281765455</c:v>
                </c:pt>
                <c:pt idx="146">
                  <c:v>282.82039343696465</c:v>
                </c:pt>
                <c:pt idx="147">
                  <c:v>284.36644835499504</c:v>
                </c:pt>
                <c:pt idx="148">
                  <c:v>292.16659784843273</c:v>
                </c:pt>
                <c:pt idx="149">
                  <c:v>294.1488776342573</c:v>
                </c:pt>
                <c:pt idx="150">
                  <c:v>301.58805271688726</c:v>
                </c:pt>
                <c:pt idx="151">
                  <c:v>307.95076054353103</c:v>
                </c:pt>
                <c:pt idx="152">
                  <c:v>319.15050614117507</c:v>
                </c:pt>
                <c:pt idx="153">
                  <c:v>327.88145851722436</c:v>
                </c:pt>
                <c:pt idx="154">
                  <c:v>335.91014557970146</c:v>
                </c:pt>
                <c:pt idx="155">
                  <c:v>336.89949868771862</c:v>
                </c:pt>
                <c:pt idx="156">
                  <c:v>336.8588088672733</c:v>
                </c:pt>
                <c:pt idx="157">
                  <c:v>336.96064723507595</c:v>
                </c:pt>
                <c:pt idx="158">
                  <c:v>344.64736321479222</c:v>
                </c:pt>
                <c:pt idx="159">
                  <c:v>351.92787614444609</c:v>
                </c:pt>
                <c:pt idx="160">
                  <c:v>356.57675367147925</c:v>
                </c:pt>
                <c:pt idx="161">
                  <c:v>365.20729966441206</c:v>
                </c:pt>
                <c:pt idx="162">
                  <c:v>376.9967873181759</c:v>
                </c:pt>
                <c:pt idx="163">
                  <c:v>392.06115801541443</c:v>
                </c:pt>
                <c:pt idx="164">
                  <c:v>401.91316730048868</c:v>
                </c:pt>
                <c:pt idx="165">
                  <c:v>407.0782133513041</c:v>
                </c:pt>
                <c:pt idx="166">
                  <c:v>416.03576591203165</c:v>
                </c:pt>
                <c:pt idx="167">
                  <c:v>424.01534972518533</c:v>
                </c:pt>
                <c:pt idx="168">
                  <c:v>439.41358267357191</c:v>
                </c:pt>
                <c:pt idx="169">
                  <c:v>443.65278874662374</c:v>
                </c:pt>
                <c:pt idx="170">
                  <c:v>444.34416004606351</c:v>
                </c:pt>
                <c:pt idx="171">
                  <c:v>441.99429829898725</c:v>
                </c:pt>
                <c:pt idx="172">
                  <c:v>449.82658722279484</c:v>
                </c:pt>
                <c:pt idx="173">
                  <c:v>458.74723145148755</c:v>
                </c:pt>
                <c:pt idx="174">
                  <c:v>470.63113509085753</c:v>
                </c:pt>
                <c:pt idx="175">
                  <c:v>473.97770594057346</c:v>
                </c:pt>
                <c:pt idx="176">
                  <c:v>478.11462011245214</c:v>
                </c:pt>
                <c:pt idx="177">
                  <c:v>479.96226617058466</c:v>
                </c:pt>
                <c:pt idx="178">
                  <c:v>486.7414575818612</c:v>
                </c:pt>
                <c:pt idx="179">
                  <c:v>501.87055243226467</c:v>
                </c:pt>
                <c:pt idx="180">
                  <c:v>508.54799050880939</c:v>
                </c:pt>
                <c:pt idx="181">
                  <c:v>521.30294008956866</c:v>
                </c:pt>
                <c:pt idx="182">
                  <c:v>526.09955732261676</c:v>
                </c:pt>
                <c:pt idx="183">
                  <c:v>527.5281608090321</c:v>
                </c:pt>
                <c:pt idx="184">
                  <c:v>524.02182749768929</c:v>
                </c:pt>
                <c:pt idx="185">
                  <c:v>520.52050825413198</c:v>
                </c:pt>
                <c:pt idx="186">
                  <c:v>528.36310911041016</c:v>
                </c:pt>
                <c:pt idx="187">
                  <c:v>536.84273238272306</c:v>
                </c:pt>
                <c:pt idx="188">
                  <c:v>556.85299025498841</c:v>
                </c:pt>
                <c:pt idx="189">
                  <c:v>564.68545080115541</c:v>
                </c:pt>
                <c:pt idx="190">
                  <c:v>567.79541127034645</c:v>
                </c:pt>
                <c:pt idx="191">
                  <c:v>569.42199960191897</c:v>
                </c:pt>
                <c:pt idx="192">
                  <c:v>568.86850671533955</c:v>
                </c:pt>
                <c:pt idx="193">
                  <c:v>572.08544939279716</c:v>
                </c:pt>
                <c:pt idx="194">
                  <c:v>565.57884993728806</c:v>
                </c:pt>
                <c:pt idx="195">
                  <c:v>563.87662447558478</c:v>
                </c:pt>
                <c:pt idx="196">
                  <c:v>557.71187862704471</c:v>
                </c:pt>
                <c:pt idx="197">
                  <c:v>555.2209970541478</c:v>
                </c:pt>
                <c:pt idx="198">
                  <c:v>556.20807697449868</c:v>
                </c:pt>
                <c:pt idx="199">
                  <c:v>570.13439153949309</c:v>
                </c:pt>
                <c:pt idx="200">
                  <c:v>581.91768228038416</c:v>
                </c:pt>
                <c:pt idx="201">
                  <c:v>589.11931570701302</c:v>
                </c:pt>
                <c:pt idx="202">
                  <c:v>580.84148371934134</c:v>
                </c:pt>
                <c:pt idx="203">
                  <c:v>544.23858908514978</c:v>
                </c:pt>
                <c:pt idx="204">
                  <c:v>531.54186664764359</c:v>
                </c:pt>
                <c:pt idx="205">
                  <c:v>535.15044489333388</c:v>
                </c:pt>
                <c:pt idx="206">
                  <c:v>559.41124887004014</c:v>
                </c:pt>
                <c:pt idx="207">
                  <c:v>571.3224784445747</c:v>
                </c:pt>
                <c:pt idx="208">
                  <c:v>584.79854106938706</c:v>
                </c:pt>
                <c:pt idx="209">
                  <c:v>595.53945646928685</c:v>
                </c:pt>
                <c:pt idx="210">
                  <c:v>619.04377997766585</c:v>
                </c:pt>
                <c:pt idx="211">
                  <c:v>638.48976362574581</c:v>
                </c:pt>
                <c:pt idx="212">
                  <c:v>647.20754203000979</c:v>
                </c:pt>
                <c:pt idx="213">
                  <c:v>636.44950287938195</c:v>
                </c:pt>
                <c:pt idx="214">
                  <c:v>619.70465300706792</c:v>
                </c:pt>
                <c:pt idx="215">
                  <c:v>612.42363603497029</c:v>
                </c:pt>
                <c:pt idx="216">
                  <c:v>616.07071788556755</c:v>
                </c:pt>
                <c:pt idx="217">
                  <c:v>611.4636296031498</c:v>
                </c:pt>
                <c:pt idx="218">
                  <c:v>605.64388116051703</c:v>
                </c:pt>
                <c:pt idx="219">
                  <c:v>594.52356369933216</c:v>
                </c:pt>
                <c:pt idx="220">
                  <c:v>600.02154224727883</c:v>
                </c:pt>
                <c:pt idx="221">
                  <c:v>597.68809992886645</c:v>
                </c:pt>
                <c:pt idx="222">
                  <c:v>594.21876250236403</c:v>
                </c:pt>
                <c:pt idx="223">
                  <c:v>591.88579828220713</c:v>
                </c:pt>
                <c:pt idx="224">
                  <c:v>601.44790581904567</c:v>
                </c:pt>
                <c:pt idx="225">
                  <c:v>614.64620813335625</c:v>
                </c:pt>
                <c:pt idx="226">
                  <c:v>619.68425573729587</c:v>
                </c:pt>
                <c:pt idx="227">
                  <c:v>619.62285760063958</c:v>
                </c:pt>
                <c:pt idx="228">
                  <c:v>630.58070416541989</c:v>
                </c:pt>
                <c:pt idx="229">
                  <c:v>651.04310936451054</c:v>
                </c:pt>
                <c:pt idx="230">
                  <c:v>676.94209948926789</c:v>
                </c:pt>
                <c:pt idx="231">
                  <c:v>704.18072611688785</c:v>
                </c:pt>
                <c:pt idx="232">
                  <c:v>720.13583689919119</c:v>
                </c:pt>
                <c:pt idx="233">
                  <c:v>740.63015101393614</c:v>
                </c:pt>
                <c:pt idx="234">
                  <c:v>737.2949319049369</c:v>
                </c:pt>
                <c:pt idx="235">
                  <c:v>738.61699957241217</c:v>
                </c:pt>
                <c:pt idx="236">
                  <c:v>741.72124876549219</c:v>
                </c:pt>
                <c:pt idx="237">
                  <c:v>750.21295197208917</c:v>
                </c:pt>
                <c:pt idx="238">
                  <c:v>751.98876265266608</c:v>
                </c:pt>
                <c:pt idx="239">
                  <c:v>746.69009892846543</c:v>
                </c:pt>
                <c:pt idx="240">
                  <c:v>750.07128448288563</c:v>
                </c:pt>
              </c:numCache>
            </c:numRef>
          </c:val>
          <c:smooth val="1"/>
          <c:extLst>
            <c:ext xmlns:c16="http://schemas.microsoft.com/office/drawing/2014/chart" uri="{C3380CC4-5D6E-409C-BE32-E72D297353CC}">
              <c16:uniqueId val="{00000000-79A3-E541-BA02-54779D011314}"/>
            </c:ext>
          </c:extLst>
        </c:ser>
        <c:ser>
          <c:idx val="1"/>
          <c:order val="1"/>
          <c:tx>
            <c:v>Médian</c:v>
          </c:tx>
          <c:spPr>
            <a:ln w="12700">
              <a:solidFill>
                <a:srgbClr val="AB853F"/>
              </a:solidFill>
            </a:ln>
          </c:spPr>
          <c:marker>
            <c:symbol val="none"/>
          </c:marker>
          <c:cat>
            <c:numRef>
              <c:f>'8.4%'!$B$5:$B$245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'8.4%'!$H$5:$H$245</c:f>
              <c:numCache>
                <c:formatCode>0.0</c:formatCode>
                <c:ptCount val="241"/>
                <c:pt idx="0">
                  <c:v>100</c:v>
                </c:pt>
                <c:pt idx="1">
                  <c:v>103.94069512726942</c:v>
                </c:pt>
                <c:pt idx="2">
                  <c:v>107.3343110894492</c:v>
                </c:pt>
                <c:pt idx="3">
                  <c:v>111.78004843022056</c:v>
                </c:pt>
                <c:pt idx="4">
                  <c:v>114.21426490462812</c:v>
                </c:pt>
                <c:pt idx="5">
                  <c:v>117.87900138443645</c:v>
                </c:pt>
                <c:pt idx="6">
                  <c:v>121.95986333423195</c:v>
                </c:pt>
                <c:pt idx="7">
                  <c:v>125.26304140776659</c:v>
                </c:pt>
                <c:pt idx="8">
                  <c:v>126.89428005258317</c:v>
                </c:pt>
                <c:pt idx="9">
                  <c:v>127.87353475538235</c:v>
                </c:pt>
                <c:pt idx="10">
                  <c:v>128.8190400132886</c:v>
                </c:pt>
                <c:pt idx="11">
                  <c:v>131.89743578214831</c:v>
                </c:pt>
                <c:pt idx="12">
                  <c:v>134.42475982374802</c:v>
                </c:pt>
                <c:pt idx="13">
                  <c:v>134.48093152376148</c:v>
                </c:pt>
                <c:pt idx="14">
                  <c:v>131.29634785265844</c:v>
                </c:pt>
                <c:pt idx="15">
                  <c:v>127.9306748734013</c:v>
                </c:pt>
                <c:pt idx="16">
                  <c:v>127.19616713195785</c:v>
                </c:pt>
                <c:pt idx="17">
                  <c:v>130.36788360395829</c:v>
                </c:pt>
                <c:pt idx="18">
                  <c:v>135.35953702875088</c:v>
                </c:pt>
                <c:pt idx="19">
                  <c:v>140.83952344430716</c:v>
                </c:pt>
                <c:pt idx="20">
                  <c:v>143.02494177852398</c:v>
                </c:pt>
                <c:pt idx="21">
                  <c:v>144.70819819740333</c:v>
                </c:pt>
                <c:pt idx="22">
                  <c:v>143.72374709865102</c:v>
                </c:pt>
                <c:pt idx="23">
                  <c:v>144.51730160313676</c:v>
                </c:pt>
                <c:pt idx="24">
                  <c:v>147.1684210525346</c:v>
                </c:pt>
                <c:pt idx="25">
                  <c:v>150.63683444243014</c:v>
                </c:pt>
                <c:pt idx="26">
                  <c:v>153.62350761623338</c:v>
                </c:pt>
                <c:pt idx="27">
                  <c:v>151.88582308352298</c:v>
                </c:pt>
                <c:pt idx="28">
                  <c:v>156.62476012839153</c:v>
                </c:pt>
                <c:pt idx="29">
                  <c:v>159.3194364806524</c:v>
                </c:pt>
                <c:pt idx="30">
                  <c:v>161.99076698178743</c:v>
                </c:pt>
                <c:pt idx="31">
                  <c:v>159.72259203538448</c:v>
                </c:pt>
                <c:pt idx="32">
                  <c:v>155.8931043528905</c:v>
                </c:pt>
                <c:pt idx="33">
                  <c:v>153.64537980423802</c:v>
                </c:pt>
                <c:pt idx="34">
                  <c:v>152.26474912547729</c:v>
                </c:pt>
                <c:pt idx="35">
                  <c:v>153.64598001160479</c:v>
                </c:pt>
                <c:pt idx="36">
                  <c:v>155.51410419893034</c:v>
                </c:pt>
                <c:pt idx="37">
                  <c:v>158.03328596146179</c:v>
                </c:pt>
                <c:pt idx="38">
                  <c:v>157.39304637446614</c:v>
                </c:pt>
                <c:pt idx="39">
                  <c:v>154.32777432480208</c:v>
                </c:pt>
                <c:pt idx="40">
                  <c:v>150.68495384321034</c:v>
                </c:pt>
                <c:pt idx="41">
                  <c:v>150.17923787786287</c:v>
                </c:pt>
                <c:pt idx="42">
                  <c:v>153.43862151114993</c:v>
                </c:pt>
                <c:pt idx="43">
                  <c:v>157.88888776178143</c:v>
                </c:pt>
                <c:pt idx="44">
                  <c:v>161.74064327876923</c:v>
                </c:pt>
                <c:pt idx="45">
                  <c:v>164.89911308100304</c:v>
                </c:pt>
                <c:pt idx="46">
                  <c:v>166.44797332846233</c:v>
                </c:pt>
                <c:pt idx="47">
                  <c:v>166.08643478315139</c:v>
                </c:pt>
                <c:pt idx="48">
                  <c:v>166.54759596358593</c:v>
                </c:pt>
                <c:pt idx="49">
                  <c:v>169.77239492481348</c:v>
                </c:pt>
                <c:pt idx="50">
                  <c:v>177.25610767376759</c:v>
                </c:pt>
                <c:pt idx="51">
                  <c:v>181.62546240513205</c:v>
                </c:pt>
                <c:pt idx="52">
                  <c:v>176.1864339017539</c:v>
                </c:pt>
                <c:pt idx="53">
                  <c:v>167.46932072049481</c:v>
                </c:pt>
                <c:pt idx="54">
                  <c:v>161.87812117775218</c:v>
                </c:pt>
                <c:pt idx="55">
                  <c:v>160.85354758968975</c:v>
                </c:pt>
                <c:pt idx="56">
                  <c:v>160.01366665032509</c:v>
                </c:pt>
                <c:pt idx="57">
                  <c:v>157.39723727030201</c:v>
                </c:pt>
                <c:pt idx="58">
                  <c:v>158.42908658095061</c:v>
                </c:pt>
                <c:pt idx="59">
                  <c:v>163.33448925160542</c:v>
                </c:pt>
                <c:pt idx="60">
                  <c:v>172.96695851216575</c:v>
                </c:pt>
                <c:pt idx="61">
                  <c:v>178.5955814105545</c:v>
                </c:pt>
                <c:pt idx="62">
                  <c:v>179.88098822497616</c:v>
                </c:pt>
                <c:pt idx="63">
                  <c:v>176.97337341888516</c:v>
                </c:pt>
                <c:pt idx="64">
                  <c:v>174.83819790817421</c:v>
                </c:pt>
                <c:pt idx="65">
                  <c:v>172.84639314711089</c:v>
                </c:pt>
                <c:pt idx="66">
                  <c:v>172.75948665049043</c:v>
                </c:pt>
                <c:pt idx="67">
                  <c:v>172.27303659567795</c:v>
                </c:pt>
                <c:pt idx="68">
                  <c:v>173.51297482169184</c:v>
                </c:pt>
                <c:pt idx="69">
                  <c:v>172.18702971921365</c:v>
                </c:pt>
                <c:pt idx="70">
                  <c:v>172.04037263170233</c:v>
                </c:pt>
                <c:pt idx="71">
                  <c:v>172.11936264913811</c:v>
                </c:pt>
                <c:pt idx="72">
                  <c:v>173.98750542712958</c:v>
                </c:pt>
                <c:pt idx="73">
                  <c:v>176.69152934076988</c:v>
                </c:pt>
                <c:pt idx="74">
                  <c:v>177.65418714973907</c:v>
                </c:pt>
                <c:pt idx="75">
                  <c:v>177.72113112648879</c:v>
                </c:pt>
                <c:pt idx="76">
                  <c:v>175.13016444920817</c:v>
                </c:pt>
                <c:pt idx="77">
                  <c:v>173.05652666063338</c:v>
                </c:pt>
                <c:pt idx="78">
                  <c:v>174.18977560826832</c:v>
                </c:pt>
                <c:pt idx="79">
                  <c:v>175.87039723129823</c:v>
                </c:pt>
                <c:pt idx="80">
                  <c:v>175.37973597191746</c:v>
                </c:pt>
                <c:pt idx="81">
                  <c:v>172.83337676711412</c:v>
                </c:pt>
                <c:pt idx="82">
                  <c:v>167.6132152144952</c:v>
                </c:pt>
                <c:pt idx="83">
                  <c:v>165.62637950233227</c:v>
                </c:pt>
                <c:pt idx="84">
                  <c:v>164.62000845544233</c:v>
                </c:pt>
                <c:pt idx="85">
                  <c:v>168.08969911667489</c:v>
                </c:pt>
                <c:pt idx="86">
                  <c:v>171.644155209822</c:v>
                </c:pt>
                <c:pt idx="87">
                  <c:v>173.64661076267234</c:v>
                </c:pt>
                <c:pt idx="88">
                  <c:v>175.08963185906757</c:v>
                </c:pt>
                <c:pt idx="89">
                  <c:v>171.40244860686047</c:v>
                </c:pt>
                <c:pt idx="90">
                  <c:v>165.40122499931749</c:v>
                </c:pt>
                <c:pt idx="91">
                  <c:v>159.58536363480556</c:v>
                </c:pt>
                <c:pt idx="92">
                  <c:v>152.80501367316802</c:v>
                </c:pt>
                <c:pt idx="93">
                  <c:v>148.9790042909024</c:v>
                </c:pt>
                <c:pt idx="94">
                  <c:v>146.56076339923254</c:v>
                </c:pt>
                <c:pt idx="95">
                  <c:v>148.01305090944192</c:v>
                </c:pt>
                <c:pt idx="96">
                  <c:v>148.13909761052849</c:v>
                </c:pt>
                <c:pt idx="97">
                  <c:v>148.35021890988364</c:v>
                </c:pt>
                <c:pt idx="98">
                  <c:v>148.77611359090744</c:v>
                </c:pt>
                <c:pt idx="99">
                  <c:v>150.85372128647685</c:v>
                </c:pt>
                <c:pt idx="100">
                  <c:v>154.13247422803312</c:v>
                </c:pt>
                <c:pt idx="101">
                  <c:v>155.84112539373427</c:v>
                </c:pt>
                <c:pt idx="102">
                  <c:v>157.58009219768846</c:v>
                </c:pt>
                <c:pt idx="103">
                  <c:v>159.92112709855354</c:v>
                </c:pt>
                <c:pt idx="104">
                  <c:v>160.92019925131999</c:v>
                </c:pt>
                <c:pt idx="105">
                  <c:v>161.69486435551497</c:v>
                </c:pt>
                <c:pt idx="106">
                  <c:v>160.14245839089818</c:v>
                </c:pt>
                <c:pt idx="107">
                  <c:v>160.5462314799513</c:v>
                </c:pt>
                <c:pt idx="108">
                  <c:v>159.54859987757413</c:v>
                </c:pt>
                <c:pt idx="109">
                  <c:v>157.76902506633471</c:v>
                </c:pt>
                <c:pt idx="110">
                  <c:v>155.91948282518692</c:v>
                </c:pt>
                <c:pt idx="111">
                  <c:v>157.99845327955293</c:v>
                </c:pt>
                <c:pt idx="112">
                  <c:v>161.60926924445153</c:v>
                </c:pt>
                <c:pt idx="113">
                  <c:v>165.45834332221673</c:v>
                </c:pt>
                <c:pt idx="114">
                  <c:v>166.60711213515219</c:v>
                </c:pt>
                <c:pt idx="115">
                  <c:v>168.42254324583035</c:v>
                </c:pt>
                <c:pt idx="116">
                  <c:v>168.99776666310234</c:v>
                </c:pt>
                <c:pt idx="117">
                  <c:v>169.01195148002429</c:v>
                </c:pt>
                <c:pt idx="118">
                  <c:v>170.01876254833283</c:v>
                </c:pt>
                <c:pt idx="119">
                  <c:v>171.04159922038136</c:v>
                </c:pt>
                <c:pt idx="120">
                  <c:v>173.86551657773768</c:v>
                </c:pt>
                <c:pt idx="121">
                  <c:v>176.30210141741259</c:v>
                </c:pt>
                <c:pt idx="122">
                  <c:v>182.36158139478468</c:v>
                </c:pt>
                <c:pt idx="123">
                  <c:v>187.15024867297748</c:v>
                </c:pt>
                <c:pt idx="124">
                  <c:v>192.77273467603783</c:v>
                </c:pt>
                <c:pt idx="125">
                  <c:v>196.57408371192011</c:v>
                </c:pt>
                <c:pt idx="126">
                  <c:v>204.11013446556132</c:v>
                </c:pt>
                <c:pt idx="127">
                  <c:v>207.87772863964378</c:v>
                </c:pt>
                <c:pt idx="128">
                  <c:v>206.60077595624531</c:v>
                </c:pt>
                <c:pt idx="129">
                  <c:v>201.99975989953805</c:v>
                </c:pt>
                <c:pt idx="130">
                  <c:v>198.99148627896491</c:v>
                </c:pt>
                <c:pt idx="131">
                  <c:v>202.38886199082512</c:v>
                </c:pt>
                <c:pt idx="132">
                  <c:v>205.93483875813834</c:v>
                </c:pt>
                <c:pt idx="133">
                  <c:v>211.64962069715247</c:v>
                </c:pt>
                <c:pt idx="134">
                  <c:v>217.95831827109205</c:v>
                </c:pt>
                <c:pt idx="135">
                  <c:v>225.5464676609636</c:v>
                </c:pt>
                <c:pt idx="136">
                  <c:v>231.61615773365483</c:v>
                </c:pt>
                <c:pt idx="137">
                  <c:v>230.84497500200399</c:v>
                </c:pt>
                <c:pt idx="138">
                  <c:v>231.05827827398696</c:v>
                </c:pt>
                <c:pt idx="139">
                  <c:v>230.95393741552598</c:v>
                </c:pt>
                <c:pt idx="140">
                  <c:v>236.54707719502099</c:v>
                </c:pt>
                <c:pt idx="141">
                  <c:v>237.84951608923475</c:v>
                </c:pt>
                <c:pt idx="142">
                  <c:v>242.43789892845268</c:v>
                </c:pt>
                <c:pt idx="143">
                  <c:v>242.23230270913112</c:v>
                </c:pt>
                <c:pt idx="144">
                  <c:v>244.52604982300187</c:v>
                </c:pt>
                <c:pt idx="145">
                  <c:v>247.24204822067756</c:v>
                </c:pt>
                <c:pt idx="146">
                  <c:v>248.27261694220999</c:v>
                </c:pt>
                <c:pt idx="147">
                  <c:v>249.28244587160955</c:v>
                </c:pt>
                <c:pt idx="148">
                  <c:v>255.18371335767787</c:v>
                </c:pt>
                <c:pt idx="149">
                  <c:v>255.43147311130068</c:v>
                </c:pt>
                <c:pt idx="150">
                  <c:v>260.11120054911612</c:v>
                </c:pt>
                <c:pt idx="151">
                  <c:v>260.88244788143714</c:v>
                </c:pt>
                <c:pt idx="152">
                  <c:v>264.80919853326651</c:v>
                </c:pt>
                <c:pt idx="153">
                  <c:v>263.2659423268484</c:v>
                </c:pt>
                <c:pt idx="154">
                  <c:v>266.79472513307775</c:v>
                </c:pt>
                <c:pt idx="155">
                  <c:v>271.62478347749027</c:v>
                </c:pt>
                <c:pt idx="156">
                  <c:v>277.89783729659132</c:v>
                </c:pt>
                <c:pt idx="157">
                  <c:v>284.17807370731578</c:v>
                </c:pt>
                <c:pt idx="158">
                  <c:v>290.51871564148973</c:v>
                </c:pt>
                <c:pt idx="159">
                  <c:v>295.63607103187792</c:v>
                </c:pt>
                <c:pt idx="160">
                  <c:v>298.51737346693614</c:v>
                </c:pt>
                <c:pt idx="161">
                  <c:v>304.70320939120603</c:v>
                </c:pt>
                <c:pt idx="162">
                  <c:v>313.47601304436387</c:v>
                </c:pt>
                <c:pt idx="163">
                  <c:v>324.9058960197641</c:v>
                </c:pt>
                <c:pt idx="164">
                  <c:v>331.9564196307648</c:v>
                </c:pt>
                <c:pt idx="165">
                  <c:v>335.10402673760285</c:v>
                </c:pt>
                <c:pt idx="166">
                  <c:v>341.34474704276136</c:v>
                </c:pt>
                <c:pt idx="167">
                  <c:v>346.74695652649297</c:v>
                </c:pt>
                <c:pt idx="168">
                  <c:v>358.16304046664402</c:v>
                </c:pt>
                <c:pt idx="169">
                  <c:v>360.44113023930356</c:v>
                </c:pt>
                <c:pt idx="170">
                  <c:v>359.83383776006207</c:v>
                </c:pt>
                <c:pt idx="171">
                  <c:v>356.77801617392515</c:v>
                </c:pt>
                <c:pt idx="172">
                  <c:v>361.93690792239289</c:v>
                </c:pt>
                <c:pt idx="173">
                  <c:v>367.93822901950455</c:v>
                </c:pt>
                <c:pt idx="174">
                  <c:v>376.27306722329229</c:v>
                </c:pt>
                <c:pt idx="175">
                  <c:v>377.75365016218012</c:v>
                </c:pt>
                <c:pt idx="176">
                  <c:v>379.855353301082</c:v>
                </c:pt>
                <c:pt idx="177">
                  <c:v>380.13331471662701</c:v>
                </c:pt>
                <c:pt idx="178">
                  <c:v>384.3057356585133</c:v>
                </c:pt>
                <c:pt idx="179">
                  <c:v>395.0271594517464</c:v>
                </c:pt>
                <c:pt idx="180">
                  <c:v>399.05326254962165</c:v>
                </c:pt>
                <c:pt idx="181">
                  <c:v>407.81170877664755</c:v>
                </c:pt>
                <c:pt idx="182">
                  <c:v>410.31264668649783</c:v>
                </c:pt>
                <c:pt idx="183">
                  <c:v>410.182254786165</c:v>
                </c:pt>
                <c:pt idx="184">
                  <c:v>406.2296321360007</c:v>
                </c:pt>
                <c:pt idx="185">
                  <c:v>402.30716393556662</c:v>
                </c:pt>
                <c:pt idx="186">
                  <c:v>407.15216745930366</c:v>
                </c:pt>
                <c:pt idx="187">
                  <c:v>412.46041803997304</c:v>
                </c:pt>
                <c:pt idx="188">
                  <c:v>426.5728715559743</c:v>
                </c:pt>
                <c:pt idx="189">
                  <c:v>431.30375815968057</c:v>
                </c:pt>
                <c:pt idx="190">
                  <c:v>432.41318851166483</c:v>
                </c:pt>
                <c:pt idx="191">
                  <c:v>432.39244350643924</c:v>
                </c:pt>
                <c:pt idx="192">
                  <c:v>430.72381845816312</c:v>
                </c:pt>
                <c:pt idx="193">
                  <c:v>431.91405538892514</c:v>
                </c:pt>
                <c:pt idx="194">
                  <c:v>425.7800228748585</c:v>
                </c:pt>
                <c:pt idx="195">
                  <c:v>423.29008616095678</c:v>
                </c:pt>
                <c:pt idx="196">
                  <c:v>417.47640880334336</c:v>
                </c:pt>
                <c:pt idx="197">
                  <c:v>414.44038834965983</c:v>
                </c:pt>
                <c:pt idx="198">
                  <c:v>414.01272450480747</c:v>
                </c:pt>
                <c:pt idx="199">
                  <c:v>423.19435074890799</c:v>
                </c:pt>
                <c:pt idx="200">
                  <c:v>430.74115968254085</c:v>
                </c:pt>
                <c:pt idx="201">
                  <c:v>434.8667534077635</c:v>
                </c:pt>
                <c:pt idx="202">
                  <c:v>427.57723955534914</c:v>
                </c:pt>
                <c:pt idx="203">
                  <c:v>399.53620104931235</c:v>
                </c:pt>
                <c:pt idx="204">
                  <c:v>389.15259483905987</c:v>
                </c:pt>
                <c:pt idx="205">
                  <c:v>390.73269299744629</c:v>
                </c:pt>
                <c:pt idx="206">
                  <c:v>407.34479965112325</c:v>
                </c:pt>
                <c:pt idx="207">
                  <c:v>414.90157925952644</c:v>
                </c:pt>
                <c:pt idx="208">
                  <c:v>423.55370500684381</c:v>
                </c:pt>
                <c:pt idx="209">
                  <c:v>430.18648837988002</c:v>
                </c:pt>
                <c:pt idx="210">
                  <c:v>445.98182790830617</c:v>
                </c:pt>
                <c:pt idx="211">
                  <c:v>458.78036722349668</c:v>
                </c:pt>
                <c:pt idx="212">
                  <c:v>463.82592159997114</c:v>
                </c:pt>
                <c:pt idx="213">
                  <c:v>454.92666643798049</c:v>
                </c:pt>
                <c:pt idx="214">
                  <c:v>441.80801841773581</c:v>
                </c:pt>
                <c:pt idx="215">
                  <c:v>435.48934452884026</c:v>
                </c:pt>
                <c:pt idx="216">
                  <c:v>436.95652762572894</c:v>
                </c:pt>
                <c:pt idx="217">
                  <c:v>432.57922097281551</c:v>
                </c:pt>
                <c:pt idx="218">
                  <c:v>427.3709183685404</c:v>
                </c:pt>
                <c:pt idx="219">
                  <c:v>418.46055271741648</c:v>
                </c:pt>
                <c:pt idx="220">
                  <c:v>421.26491513529305</c:v>
                </c:pt>
                <c:pt idx="221">
                  <c:v>418.5729827318969</c:v>
                </c:pt>
                <c:pt idx="222">
                  <c:v>415.10329978606859</c:v>
                </c:pt>
                <c:pt idx="223">
                  <c:v>412.445012741852</c:v>
                </c:pt>
                <c:pt idx="224">
                  <c:v>418.07047855726194</c:v>
                </c:pt>
                <c:pt idx="225">
                  <c:v>426.19175197664117</c:v>
                </c:pt>
                <c:pt idx="226">
                  <c:v>428.63103560406529</c:v>
                </c:pt>
                <c:pt idx="227">
                  <c:v>427.54204833058145</c:v>
                </c:pt>
                <c:pt idx="228">
                  <c:v>434.04547590505888</c:v>
                </c:pt>
                <c:pt idx="229">
                  <c:v>447.04611553863651</c:v>
                </c:pt>
                <c:pt idx="230">
                  <c:v>463.71053349384624</c:v>
                </c:pt>
                <c:pt idx="231">
                  <c:v>481.21286980862646</c:v>
                </c:pt>
                <c:pt idx="232">
                  <c:v>490.94174109769938</c:v>
                </c:pt>
                <c:pt idx="233">
                  <c:v>503.71408940750467</c:v>
                </c:pt>
                <c:pt idx="234">
                  <c:v>500.26007581839212</c:v>
                </c:pt>
                <c:pt idx="235">
                  <c:v>499.97749828528322</c:v>
                </c:pt>
                <c:pt idx="236">
                  <c:v>500.90237816887372</c:v>
                </c:pt>
                <c:pt idx="237">
                  <c:v>505.45530734750179</c:v>
                </c:pt>
                <c:pt idx="238">
                  <c:v>505.47533954503649</c:v>
                </c:pt>
                <c:pt idx="239">
                  <c:v>500.75349768914731</c:v>
                </c:pt>
                <c:pt idx="240">
                  <c:v>501.86353812703152</c:v>
                </c:pt>
              </c:numCache>
            </c:numRef>
          </c:val>
          <c:smooth val="1"/>
          <c:extLst>
            <c:ext xmlns:c16="http://schemas.microsoft.com/office/drawing/2014/chart" uri="{C3380CC4-5D6E-409C-BE32-E72D297353CC}">
              <c16:uniqueId val="{00000001-79A3-E541-BA02-54779D011314}"/>
            </c:ext>
          </c:extLst>
        </c:ser>
        <c:ser>
          <c:idx val="2"/>
          <c:order val="2"/>
          <c:tx>
            <c:v>Pessimiste</c:v>
          </c:tx>
          <c:spPr>
            <a:ln w="12700">
              <a:solidFill>
                <a:schemeClr val="tx1"/>
              </a:solidFill>
            </a:ln>
          </c:spPr>
          <c:marker>
            <c:symbol val="none"/>
          </c:marker>
          <c:cat>
            <c:numRef>
              <c:f>'8.4%'!$B$5:$B$245</c:f>
              <c:numCache>
                <c:formatCode>0.0</c:formatCode>
                <c:ptCount val="241"/>
                <c:pt idx="0">
                  <c:v>0</c:v>
                </c:pt>
                <c:pt idx="1">
                  <c:v>8.3333333333333329E-2</c:v>
                </c:pt>
                <c:pt idx="2">
                  <c:v>0.16666666666666666</c:v>
                </c:pt>
                <c:pt idx="3">
                  <c:v>0.25</c:v>
                </c:pt>
                <c:pt idx="4">
                  <c:v>0.33333333333333331</c:v>
                </c:pt>
                <c:pt idx="5">
                  <c:v>0.41666666666666669</c:v>
                </c:pt>
                <c:pt idx="6">
                  <c:v>0.5</c:v>
                </c:pt>
                <c:pt idx="7">
                  <c:v>0.58333333333333337</c:v>
                </c:pt>
                <c:pt idx="8">
                  <c:v>0.66666666666666663</c:v>
                </c:pt>
                <c:pt idx="9">
                  <c:v>0.75</c:v>
                </c:pt>
                <c:pt idx="10">
                  <c:v>0.83333333333333337</c:v>
                </c:pt>
                <c:pt idx="11">
                  <c:v>0.91666666666666663</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pt idx="49">
                  <c:v>4.083333333333333</c:v>
                </c:pt>
                <c:pt idx="50">
                  <c:v>4.166666666666667</c:v>
                </c:pt>
                <c:pt idx="51">
                  <c:v>4.25</c:v>
                </c:pt>
                <c:pt idx="52">
                  <c:v>4.333333333333333</c:v>
                </c:pt>
                <c:pt idx="53">
                  <c:v>4.416666666666667</c:v>
                </c:pt>
                <c:pt idx="54">
                  <c:v>4.5</c:v>
                </c:pt>
                <c:pt idx="55">
                  <c:v>4.583333333333333</c:v>
                </c:pt>
                <c:pt idx="56">
                  <c:v>4.666666666666667</c:v>
                </c:pt>
                <c:pt idx="57">
                  <c:v>4.75</c:v>
                </c:pt>
                <c:pt idx="58">
                  <c:v>4.833333333333333</c:v>
                </c:pt>
                <c:pt idx="59">
                  <c:v>4.916666666666667</c:v>
                </c:pt>
                <c:pt idx="60">
                  <c:v>5</c:v>
                </c:pt>
                <c:pt idx="61">
                  <c:v>5.083333333333333</c:v>
                </c:pt>
                <c:pt idx="62">
                  <c:v>5.166666666666667</c:v>
                </c:pt>
                <c:pt idx="63">
                  <c:v>5.25</c:v>
                </c:pt>
                <c:pt idx="64">
                  <c:v>5.333333333333333</c:v>
                </c:pt>
                <c:pt idx="65">
                  <c:v>5.416666666666667</c:v>
                </c:pt>
                <c:pt idx="66">
                  <c:v>5.5</c:v>
                </c:pt>
                <c:pt idx="67">
                  <c:v>5.583333333333333</c:v>
                </c:pt>
                <c:pt idx="68">
                  <c:v>5.666666666666667</c:v>
                </c:pt>
                <c:pt idx="69">
                  <c:v>5.75</c:v>
                </c:pt>
                <c:pt idx="70">
                  <c:v>5.833333333333333</c:v>
                </c:pt>
                <c:pt idx="71">
                  <c:v>5.916666666666667</c:v>
                </c:pt>
                <c:pt idx="72">
                  <c:v>6</c:v>
                </c:pt>
                <c:pt idx="73">
                  <c:v>6.083333333333333</c:v>
                </c:pt>
                <c:pt idx="74">
                  <c:v>6.166666666666667</c:v>
                </c:pt>
                <c:pt idx="75">
                  <c:v>6.25</c:v>
                </c:pt>
                <c:pt idx="76">
                  <c:v>6.333333333333333</c:v>
                </c:pt>
                <c:pt idx="77">
                  <c:v>6.416666666666667</c:v>
                </c:pt>
                <c:pt idx="78">
                  <c:v>6.5</c:v>
                </c:pt>
                <c:pt idx="79">
                  <c:v>6.583333333333333</c:v>
                </c:pt>
                <c:pt idx="80">
                  <c:v>6.666666666666667</c:v>
                </c:pt>
                <c:pt idx="81">
                  <c:v>6.75</c:v>
                </c:pt>
                <c:pt idx="82">
                  <c:v>6.833333333333333</c:v>
                </c:pt>
                <c:pt idx="83">
                  <c:v>6.916666666666667</c:v>
                </c:pt>
                <c:pt idx="84">
                  <c:v>7</c:v>
                </c:pt>
                <c:pt idx="85">
                  <c:v>7.083333333333333</c:v>
                </c:pt>
                <c:pt idx="86">
                  <c:v>7.166666666666667</c:v>
                </c:pt>
                <c:pt idx="87">
                  <c:v>7.25</c:v>
                </c:pt>
                <c:pt idx="88">
                  <c:v>7.333333333333333</c:v>
                </c:pt>
                <c:pt idx="89">
                  <c:v>7.416666666666667</c:v>
                </c:pt>
                <c:pt idx="90">
                  <c:v>7.5</c:v>
                </c:pt>
                <c:pt idx="91">
                  <c:v>7.583333333333333</c:v>
                </c:pt>
                <c:pt idx="92">
                  <c:v>7.666666666666667</c:v>
                </c:pt>
                <c:pt idx="93">
                  <c:v>7.75</c:v>
                </c:pt>
                <c:pt idx="94">
                  <c:v>7.833333333333333</c:v>
                </c:pt>
                <c:pt idx="95">
                  <c:v>7.916666666666667</c:v>
                </c:pt>
                <c:pt idx="96">
                  <c:v>8</c:v>
                </c:pt>
                <c:pt idx="97">
                  <c:v>8.0833333333333339</c:v>
                </c:pt>
                <c:pt idx="98">
                  <c:v>8.1666666666666661</c:v>
                </c:pt>
                <c:pt idx="99">
                  <c:v>8.25</c:v>
                </c:pt>
                <c:pt idx="100">
                  <c:v>8.3333333333333339</c:v>
                </c:pt>
                <c:pt idx="101">
                  <c:v>8.4166666666666661</c:v>
                </c:pt>
                <c:pt idx="102">
                  <c:v>8.5</c:v>
                </c:pt>
                <c:pt idx="103">
                  <c:v>8.5833333333333339</c:v>
                </c:pt>
                <c:pt idx="104">
                  <c:v>8.6666666666666661</c:v>
                </c:pt>
                <c:pt idx="105">
                  <c:v>8.75</c:v>
                </c:pt>
                <c:pt idx="106">
                  <c:v>8.8333333333333339</c:v>
                </c:pt>
                <c:pt idx="107">
                  <c:v>8.9166666666666661</c:v>
                </c:pt>
                <c:pt idx="108">
                  <c:v>9</c:v>
                </c:pt>
                <c:pt idx="109">
                  <c:v>9.0833333333333339</c:v>
                </c:pt>
                <c:pt idx="110">
                  <c:v>9.1666666666666661</c:v>
                </c:pt>
                <c:pt idx="111">
                  <c:v>9.25</c:v>
                </c:pt>
                <c:pt idx="112">
                  <c:v>9.3333333333333339</c:v>
                </c:pt>
                <c:pt idx="113">
                  <c:v>9.4166666666666661</c:v>
                </c:pt>
                <c:pt idx="114">
                  <c:v>9.5</c:v>
                </c:pt>
                <c:pt idx="115">
                  <c:v>9.5833333333333339</c:v>
                </c:pt>
                <c:pt idx="116">
                  <c:v>9.6666666666666661</c:v>
                </c:pt>
                <c:pt idx="117">
                  <c:v>9.75</c:v>
                </c:pt>
                <c:pt idx="118">
                  <c:v>9.8333333333333339</c:v>
                </c:pt>
                <c:pt idx="119">
                  <c:v>9.9166666666666661</c:v>
                </c:pt>
                <c:pt idx="120">
                  <c:v>10</c:v>
                </c:pt>
                <c:pt idx="121">
                  <c:v>10.083333333333334</c:v>
                </c:pt>
                <c:pt idx="122">
                  <c:v>10.166666666666666</c:v>
                </c:pt>
                <c:pt idx="123">
                  <c:v>10.25</c:v>
                </c:pt>
                <c:pt idx="124">
                  <c:v>10.333333333333334</c:v>
                </c:pt>
                <c:pt idx="125">
                  <c:v>10.416666666666666</c:v>
                </c:pt>
                <c:pt idx="126">
                  <c:v>10.5</c:v>
                </c:pt>
                <c:pt idx="127">
                  <c:v>10.583333333333334</c:v>
                </c:pt>
                <c:pt idx="128">
                  <c:v>10.666666666666666</c:v>
                </c:pt>
                <c:pt idx="129">
                  <c:v>10.75</c:v>
                </c:pt>
                <c:pt idx="130">
                  <c:v>10.833333333333334</c:v>
                </c:pt>
                <c:pt idx="131">
                  <c:v>10.916666666666666</c:v>
                </c:pt>
                <c:pt idx="132">
                  <c:v>11</c:v>
                </c:pt>
                <c:pt idx="133">
                  <c:v>11.083333333333334</c:v>
                </c:pt>
                <c:pt idx="134">
                  <c:v>11.166666666666666</c:v>
                </c:pt>
                <c:pt idx="135">
                  <c:v>11.25</c:v>
                </c:pt>
                <c:pt idx="136">
                  <c:v>11.333333333333334</c:v>
                </c:pt>
                <c:pt idx="137">
                  <c:v>11.416666666666666</c:v>
                </c:pt>
                <c:pt idx="138">
                  <c:v>11.5</c:v>
                </c:pt>
                <c:pt idx="139">
                  <c:v>11.583333333333334</c:v>
                </c:pt>
                <c:pt idx="140">
                  <c:v>11.666666666666666</c:v>
                </c:pt>
                <c:pt idx="141">
                  <c:v>11.75</c:v>
                </c:pt>
                <c:pt idx="142">
                  <c:v>11.833333333333334</c:v>
                </c:pt>
                <c:pt idx="143">
                  <c:v>11.916666666666666</c:v>
                </c:pt>
                <c:pt idx="144">
                  <c:v>12</c:v>
                </c:pt>
                <c:pt idx="145">
                  <c:v>12.083333333333334</c:v>
                </c:pt>
                <c:pt idx="146">
                  <c:v>12.166666666666666</c:v>
                </c:pt>
                <c:pt idx="147">
                  <c:v>12.25</c:v>
                </c:pt>
                <c:pt idx="148">
                  <c:v>12.333333333333334</c:v>
                </c:pt>
                <c:pt idx="149">
                  <c:v>12.416666666666666</c:v>
                </c:pt>
                <c:pt idx="150">
                  <c:v>12.5</c:v>
                </c:pt>
                <c:pt idx="151">
                  <c:v>12.583333333333334</c:v>
                </c:pt>
                <c:pt idx="152">
                  <c:v>12.666666666666666</c:v>
                </c:pt>
                <c:pt idx="153">
                  <c:v>12.75</c:v>
                </c:pt>
                <c:pt idx="154">
                  <c:v>12.833333333333334</c:v>
                </c:pt>
                <c:pt idx="155">
                  <c:v>12.916666666666666</c:v>
                </c:pt>
                <c:pt idx="156">
                  <c:v>13</c:v>
                </c:pt>
                <c:pt idx="157">
                  <c:v>13.083333333333334</c:v>
                </c:pt>
                <c:pt idx="158">
                  <c:v>13.166666666666666</c:v>
                </c:pt>
                <c:pt idx="159">
                  <c:v>13.25</c:v>
                </c:pt>
                <c:pt idx="160">
                  <c:v>13.333333333333334</c:v>
                </c:pt>
                <c:pt idx="161">
                  <c:v>13.416666666666666</c:v>
                </c:pt>
                <c:pt idx="162">
                  <c:v>13.5</c:v>
                </c:pt>
                <c:pt idx="163">
                  <c:v>13.583333333333334</c:v>
                </c:pt>
                <c:pt idx="164">
                  <c:v>13.666666666666666</c:v>
                </c:pt>
                <c:pt idx="165">
                  <c:v>13.75</c:v>
                </c:pt>
                <c:pt idx="166">
                  <c:v>13.833333333333334</c:v>
                </c:pt>
                <c:pt idx="167">
                  <c:v>13.916666666666666</c:v>
                </c:pt>
                <c:pt idx="168">
                  <c:v>14</c:v>
                </c:pt>
                <c:pt idx="169">
                  <c:v>14.083333333333334</c:v>
                </c:pt>
                <c:pt idx="170">
                  <c:v>14.166666666666666</c:v>
                </c:pt>
                <c:pt idx="171">
                  <c:v>14.25</c:v>
                </c:pt>
                <c:pt idx="172">
                  <c:v>14.333333333333334</c:v>
                </c:pt>
                <c:pt idx="173">
                  <c:v>14.416666666666666</c:v>
                </c:pt>
                <c:pt idx="174">
                  <c:v>14.5</c:v>
                </c:pt>
                <c:pt idx="175">
                  <c:v>14.583333333333334</c:v>
                </c:pt>
                <c:pt idx="176">
                  <c:v>14.666666666666666</c:v>
                </c:pt>
                <c:pt idx="177">
                  <c:v>14.75</c:v>
                </c:pt>
                <c:pt idx="178">
                  <c:v>14.833333333333334</c:v>
                </c:pt>
                <c:pt idx="179">
                  <c:v>14.916666666666666</c:v>
                </c:pt>
                <c:pt idx="180">
                  <c:v>15</c:v>
                </c:pt>
                <c:pt idx="181">
                  <c:v>15.083333333333334</c:v>
                </c:pt>
                <c:pt idx="182">
                  <c:v>15.166666666666666</c:v>
                </c:pt>
                <c:pt idx="183">
                  <c:v>15.25</c:v>
                </c:pt>
                <c:pt idx="184">
                  <c:v>15.333333333333334</c:v>
                </c:pt>
                <c:pt idx="185">
                  <c:v>15.416666666666666</c:v>
                </c:pt>
                <c:pt idx="186">
                  <c:v>15.5</c:v>
                </c:pt>
                <c:pt idx="187">
                  <c:v>15.583333333333334</c:v>
                </c:pt>
                <c:pt idx="188">
                  <c:v>15.666666666666666</c:v>
                </c:pt>
                <c:pt idx="189">
                  <c:v>15.75</c:v>
                </c:pt>
                <c:pt idx="190">
                  <c:v>15.833333333333334</c:v>
                </c:pt>
                <c:pt idx="191">
                  <c:v>15.916666666666666</c:v>
                </c:pt>
                <c:pt idx="192">
                  <c:v>16</c:v>
                </c:pt>
                <c:pt idx="193">
                  <c:v>16.083333333333332</c:v>
                </c:pt>
                <c:pt idx="194">
                  <c:v>16.166666666666668</c:v>
                </c:pt>
                <c:pt idx="195">
                  <c:v>16.25</c:v>
                </c:pt>
                <c:pt idx="196">
                  <c:v>16.333333333333332</c:v>
                </c:pt>
                <c:pt idx="197">
                  <c:v>16.416666666666668</c:v>
                </c:pt>
                <c:pt idx="198">
                  <c:v>16.5</c:v>
                </c:pt>
                <c:pt idx="199">
                  <c:v>16.583333333333332</c:v>
                </c:pt>
                <c:pt idx="200">
                  <c:v>16.666666666666668</c:v>
                </c:pt>
                <c:pt idx="201">
                  <c:v>16.75</c:v>
                </c:pt>
                <c:pt idx="202">
                  <c:v>16.833333333333332</c:v>
                </c:pt>
                <c:pt idx="203">
                  <c:v>16.916666666666668</c:v>
                </c:pt>
                <c:pt idx="204">
                  <c:v>17</c:v>
                </c:pt>
                <c:pt idx="205">
                  <c:v>17.083333333333332</c:v>
                </c:pt>
                <c:pt idx="206">
                  <c:v>17.166666666666668</c:v>
                </c:pt>
                <c:pt idx="207">
                  <c:v>17.25</c:v>
                </c:pt>
                <c:pt idx="208">
                  <c:v>17.333333333333332</c:v>
                </c:pt>
                <c:pt idx="209">
                  <c:v>17.416666666666668</c:v>
                </c:pt>
                <c:pt idx="210">
                  <c:v>17.5</c:v>
                </c:pt>
                <c:pt idx="211">
                  <c:v>17.583333333333332</c:v>
                </c:pt>
                <c:pt idx="212">
                  <c:v>17.666666666666668</c:v>
                </c:pt>
                <c:pt idx="213">
                  <c:v>17.75</c:v>
                </c:pt>
                <c:pt idx="214">
                  <c:v>17.833333333333332</c:v>
                </c:pt>
                <c:pt idx="215">
                  <c:v>17.916666666666668</c:v>
                </c:pt>
                <c:pt idx="216">
                  <c:v>18</c:v>
                </c:pt>
                <c:pt idx="217">
                  <c:v>18.083333333333332</c:v>
                </c:pt>
                <c:pt idx="218">
                  <c:v>18.166666666666668</c:v>
                </c:pt>
                <c:pt idx="219">
                  <c:v>18.25</c:v>
                </c:pt>
                <c:pt idx="220">
                  <c:v>18.333333333333332</c:v>
                </c:pt>
                <c:pt idx="221">
                  <c:v>18.416666666666668</c:v>
                </c:pt>
                <c:pt idx="222">
                  <c:v>18.5</c:v>
                </c:pt>
                <c:pt idx="223">
                  <c:v>18.583333333333332</c:v>
                </c:pt>
                <c:pt idx="224">
                  <c:v>18.666666666666668</c:v>
                </c:pt>
                <c:pt idx="225">
                  <c:v>18.75</c:v>
                </c:pt>
                <c:pt idx="226">
                  <c:v>18.833333333333332</c:v>
                </c:pt>
                <c:pt idx="227">
                  <c:v>18.916666666666668</c:v>
                </c:pt>
                <c:pt idx="228">
                  <c:v>19</c:v>
                </c:pt>
                <c:pt idx="229">
                  <c:v>19.083333333333332</c:v>
                </c:pt>
                <c:pt idx="230">
                  <c:v>19.166666666666668</c:v>
                </c:pt>
                <c:pt idx="231">
                  <c:v>19.25</c:v>
                </c:pt>
                <c:pt idx="232">
                  <c:v>19.333333333333332</c:v>
                </c:pt>
                <c:pt idx="233">
                  <c:v>19.416666666666668</c:v>
                </c:pt>
                <c:pt idx="234">
                  <c:v>19.5</c:v>
                </c:pt>
                <c:pt idx="235">
                  <c:v>19.583333333333332</c:v>
                </c:pt>
                <c:pt idx="236">
                  <c:v>19.666666666666668</c:v>
                </c:pt>
                <c:pt idx="237">
                  <c:v>19.75</c:v>
                </c:pt>
                <c:pt idx="238">
                  <c:v>19.833333333333332</c:v>
                </c:pt>
                <c:pt idx="239">
                  <c:v>19.916666666666668</c:v>
                </c:pt>
                <c:pt idx="240">
                  <c:v>20</c:v>
                </c:pt>
              </c:numCache>
            </c:numRef>
          </c:cat>
          <c:val>
            <c:numRef>
              <c:f>'8.4%'!$L$5:$L$245</c:f>
              <c:numCache>
                <c:formatCode>0.0</c:formatCode>
                <c:ptCount val="241"/>
                <c:pt idx="0">
                  <c:v>100</c:v>
                </c:pt>
                <c:pt idx="1">
                  <c:v>101.26136555884464</c:v>
                </c:pt>
                <c:pt idx="2">
                  <c:v>102.329181677801</c:v>
                </c:pt>
                <c:pt idx="3">
                  <c:v>102.15128071511593</c:v>
                </c:pt>
                <c:pt idx="4">
                  <c:v>102.46699285436166</c:v>
                </c:pt>
                <c:pt idx="5">
                  <c:v>104.02817512836725</c:v>
                </c:pt>
                <c:pt idx="6">
                  <c:v>104.10261976865122</c:v>
                </c:pt>
                <c:pt idx="7">
                  <c:v>105.5020717487544</c:v>
                </c:pt>
                <c:pt idx="8">
                  <c:v>107.40885764297923</c:v>
                </c:pt>
                <c:pt idx="9">
                  <c:v>110.80446756596461</c:v>
                </c:pt>
                <c:pt idx="10">
                  <c:v>114.99565565039879</c:v>
                </c:pt>
                <c:pt idx="11">
                  <c:v>117.19201289129845</c:v>
                </c:pt>
                <c:pt idx="12">
                  <c:v>117.51439005680511</c:v>
                </c:pt>
                <c:pt idx="13">
                  <c:v>115.24640695942097</c:v>
                </c:pt>
                <c:pt idx="14">
                  <c:v>112.89239298549248</c:v>
                </c:pt>
                <c:pt idx="15">
                  <c:v>111.02488231313059</c:v>
                </c:pt>
                <c:pt idx="16">
                  <c:v>111.36958990542699</c:v>
                </c:pt>
                <c:pt idx="17">
                  <c:v>110.2711646299357</c:v>
                </c:pt>
                <c:pt idx="18">
                  <c:v>109.57935789338408</c:v>
                </c:pt>
                <c:pt idx="19">
                  <c:v>109.81635542150633</c:v>
                </c:pt>
                <c:pt idx="20">
                  <c:v>111.90797950891012</c:v>
                </c:pt>
                <c:pt idx="21">
                  <c:v>115.1322551908785</c:v>
                </c:pt>
                <c:pt idx="22">
                  <c:v>114.69029208285683</c:v>
                </c:pt>
                <c:pt idx="23">
                  <c:v>115.17198671267032</c:v>
                </c:pt>
                <c:pt idx="24">
                  <c:v>111.77271715444073</c:v>
                </c:pt>
                <c:pt idx="25">
                  <c:v>110.71673803096073</c:v>
                </c:pt>
                <c:pt idx="26">
                  <c:v>109.09414407367879</c:v>
                </c:pt>
                <c:pt idx="27">
                  <c:v>111.62064736314903</c:v>
                </c:pt>
                <c:pt idx="28">
                  <c:v>113.34372014630189</c:v>
                </c:pt>
                <c:pt idx="29">
                  <c:v>115.31719637245014</c:v>
                </c:pt>
                <c:pt idx="30">
                  <c:v>115.91141647617827</c:v>
                </c:pt>
                <c:pt idx="31">
                  <c:v>115.13124075603918</c:v>
                </c:pt>
                <c:pt idx="32">
                  <c:v>113.17884583873743</c:v>
                </c:pt>
                <c:pt idx="33">
                  <c:v>110.99866961978357</c:v>
                </c:pt>
                <c:pt idx="34">
                  <c:v>110.98018429505368</c:v>
                </c:pt>
                <c:pt idx="35">
                  <c:v>111.76827746042014</c:v>
                </c:pt>
                <c:pt idx="36">
                  <c:v>113.3619601061976</c:v>
                </c:pt>
                <c:pt idx="37">
                  <c:v>113.82816567155406</c:v>
                </c:pt>
                <c:pt idx="38">
                  <c:v>112.6092006213122</c:v>
                </c:pt>
                <c:pt idx="39">
                  <c:v>111.31354129301587</c:v>
                </c:pt>
                <c:pt idx="40">
                  <c:v>112.80214707217894</c:v>
                </c:pt>
                <c:pt idx="41">
                  <c:v>113.6107266014638</c:v>
                </c:pt>
                <c:pt idx="42">
                  <c:v>114.5928636784154</c:v>
                </c:pt>
                <c:pt idx="43">
                  <c:v>110.09481114026586</c:v>
                </c:pt>
                <c:pt idx="44">
                  <c:v>109.16522855304125</c:v>
                </c:pt>
                <c:pt idx="45">
                  <c:v>110.00252772164528</c:v>
                </c:pt>
                <c:pt idx="46">
                  <c:v>114.76324647353502</c:v>
                </c:pt>
                <c:pt idx="47">
                  <c:v>115.96972834093711</c:v>
                </c:pt>
                <c:pt idx="48">
                  <c:v>116.30910960804083</c:v>
                </c:pt>
                <c:pt idx="49">
                  <c:v>117.26065079961376</c:v>
                </c:pt>
                <c:pt idx="50">
                  <c:v>119.04970128315655</c:v>
                </c:pt>
                <c:pt idx="51">
                  <c:v>120.11275141619905</c:v>
                </c:pt>
                <c:pt idx="52">
                  <c:v>120.44878840250648</c:v>
                </c:pt>
                <c:pt idx="53">
                  <c:v>123.33503269659535</c:v>
                </c:pt>
                <c:pt idx="54">
                  <c:v>126.24690456230827</c:v>
                </c:pt>
                <c:pt idx="55">
                  <c:v>127.99547545274433</c:v>
                </c:pt>
                <c:pt idx="56">
                  <c:v>127.29625442099145</c:v>
                </c:pt>
                <c:pt idx="57">
                  <c:v>125.57237744353365</c:v>
                </c:pt>
                <c:pt idx="58">
                  <c:v>120.74861890855918</c:v>
                </c:pt>
                <c:pt idx="59">
                  <c:v>118.59357736717649</c:v>
                </c:pt>
                <c:pt idx="60">
                  <c:v>116.37862329093005</c:v>
                </c:pt>
                <c:pt idx="61">
                  <c:v>116.75819234914863</c:v>
                </c:pt>
                <c:pt idx="62">
                  <c:v>114.69186678702937</c:v>
                </c:pt>
                <c:pt idx="63">
                  <c:v>112.37483066095466</c:v>
                </c:pt>
                <c:pt idx="64">
                  <c:v>111.23237205305136</c:v>
                </c:pt>
                <c:pt idx="65">
                  <c:v>112.76037578397948</c:v>
                </c:pt>
                <c:pt idx="66">
                  <c:v>113.31746764047573</c:v>
                </c:pt>
                <c:pt idx="67">
                  <c:v>114.64204818970613</c:v>
                </c:pt>
                <c:pt idx="68">
                  <c:v>111.35158287172858</c:v>
                </c:pt>
                <c:pt idx="69">
                  <c:v>109.47971800533024</c:v>
                </c:pt>
                <c:pt idx="70">
                  <c:v>106.70492937767318</c:v>
                </c:pt>
                <c:pt idx="71">
                  <c:v>109.7138978184751</c:v>
                </c:pt>
                <c:pt idx="72">
                  <c:v>114.24300481263596</c:v>
                </c:pt>
                <c:pt idx="73">
                  <c:v>117.75253016177015</c:v>
                </c:pt>
                <c:pt idx="74">
                  <c:v>118.21311436257868</c:v>
                </c:pt>
                <c:pt idx="75">
                  <c:v>118.14265697843075</c:v>
                </c:pt>
                <c:pt idx="76">
                  <c:v>117.91669664377643</c:v>
                </c:pt>
                <c:pt idx="77">
                  <c:v>119.97553998998825</c:v>
                </c:pt>
                <c:pt idx="78">
                  <c:v>120.19058512320929</c:v>
                </c:pt>
                <c:pt idx="79">
                  <c:v>121.2700378325742</c:v>
                </c:pt>
                <c:pt idx="80">
                  <c:v>118.84553729149458</c:v>
                </c:pt>
                <c:pt idx="81">
                  <c:v>117.13203854948652</c:v>
                </c:pt>
                <c:pt idx="82">
                  <c:v>112.00792745944275</c:v>
                </c:pt>
                <c:pt idx="83">
                  <c:v>108.13095025669116</c:v>
                </c:pt>
                <c:pt idx="84">
                  <c:v>107.36536818408356</c:v>
                </c:pt>
                <c:pt idx="85">
                  <c:v>112.77778408787626</c:v>
                </c:pt>
                <c:pt idx="86">
                  <c:v>118.1594700497709</c:v>
                </c:pt>
                <c:pt idx="87">
                  <c:v>122.41171408481959</c:v>
                </c:pt>
                <c:pt idx="88">
                  <c:v>124.61972803172898</c:v>
                </c:pt>
                <c:pt idx="89">
                  <c:v>126.53061288895509</c:v>
                </c:pt>
                <c:pt idx="90">
                  <c:v>129.56068193121277</c:v>
                </c:pt>
                <c:pt idx="91">
                  <c:v>132.94368960566737</c:v>
                </c:pt>
                <c:pt idx="92">
                  <c:v>131.74050727844147</c:v>
                </c:pt>
                <c:pt idx="93">
                  <c:v>131.2320539148607</c:v>
                </c:pt>
                <c:pt idx="94">
                  <c:v>134.25197056430093</c:v>
                </c:pt>
                <c:pt idx="95">
                  <c:v>139.39199175909266</c:v>
                </c:pt>
                <c:pt idx="96">
                  <c:v>143.94171094852615</c:v>
                </c:pt>
                <c:pt idx="97">
                  <c:v>145.51618019615526</c:v>
                </c:pt>
                <c:pt idx="98">
                  <c:v>149.12328696723449</c:v>
                </c:pt>
                <c:pt idx="99">
                  <c:v>145.82206408862217</c:v>
                </c:pt>
                <c:pt idx="100">
                  <c:v>142.5217184926006</c:v>
                </c:pt>
                <c:pt idx="101">
                  <c:v>135.29024213163399</c:v>
                </c:pt>
                <c:pt idx="102">
                  <c:v>132.47365798238809</c:v>
                </c:pt>
                <c:pt idx="103">
                  <c:v>130.62503095528635</c:v>
                </c:pt>
                <c:pt idx="104">
                  <c:v>131.23712306774442</c:v>
                </c:pt>
                <c:pt idx="105">
                  <c:v>135.2717809305266</c:v>
                </c:pt>
                <c:pt idx="106">
                  <c:v>138.5043073663085</c:v>
                </c:pt>
                <c:pt idx="107">
                  <c:v>145.55031750541508</c:v>
                </c:pt>
                <c:pt idx="108">
                  <c:v>150.80831487303433</c:v>
                </c:pt>
                <c:pt idx="109">
                  <c:v>156.53370736545494</c:v>
                </c:pt>
                <c:pt idx="110">
                  <c:v>156.78781058228196</c:v>
                </c:pt>
                <c:pt idx="111">
                  <c:v>154.42852369182259</c:v>
                </c:pt>
                <c:pt idx="112">
                  <c:v>153.72296855674534</c:v>
                </c:pt>
                <c:pt idx="113">
                  <c:v>159.2589150483451</c:v>
                </c:pt>
                <c:pt idx="114">
                  <c:v>166.34904453254973</c:v>
                </c:pt>
                <c:pt idx="115">
                  <c:v>167.40420349892349</c:v>
                </c:pt>
                <c:pt idx="116">
                  <c:v>166.31080114759499</c:v>
                </c:pt>
                <c:pt idx="117">
                  <c:v>164.04432558700685</c:v>
                </c:pt>
                <c:pt idx="118">
                  <c:v>164.15870682594544</c:v>
                </c:pt>
                <c:pt idx="119">
                  <c:v>163.32507678782315</c:v>
                </c:pt>
                <c:pt idx="120">
                  <c:v>162.25681659194336</c:v>
                </c:pt>
                <c:pt idx="121">
                  <c:v>162.1380264064905</c:v>
                </c:pt>
                <c:pt idx="122">
                  <c:v>164.25582207051377</c:v>
                </c:pt>
                <c:pt idx="123">
                  <c:v>164.82073690385351</c:v>
                </c:pt>
                <c:pt idx="124">
                  <c:v>163.40797709062147</c:v>
                </c:pt>
                <c:pt idx="125">
                  <c:v>163.04578739787738</c:v>
                </c:pt>
                <c:pt idx="126">
                  <c:v>163.27831567811089</c:v>
                </c:pt>
                <c:pt idx="127">
                  <c:v>163.96050290643939</c:v>
                </c:pt>
                <c:pt idx="128">
                  <c:v>164.04922733158293</c:v>
                </c:pt>
                <c:pt idx="129">
                  <c:v>162.83551655738361</c:v>
                </c:pt>
                <c:pt idx="130">
                  <c:v>162.29097517164072</c:v>
                </c:pt>
                <c:pt idx="131">
                  <c:v>159.89111215829638</c:v>
                </c:pt>
                <c:pt idx="132">
                  <c:v>163.23498258033436</c:v>
                </c:pt>
                <c:pt idx="133">
                  <c:v>167.11433184993808</c:v>
                </c:pt>
                <c:pt idx="134">
                  <c:v>175.35285325159509</c:v>
                </c:pt>
                <c:pt idx="135">
                  <c:v>176.00241045950955</c:v>
                </c:pt>
                <c:pt idx="136">
                  <c:v>175.28172802566445</c:v>
                </c:pt>
                <c:pt idx="137">
                  <c:v>169.55493779873765</c:v>
                </c:pt>
                <c:pt idx="138">
                  <c:v>170.62891531184221</c:v>
                </c:pt>
                <c:pt idx="139">
                  <c:v>172.24634671779668</c:v>
                </c:pt>
                <c:pt idx="140">
                  <c:v>177.91931896690812</c:v>
                </c:pt>
                <c:pt idx="141">
                  <c:v>182.22601356247981</c:v>
                </c:pt>
                <c:pt idx="142">
                  <c:v>186.83066507797471</c:v>
                </c:pt>
                <c:pt idx="143">
                  <c:v>191.99745500898956</c:v>
                </c:pt>
                <c:pt idx="144">
                  <c:v>197.00424455262464</c:v>
                </c:pt>
                <c:pt idx="145">
                  <c:v>203.38015947343152</c:v>
                </c:pt>
                <c:pt idx="146">
                  <c:v>200.88689932688564</c:v>
                </c:pt>
                <c:pt idx="147">
                  <c:v>205.03859086262923</c:v>
                </c:pt>
                <c:pt idx="148">
                  <c:v>213.14876756842253</c:v>
                </c:pt>
                <c:pt idx="149">
                  <c:v>221.15325096569222</c:v>
                </c:pt>
                <c:pt idx="150">
                  <c:v>218.77139850446127</c:v>
                </c:pt>
                <c:pt idx="151">
                  <c:v>219.12777966522637</c:v>
                </c:pt>
                <c:pt idx="152">
                  <c:v>219.38637688790703</c:v>
                </c:pt>
                <c:pt idx="153">
                  <c:v>221.59928989934528</c:v>
                </c:pt>
                <c:pt idx="154">
                  <c:v>221.30723964942379</c:v>
                </c:pt>
                <c:pt idx="155">
                  <c:v>219.21037412184586</c:v>
                </c:pt>
                <c:pt idx="156">
                  <c:v>218.55048314312521</c:v>
                </c:pt>
                <c:pt idx="157">
                  <c:v>223.02499156810734</c:v>
                </c:pt>
                <c:pt idx="158">
                  <c:v>231.28380481124023</c:v>
                </c:pt>
                <c:pt idx="159">
                  <c:v>242.20630610688349</c:v>
                </c:pt>
                <c:pt idx="160">
                  <c:v>248.54245716336186</c:v>
                </c:pt>
                <c:pt idx="161">
                  <c:v>252.82154933324694</c:v>
                </c:pt>
                <c:pt idx="162">
                  <c:v>259.21226711715906</c:v>
                </c:pt>
                <c:pt idx="163">
                  <c:v>261.27610582589102</c:v>
                </c:pt>
                <c:pt idx="164">
                  <c:v>257.29449985878165</c:v>
                </c:pt>
                <c:pt idx="165">
                  <c:v>256.50646966820483</c:v>
                </c:pt>
                <c:pt idx="166">
                  <c:v>254.72238262183478</c:v>
                </c:pt>
                <c:pt idx="167">
                  <c:v>253.68489012953211</c:v>
                </c:pt>
                <c:pt idx="168">
                  <c:v>257.77841965813542</c:v>
                </c:pt>
                <c:pt idx="169">
                  <c:v>267.38653506168504</c:v>
                </c:pt>
                <c:pt idx="170">
                  <c:v>276.7034909060477</c:v>
                </c:pt>
                <c:pt idx="171">
                  <c:v>282.69148199258871</c:v>
                </c:pt>
                <c:pt idx="172">
                  <c:v>289.50501596759074</c:v>
                </c:pt>
                <c:pt idx="173">
                  <c:v>293.35732110343804</c:v>
                </c:pt>
                <c:pt idx="174">
                  <c:v>299.04136211328893</c:v>
                </c:pt>
                <c:pt idx="175">
                  <c:v>299.26102862235604</c:v>
                </c:pt>
                <c:pt idx="176">
                  <c:v>299.97171662593638</c:v>
                </c:pt>
                <c:pt idx="177">
                  <c:v>299.24416437986156</c:v>
                </c:pt>
                <c:pt idx="178">
                  <c:v>301.57921327535973</c:v>
                </c:pt>
                <c:pt idx="179">
                  <c:v>309.02477401158779</c:v>
                </c:pt>
                <c:pt idx="180">
                  <c:v>311.20457917993116</c:v>
                </c:pt>
                <c:pt idx="181">
                  <c:v>317.05199245785616</c:v>
                </c:pt>
                <c:pt idx="182">
                  <c:v>318.01546434415712</c:v>
                </c:pt>
                <c:pt idx="183">
                  <c:v>316.94181986748856</c:v>
                </c:pt>
                <c:pt idx="184">
                  <c:v>312.93228484897537</c:v>
                </c:pt>
                <c:pt idx="185">
                  <c:v>308.97214402157613</c:v>
                </c:pt>
                <c:pt idx="186">
                  <c:v>311.75092042571862</c:v>
                </c:pt>
                <c:pt idx="187">
                  <c:v>310.65663755019023</c:v>
                </c:pt>
                <c:pt idx="188">
                  <c:v>307.93982101478872</c:v>
                </c:pt>
                <c:pt idx="189">
                  <c:v>304.73477579758338</c:v>
                </c:pt>
                <c:pt idx="190">
                  <c:v>304.78819102171383</c:v>
                </c:pt>
                <c:pt idx="191">
                  <c:v>308.74708554462967</c:v>
                </c:pt>
                <c:pt idx="192">
                  <c:v>308.23186573991387</c:v>
                </c:pt>
                <c:pt idx="193">
                  <c:v>305.83307752553679</c:v>
                </c:pt>
                <c:pt idx="194">
                  <c:v>296.10494371296221</c:v>
                </c:pt>
                <c:pt idx="195">
                  <c:v>296.36344311643256</c:v>
                </c:pt>
                <c:pt idx="196">
                  <c:v>302.22943074697002</c:v>
                </c:pt>
                <c:pt idx="197">
                  <c:v>307.27058054403835</c:v>
                </c:pt>
                <c:pt idx="198">
                  <c:v>306.08207423485186</c:v>
                </c:pt>
                <c:pt idx="199">
                  <c:v>311.98619869623371</c:v>
                </c:pt>
                <c:pt idx="200">
                  <c:v>316.65706380296319</c:v>
                </c:pt>
                <c:pt idx="201">
                  <c:v>318.79553363821572</c:v>
                </c:pt>
                <c:pt idx="202">
                  <c:v>312.57893024203315</c:v>
                </c:pt>
                <c:pt idx="203">
                  <c:v>291.27029653493787</c:v>
                </c:pt>
                <c:pt idx="204">
                  <c:v>282.91809967721559</c:v>
                </c:pt>
                <c:pt idx="205">
                  <c:v>283.28726308820893</c:v>
                </c:pt>
                <c:pt idx="206">
                  <c:v>294.52467512390166</c:v>
                </c:pt>
                <c:pt idx="207">
                  <c:v>299.17305921496325</c:v>
                </c:pt>
                <c:pt idx="208">
                  <c:v>304.58562135868681</c:v>
                </c:pt>
                <c:pt idx="209">
                  <c:v>308.5224624420851</c:v>
                </c:pt>
                <c:pt idx="210">
                  <c:v>318.99351200644696</c:v>
                </c:pt>
                <c:pt idx="211">
                  <c:v>327.27263130052921</c:v>
                </c:pt>
                <c:pt idx="212">
                  <c:v>329.99361024220497</c:v>
                </c:pt>
                <c:pt idx="213">
                  <c:v>322.80703838370459</c:v>
                </c:pt>
                <c:pt idx="214">
                  <c:v>312.67393406920587</c:v>
                </c:pt>
                <c:pt idx="215">
                  <c:v>307.39546812048457</c:v>
                </c:pt>
                <c:pt idx="216">
                  <c:v>307.62761869099489</c:v>
                </c:pt>
                <c:pt idx="217">
                  <c:v>303.75623135584931</c:v>
                </c:pt>
                <c:pt idx="218">
                  <c:v>299.32445863625054</c:v>
                </c:pt>
                <c:pt idx="219">
                  <c:v>292.33086639596706</c:v>
                </c:pt>
                <c:pt idx="220">
                  <c:v>293.53745575388746</c:v>
                </c:pt>
                <c:pt idx="221">
                  <c:v>290.91938043510561</c:v>
                </c:pt>
                <c:pt idx="222">
                  <c:v>287.77693191937715</c:v>
                </c:pt>
                <c:pt idx="223">
                  <c:v>285.21295652485503</c:v>
                </c:pt>
                <c:pt idx="224">
                  <c:v>288.37734106076147</c:v>
                </c:pt>
                <c:pt idx="225">
                  <c:v>293.24465948950854</c:v>
                </c:pt>
                <c:pt idx="226">
                  <c:v>294.18944830017551</c:v>
                </c:pt>
                <c:pt idx="227">
                  <c:v>292.7154553919467</c:v>
                </c:pt>
                <c:pt idx="228">
                  <c:v>296.4355584313422</c:v>
                </c:pt>
                <c:pt idx="229">
                  <c:v>304.56535601390169</c:v>
                </c:pt>
                <c:pt idx="230">
                  <c:v>315.14693329618541</c:v>
                </c:pt>
                <c:pt idx="231">
                  <c:v>326.24668716473337</c:v>
                </c:pt>
                <c:pt idx="232">
                  <c:v>332.03690716765715</c:v>
                </c:pt>
                <c:pt idx="233">
                  <c:v>339.85429734672579</c:v>
                </c:pt>
                <c:pt idx="234">
                  <c:v>336.71424275484861</c:v>
                </c:pt>
                <c:pt idx="235">
                  <c:v>335.72041855379342</c:v>
                </c:pt>
                <c:pt idx="236">
                  <c:v>335.54184859057148</c:v>
                </c:pt>
                <c:pt idx="237">
                  <c:v>337.79038288250842</c:v>
                </c:pt>
                <c:pt idx="238">
                  <c:v>337.00783740291399</c:v>
                </c:pt>
                <c:pt idx="239">
                  <c:v>333.07657218183306</c:v>
                </c:pt>
                <c:pt idx="240">
                  <c:v>333.03535062630635</c:v>
                </c:pt>
              </c:numCache>
            </c:numRef>
          </c:val>
          <c:smooth val="1"/>
          <c:extLst>
            <c:ext xmlns:c16="http://schemas.microsoft.com/office/drawing/2014/chart" uri="{C3380CC4-5D6E-409C-BE32-E72D297353CC}">
              <c16:uniqueId val="{00000002-79A3-E541-BA02-54779D011314}"/>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majorGridlines>
          <c:spPr>
            <a:ln w="9525">
              <a:solidFill>
                <a:srgbClr val="AB853F">
                  <a:alpha val="10045"/>
                </a:srgbClr>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72768"/>
        <c:crosses val="autoZero"/>
        <c:auto val="1"/>
        <c:lblAlgn val="ctr"/>
        <c:lblOffset val="100"/>
        <c:tickLblSkip val="60"/>
        <c:noMultiLvlLbl val="0"/>
      </c:catAx>
      <c:valAx>
        <c:axId val="48672768"/>
        <c:scaling>
          <c:orientation val="minMax"/>
          <c:max val="750"/>
          <c:min val="100"/>
        </c:scaling>
        <c:delete val="0"/>
        <c:axPos val="l"/>
        <c:majorGridlines>
          <c:spPr>
            <a:ln w="9525">
              <a:solidFill>
                <a:srgbClr val="CCCCCC"/>
              </a:solidFill>
              <a:prstDash val="dash"/>
            </a:ln>
          </c:spPr>
        </c:majorGridlines>
        <c:numFmt formatCode="0" sourceLinked="0"/>
        <c:majorTickMark val="none"/>
        <c:minorTickMark val="none"/>
        <c:tickLblPos val="nextTo"/>
        <c:txPr>
          <a:bodyPr/>
          <a:lstStyle/>
          <a:p>
            <a:pPr>
              <a:defRPr sz="800" b="0" i="0">
                <a:latin typeface="Jost Light" pitchFamily="2" charset="77"/>
                <a:ea typeface="Jost Light" pitchFamily="2" charset="77"/>
              </a:defRPr>
            </a:pPr>
            <a:endParaRPr lang="fr-FR"/>
          </a:p>
        </c:txPr>
        <c:crossAx val="48650112"/>
        <c:crosses val="autoZero"/>
        <c:crossBetween val="between"/>
        <c:majorUnit val="150"/>
      </c:valAx>
    </c:plotArea>
    <c:plotVisOnly val="1"/>
    <c:dispBlanksAs val="zero"/>
    <c:showDLblsOverMax val="1"/>
  </c:chart>
  <c:spPr>
    <a:solidFill>
      <a:srgbClr val="FCF9EF"/>
    </a:solidFill>
    <a:ln w="9525">
      <a:noFill/>
      <a:prstDash val="solid"/>
    </a:ln>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29703529141209E-2"/>
          <c:y val="3.1218316593060416E-2"/>
          <c:w val="0.90403635365646873"/>
          <c:h val="0.80925340401440293"/>
        </c:manualLayout>
      </c:layout>
      <c:lineChart>
        <c:grouping val="standard"/>
        <c:varyColors val="0"/>
        <c:ser>
          <c:idx val="0"/>
          <c:order val="0"/>
          <c:tx>
            <c:strRef>
              <c:f>Feuil1!$K$3</c:f>
              <c:strCache>
                <c:ptCount val="1"/>
                <c:pt idx="0">
                  <c:v>Cac Small NR</c:v>
                </c:pt>
              </c:strCache>
            </c:strRef>
          </c:tx>
          <c:spPr>
            <a:ln w="12700" cap="rnd">
              <a:solidFill>
                <a:srgbClr val="144629"/>
              </a:solidFill>
              <a:round/>
            </a:ln>
            <a:effectLst/>
          </c:spPr>
          <c:marker>
            <c:symbol val="none"/>
          </c:marker>
          <c:cat>
            <c:numRef>
              <c:f>Feuil1!$J$4:$J$302</c:f>
              <c:numCache>
                <c:formatCode>m/d/yy</c:formatCode>
                <c:ptCount val="299"/>
                <c:pt idx="0">
                  <c:v>46285</c:v>
                </c:pt>
                <c:pt idx="1">
                  <c:v>46278</c:v>
                </c:pt>
                <c:pt idx="2">
                  <c:v>46271</c:v>
                </c:pt>
                <c:pt idx="3">
                  <c:v>46264</c:v>
                </c:pt>
                <c:pt idx="4">
                  <c:v>46257</c:v>
                </c:pt>
                <c:pt idx="5">
                  <c:v>46250</c:v>
                </c:pt>
                <c:pt idx="6">
                  <c:v>46243</c:v>
                </c:pt>
                <c:pt idx="7">
                  <c:v>46236</c:v>
                </c:pt>
                <c:pt idx="8">
                  <c:v>46229</c:v>
                </c:pt>
                <c:pt idx="9">
                  <c:v>46222</c:v>
                </c:pt>
                <c:pt idx="10">
                  <c:v>46215</c:v>
                </c:pt>
                <c:pt idx="11">
                  <c:v>46208</c:v>
                </c:pt>
                <c:pt idx="12">
                  <c:v>46201</c:v>
                </c:pt>
                <c:pt idx="13">
                  <c:v>46194</c:v>
                </c:pt>
                <c:pt idx="14">
                  <c:v>46187</c:v>
                </c:pt>
                <c:pt idx="15">
                  <c:v>46180</c:v>
                </c:pt>
                <c:pt idx="16">
                  <c:v>46173</c:v>
                </c:pt>
                <c:pt idx="17">
                  <c:v>46166</c:v>
                </c:pt>
                <c:pt idx="18">
                  <c:v>46159</c:v>
                </c:pt>
                <c:pt idx="19">
                  <c:v>46152</c:v>
                </c:pt>
                <c:pt idx="20">
                  <c:v>46145</c:v>
                </c:pt>
                <c:pt idx="21">
                  <c:v>46138</c:v>
                </c:pt>
                <c:pt idx="22">
                  <c:v>46131</c:v>
                </c:pt>
                <c:pt idx="23">
                  <c:v>46124</c:v>
                </c:pt>
                <c:pt idx="24">
                  <c:v>46117</c:v>
                </c:pt>
                <c:pt idx="25">
                  <c:v>46110</c:v>
                </c:pt>
                <c:pt idx="26">
                  <c:v>46103</c:v>
                </c:pt>
                <c:pt idx="27">
                  <c:v>46096</c:v>
                </c:pt>
                <c:pt idx="28">
                  <c:v>46089</c:v>
                </c:pt>
                <c:pt idx="29">
                  <c:v>46082</c:v>
                </c:pt>
                <c:pt idx="30">
                  <c:v>46075</c:v>
                </c:pt>
                <c:pt idx="31">
                  <c:v>46068</c:v>
                </c:pt>
                <c:pt idx="32">
                  <c:v>46061</c:v>
                </c:pt>
                <c:pt idx="33">
                  <c:v>46054</c:v>
                </c:pt>
                <c:pt idx="34">
                  <c:v>46047</c:v>
                </c:pt>
                <c:pt idx="35">
                  <c:v>46040</c:v>
                </c:pt>
                <c:pt idx="36">
                  <c:v>46033</c:v>
                </c:pt>
                <c:pt idx="37">
                  <c:v>46026</c:v>
                </c:pt>
                <c:pt idx="38">
                  <c:v>46019</c:v>
                </c:pt>
                <c:pt idx="39">
                  <c:v>46012</c:v>
                </c:pt>
                <c:pt idx="40">
                  <c:v>46005</c:v>
                </c:pt>
                <c:pt idx="41">
                  <c:v>45998</c:v>
                </c:pt>
                <c:pt idx="42">
                  <c:v>45991</c:v>
                </c:pt>
                <c:pt idx="43">
                  <c:v>45984</c:v>
                </c:pt>
                <c:pt idx="44">
                  <c:v>45977</c:v>
                </c:pt>
                <c:pt idx="45">
                  <c:v>45970</c:v>
                </c:pt>
                <c:pt idx="46">
                  <c:v>45963</c:v>
                </c:pt>
                <c:pt idx="47">
                  <c:v>45956</c:v>
                </c:pt>
                <c:pt idx="48">
                  <c:v>45949</c:v>
                </c:pt>
                <c:pt idx="49">
                  <c:v>45942</c:v>
                </c:pt>
                <c:pt idx="50">
                  <c:v>45935</c:v>
                </c:pt>
                <c:pt idx="51">
                  <c:v>45928</c:v>
                </c:pt>
                <c:pt idx="52">
                  <c:v>45921</c:v>
                </c:pt>
                <c:pt idx="53">
                  <c:v>45914</c:v>
                </c:pt>
                <c:pt idx="54">
                  <c:v>45907</c:v>
                </c:pt>
                <c:pt idx="55">
                  <c:v>45900</c:v>
                </c:pt>
                <c:pt idx="56">
                  <c:v>45893</c:v>
                </c:pt>
                <c:pt idx="57">
                  <c:v>45886</c:v>
                </c:pt>
                <c:pt idx="58">
                  <c:v>45879</c:v>
                </c:pt>
                <c:pt idx="59">
                  <c:v>45872</c:v>
                </c:pt>
                <c:pt idx="60">
                  <c:v>45865</c:v>
                </c:pt>
                <c:pt idx="61">
                  <c:v>45858</c:v>
                </c:pt>
                <c:pt idx="62">
                  <c:v>45851</c:v>
                </c:pt>
                <c:pt idx="63">
                  <c:v>45844</c:v>
                </c:pt>
                <c:pt idx="64">
                  <c:v>45837</c:v>
                </c:pt>
                <c:pt idx="65">
                  <c:v>45830</c:v>
                </c:pt>
                <c:pt idx="66">
                  <c:v>45823</c:v>
                </c:pt>
                <c:pt idx="67">
                  <c:v>45816</c:v>
                </c:pt>
                <c:pt idx="68">
                  <c:v>45809</c:v>
                </c:pt>
                <c:pt idx="69">
                  <c:v>45802</c:v>
                </c:pt>
                <c:pt idx="70">
                  <c:v>45795</c:v>
                </c:pt>
                <c:pt idx="71">
                  <c:v>45788</c:v>
                </c:pt>
                <c:pt idx="72">
                  <c:v>45781</c:v>
                </c:pt>
                <c:pt idx="73">
                  <c:v>45774</c:v>
                </c:pt>
                <c:pt idx="74">
                  <c:v>45767</c:v>
                </c:pt>
                <c:pt idx="75">
                  <c:v>45760</c:v>
                </c:pt>
                <c:pt idx="76">
                  <c:v>45753</c:v>
                </c:pt>
                <c:pt idx="77">
                  <c:v>45746</c:v>
                </c:pt>
                <c:pt idx="78">
                  <c:v>45739</c:v>
                </c:pt>
                <c:pt idx="79">
                  <c:v>45732</c:v>
                </c:pt>
                <c:pt idx="80">
                  <c:v>45725</c:v>
                </c:pt>
                <c:pt idx="81">
                  <c:v>45718</c:v>
                </c:pt>
                <c:pt idx="82">
                  <c:v>45711</c:v>
                </c:pt>
                <c:pt idx="83">
                  <c:v>45704</c:v>
                </c:pt>
                <c:pt idx="84">
                  <c:v>45697</c:v>
                </c:pt>
                <c:pt idx="85">
                  <c:v>45690</c:v>
                </c:pt>
                <c:pt idx="86">
                  <c:v>45683</c:v>
                </c:pt>
                <c:pt idx="87">
                  <c:v>45676</c:v>
                </c:pt>
                <c:pt idx="88">
                  <c:v>45669</c:v>
                </c:pt>
                <c:pt idx="89">
                  <c:v>45662</c:v>
                </c:pt>
                <c:pt idx="90">
                  <c:v>45655</c:v>
                </c:pt>
                <c:pt idx="91">
                  <c:v>45648</c:v>
                </c:pt>
                <c:pt idx="92">
                  <c:v>45641</c:v>
                </c:pt>
                <c:pt idx="93">
                  <c:v>45634</c:v>
                </c:pt>
                <c:pt idx="94">
                  <c:v>45627</c:v>
                </c:pt>
                <c:pt idx="95">
                  <c:v>45620</c:v>
                </c:pt>
                <c:pt idx="96">
                  <c:v>45613</c:v>
                </c:pt>
                <c:pt idx="97">
                  <c:v>45606</c:v>
                </c:pt>
                <c:pt idx="98">
                  <c:v>45599</c:v>
                </c:pt>
                <c:pt idx="99">
                  <c:v>45592</c:v>
                </c:pt>
                <c:pt idx="100">
                  <c:v>45585</c:v>
                </c:pt>
                <c:pt idx="101">
                  <c:v>45578</c:v>
                </c:pt>
                <c:pt idx="102">
                  <c:v>45571</c:v>
                </c:pt>
                <c:pt idx="103">
                  <c:v>45564</c:v>
                </c:pt>
                <c:pt idx="104">
                  <c:v>45557</c:v>
                </c:pt>
                <c:pt idx="105">
                  <c:v>45550</c:v>
                </c:pt>
                <c:pt idx="106">
                  <c:v>45543</c:v>
                </c:pt>
                <c:pt idx="107">
                  <c:v>45536</c:v>
                </c:pt>
                <c:pt idx="108">
                  <c:v>45529</c:v>
                </c:pt>
                <c:pt idx="109">
                  <c:v>45522</c:v>
                </c:pt>
                <c:pt idx="110">
                  <c:v>45515</c:v>
                </c:pt>
                <c:pt idx="111">
                  <c:v>45508</c:v>
                </c:pt>
                <c:pt idx="112">
                  <c:v>45501</c:v>
                </c:pt>
                <c:pt idx="113">
                  <c:v>45494</c:v>
                </c:pt>
                <c:pt idx="114">
                  <c:v>45487</c:v>
                </c:pt>
                <c:pt idx="115">
                  <c:v>45480</c:v>
                </c:pt>
                <c:pt idx="116">
                  <c:v>45473</c:v>
                </c:pt>
                <c:pt idx="117">
                  <c:v>45466</c:v>
                </c:pt>
                <c:pt idx="118">
                  <c:v>45459</c:v>
                </c:pt>
                <c:pt idx="119">
                  <c:v>45452</c:v>
                </c:pt>
                <c:pt idx="120">
                  <c:v>45445</c:v>
                </c:pt>
                <c:pt idx="121">
                  <c:v>45438</c:v>
                </c:pt>
                <c:pt idx="122">
                  <c:v>45431</c:v>
                </c:pt>
                <c:pt idx="123">
                  <c:v>45424</c:v>
                </c:pt>
                <c:pt idx="124">
                  <c:v>45417</c:v>
                </c:pt>
                <c:pt idx="125">
                  <c:v>45410</c:v>
                </c:pt>
                <c:pt idx="126">
                  <c:v>45403</c:v>
                </c:pt>
                <c:pt idx="127">
                  <c:v>45396</c:v>
                </c:pt>
                <c:pt idx="128">
                  <c:v>45389</c:v>
                </c:pt>
                <c:pt idx="129">
                  <c:v>45382</c:v>
                </c:pt>
                <c:pt idx="130">
                  <c:v>45375</c:v>
                </c:pt>
                <c:pt idx="131">
                  <c:v>45368</c:v>
                </c:pt>
                <c:pt idx="132">
                  <c:v>45361</c:v>
                </c:pt>
                <c:pt idx="133">
                  <c:v>45354</c:v>
                </c:pt>
                <c:pt idx="134">
                  <c:v>45347</c:v>
                </c:pt>
                <c:pt idx="135">
                  <c:v>45340</c:v>
                </c:pt>
                <c:pt idx="136">
                  <c:v>45333</c:v>
                </c:pt>
                <c:pt idx="137">
                  <c:v>45326</c:v>
                </c:pt>
                <c:pt idx="138">
                  <c:v>45319</c:v>
                </c:pt>
                <c:pt idx="139">
                  <c:v>45312</c:v>
                </c:pt>
                <c:pt idx="140">
                  <c:v>45305</c:v>
                </c:pt>
                <c:pt idx="141">
                  <c:v>45298</c:v>
                </c:pt>
                <c:pt idx="142">
                  <c:v>45291</c:v>
                </c:pt>
                <c:pt idx="143">
                  <c:v>45284</c:v>
                </c:pt>
                <c:pt idx="144">
                  <c:v>45277</c:v>
                </c:pt>
                <c:pt idx="145">
                  <c:v>45270</c:v>
                </c:pt>
                <c:pt idx="146">
                  <c:v>45263</c:v>
                </c:pt>
                <c:pt idx="147">
                  <c:v>45256</c:v>
                </c:pt>
                <c:pt idx="148">
                  <c:v>45249</c:v>
                </c:pt>
                <c:pt idx="149">
                  <c:v>45242</c:v>
                </c:pt>
                <c:pt idx="150">
                  <c:v>45235</c:v>
                </c:pt>
                <c:pt idx="151">
                  <c:v>45228</c:v>
                </c:pt>
                <c:pt idx="152">
                  <c:v>45221</c:v>
                </c:pt>
                <c:pt idx="153">
                  <c:v>45214</c:v>
                </c:pt>
                <c:pt idx="154">
                  <c:v>45207</c:v>
                </c:pt>
                <c:pt idx="155">
                  <c:v>45200</c:v>
                </c:pt>
                <c:pt idx="156">
                  <c:v>45193</c:v>
                </c:pt>
                <c:pt idx="157">
                  <c:v>45186</c:v>
                </c:pt>
                <c:pt idx="158">
                  <c:v>45179</c:v>
                </c:pt>
                <c:pt idx="159">
                  <c:v>45172</c:v>
                </c:pt>
                <c:pt idx="160">
                  <c:v>45165</c:v>
                </c:pt>
                <c:pt idx="161">
                  <c:v>45158</c:v>
                </c:pt>
                <c:pt idx="162">
                  <c:v>45151</c:v>
                </c:pt>
                <c:pt idx="163">
                  <c:v>45144</c:v>
                </c:pt>
                <c:pt idx="164">
                  <c:v>45137</c:v>
                </c:pt>
                <c:pt idx="165">
                  <c:v>45130</c:v>
                </c:pt>
                <c:pt idx="166">
                  <c:v>45123</c:v>
                </c:pt>
                <c:pt idx="167">
                  <c:v>45116</c:v>
                </c:pt>
                <c:pt idx="168">
                  <c:v>45109</c:v>
                </c:pt>
                <c:pt idx="169">
                  <c:v>45102</c:v>
                </c:pt>
                <c:pt idx="170">
                  <c:v>45095</c:v>
                </c:pt>
                <c:pt idx="171">
                  <c:v>45088</c:v>
                </c:pt>
                <c:pt idx="172">
                  <c:v>45081</c:v>
                </c:pt>
                <c:pt idx="173">
                  <c:v>45074</c:v>
                </c:pt>
                <c:pt idx="174">
                  <c:v>45067</c:v>
                </c:pt>
                <c:pt idx="175">
                  <c:v>45060</c:v>
                </c:pt>
                <c:pt idx="176">
                  <c:v>45053</c:v>
                </c:pt>
                <c:pt idx="177">
                  <c:v>45046</c:v>
                </c:pt>
                <c:pt idx="178">
                  <c:v>45039</c:v>
                </c:pt>
                <c:pt idx="179">
                  <c:v>45032</c:v>
                </c:pt>
                <c:pt idx="180">
                  <c:v>45025</c:v>
                </c:pt>
                <c:pt idx="181">
                  <c:v>45018</c:v>
                </c:pt>
                <c:pt idx="182">
                  <c:v>45011</c:v>
                </c:pt>
                <c:pt idx="183">
                  <c:v>45004</c:v>
                </c:pt>
                <c:pt idx="184">
                  <c:v>44997</c:v>
                </c:pt>
                <c:pt idx="185">
                  <c:v>44990</c:v>
                </c:pt>
                <c:pt idx="186">
                  <c:v>44983</c:v>
                </c:pt>
                <c:pt idx="187">
                  <c:v>44976</c:v>
                </c:pt>
                <c:pt idx="188">
                  <c:v>44969</c:v>
                </c:pt>
                <c:pt idx="189">
                  <c:v>44962</c:v>
                </c:pt>
                <c:pt idx="190">
                  <c:v>44955</c:v>
                </c:pt>
                <c:pt idx="191">
                  <c:v>44948</c:v>
                </c:pt>
                <c:pt idx="192">
                  <c:v>44941</c:v>
                </c:pt>
                <c:pt idx="193">
                  <c:v>44934</c:v>
                </c:pt>
                <c:pt idx="194">
                  <c:v>44927</c:v>
                </c:pt>
                <c:pt idx="195">
                  <c:v>44920</c:v>
                </c:pt>
                <c:pt idx="196">
                  <c:v>44913</c:v>
                </c:pt>
                <c:pt idx="197">
                  <c:v>44906</c:v>
                </c:pt>
                <c:pt idx="198">
                  <c:v>44899</c:v>
                </c:pt>
                <c:pt idx="199">
                  <c:v>44892</c:v>
                </c:pt>
                <c:pt idx="200">
                  <c:v>44885</c:v>
                </c:pt>
                <c:pt idx="201">
                  <c:v>44878</c:v>
                </c:pt>
                <c:pt idx="202">
                  <c:v>44871</c:v>
                </c:pt>
                <c:pt idx="203">
                  <c:v>44864</c:v>
                </c:pt>
                <c:pt idx="204">
                  <c:v>44857</c:v>
                </c:pt>
                <c:pt idx="205">
                  <c:v>44850</c:v>
                </c:pt>
                <c:pt idx="206">
                  <c:v>44843</c:v>
                </c:pt>
                <c:pt idx="207">
                  <c:v>44836</c:v>
                </c:pt>
                <c:pt idx="208">
                  <c:v>44829</c:v>
                </c:pt>
                <c:pt idx="209">
                  <c:v>44822</c:v>
                </c:pt>
                <c:pt idx="210">
                  <c:v>44815</c:v>
                </c:pt>
                <c:pt idx="211">
                  <c:v>44808</c:v>
                </c:pt>
                <c:pt idx="212">
                  <c:v>44801</c:v>
                </c:pt>
                <c:pt idx="213">
                  <c:v>44794</c:v>
                </c:pt>
                <c:pt idx="214">
                  <c:v>44787</c:v>
                </c:pt>
                <c:pt idx="215">
                  <c:v>44780</c:v>
                </c:pt>
                <c:pt idx="216">
                  <c:v>44773</c:v>
                </c:pt>
                <c:pt idx="217">
                  <c:v>44766</c:v>
                </c:pt>
                <c:pt idx="218">
                  <c:v>44759</c:v>
                </c:pt>
                <c:pt idx="219">
                  <c:v>44752</c:v>
                </c:pt>
                <c:pt idx="220">
                  <c:v>44745</c:v>
                </c:pt>
                <c:pt idx="221">
                  <c:v>44738</c:v>
                </c:pt>
                <c:pt idx="222">
                  <c:v>44731</c:v>
                </c:pt>
                <c:pt idx="223">
                  <c:v>44724</c:v>
                </c:pt>
                <c:pt idx="224">
                  <c:v>44717</c:v>
                </c:pt>
                <c:pt idx="225">
                  <c:v>44710</c:v>
                </c:pt>
                <c:pt idx="226">
                  <c:v>44703</c:v>
                </c:pt>
                <c:pt idx="227">
                  <c:v>44696</c:v>
                </c:pt>
                <c:pt idx="228">
                  <c:v>44689</c:v>
                </c:pt>
                <c:pt idx="229">
                  <c:v>44682</c:v>
                </c:pt>
                <c:pt idx="230">
                  <c:v>44675</c:v>
                </c:pt>
                <c:pt idx="231">
                  <c:v>44668</c:v>
                </c:pt>
                <c:pt idx="232">
                  <c:v>44661</c:v>
                </c:pt>
                <c:pt idx="233">
                  <c:v>44654</c:v>
                </c:pt>
                <c:pt idx="234">
                  <c:v>44647</c:v>
                </c:pt>
                <c:pt idx="235">
                  <c:v>44640</c:v>
                </c:pt>
                <c:pt idx="236">
                  <c:v>44633</c:v>
                </c:pt>
                <c:pt idx="237">
                  <c:v>44626</c:v>
                </c:pt>
                <c:pt idx="238">
                  <c:v>44619</c:v>
                </c:pt>
                <c:pt idx="239">
                  <c:v>44612</c:v>
                </c:pt>
                <c:pt idx="240">
                  <c:v>44605</c:v>
                </c:pt>
                <c:pt idx="241">
                  <c:v>44598</c:v>
                </c:pt>
                <c:pt idx="242">
                  <c:v>44591</c:v>
                </c:pt>
                <c:pt idx="243">
                  <c:v>44584</c:v>
                </c:pt>
                <c:pt idx="244">
                  <c:v>44577</c:v>
                </c:pt>
                <c:pt idx="245">
                  <c:v>44570</c:v>
                </c:pt>
                <c:pt idx="246">
                  <c:v>44563</c:v>
                </c:pt>
                <c:pt idx="247">
                  <c:v>44556</c:v>
                </c:pt>
                <c:pt idx="248">
                  <c:v>44549</c:v>
                </c:pt>
                <c:pt idx="249">
                  <c:v>44542</c:v>
                </c:pt>
                <c:pt idx="250">
                  <c:v>44535</c:v>
                </c:pt>
                <c:pt idx="251">
                  <c:v>44528</c:v>
                </c:pt>
                <c:pt idx="252">
                  <c:v>44521</c:v>
                </c:pt>
                <c:pt idx="253">
                  <c:v>44514</c:v>
                </c:pt>
                <c:pt idx="254">
                  <c:v>44507</c:v>
                </c:pt>
                <c:pt idx="255">
                  <c:v>44500</c:v>
                </c:pt>
                <c:pt idx="256">
                  <c:v>44493</c:v>
                </c:pt>
                <c:pt idx="257">
                  <c:v>44486</c:v>
                </c:pt>
                <c:pt idx="258">
                  <c:v>44479</c:v>
                </c:pt>
                <c:pt idx="259">
                  <c:v>44472</c:v>
                </c:pt>
                <c:pt idx="260">
                  <c:v>44465</c:v>
                </c:pt>
                <c:pt idx="261">
                  <c:v>44458</c:v>
                </c:pt>
                <c:pt idx="262">
                  <c:v>44451</c:v>
                </c:pt>
                <c:pt idx="263">
                  <c:v>44444</c:v>
                </c:pt>
                <c:pt idx="264">
                  <c:v>44437</c:v>
                </c:pt>
                <c:pt idx="265">
                  <c:v>44430</c:v>
                </c:pt>
                <c:pt idx="266">
                  <c:v>44423</c:v>
                </c:pt>
                <c:pt idx="267">
                  <c:v>44416</c:v>
                </c:pt>
                <c:pt idx="268">
                  <c:v>44409</c:v>
                </c:pt>
                <c:pt idx="269">
                  <c:v>44402</c:v>
                </c:pt>
                <c:pt idx="270">
                  <c:v>44395</c:v>
                </c:pt>
                <c:pt idx="271">
                  <c:v>44388</c:v>
                </c:pt>
                <c:pt idx="272">
                  <c:v>44381</c:v>
                </c:pt>
                <c:pt idx="273">
                  <c:v>44374</c:v>
                </c:pt>
                <c:pt idx="274">
                  <c:v>44367</c:v>
                </c:pt>
                <c:pt idx="275">
                  <c:v>44360</c:v>
                </c:pt>
                <c:pt idx="276">
                  <c:v>44353</c:v>
                </c:pt>
                <c:pt idx="277">
                  <c:v>44346</c:v>
                </c:pt>
                <c:pt idx="278">
                  <c:v>44339</c:v>
                </c:pt>
                <c:pt idx="279">
                  <c:v>44332</c:v>
                </c:pt>
                <c:pt idx="280">
                  <c:v>44325</c:v>
                </c:pt>
                <c:pt idx="281">
                  <c:v>44318</c:v>
                </c:pt>
                <c:pt idx="282">
                  <c:v>44311</c:v>
                </c:pt>
                <c:pt idx="283">
                  <c:v>44304</c:v>
                </c:pt>
                <c:pt idx="284">
                  <c:v>44297</c:v>
                </c:pt>
                <c:pt idx="285">
                  <c:v>44290</c:v>
                </c:pt>
                <c:pt idx="286">
                  <c:v>44283</c:v>
                </c:pt>
                <c:pt idx="287">
                  <c:v>44276</c:v>
                </c:pt>
                <c:pt idx="288">
                  <c:v>44269</c:v>
                </c:pt>
                <c:pt idx="289">
                  <c:v>44262</c:v>
                </c:pt>
                <c:pt idx="290">
                  <c:v>44255</c:v>
                </c:pt>
                <c:pt idx="291">
                  <c:v>44248</c:v>
                </c:pt>
                <c:pt idx="292">
                  <c:v>44241</c:v>
                </c:pt>
                <c:pt idx="293">
                  <c:v>44234</c:v>
                </c:pt>
                <c:pt idx="294">
                  <c:v>44227</c:v>
                </c:pt>
                <c:pt idx="295">
                  <c:v>44220</c:v>
                </c:pt>
                <c:pt idx="296">
                  <c:v>44213</c:v>
                </c:pt>
                <c:pt idx="297">
                  <c:v>44206</c:v>
                </c:pt>
                <c:pt idx="298">
                  <c:v>44199</c:v>
                </c:pt>
              </c:numCache>
            </c:numRef>
          </c:cat>
          <c:val>
            <c:numRef>
              <c:f>Feuil1!$K$4:$K$302</c:f>
              <c:numCache>
                <c:formatCode>General</c:formatCode>
                <c:ptCount val="299"/>
                <c:pt idx="0">
                  <c:v>121</c:v>
                </c:pt>
                <c:pt idx="1">
                  <c:v>120</c:v>
                </c:pt>
                <c:pt idx="2">
                  <c:v>122</c:v>
                </c:pt>
                <c:pt idx="3">
                  <c:v>123</c:v>
                </c:pt>
                <c:pt idx="4">
                  <c:v>126</c:v>
                </c:pt>
                <c:pt idx="5">
                  <c:v>129</c:v>
                </c:pt>
                <c:pt idx="6">
                  <c:v>128</c:v>
                </c:pt>
                <c:pt idx="7">
                  <c:v>126</c:v>
                </c:pt>
                <c:pt idx="8">
                  <c:v>124</c:v>
                </c:pt>
                <c:pt idx="9">
                  <c:v>122</c:v>
                </c:pt>
                <c:pt idx="10">
                  <c:v>123</c:v>
                </c:pt>
                <c:pt idx="11">
                  <c:v>119</c:v>
                </c:pt>
                <c:pt idx="12">
                  <c:v>116</c:v>
                </c:pt>
                <c:pt idx="13">
                  <c:v>119</c:v>
                </c:pt>
                <c:pt idx="14">
                  <c:v>120</c:v>
                </c:pt>
                <c:pt idx="15">
                  <c:v>121</c:v>
                </c:pt>
                <c:pt idx="16">
                  <c:v>123</c:v>
                </c:pt>
                <c:pt idx="17">
                  <c:v>125</c:v>
                </c:pt>
                <c:pt idx="18">
                  <c:v>127</c:v>
                </c:pt>
                <c:pt idx="19">
                  <c:v>126</c:v>
                </c:pt>
                <c:pt idx="20">
                  <c:v>123</c:v>
                </c:pt>
                <c:pt idx="21">
                  <c:v>125</c:v>
                </c:pt>
                <c:pt idx="22">
                  <c:v>123</c:v>
                </c:pt>
                <c:pt idx="23">
                  <c:v>122</c:v>
                </c:pt>
                <c:pt idx="24">
                  <c:v>122</c:v>
                </c:pt>
                <c:pt idx="25">
                  <c:v>120</c:v>
                </c:pt>
                <c:pt idx="26">
                  <c:v>119</c:v>
                </c:pt>
                <c:pt idx="27">
                  <c:v>121</c:v>
                </c:pt>
                <c:pt idx="28">
                  <c:v>123</c:v>
                </c:pt>
                <c:pt idx="29">
                  <c:v>122</c:v>
                </c:pt>
                <c:pt idx="30">
                  <c:v>123</c:v>
                </c:pt>
                <c:pt idx="31">
                  <c:v>121</c:v>
                </c:pt>
                <c:pt idx="32">
                  <c:v>117</c:v>
                </c:pt>
                <c:pt idx="33">
                  <c:v>116</c:v>
                </c:pt>
                <c:pt idx="34">
                  <c:v>120</c:v>
                </c:pt>
                <c:pt idx="35">
                  <c:v>121</c:v>
                </c:pt>
                <c:pt idx="36">
                  <c:v>122</c:v>
                </c:pt>
                <c:pt idx="37">
                  <c:v>123</c:v>
                </c:pt>
                <c:pt idx="38">
                  <c:v>121</c:v>
                </c:pt>
                <c:pt idx="39">
                  <c:v>123</c:v>
                </c:pt>
                <c:pt idx="40">
                  <c:v>126</c:v>
                </c:pt>
                <c:pt idx="41">
                  <c:v>126</c:v>
                </c:pt>
                <c:pt idx="42">
                  <c:v>124</c:v>
                </c:pt>
                <c:pt idx="43">
                  <c:v>121</c:v>
                </c:pt>
                <c:pt idx="44">
                  <c:v>115</c:v>
                </c:pt>
                <c:pt idx="45">
                  <c:v>118</c:v>
                </c:pt>
                <c:pt idx="46">
                  <c:v>121</c:v>
                </c:pt>
                <c:pt idx="47">
                  <c:v>117</c:v>
                </c:pt>
                <c:pt idx="48">
                  <c:v>119</c:v>
                </c:pt>
                <c:pt idx="49">
                  <c:v>116</c:v>
                </c:pt>
                <c:pt idx="50">
                  <c:v>118</c:v>
                </c:pt>
                <c:pt idx="51">
                  <c:v>117</c:v>
                </c:pt>
                <c:pt idx="52">
                  <c:v>121</c:v>
                </c:pt>
                <c:pt idx="53">
                  <c:v>119</c:v>
                </c:pt>
                <c:pt idx="54">
                  <c:v>117</c:v>
                </c:pt>
                <c:pt idx="55">
                  <c:v>116</c:v>
                </c:pt>
                <c:pt idx="56">
                  <c:v>114</c:v>
                </c:pt>
                <c:pt idx="57">
                  <c:v>112</c:v>
                </c:pt>
                <c:pt idx="58">
                  <c:v>113</c:v>
                </c:pt>
                <c:pt idx="59">
                  <c:v>116</c:v>
                </c:pt>
                <c:pt idx="60">
                  <c:v>115</c:v>
                </c:pt>
                <c:pt idx="61">
                  <c:v>114</c:v>
                </c:pt>
                <c:pt idx="62">
                  <c:v>118.90077813902158</c:v>
                </c:pt>
                <c:pt idx="63">
                  <c:v>117.86830049063066</c:v>
                </c:pt>
                <c:pt idx="64">
                  <c:v>116.55641015982742</c:v>
                </c:pt>
                <c:pt idx="65">
                  <c:v>113.72961959959093</c:v>
                </c:pt>
                <c:pt idx="66">
                  <c:v>110.3816709777926</c:v>
                </c:pt>
                <c:pt idx="67">
                  <c:v>109.19807435750543</c:v>
                </c:pt>
                <c:pt idx="68">
                  <c:v>110.20924468061779</c:v>
                </c:pt>
                <c:pt idx="69">
                  <c:v>108.05130174264686</c:v>
                </c:pt>
                <c:pt idx="70">
                  <c:v>105.67590040315258</c:v>
                </c:pt>
                <c:pt idx="71">
                  <c:v>105.39800565684187</c:v>
                </c:pt>
                <c:pt idx="72">
                  <c:v>104.24932156689235</c:v>
                </c:pt>
                <c:pt idx="73">
                  <c:v>102.77844148440659</c:v>
                </c:pt>
                <c:pt idx="74">
                  <c:v>97.857292642901029</c:v>
                </c:pt>
                <c:pt idx="75">
                  <c:v>96.144498521698893</c:v>
                </c:pt>
                <c:pt idx="76">
                  <c:v>91.397687452459081</c:v>
                </c:pt>
                <c:pt idx="77">
                  <c:v>89.712103741375174</c:v>
                </c:pt>
                <c:pt idx="78">
                  <c:v>96.809073434937602</c:v>
                </c:pt>
                <c:pt idx="79">
                  <c:v>97.846329771055878</c:v>
                </c:pt>
                <c:pt idx="80">
                  <c:v>98.547897349290025</c:v>
                </c:pt>
                <c:pt idx="81">
                  <c:v>101.39228472433437</c:v>
                </c:pt>
                <c:pt idx="82">
                  <c:v>94.221161041214202</c:v>
                </c:pt>
                <c:pt idx="83">
                  <c:v>95.585335837740502</c:v>
                </c:pt>
                <c:pt idx="84">
                  <c:v>94.646126929816816</c:v>
                </c:pt>
                <c:pt idx="85">
                  <c:v>93.140671636127109</c:v>
                </c:pt>
                <c:pt idx="86">
                  <c:v>93.489684499792261</c:v>
                </c:pt>
                <c:pt idx="87">
                  <c:v>91.171571193170848</c:v>
                </c:pt>
                <c:pt idx="88">
                  <c:v>90.256817922440206</c:v>
                </c:pt>
                <c:pt idx="89">
                  <c:v>91.223181020626498</c:v>
                </c:pt>
                <c:pt idx="90">
                  <c:v>92.167168616277564</c:v>
                </c:pt>
                <c:pt idx="91">
                  <c:v>90.357957442693689</c:v>
                </c:pt>
                <c:pt idx="92">
                  <c:v>88.694524354722546</c:v>
                </c:pt>
                <c:pt idx="93">
                  <c:v>90.138756225646262</c:v>
                </c:pt>
                <c:pt idx="94">
                  <c:v>89.227095046974497</c:v>
                </c:pt>
                <c:pt idx="95">
                  <c:v>89.036397296724459</c:v>
                </c:pt>
                <c:pt idx="96">
                  <c:v>89.221416841557271</c:v>
                </c:pt>
                <c:pt idx="97">
                  <c:v>90.632760096945503</c:v>
                </c:pt>
                <c:pt idx="98">
                  <c:v>93.770727558017484</c:v>
                </c:pt>
                <c:pt idx="99">
                  <c:v>93.524878129407981</c:v>
                </c:pt>
                <c:pt idx="100">
                  <c:v>94.369244140907199</c:v>
                </c:pt>
                <c:pt idx="101">
                  <c:v>96.330586243788403</c:v>
                </c:pt>
                <c:pt idx="102">
                  <c:v>95.268818050621462</c:v>
                </c:pt>
                <c:pt idx="103">
                  <c:v>95.30136934702324</c:v>
                </c:pt>
                <c:pt idx="104">
                  <c:v>98.241274256759453</c:v>
                </c:pt>
                <c:pt idx="105">
                  <c:v>94.865609246142341</c:v>
                </c:pt>
                <c:pt idx="106">
                  <c:v>94.915195158795783</c:v>
                </c:pt>
                <c:pt idx="107">
                  <c:v>94.678509566651712</c:v>
                </c:pt>
                <c:pt idx="108">
                  <c:v>98.84799893856912</c:v>
                </c:pt>
                <c:pt idx="109">
                  <c:v>97.711345897721472</c:v>
                </c:pt>
                <c:pt idx="110">
                  <c:v>97.236175678053613</c:v>
                </c:pt>
                <c:pt idx="111">
                  <c:v>94.640392504543954</c:v>
                </c:pt>
                <c:pt idx="112">
                  <c:v>94.784034235643261</c:v>
                </c:pt>
                <c:pt idx="113">
                  <c:v>97.465271589689493</c:v>
                </c:pt>
                <c:pt idx="114">
                  <c:v>97.893048471072916</c:v>
                </c:pt>
                <c:pt idx="115">
                  <c:v>99.512461412096599</c:v>
                </c:pt>
                <c:pt idx="116">
                  <c:v>99.337561441274701</c:v>
                </c:pt>
                <c:pt idx="117">
                  <c:v>91.91817087575356</c:v>
                </c:pt>
                <c:pt idx="118">
                  <c:v>97.115752747323782</c:v>
                </c:pt>
                <c:pt idx="119">
                  <c:v>97.974342382293884</c:v>
                </c:pt>
                <c:pt idx="120">
                  <c:v>109.84848186712885</c:v>
                </c:pt>
                <c:pt idx="121">
                  <c:v>109.08602818526241</c:v>
                </c:pt>
                <c:pt idx="122">
                  <c:v>107.61351772696376</c:v>
                </c:pt>
                <c:pt idx="123">
                  <c:v>107.29115307486066</c:v>
                </c:pt>
                <c:pt idx="124">
                  <c:v>105.04106579353483</c:v>
                </c:pt>
                <c:pt idx="125">
                  <c:v>101.27860817627847</c:v>
                </c:pt>
                <c:pt idx="126">
                  <c:v>99.180258285260663</c:v>
                </c:pt>
                <c:pt idx="127">
                  <c:v>96.987402816952084</c:v>
                </c:pt>
                <c:pt idx="128">
                  <c:v>98.879144738580464</c:v>
                </c:pt>
                <c:pt idx="129">
                  <c:v>99.396536069816065</c:v>
                </c:pt>
                <c:pt idx="130">
                  <c:v>98.531368711738878</c:v>
                </c:pt>
                <c:pt idx="131">
                  <c:v>97.629658447511162</c:v>
                </c:pt>
                <c:pt idx="132">
                  <c:v>95.984721692037738</c:v>
                </c:pt>
                <c:pt idx="133">
                  <c:v>96.626640003463123</c:v>
                </c:pt>
                <c:pt idx="134">
                  <c:v>96.528480135557302</c:v>
                </c:pt>
                <c:pt idx="135">
                  <c:v>97.906990995265716</c:v>
                </c:pt>
                <c:pt idx="136">
                  <c:v>99.160412676228162</c:v>
                </c:pt>
                <c:pt idx="137">
                  <c:v>97.586200499119869</c:v>
                </c:pt>
                <c:pt idx="138">
                  <c:v>98.083690001467332</c:v>
                </c:pt>
                <c:pt idx="139">
                  <c:v>99.430099323618904</c:v>
                </c:pt>
                <c:pt idx="140">
                  <c:v>95.908656227389059</c:v>
                </c:pt>
                <c:pt idx="141">
                  <c:v>96.682410100234378</c:v>
                </c:pt>
                <c:pt idx="142">
                  <c:v>96.167436222790286</c:v>
                </c:pt>
                <c:pt idx="143">
                  <c:v>97.949886745100869</c:v>
                </c:pt>
                <c:pt idx="144">
                  <c:v>96.770900152974221</c:v>
                </c:pt>
                <c:pt idx="145">
                  <c:v>95.114101007965786</c:v>
                </c:pt>
                <c:pt idx="146">
                  <c:v>91.633473526913278</c:v>
                </c:pt>
                <c:pt idx="147">
                  <c:v>90.074496930676972</c:v>
                </c:pt>
                <c:pt idx="148">
                  <c:v>89.685961508513643</c:v>
                </c:pt>
                <c:pt idx="149">
                  <c:v>90.609147757586726</c:v>
                </c:pt>
                <c:pt idx="150">
                  <c:v>86.900661201721903</c:v>
                </c:pt>
                <c:pt idx="151">
                  <c:v>86.76550866882063</c:v>
                </c:pt>
                <c:pt idx="152">
                  <c:v>81.843966288325774</c:v>
                </c:pt>
                <c:pt idx="153">
                  <c:v>82.306093501490679</c:v>
                </c:pt>
                <c:pt idx="154">
                  <c:v>86.269930641564116</c:v>
                </c:pt>
                <c:pt idx="155">
                  <c:v>87.536058009895811</c:v>
                </c:pt>
                <c:pt idx="156">
                  <c:v>91.910356315822895</c:v>
                </c:pt>
                <c:pt idx="157">
                  <c:v>94.173711483074172</c:v>
                </c:pt>
                <c:pt idx="158">
                  <c:v>97.833342984408532</c:v>
                </c:pt>
                <c:pt idx="159">
                  <c:v>99.269085657134198</c:v>
                </c:pt>
                <c:pt idx="160">
                  <c:v>100.85842097540325</c:v>
                </c:pt>
                <c:pt idx="161">
                  <c:v>100.19418338129822</c:v>
                </c:pt>
                <c:pt idx="162">
                  <c:v>100.44756627056029</c:v>
                </c:pt>
                <c:pt idx="163">
                  <c:v>102.04482858847122</c:v>
                </c:pt>
                <c:pt idx="164">
                  <c:v>101.63217484824855</c:v>
                </c:pt>
                <c:pt idx="165">
                  <c:v>104.32454373370676</c:v>
                </c:pt>
                <c:pt idx="166">
                  <c:v>103.00933643142216</c:v>
                </c:pt>
                <c:pt idx="167">
                  <c:v>103.31927649543411</c:v>
                </c:pt>
                <c:pt idx="168">
                  <c:v>102.17115460404074</c:v>
                </c:pt>
                <c:pt idx="169">
                  <c:v>102.78378237069012</c:v>
                </c:pt>
                <c:pt idx="170">
                  <c:v>101.01960330145478</c:v>
                </c:pt>
                <c:pt idx="171">
                  <c:v>104.03804734948679</c:v>
                </c:pt>
                <c:pt idx="172">
                  <c:v>102.36747433985238</c:v>
                </c:pt>
                <c:pt idx="173">
                  <c:v>101.9669078685872</c:v>
                </c:pt>
                <c:pt idx="174">
                  <c:v>100.72815956994059</c:v>
                </c:pt>
                <c:pt idx="175">
                  <c:v>102.50819263845968</c:v>
                </c:pt>
                <c:pt idx="176">
                  <c:v>102.39204241675665</c:v>
                </c:pt>
                <c:pt idx="177">
                  <c:v>101.52220881066332</c:v>
                </c:pt>
                <c:pt idx="178">
                  <c:v>100.31944121961105</c:v>
                </c:pt>
                <c:pt idx="179">
                  <c:v>101.11455863759051</c:v>
                </c:pt>
                <c:pt idx="180">
                  <c:v>102.15873001594957</c:v>
                </c:pt>
                <c:pt idx="181">
                  <c:v>100.58642931393223</c:v>
                </c:pt>
                <c:pt idx="182">
                  <c:v>101.08296307873421</c:v>
                </c:pt>
                <c:pt idx="183">
                  <c:v>100.00725236137447</c:v>
                </c:pt>
                <c:pt idx="184">
                  <c:v>99.711535920833441</c:v>
                </c:pt>
                <c:pt idx="185">
                  <c:v>104.93649686208875</c:v>
                </c:pt>
                <c:pt idx="186">
                  <c:v>107.71252089270385</c:v>
                </c:pt>
                <c:pt idx="187">
                  <c:v>105.76562729271599</c:v>
                </c:pt>
                <c:pt idx="188">
                  <c:v>106.8162639544709</c:v>
                </c:pt>
                <c:pt idx="189">
                  <c:v>106.19621516688021</c:v>
                </c:pt>
                <c:pt idx="190">
                  <c:v>106.65929811759057</c:v>
                </c:pt>
                <c:pt idx="191">
                  <c:v>104.82698058334847</c:v>
                </c:pt>
                <c:pt idx="192">
                  <c:v>104.05727454010754</c:v>
                </c:pt>
                <c:pt idx="193">
                  <c:v>104.56910010563709</c:v>
                </c:pt>
                <c:pt idx="194">
                  <c:v>102.04364797150328</c:v>
                </c:pt>
                <c:pt idx="195">
                  <c:v>99.278586812733352</c:v>
                </c:pt>
                <c:pt idx="196">
                  <c:v>97.52531439548757</c:v>
                </c:pt>
                <c:pt idx="197">
                  <c:v>96.458261535892731</c:v>
                </c:pt>
                <c:pt idx="198">
                  <c:v>98.554868611386411</c:v>
                </c:pt>
                <c:pt idx="199">
                  <c:v>98.799987181872922</c:v>
                </c:pt>
                <c:pt idx="200">
                  <c:v>98.783964523022291</c:v>
                </c:pt>
                <c:pt idx="201">
                  <c:v>96.498402512802656</c:v>
                </c:pt>
                <c:pt idx="202">
                  <c:v>100.128743469361</c:v>
                </c:pt>
                <c:pt idx="203">
                  <c:v>96.564741942429748</c:v>
                </c:pt>
                <c:pt idx="204">
                  <c:v>96.647891108886057</c:v>
                </c:pt>
                <c:pt idx="205">
                  <c:v>94.885398635319234</c:v>
                </c:pt>
                <c:pt idx="206">
                  <c:v>93.620395664099846</c:v>
                </c:pt>
                <c:pt idx="207">
                  <c:v>92.458837227214218</c:v>
                </c:pt>
                <c:pt idx="208">
                  <c:v>91.219301850588977</c:v>
                </c:pt>
                <c:pt idx="209">
                  <c:v>92.002050900332875</c:v>
                </c:pt>
                <c:pt idx="210">
                  <c:v>98.78334610461053</c:v>
                </c:pt>
                <c:pt idx="211">
                  <c:v>101.63706597568716</c:v>
                </c:pt>
                <c:pt idx="212">
                  <c:v>102.00047112239005</c:v>
                </c:pt>
                <c:pt idx="213">
                  <c:v>104.64943827931262</c:v>
                </c:pt>
                <c:pt idx="214">
                  <c:v>107.29306454995159</c:v>
                </c:pt>
                <c:pt idx="215">
                  <c:v>109.13645739575011</c:v>
                </c:pt>
                <c:pt idx="216">
                  <c:v>106.87703761839198</c:v>
                </c:pt>
                <c:pt idx="217">
                  <c:v>105.89757529384714</c:v>
                </c:pt>
                <c:pt idx="218">
                  <c:v>103.47967174350703</c:v>
                </c:pt>
                <c:pt idx="219">
                  <c:v>100.48382807743272</c:v>
                </c:pt>
                <c:pt idx="220">
                  <c:v>100.75137837031005</c:v>
                </c:pt>
                <c:pt idx="221">
                  <c:v>98.042537067156303</c:v>
                </c:pt>
                <c:pt idx="222">
                  <c:v>100.40140976909942</c:v>
                </c:pt>
                <c:pt idx="223">
                  <c:v>99.330252860044595</c:v>
                </c:pt>
                <c:pt idx="224">
                  <c:v>106.0977179798407</c:v>
                </c:pt>
                <c:pt idx="225">
                  <c:v>109.14781380658457</c:v>
                </c:pt>
                <c:pt idx="226">
                  <c:v>108.45456676698161</c:v>
                </c:pt>
                <c:pt idx="227">
                  <c:v>106.1516890412322</c:v>
                </c:pt>
                <c:pt idx="228">
                  <c:v>104.88123274401806</c:v>
                </c:pt>
                <c:pt idx="229">
                  <c:v>106.26418497232015</c:v>
                </c:pt>
                <c:pt idx="230">
                  <c:v>108.2117532105754</c:v>
                </c:pt>
                <c:pt idx="231">
                  <c:v>109.96193353576228</c:v>
                </c:pt>
                <c:pt idx="232">
                  <c:v>109.73480531907296</c:v>
                </c:pt>
                <c:pt idx="233">
                  <c:v>108.82201974328889</c:v>
                </c:pt>
                <c:pt idx="234">
                  <c:v>112.04414832821826</c:v>
                </c:pt>
                <c:pt idx="235">
                  <c:v>109.84898784582941</c:v>
                </c:pt>
                <c:pt idx="236">
                  <c:v>110.17489434883633</c:v>
                </c:pt>
                <c:pt idx="237">
                  <c:v>106.083606796081</c:v>
                </c:pt>
                <c:pt idx="238">
                  <c:v>101.06643444118306</c:v>
                </c:pt>
                <c:pt idx="239">
                  <c:v>109.91335958050992</c:v>
                </c:pt>
                <c:pt idx="240">
                  <c:v>112.46630322404005</c:v>
                </c:pt>
                <c:pt idx="241">
                  <c:v>115.01902198814773</c:v>
                </c:pt>
                <c:pt idx="242">
                  <c:v>114.13198510623583</c:v>
                </c:pt>
                <c:pt idx="243">
                  <c:v>113.9030016343112</c:v>
                </c:pt>
                <c:pt idx="244">
                  <c:v>118.01261685999738</c:v>
                </c:pt>
                <c:pt idx="245">
                  <c:v>120.71257542596379</c:v>
                </c:pt>
                <c:pt idx="246">
                  <c:v>121.81729558882147</c:v>
                </c:pt>
                <c:pt idx="247">
                  <c:v>121.3823787857748</c:v>
                </c:pt>
                <c:pt idx="248">
                  <c:v>118.73031953679336</c:v>
                </c:pt>
                <c:pt idx="249">
                  <c:v>116.72883645700219</c:v>
                </c:pt>
                <c:pt idx="250">
                  <c:v>116.95680797152576</c:v>
                </c:pt>
                <c:pt idx="251">
                  <c:v>113.79202363932488</c:v>
                </c:pt>
                <c:pt idx="252">
                  <c:v>115.25711307668219</c:v>
                </c:pt>
                <c:pt idx="253">
                  <c:v>119.88968539930995</c:v>
                </c:pt>
                <c:pt idx="254">
                  <c:v>122.29381508502408</c:v>
                </c:pt>
                <c:pt idx="255">
                  <c:v>121.69737863679218</c:v>
                </c:pt>
                <c:pt idx="256">
                  <c:v>119.64226181474319</c:v>
                </c:pt>
                <c:pt idx="257">
                  <c:v>119.94905356684062</c:v>
                </c:pt>
                <c:pt idx="258">
                  <c:v>118.87699714009594</c:v>
                </c:pt>
                <c:pt idx="259">
                  <c:v>116.01984785782673</c:v>
                </c:pt>
                <c:pt idx="260">
                  <c:v>116.86471984802648</c:v>
                </c:pt>
                <c:pt idx="261">
                  <c:v>120.07374920659728</c:v>
                </c:pt>
                <c:pt idx="262">
                  <c:v>119.3536290760098</c:v>
                </c:pt>
                <c:pt idx="263">
                  <c:v>119.76352804330726</c:v>
                </c:pt>
                <c:pt idx="264">
                  <c:v>120.21609788101742</c:v>
                </c:pt>
                <c:pt idx="265">
                  <c:v>118.52612902119543</c:v>
                </c:pt>
                <c:pt idx="266">
                  <c:v>115.28696582001439</c:v>
                </c:pt>
                <c:pt idx="267">
                  <c:v>118.27611932327034</c:v>
                </c:pt>
                <c:pt idx="268">
                  <c:v>116.49102646774581</c:v>
                </c:pt>
                <c:pt idx="269">
                  <c:v>116.63551149667937</c:v>
                </c:pt>
                <c:pt idx="270">
                  <c:v>113.43660171211947</c:v>
                </c:pt>
                <c:pt idx="271">
                  <c:v>111.73988646962356</c:v>
                </c:pt>
                <c:pt idx="272">
                  <c:v>113.72129906095974</c:v>
                </c:pt>
                <c:pt idx="273">
                  <c:v>115.16817326509741</c:v>
                </c:pt>
                <c:pt idx="274">
                  <c:v>114.12788105677585</c:v>
                </c:pt>
                <c:pt idx="275">
                  <c:v>114.48718215401878</c:v>
                </c:pt>
                <c:pt idx="276">
                  <c:v>116.81249160215906</c:v>
                </c:pt>
                <c:pt idx="277">
                  <c:v>117.67681566240201</c:v>
                </c:pt>
                <c:pt idx="278">
                  <c:v>116.08388227337355</c:v>
                </c:pt>
                <c:pt idx="279">
                  <c:v>113.35547646046533</c:v>
                </c:pt>
                <c:pt idx="280">
                  <c:v>113.22841958677282</c:v>
                </c:pt>
                <c:pt idx="281">
                  <c:v>114.082455413438</c:v>
                </c:pt>
                <c:pt idx="282">
                  <c:v>113.74294370537197</c:v>
                </c:pt>
                <c:pt idx="283">
                  <c:v>111.76080025591277</c:v>
                </c:pt>
                <c:pt idx="284">
                  <c:v>113.52947691359738</c:v>
                </c:pt>
                <c:pt idx="285">
                  <c:v>112.51459608001433</c:v>
                </c:pt>
                <c:pt idx="286">
                  <c:v>111.73437692377317</c:v>
                </c:pt>
                <c:pt idx="287">
                  <c:v>108.28973015031502</c:v>
                </c:pt>
                <c:pt idx="288">
                  <c:v>107.70330083638278</c:v>
                </c:pt>
                <c:pt idx="289">
                  <c:v>108.26651134994553</c:v>
                </c:pt>
                <c:pt idx="290">
                  <c:v>104.44513532400346</c:v>
                </c:pt>
                <c:pt idx="291">
                  <c:v>105.00767119929881</c:v>
                </c:pt>
                <c:pt idx="292">
                  <c:v>106.93134599891718</c:v>
                </c:pt>
                <c:pt idx="293">
                  <c:v>107.91080832346205</c:v>
                </c:pt>
                <c:pt idx="294">
                  <c:v>105.95115281624933</c:v>
                </c:pt>
                <c:pt idx="295">
                  <c:v>100.01506692130513</c:v>
                </c:pt>
                <c:pt idx="296">
                  <c:v>102.29585024379739</c:v>
                </c:pt>
                <c:pt idx="297">
                  <c:v>100</c:v>
                </c:pt>
                <c:pt idx="298">
                  <c:v>100</c:v>
                </c:pt>
              </c:numCache>
            </c:numRef>
          </c:val>
          <c:smooth val="0"/>
          <c:extLst>
            <c:ext xmlns:c16="http://schemas.microsoft.com/office/drawing/2014/chart" uri="{C3380CC4-5D6E-409C-BE32-E72D297353CC}">
              <c16:uniqueId val="{00000000-9CA7-1640-AC1B-846166C4A072}"/>
            </c:ext>
          </c:extLst>
        </c:ser>
        <c:ser>
          <c:idx val="1"/>
          <c:order val="1"/>
          <c:tx>
            <c:strRef>
              <c:f>Feuil1!$L$3</c:f>
              <c:strCache>
                <c:ptCount val="1"/>
                <c:pt idx="0">
                  <c:v>HMG Découvertes</c:v>
                </c:pt>
              </c:strCache>
            </c:strRef>
          </c:tx>
          <c:spPr>
            <a:ln w="12700" cap="rnd">
              <a:solidFill>
                <a:srgbClr val="AB853F"/>
              </a:solidFill>
              <a:round/>
            </a:ln>
            <a:effectLst/>
          </c:spPr>
          <c:marker>
            <c:symbol val="none"/>
          </c:marker>
          <c:cat>
            <c:numRef>
              <c:f>Feuil1!$J$4:$J$302</c:f>
              <c:numCache>
                <c:formatCode>m/d/yy</c:formatCode>
                <c:ptCount val="299"/>
                <c:pt idx="0">
                  <c:v>46285</c:v>
                </c:pt>
                <c:pt idx="1">
                  <c:v>46278</c:v>
                </c:pt>
                <c:pt idx="2">
                  <c:v>46271</c:v>
                </c:pt>
                <c:pt idx="3">
                  <c:v>46264</c:v>
                </c:pt>
                <c:pt idx="4">
                  <c:v>46257</c:v>
                </c:pt>
                <c:pt idx="5">
                  <c:v>46250</c:v>
                </c:pt>
                <c:pt idx="6">
                  <c:v>46243</c:v>
                </c:pt>
                <c:pt idx="7">
                  <c:v>46236</c:v>
                </c:pt>
                <c:pt idx="8">
                  <c:v>46229</c:v>
                </c:pt>
                <c:pt idx="9">
                  <c:v>46222</c:v>
                </c:pt>
                <c:pt idx="10">
                  <c:v>46215</c:v>
                </c:pt>
                <c:pt idx="11">
                  <c:v>46208</c:v>
                </c:pt>
                <c:pt idx="12">
                  <c:v>46201</c:v>
                </c:pt>
                <c:pt idx="13">
                  <c:v>46194</c:v>
                </c:pt>
                <c:pt idx="14">
                  <c:v>46187</c:v>
                </c:pt>
                <c:pt idx="15">
                  <c:v>46180</c:v>
                </c:pt>
                <c:pt idx="16">
                  <c:v>46173</c:v>
                </c:pt>
                <c:pt idx="17">
                  <c:v>46166</c:v>
                </c:pt>
                <c:pt idx="18">
                  <c:v>46159</c:v>
                </c:pt>
                <c:pt idx="19">
                  <c:v>46152</c:v>
                </c:pt>
                <c:pt idx="20">
                  <c:v>46145</c:v>
                </c:pt>
                <c:pt idx="21">
                  <c:v>46138</c:v>
                </c:pt>
                <c:pt idx="22">
                  <c:v>46131</c:v>
                </c:pt>
                <c:pt idx="23">
                  <c:v>46124</c:v>
                </c:pt>
                <c:pt idx="24">
                  <c:v>46117</c:v>
                </c:pt>
                <c:pt idx="25">
                  <c:v>46110</c:v>
                </c:pt>
                <c:pt idx="26">
                  <c:v>46103</c:v>
                </c:pt>
                <c:pt idx="27">
                  <c:v>46096</c:v>
                </c:pt>
                <c:pt idx="28">
                  <c:v>46089</c:v>
                </c:pt>
                <c:pt idx="29">
                  <c:v>46082</c:v>
                </c:pt>
                <c:pt idx="30">
                  <c:v>46075</c:v>
                </c:pt>
                <c:pt idx="31">
                  <c:v>46068</c:v>
                </c:pt>
                <c:pt idx="32">
                  <c:v>46061</c:v>
                </c:pt>
                <c:pt idx="33">
                  <c:v>46054</c:v>
                </c:pt>
                <c:pt idx="34">
                  <c:v>46047</c:v>
                </c:pt>
                <c:pt idx="35">
                  <c:v>46040</c:v>
                </c:pt>
                <c:pt idx="36">
                  <c:v>46033</c:v>
                </c:pt>
                <c:pt idx="37">
                  <c:v>46026</c:v>
                </c:pt>
                <c:pt idx="38">
                  <c:v>46019</c:v>
                </c:pt>
                <c:pt idx="39">
                  <c:v>46012</c:v>
                </c:pt>
                <c:pt idx="40">
                  <c:v>46005</c:v>
                </c:pt>
                <c:pt idx="41">
                  <c:v>45998</c:v>
                </c:pt>
                <c:pt idx="42">
                  <c:v>45991</c:v>
                </c:pt>
                <c:pt idx="43">
                  <c:v>45984</c:v>
                </c:pt>
                <c:pt idx="44">
                  <c:v>45977</c:v>
                </c:pt>
                <c:pt idx="45">
                  <c:v>45970</c:v>
                </c:pt>
                <c:pt idx="46">
                  <c:v>45963</c:v>
                </c:pt>
                <c:pt idx="47">
                  <c:v>45956</c:v>
                </c:pt>
                <c:pt idx="48">
                  <c:v>45949</c:v>
                </c:pt>
                <c:pt idx="49">
                  <c:v>45942</c:v>
                </c:pt>
                <c:pt idx="50">
                  <c:v>45935</c:v>
                </c:pt>
                <c:pt idx="51">
                  <c:v>45928</c:v>
                </c:pt>
                <c:pt idx="52">
                  <c:v>45921</c:v>
                </c:pt>
                <c:pt idx="53">
                  <c:v>45914</c:v>
                </c:pt>
                <c:pt idx="54">
                  <c:v>45907</c:v>
                </c:pt>
                <c:pt idx="55">
                  <c:v>45900</c:v>
                </c:pt>
                <c:pt idx="56">
                  <c:v>45893</c:v>
                </c:pt>
                <c:pt idx="57">
                  <c:v>45886</c:v>
                </c:pt>
                <c:pt idx="58">
                  <c:v>45879</c:v>
                </c:pt>
                <c:pt idx="59">
                  <c:v>45872</c:v>
                </c:pt>
                <c:pt idx="60">
                  <c:v>45865</c:v>
                </c:pt>
                <c:pt idx="61">
                  <c:v>45858</c:v>
                </c:pt>
                <c:pt idx="62">
                  <c:v>45851</c:v>
                </c:pt>
                <c:pt idx="63">
                  <c:v>45844</c:v>
                </c:pt>
                <c:pt idx="64">
                  <c:v>45837</c:v>
                </c:pt>
                <c:pt idx="65">
                  <c:v>45830</c:v>
                </c:pt>
                <c:pt idx="66">
                  <c:v>45823</c:v>
                </c:pt>
                <c:pt idx="67">
                  <c:v>45816</c:v>
                </c:pt>
                <c:pt idx="68">
                  <c:v>45809</c:v>
                </c:pt>
                <c:pt idx="69">
                  <c:v>45802</c:v>
                </c:pt>
                <c:pt idx="70">
                  <c:v>45795</c:v>
                </c:pt>
                <c:pt idx="71">
                  <c:v>45788</c:v>
                </c:pt>
                <c:pt idx="72">
                  <c:v>45781</c:v>
                </c:pt>
                <c:pt idx="73">
                  <c:v>45774</c:v>
                </c:pt>
                <c:pt idx="74">
                  <c:v>45767</c:v>
                </c:pt>
                <c:pt idx="75">
                  <c:v>45760</c:v>
                </c:pt>
                <c:pt idx="76">
                  <c:v>45753</c:v>
                </c:pt>
                <c:pt idx="77">
                  <c:v>45746</c:v>
                </c:pt>
                <c:pt idx="78">
                  <c:v>45739</c:v>
                </c:pt>
                <c:pt idx="79">
                  <c:v>45732</c:v>
                </c:pt>
                <c:pt idx="80">
                  <c:v>45725</c:v>
                </c:pt>
                <c:pt idx="81">
                  <c:v>45718</c:v>
                </c:pt>
                <c:pt idx="82">
                  <c:v>45711</c:v>
                </c:pt>
                <c:pt idx="83">
                  <c:v>45704</c:v>
                </c:pt>
                <c:pt idx="84">
                  <c:v>45697</c:v>
                </c:pt>
                <c:pt idx="85">
                  <c:v>45690</c:v>
                </c:pt>
                <c:pt idx="86">
                  <c:v>45683</c:v>
                </c:pt>
                <c:pt idx="87">
                  <c:v>45676</c:v>
                </c:pt>
                <c:pt idx="88">
                  <c:v>45669</c:v>
                </c:pt>
                <c:pt idx="89">
                  <c:v>45662</c:v>
                </c:pt>
                <c:pt idx="90">
                  <c:v>45655</c:v>
                </c:pt>
                <c:pt idx="91">
                  <c:v>45648</c:v>
                </c:pt>
                <c:pt idx="92">
                  <c:v>45641</c:v>
                </c:pt>
                <c:pt idx="93">
                  <c:v>45634</c:v>
                </c:pt>
                <c:pt idx="94">
                  <c:v>45627</c:v>
                </c:pt>
                <c:pt idx="95">
                  <c:v>45620</c:v>
                </c:pt>
                <c:pt idx="96">
                  <c:v>45613</c:v>
                </c:pt>
                <c:pt idx="97">
                  <c:v>45606</c:v>
                </c:pt>
                <c:pt idx="98">
                  <c:v>45599</c:v>
                </c:pt>
                <c:pt idx="99">
                  <c:v>45592</c:v>
                </c:pt>
                <c:pt idx="100">
                  <c:v>45585</c:v>
                </c:pt>
                <c:pt idx="101">
                  <c:v>45578</c:v>
                </c:pt>
                <c:pt idx="102">
                  <c:v>45571</c:v>
                </c:pt>
                <c:pt idx="103">
                  <c:v>45564</c:v>
                </c:pt>
                <c:pt idx="104">
                  <c:v>45557</c:v>
                </c:pt>
                <c:pt idx="105">
                  <c:v>45550</c:v>
                </c:pt>
                <c:pt idx="106">
                  <c:v>45543</c:v>
                </c:pt>
                <c:pt idx="107">
                  <c:v>45536</c:v>
                </c:pt>
                <c:pt idx="108">
                  <c:v>45529</c:v>
                </c:pt>
                <c:pt idx="109">
                  <c:v>45522</c:v>
                </c:pt>
                <c:pt idx="110">
                  <c:v>45515</c:v>
                </c:pt>
                <c:pt idx="111">
                  <c:v>45508</c:v>
                </c:pt>
                <c:pt idx="112">
                  <c:v>45501</c:v>
                </c:pt>
                <c:pt idx="113">
                  <c:v>45494</c:v>
                </c:pt>
                <c:pt idx="114">
                  <c:v>45487</c:v>
                </c:pt>
                <c:pt idx="115">
                  <c:v>45480</c:v>
                </c:pt>
                <c:pt idx="116">
                  <c:v>45473</c:v>
                </c:pt>
                <c:pt idx="117">
                  <c:v>45466</c:v>
                </c:pt>
                <c:pt idx="118">
                  <c:v>45459</c:v>
                </c:pt>
                <c:pt idx="119">
                  <c:v>45452</c:v>
                </c:pt>
                <c:pt idx="120">
                  <c:v>45445</c:v>
                </c:pt>
                <c:pt idx="121">
                  <c:v>45438</c:v>
                </c:pt>
                <c:pt idx="122">
                  <c:v>45431</c:v>
                </c:pt>
                <c:pt idx="123">
                  <c:v>45424</c:v>
                </c:pt>
                <c:pt idx="124">
                  <c:v>45417</c:v>
                </c:pt>
                <c:pt idx="125">
                  <c:v>45410</c:v>
                </c:pt>
                <c:pt idx="126">
                  <c:v>45403</c:v>
                </c:pt>
                <c:pt idx="127">
                  <c:v>45396</c:v>
                </c:pt>
                <c:pt idx="128">
                  <c:v>45389</c:v>
                </c:pt>
                <c:pt idx="129">
                  <c:v>45382</c:v>
                </c:pt>
                <c:pt idx="130">
                  <c:v>45375</c:v>
                </c:pt>
                <c:pt idx="131">
                  <c:v>45368</c:v>
                </c:pt>
                <c:pt idx="132">
                  <c:v>45361</c:v>
                </c:pt>
                <c:pt idx="133">
                  <c:v>45354</c:v>
                </c:pt>
                <c:pt idx="134">
                  <c:v>45347</c:v>
                </c:pt>
                <c:pt idx="135">
                  <c:v>45340</c:v>
                </c:pt>
                <c:pt idx="136">
                  <c:v>45333</c:v>
                </c:pt>
                <c:pt idx="137">
                  <c:v>45326</c:v>
                </c:pt>
                <c:pt idx="138">
                  <c:v>45319</c:v>
                </c:pt>
                <c:pt idx="139">
                  <c:v>45312</c:v>
                </c:pt>
                <c:pt idx="140">
                  <c:v>45305</c:v>
                </c:pt>
                <c:pt idx="141">
                  <c:v>45298</c:v>
                </c:pt>
                <c:pt idx="142">
                  <c:v>45291</c:v>
                </c:pt>
                <c:pt idx="143">
                  <c:v>45284</c:v>
                </c:pt>
                <c:pt idx="144">
                  <c:v>45277</c:v>
                </c:pt>
                <c:pt idx="145">
                  <c:v>45270</c:v>
                </c:pt>
                <c:pt idx="146">
                  <c:v>45263</c:v>
                </c:pt>
                <c:pt idx="147">
                  <c:v>45256</c:v>
                </c:pt>
                <c:pt idx="148">
                  <c:v>45249</c:v>
                </c:pt>
                <c:pt idx="149">
                  <c:v>45242</c:v>
                </c:pt>
                <c:pt idx="150">
                  <c:v>45235</c:v>
                </c:pt>
                <c:pt idx="151">
                  <c:v>45228</c:v>
                </c:pt>
                <c:pt idx="152">
                  <c:v>45221</c:v>
                </c:pt>
                <c:pt idx="153">
                  <c:v>45214</c:v>
                </c:pt>
                <c:pt idx="154">
                  <c:v>45207</c:v>
                </c:pt>
                <c:pt idx="155">
                  <c:v>45200</c:v>
                </c:pt>
                <c:pt idx="156">
                  <c:v>45193</c:v>
                </c:pt>
                <c:pt idx="157">
                  <c:v>45186</c:v>
                </c:pt>
                <c:pt idx="158">
                  <c:v>45179</c:v>
                </c:pt>
                <c:pt idx="159">
                  <c:v>45172</c:v>
                </c:pt>
                <c:pt idx="160">
                  <c:v>45165</c:v>
                </c:pt>
                <c:pt idx="161">
                  <c:v>45158</c:v>
                </c:pt>
                <c:pt idx="162">
                  <c:v>45151</c:v>
                </c:pt>
                <c:pt idx="163">
                  <c:v>45144</c:v>
                </c:pt>
                <c:pt idx="164">
                  <c:v>45137</c:v>
                </c:pt>
                <c:pt idx="165">
                  <c:v>45130</c:v>
                </c:pt>
                <c:pt idx="166">
                  <c:v>45123</c:v>
                </c:pt>
                <c:pt idx="167">
                  <c:v>45116</c:v>
                </c:pt>
                <c:pt idx="168">
                  <c:v>45109</c:v>
                </c:pt>
                <c:pt idx="169">
                  <c:v>45102</c:v>
                </c:pt>
                <c:pt idx="170">
                  <c:v>45095</c:v>
                </c:pt>
                <c:pt idx="171">
                  <c:v>45088</c:v>
                </c:pt>
                <c:pt idx="172">
                  <c:v>45081</c:v>
                </c:pt>
                <c:pt idx="173">
                  <c:v>45074</c:v>
                </c:pt>
                <c:pt idx="174">
                  <c:v>45067</c:v>
                </c:pt>
                <c:pt idx="175">
                  <c:v>45060</c:v>
                </c:pt>
                <c:pt idx="176">
                  <c:v>45053</c:v>
                </c:pt>
                <c:pt idx="177">
                  <c:v>45046</c:v>
                </c:pt>
                <c:pt idx="178">
                  <c:v>45039</c:v>
                </c:pt>
                <c:pt idx="179">
                  <c:v>45032</c:v>
                </c:pt>
                <c:pt idx="180">
                  <c:v>45025</c:v>
                </c:pt>
                <c:pt idx="181">
                  <c:v>45018</c:v>
                </c:pt>
                <c:pt idx="182">
                  <c:v>45011</c:v>
                </c:pt>
                <c:pt idx="183">
                  <c:v>45004</c:v>
                </c:pt>
                <c:pt idx="184">
                  <c:v>44997</c:v>
                </c:pt>
                <c:pt idx="185">
                  <c:v>44990</c:v>
                </c:pt>
                <c:pt idx="186">
                  <c:v>44983</c:v>
                </c:pt>
                <c:pt idx="187">
                  <c:v>44976</c:v>
                </c:pt>
                <c:pt idx="188">
                  <c:v>44969</c:v>
                </c:pt>
                <c:pt idx="189">
                  <c:v>44962</c:v>
                </c:pt>
                <c:pt idx="190">
                  <c:v>44955</c:v>
                </c:pt>
                <c:pt idx="191">
                  <c:v>44948</c:v>
                </c:pt>
                <c:pt idx="192">
                  <c:v>44941</c:v>
                </c:pt>
                <c:pt idx="193">
                  <c:v>44934</c:v>
                </c:pt>
                <c:pt idx="194">
                  <c:v>44927</c:v>
                </c:pt>
                <c:pt idx="195">
                  <c:v>44920</c:v>
                </c:pt>
                <c:pt idx="196">
                  <c:v>44913</c:v>
                </c:pt>
                <c:pt idx="197">
                  <c:v>44906</c:v>
                </c:pt>
                <c:pt idx="198">
                  <c:v>44899</c:v>
                </c:pt>
                <c:pt idx="199">
                  <c:v>44892</c:v>
                </c:pt>
                <c:pt idx="200">
                  <c:v>44885</c:v>
                </c:pt>
                <c:pt idx="201">
                  <c:v>44878</c:v>
                </c:pt>
                <c:pt idx="202">
                  <c:v>44871</c:v>
                </c:pt>
                <c:pt idx="203">
                  <c:v>44864</c:v>
                </c:pt>
                <c:pt idx="204">
                  <c:v>44857</c:v>
                </c:pt>
                <c:pt idx="205">
                  <c:v>44850</c:v>
                </c:pt>
                <c:pt idx="206">
                  <c:v>44843</c:v>
                </c:pt>
                <c:pt idx="207">
                  <c:v>44836</c:v>
                </c:pt>
                <c:pt idx="208">
                  <c:v>44829</c:v>
                </c:pt>
                <c:pt idx="209">
                  <c:v>44822</c:v>
                </c:pt>
                <c:pt idx="210">
                  <c:v>44815</c:v>
                </c:pt>
                <c:pt idx="211">
                  <c:v>44808</c:v>
                </c:pt>
                <c:pt idx="212">
                  <c:v>44801</c:v>
                </c:pt>
                <c:pt idx="213">
                  <c:v>44794</c:v>
                </c:pt>
                <c:pt idx="214">
                  <c:v>44787</c:v>
                </c:pt>
                <c:pt idx="215">
                  <c:v>44780</c:v>
                </c:pt>
                <c:pt idx="216">
                  <c:v>44773</c:v>
                </c:pt>
                <c:pt idx="217">
                  <c:v>44766</c:v>
                </c:pt>
                <c:pt idx="218">
                  <c:v>44759</c:v>
                </c:pt>
                <c:pt idx="219">
                  <c:v>44752</c:v>
                </c:pt>
                <c:pt idx="220">
                  <c:v>44745</c:v>
                </c:pt>
                <c:pt idx="221">
                  <c:v>44738</c:v>
                </c:pt>
                <c:pt idx="222">
                  <c:v>44731</c:v>
                </c:pt>
                <c:pt idx="223">
                  <c:v>44724</c:v>
                </c:pt>
                <c:pt idx="224">
                  <c:v>44717</c:v>
                </c:pt>
                <c:pt idx="225">
                  <c:v>44710</c:v>
                </c:pt>
                <c:pt idx="226">
                  <c:v>44703</c:v>
                </c:pt>
                <c:pt idx="227">
                  <c:v>44696</c:v>
                </c:pt>
                <c:pt idx="228">
                  <c:v>44689</c:v>
                </c:pt>
                <c:pt idx="229">
                  <c:v>44682</c:v>
                </c:pt>
                <c:pt idx="230">
                  <c:v>44675</c:v>
                </c:pt>
                <c:pt idx="231">
                  <c:v>44668</c:v>
                </c:pt>
                <c:pt idx="232">
                  <c:v>44661</c:v>
                </c:pt>
                <c:pt idx="233">
                  <c:v>44654</c:v>
                </c:pt>
                <c:pt idx="234">
                  <c:v>44647</c:v>
                </c:pt>
                <c:pt idx="235">
                  <c:v>44640</c:v>
                </c:pt>
                <c:pt idx="236">
                  <c:v>44633</c:v>
                </c:pt>
                <c:pt idx="237">
                  <c:v>44626</c:v>
                </c:pt>
                <c:pt idx="238">
                  <c:v>44619</c:v>
                </c:pt>
                <c:pt idx="239">
                  <c:v>44612</c:v>
                </c:pt>
                <c:pt idx="240">
                  <c:v>44605</c:v>
                </c:pt>
                <c:pt idx="241">
                  <c:v>44598</c:v>
                </c:pt>
                <c:pt idx="242">
                  <c:v>44591</c:v>
                </c:pt>
                <c:pt idx="243">
                  <c:v>44584</c:v>
                </c:pt>
                <c:pt idx="244">
                  <c:v>44577</c:v>
                </c:pt>
                <c:pt idx="245">
                  <c:v>44570</c:v>
                </c:pt>
                <c:pt idx="246">
                  <c:v>44563</c:v>
                </c:pt>
                <c:pt idx="247">
                  <c:v>44556</c:v>
                </c:pt>
                <c:pt idx="248">
                  <c:v>44549</c:v>
                </c:pt>
                <c:pt idx="249">
                  <c:v>44542</c:v>
                </c:pt>
                <c:pt idx="250">
                  <c:v>44535</c:v>
                </c:pt>
                <c:pt idx="251">
                  <c:v>44528</c:v>
                </c:pt>
                <c:pt idx="252">
                  <c:v>44521</c:v>
                </c:pt>
                <c:pt idx="253">
                  <c:v>44514</c:v>
                </c:pt>
                <c:pt idx="254">
                  <c:v>44507</c:v>
                </c:pt>
                <c:pt idx="255">
                  <c:v>44500</c:v>
                </c:pt>
                <c:pt idx="256">
                  <c:v>44493</c:v>
                </c:pt>
                <c:pt idx="257">
                  <c:v>44486</c:v>
                </c:pt>
                <c:pt idx="258">
                  <c:v>44479</c:v>
                </c:pt>
                <c:pt idx="259">
                  <c:v>44472</c:v>
                </c:pt>
                <c:pt idx="260">
                  <c:v>44465</c:v>
                </c:pt>
                <c:pt idx="261">
                  <c:v>44458</c:v>
                </c:pt>
                <c:pt idx="262">
                  <c:v>44451</c:v>
                </c:pt>
                <c:pt idx="263">
                  <c:v>44444</c:v>
                </c:pt>
                <c:pt idx="264">
                  <c:v>44437</c:v>
                </c:pt>
                <c:pt idx="265">
                  <c:v>44430</c:v>
                </c:pt>
                <c:pt idx="266">
                  <c:v>44423</c:v>
                </c:pt>
                <c:pt idx="267">
                  <c:v>44416</c:v>
                </c:pt>
                <c:pt idx="268">
                  <c:v>44409</c:v>
                </c:pt>
                <c:pt idx="269">
                  <c:v>44402</c:v>
                </c:pt>
                <c:pt idx="270">
                  <c:v>44395</c:v>
                </c:pt>
                <c:pt idx="271">
                  <c:v>44388</c:v>
                </c:pt>
                <c:pt idx="272">
                  <c:v>44381</c:v>
                </c:pt>
                <c:pt idx="273">
                  <c:v>44374</c:v>
                </c:pt>
                <c:pt idx="274">
                  <c:v>44367</c:v>
                </c:pt>
                <c:pt idx="275">
                  <c:v>44360</c:v>
                </c:pt>
                <c:pt idx="276">
                  <c:v>44353</c:v>
                </c:pt>
                <c:pt idx="277">
                  <c:v>44346</c:v>
                </c:pt>
                <c:pt idx="278">
                  <c:v>44339</c:v>
                </c:pt>
                <c:pt idx="279">
                  <c:v>44332</c:v>
                </c:pt>
                <c:pt idx="280">
                  <c:v>44325</c:v>
                </c:pt>
                <c:pt idx="281">
                  <c:v>44318</c:v>
                </c:pt>
                <c:pt idx="282">
                  <c:v>44311</c:v>
                </c:pt>
                <c:pt idx="283">
                  <c:v>44304</c:v>
                </c:pt>
                <c:pt idx="284">
                  <c:v>44297</c:v>
                </c:pt>
                <c:pt idx="285">
                  <c:v>44290</c:v>
                </c:pt>
                <c:pt idx="286">
                  <c:v>44283</c:v>
                </c:pt>
                <c:pt idx="287">
                  <c:v>44276</c:v>
                </c:pt>
                <c:pt idx="288">
                  <c:v>44269</c:v>
                </c:pt>
                <c:pt idx="289">
                  <c:v>44262</c:v>
                </c:pt>
                <c:pt idx="290">
                  <c:v>44255</c:v>
                </c:pt>
                <c:pt idx="291">
                  <c:v>44248</c:v>
                </c:pt>
                <c:pt idx="292">
                  <c:v>44241</c:v>
                </c:pt>
                <c:pt idx="293">
                  <c:v>44234</c:v>
                </c:pt>
                <c:pt idx="294">
                  <c:v>44227</c:v>
                </c:pt>
                <c:pt idx="295">
                  <c:v>44220</c:v>
                </c:pt>
                <c:pt idx="296">
                  <c:v>44213</c:v>
                </c:pt>
                <c:pt idx="297">
                  <c:v>44206</c:v>
                </c:pt>
                <c:pt idx="298">
                  <c:v>44199</c:v>
                </c:pt>
              </c:numCache>
            </c:numRef>
          </c:cat>
          <c:val>
            <c:numRef>
              <c:f>Feuil1!$L$4:$L$302</c:f>
              <c:numCache>
                <c:formatCode>General</c:formatCode>
                <c:ptCount val="299"/>
                <c:pt idx="0">
                  <c:v>175</c:v>
                </c:pt>
                <c:pt idx="1">
                  <c:v>172</c:v>
                </c:pt>
                <c:pt idx="2">
                  <c:v>172</c:v>
                </c:pt>
                <c:pt idx="3">
                  <c:v>170</c:v>
                </c:pt>
                <c:pt idx="4">
                  <c:v>167</c:v>
                </c:pt>
                <c:pt idx="5">
                  <c:v>162</c:v>
                </c:pt>
                <c:pt idx="6">
                  <c:v>157.30188762265146</c:v>
                </c:pt>
                <c:pt idx="7">
                  <c:v>157.80349364192369</c:v>
                </c:pt>
                <c:pt idx="8">
                  <c:v>155.31746380956571</c:v>
                </c:pt>
                <c:pt idx="9">
                  <c:v>155.81026972323667</c:v>
                </c:pt>
                <c:pt idx="10">
                  <c:v>155.65186782241386</c:v>
                </c:pt>
                <c:pt idx="11">
                  <c:v>154.85545826549918</c:v>
                </c:pt>
                <c:pt idx="12">
                  <c:v>155.6694680336164</c:v>
                </c:pt>
                <c:pt idx="13">
                  <c:v>152.24622695472345</c:v>
                </c:pt>
                <c:pt idx="14">
                  <c:v>153.38144057728692</c:v>
                </c:pt>
                <c:pt idx="15">
                  <c:v>154.37145245742948</c:v>
                </c:pt>
                <c:pt idx="16">
                  <c:v>155.35706428477141</c:v>
                </c:pt>
                <c:pt idx="17">
                  <c:v>156.11387336648039</c:v>
                </c:pt>
                <c:pt idx="18">
                  <c:v>153.24063888766665</c:v>
                </c:pt>
                <c:pt idx="19">
                  <c:v>151.40581686980244</c:v>
                </c:pt>
                <c:pt idx="20">
                  <c:v>152.9194350332204</c:v>
                </c:pt>
                <c:pt idx="21">
                  <c:v>149.87019844238131</c:v>
                </c:pt>
                <c:pt idx="22">
                  <c:v>149.12658951907423</c:v>
                </c:pt>
                <c:pt idx="23">
                  <c:v>152.01742420909051</c:v>
                </c:pt>
                <c:pt idx="24">
                  <c:v>148.46658159897919</c:v>
                </c:pt>
                <c:pt idx="25">
                  <c:v>144.29973159677917</c:v>
                </c:pt>
                <c:pt idx="26">
                  <c:v>140.51568618823427</c:v>
                </c:pt>
                <c:pt idx="27">
                  <c:v>143.5869230430765</c:v>
                </c:pt>
                <c:pt idx="28">
                  <c:v>143.73212478549743</c:v>
                </c:pt>
                <c:pt idx="29">
                  <c:v>146.55695868350418</c:v>
                </c:pt>
                <c:pt idx="30">
                  <c:v>149.13978967747613</c:v>
                </c:pt>
                <c:pt idx="31">
                  <c:v>148.73938487261847</c:v>
                </c:pt>
                <c:pt idx="32">
                  <c:v>147.71857262287148</c:v>
                </c:pt>
                <c:pt idx="33">
                  <c:v>149.15738988867867</c:v>
                </c:pt>
                <c:pt idx="34">
                  <c:v>150.8910106921283</c:v>
                </c:pt>
                <c:pt idx="35">
                  <c:v>149.92739912878955</c:v>
                </c:pt>
                <c:pt idx="36">
                  <c:v>149.43459321511858</c:v>
                </c:pt>
                <c:pt idx="37">
                  <c:v>150.02860034320412</c:v>
                </c:pt>
                <c:pt idx="38">
                  <c:v>146.89136269635236</c:v>
                </c:pt>
                <c:pt idx="39">
                  <c:v>146.28855546266556</c:v>
                </c:pt>
                <c:pt idx="40">
                  <c:v>144.87613851366214</c:v>
                </c:pt>
                <c:pt idx="41">
                  <c:v>144.38333259999118</c:v>
                </c:pt>
                <c:pt idx="42">
                  <c:v>144.77933735204823</c:v>
                </c:pt>
                <c:pt idx="43">
                  <c:v>144.56373476481718</c:v>
                </c:pt>
                <c:pt idx="44">
                  <c:v>142.34170810049719</c:v>
                </c:pt>
                <c:pt idx="45">
                  <c:v>142.14370572446867</c:v>
                </c:pt>
                <c:pt idx="46">
                  <c:v>140.19008228098738</c:v>
                </c:pt>
                <c:pt idx="47">
                  <c:v>142.81251375016498</c:v>
                </c:pt>
                <c:pt idx="48">
                  <c:v>143.16891802701633</c:v>
                </c:pt>
                <c:pt idx="49">
                  <c:v>140.70488845866149</c:v>
                </c:pt>
                <c:pt idx="50">
                  <c:v>140.04928059136711</c:v>
                </c:pt>
                <c:pt idx="51">
                  <c:v>142.46490957891493</c:v>
                </c:pt>
                <c:pt idx="52">
                  <c:v>140.98649183790207</c:v>
                </c:pt>
                <c:pt idx="53">
                  <c:v>142.58371100453203</c:v>
                </c:pt>
                <c:pt idx="54">
                  <c:v>141.24169490033879</c:v>
                </c:pt>
                <c:pt idx="55">
                  <c:v>138.76446517358207</c:v>
                </c:pt>
                <c:pt idx="56">
                  <c:v>141.61129933559201</c:v>
                </c:pt>
                <c:pt idx="57">
                  <c:v>145.68134817617812</c:v>
                </c:pt>
                <c:pt idx="58">
                  <c:v>144.57693492321906</c:v>
                </c:pt>
                <c:pt idx="59">
                  <c:v>145.20614247370966</c:v>
                </c:pt>
                <c:pt idx="60">
                  <c:v>143.75412504950057</c:v>
                </c:pt>
                <c:pt idx="61">
                  <c:v>146.06415276983321</c:v>
                </c:pt>
                <c:pt idx="62">
                  <c:v>145.8925507106085</c:v>
                </c:pt>
                <c:pt idx="63">
                  <c:v>146.61415936991241</c:v>
                </c:pt>
                <c:pt idx="64">
                  <c:v>146.56135873630484</c:v>
                </c:pt>
                <c:pt idx="65">
                  <c:v>144.41413296959561</c:v>
                </c:pt>
                <c:pt idx="66">
                  <c:v>142.79491353896245</c:v>
                </c:pt>
                <c:pt idx="67">
                  <c:v>142.74211290535487</c:v>
                </c:pt>
                <c:pt idx="68">
                  <c:v>142.42970915650989</c:v>
                </c:pt>
                <c:pt idx="69">
                  <c:v>142.05130461565537</c:v>
                </c:pt>
                <c:pt idx="70">
                  <c:v>140.22968275619306</c:v>
                </c:pt>
                <c:pt idx="71">
                  <c:v>140.3924847098165</c:v>
                </c:pt>
                <c:pt idx="72">
                  <c:v>139.30127161525937</c:v>
                </c:pt>
                <c:pt idx="73">
                  <c:v>137.25524706296474</c:v>
                </c:pt>
                <c:pt idx="74">
                  <c:v>133.20719848638183</c:v>
                </c:pt>
                <c:pt idx="75">
                  <c:v>132.96519558234698</c:v>
                </c:pt>
                <c:pt idx="76">
                  <c:v>129.81475777709329</c:v>
                </c:pt>
                <c:pt idx="77">
                  <c:v>129.56835482025787</c:v>
                </c:pt>
                <c:pt idx="78">
                  <c:v>137.44444933339199</c:v>
                </c:pt>
                <c:pt idx="79">
                  <c:v>139.35407224886697</c:v>
                </c:pt>
                <c:pt idx="80">
                  <c:v>139.05926871122455</c:v>
                </c:pt>
                <c:pt idx="81">
                  <c:v>141.01289215470584</c:v>
                </c:pt>
                <c:pt idx="82">
                  <c:v>140.25608307299686</c:v>
                </c:pt>
                <c:pt idx="83">
                  <c:v>137.6908522902275</c:v>
                </c:pt>
                <c:pt idx="84">
                  <c:v>137.95045540546485</c:v>
                </c:pt>
                <c:pt idx="85">
                  <c:v>135.81202974435692</c:v>
                </c:pt>
                <c:pt idx="86">
                  <c:v>135.12562150745808</c:v>
                </c:pt>
                <c:pt idx="87">
                  <c:v>133.23359880318563</c:v>
                </c:pt>
                <c:pt idx="88">
                  <c:v>133.57240286883442</c:v>
                </c:pt>
                <c:pt idx="89">
                  <c:v>135.29722356668279</c:v>
                </c:pt>
                <c:pt idx="90">
                  <c:v>134.37321247854973</c:v>
                </c:pt>
                <c:pt idx="91">
                  <c:v>130.56716680600167</c:v>
                </c:pt>
                <c:pt idx="92">
                  <c:v>130.39116469397632</c:v>
                </c:pt>
                <c:pt idx="93">
                  <c:v>130.64636775641307</c:v>
                </c:pt>
                <c:pt idx="94">
                  <c:v>128.27473929687153</c:v>
                </c:pt>
                <c:pt idx="95">
                  <c:v>128.72354468253619</c:v>
                </c:pt>
                <c:pt idx="96">
                  <c:v>127.94473533682402</c:v>
                </c:pt>
                <c:pt idx="97">
                  <c:v>129.84995819949839</c:v>
                </c:pt>
                <c:pt idx="98">
                  <c:v>130.31636379636555</c:v>
                </c:pt>
                <c:pt idx="99">
                  <c:v>130.23716284595415</c:v>
                </c:pt>
                <c:pt idx="100">
                  <c:v>131.85638227658731</c:v>
                </c:pt>
                <c:pt idx="101">
                  <c:v>133.04879658555902</c:v>
                </c:pt>
                <c:pt idx="102">
                  <c:v>133.52840234082811</c:v>
                </c:pt>
                <c:pt idx="103">
                  <c:v>131.58797905574866</c:v>
                </c:pt>
                <c:pt idx="104">
                  <c:v>134.65041580498965</c:v>
                </c:pt>
                <c:pt idx="105">
                  <c:v>133.41400096801158</c:v>
                </c:pt>
                <c:pt idx="106">
                  <c:v>128.83354600255203</c:v>
                </c:pt>
                <c:pt idx="107">
                  <c:v>130.23276279315351</c:v>
                </c:pt>
                <c:pt idx="108">
                  <c:v>130.53636643639723</c:v>
                </c:pt>
                <c:pt idx="109">
                  <c:v>129.83235798829585</c:v>
                </c:pt>
                <c:pt idx="110">
                  <c:v>127.53113037356447</c:v>
                </c:pt>
                <c:pt idx="111">
                  <c:v>126.37391648699783</c:v>
                </c:pt>
                <c:pt idx="112">
                  <c:v>129.52875434505214</c:v>
                </c:pt>
                <c:pt idx="113">
                  <c:v>130.05676068112817</c:v>
                </c:pt>
                <c:pt idx="114">
                  <c:v>132.36678840146081</c:v>
                </c:pt>
                <c:pt idx="115">
                  <c:v>131.53957847494169</c:v>
                </c:pt>
                <c:pt idx="116">
                  <c:v>130.58916707000486</c:v>
                </c:pt>
                <c:pt idx="117">
                  <c:v>126.54111849342191</c:v>
                </c:pt>
                <c:pt idx="118">
                  <c:v>129.26475117701409</c:v>
                </c:pt>
                <c:pt idx="119">
                  <c:v>132.74079288951469</c:v>
                </c:pt>
                <c:pt idx="120">
                  <c:v>137.28164737976854</c:v>
                </c:pt>
                <c:pt idx="121">
                  <c:v>135.97043164517973</c:v>
                </c:pt>
                <c:pt idx="122">
                  <c:v>134.83521802261626</c:v>
                </c:pt>
                <c:pt idx="123">
                  <c:v>135.18282219386631</c:v>
                </c:pt>
                <c:pt idx="124">
                  <c:v>132.52519030228362</c:v>
                </c:pt>
                <c:pt idx="125">
                  <c:v>130.0479605755269</c:v>
                </c:pt>
                <c:pt idx="126">
                  <c:v>129.09314911778941</c:v>
                </c:pt>
                <c:pt idx="127">
                  <c:v>129.26915122981478</c:v>
                </c:pt>
                <c:pt idx="128">
                  <c:v>129.8939587275047</c:v>
                </c:pt>
                <c:pt idx="129">
                  <c:v>131.1743740924891</c:v>
                </c:pt>
                <c:pt idx="130">
                  <c:v>130.34716416596999</c:v>
                </c:pt>
                <c:pt idx="131">
                  <c:v>127.41232894794736</c:v>
                </c:pt>
                <c:pt idx="132">
                  <c:v>126.70392044704535</c:v>
                </c:pt>
                <c:pt idx="133">
                  <c:v>126.86232234786816</c:v>
                </c:pt>
                <c:pt idx="134">
                  <c:v>125.74470893650722</c:v>
                </c:pt>
                <c:pt idx="135">
                  <c:v>126.85352224226692</c:v>
                </c:pt>
                <c:pt idx="136">
                  <c:v>127.45192942315309</c:v>
                </c:pt>
                <c:pt idx="137">
                  <c:v>125.6083072996876</c:v>
                </c:pt>
                <c:pt idx="138">
                  <c:v>125.5027060324724</c:v>
                </c:pt>
                <c:pt idx="139">
                  <c:v>124.39829277951335</c:v>
                </c:pt>
                <c:pt idx="140">
                  <c:v>123.32907994895939</c:v>
                </c:pt>
                <c:pt idx="141">
                  <c:v>122.96387556650679</c:v>
                </c:pt>
                <c:pt idx="142">
                  <c:v>123.56668280019359</c:v>
                </c:pt>
                <c:pt idx="143">
                  <c:v>124.29269151229816</c:v>
                </c:pt>
                <c:pt idx="144">
                  <c:v>123.67668412020943</c:v>
                </c:pt>
                <c:pt idx="145">
                  <c:v>121.96506358076296</c:v>
                </c:pt>
                <c:pt idx="146">
                  <c:v>122.01786421437058</c:v>
                </c:pt>
                <c:pt idx="147">
                  <c:v>121.62625951511419</c:v>
                </c:pt>
                <c:pt idx="148">
                  <c:v>121.47225766709199</c:v>
                </c:pt>
                <c:pt idx="149">
                  <c:v>120.53064636775642</c:v>
                </c:pt>
                <c:pt idx="150">
                  <c:v>119.38223258679103</c:v>
                </c:pt>
                <c:pt idx="151">
                  <c:v>117.86861442337306</c:v>
                </c:pt>
                <c:pt idx="152">
                  <c:v>115.13618163417961</c:v>
                </c:pt>
                <c:pt idx="153">
                  <c:v>116.27579530954371</c:v>
                </c:pt>
                <c:pt idx="154">
                  <c:v>119.9542394508734</c:v>
                </c:pt>
                <c:pt idx="155">
                  <c:v>120.48224578694943</c:v>
                </c:pt>
                <c:pt idx="156">
                  <c:v>122.13226558718704</c:v>
                </c:pt>
                <c:pt idx="157">
                  <c:v>124.0506886082633</c:v>
                </c:pt>
                <c:pt idx="158">
                  <c:v>125.26950323403881</c:v>
                </c:pt>
                <c:pt idx="159">
                  <c:v>125.951511418137</c:v>
                </c:pt>
                <c:pt idx="160">
                  <c:v>125.58630703568443</c:v>
                </c:pt>
                <c:pt idx="161">
                  <c:v>125.66110793329518</c:v>
                </c:pt>
                <c:pt idx="162">
                  <c:v>125.30910370924451</c:v>
                </c:pt>
                <c:pt idx="163">
                  <c:v>126.01751221014649</c:v>
                </c:pt>
                <c:pt idx="164">
                  <c:v>125.85911030932371</c:v>
                </c:pt>
                <c:pt idx="165">
                  <c:v>127.34632815593787</c:v>
                </c:pt>
                <c:pt idx="166">
                  <c:v>126.78312139745675</c:v>
                </c:pt>
                <c:pt idx="167">
                  <c:v>126.14951379416553</c:v>
                </c:pt>
                <c:pt idx="168">
                  <c:v>124.3146917763013</c:v>
                </c:pt>
                <c:pt idx="169">
                  <c:v>123.1750781009372</c:v>
                </c:pt>
                <c:pt idx="170">
                  <c:v>119.84863818365821</c:v>
                </c:pt>
                <c:pt idx="171">
                  <c:v>118.63862366348394</c:v>
                </c:pt>
                <c:pt idx="172">
                  <c:v>118.48462181546178</c:v>
                </c:pt>
                <c:pt idx="173">
                  <c:v>117.40220882650591</c:v>
                </c:pt>
                <c:pt idx="174">
                  <c:v>117.08100497205965</c:v>
                </c:pt>
                <c:pt idx="175">
                  <c:v>116.48699784397411</c:v>
                </c:pt>
                <c:pt idx="176">
                  <c:v>116.21859462313546</c:v>
                </c:pt>
                <c:pt idx="177">
                  <c:v>115.10538126457519</c:v>
                </c:pt>
                <c:pt idx="178">
                  <c:v>114.73577682932195</c:v>
                </c:pt>
                <c:pt idx="179">
                  <c:v>116.26699520394243</c:v>
                </c:pt>
                <c:pt idx="180">
                  <c:v>115.80498965987591</c:v>
                </c:pt>
                <c:pt idx="181">
                  <c:v>114.17697012364147</c:v>
                </c:pt>
                <c:pt idx="182">
                  <c:v>114.35297223566683</c:v>
                </c:pt>
                <c:pt idx="183">
                  <c:v>115.54538654463855</c:v>
                </c:pt>
                <c:pt idx="184">
                  <c:v>115.08778105337262</c:v>
                </c:pt>
                <c:pt idx="185">
                  <c:v>117.98741584899017</c:v>
                </c:pt>
                <c:pt idx="186">
                  <c:v>118.76622519470234</c:v>
                </c:pt>
                <c:pt idx="187">
                  <c:v>118.3042196506358</c:v>
                </c:pt>
                <c:pt idx="188">
                  <c:v>118.98622783473402</c:v>
                </c:pt>
                <c:pt idx="189">
                  <c:v>118.09741716900601</c:v>
                </c:pt>
                <c:pt idx="190">
                  <c:v>118.38782065384785</c:v>
                </c:pt>
                <c:pt idx="191">
                  <c:v>118.45822149865799</c:v>
                </c:pt>
                <c:pt idx="192">
                  <c:v>117.65301183614203</c:v>
                </c:pt>
                <c:pt idx="193">
                  <c:v>117.88181458177498</c:v>
                </c:pt>
                <c:pt idx="194">
                  <c:v>116.62779953359438</c:v>
                </c:pt>
                <c:pt idx="195">
                  <c:v>114.63457561490735</c:v>
                </c:pt>
                <c:pt idx="196">
                  <c:v>114.87657851894222</c:v>
                </c:pt>
                <c:pt idx="197">
                  <c:v>114.99537994455935</c:v>
                </c:pt>
                <c:pt idx="198">
                  <c:v>114.55097461169532</c:v>
                </c:pt>
                <c:pt idx="199">
                  <c:v>115.72578870946451</c:v>
                </c:pt>
                <c:pt idx="200">
                  <c:v>112.61935143221717</c:v>
                </c:pt>
                <c:pt idx="201">
                  <c:v>111.28173538082456</c:v>
                </c:pt>
                <c:pt idx="202">
                  <c:v>109.13450961411537</c:v>
                </c:pt>
                <c:pt idx="203">
                  <c:v>107.1368856426277</c:v>
                </c:pt>
                <c:pt idx="204">
                  <c:v>107.08408500902011</c:v>
                </c:pt>
                <c:pt idx="205">
                  <c:v>106.08967307607691</c:v>
                </c:pt>
                <c:pt idx="206">
                  <c:v>103.21643859726318</c:v>
                </c:pt>
                <c:pt idx="207">
                  <c:v>103.25603907246885</c:v>
                </c:pt>
                <c:pt idx="208">
                  <c:v>100.34760417125005</c:v>
                </c:pt>
                <c:pt idx="209">
                  <c:v>102.44202930435165</c:v>
                </c:pt>
                <c:pt idx="210">
                  <c:v>104.70805649667795</c:v>
                </c:pt>
                <c:pt idx="211">
                  <c:v>104.37805253663043</c:v>
                </c:pt>
                <c:pt idx="212">
                  <c:v>105.71126853522242</c:v>
                </c:pt>
                <c:pt idx="213">
                  <c:v>107.33048796585558</c:v>
                </c:pt>
                <c:pt idx="214">
                  <c:v>108.76930523166277</c:v>
                </c:pt>
                <c:pt idx="215">
                  <c:v>109.57011484137809</c:v>
                </c:pt>
                <c:pt idx="216">
                  <c:v>109.04210850530205</c:v>
                </c:pt>
                <c:pt idx="217">
                  <c:v>102.3452281427377</c:v>
                </c:pt>
                <c:pt idx="218">
                  <c:v>103.18123817485809</c:v>
                </c:pt>
                <c:pt idx="219">
                  <c:v>101.27601531218373</c:v>
                </c:pt>
                <c:pt idx="220">
                  <c:v>101.7952215426585</c:v>
                </c:pt>
                <c:pt idx="221">
                  <c:v>102.48602983235797</c:v>
                </c:pt>
                <c:pt idx="222">
                  <c:v>103.27363928367139</c:v>
                </c:pt>
                <c:pt idx="223">
                  <c:v>104.58045496545958</c:v>
                </c:pt>
                <c:pt idx="224">
                  <c:v>109.98371980463766</c:v>
                </c:pt>
                <c:pt idx="225">
                  <c:v>108.39970079640955</c:v>
                </c:pt>
                <c:pt idx="226">
                  <c:v>107.40088881066572</c:v>
                </c:pt>
                <c:pt idx="227">
                  <c:v>106.97848374180489</c:v>
                </c:pt>
                <c:pt idx="228">
                  <c:v>105.49566594799136</c:v>
                </c:pt>
                <c:pt idx="229">
                  <c:v>107.20288643463721</c:v>
                </c:pt>
                <c:pt idx="230">
                  <c:v>107.72649271791262</c:v>
                </c:pt>
                <c:pt idx="231">
                  <c:v>108.41730100761208</c:v>
                </c:pt>
                <c:pt idx="232">
                  <c:v>108.1972983675804</c:v>
                </c:pt>
                <c:pt idx="233">
                  <c:v>108.88810665727988</c:v>
                </c:pt>
                <c:pt idx="234">
                  <c:v>109.94411932943196</c:v>
                </c:pt>
                <c:pt idx="235">
                  <c:v>108.50090201082412</c:v>
                </c:pt>
                <c:pt idx="236">
                  <c:v>108.2104985259823</c:v>
                </c:pt>
                <c:pt idx="237">
                  <c:v>105.87407048884587</c:v>
                </c:pt>
                <c:pt idx="238">
                  <c:v>107.02688432261186</c:v>
                </c:pt>
                <c:pt idx="239">
                  <c:v>104.67725612707352</c:v>
                </c:pt>
                <c:pt idx="240">
                  <c:v>109.05970871650459</c:v>
                </c:pt>
                <c:pt idx="241">
                  <c:v>110.18172218066616</c:v>
                </c:pt>
                <c:pt idx="242">
                  <c:v>109.63171558058696</c:v>
                </c:pt>
                <c:pt idx="243">
                  <c:v>109.42931315175781</c:v>
                </c:pt>
                <c:pt idx="244">
                  <c:v>112.71615259383113</c:v>
                </c:pt>
                <c:pt idx="245">
                  <c:v>112.88775465305582</c:v>
                </c:pt>
                <c:pt idx="246">
                  <c:v>112.64135169622035</c:v>
                </c:pt>
                <c:pt idx="247">
                  <c:v>112.39054868658425</c:v>
                </c:pt>
                <c:pt idx="248">
                  <c:v>111.09693316319795</c:v>
                </c:pt>
                <c:pt idx="249">
                  <c:v>110.30932371188453</c:v>
                </c:pt>
                <c:pt idx="250">
                  <c:v>111.40493685924231</c:v>
                </c:pt>
                <c:pt idx="251">
                  <c:v>110.37532450389405</c:v>
                </c:pt>
                <c:pt idx="252">
                  <c:v>112.72495269943239</c:v>
                </c:pt>
                <c:pt idx="253">
                  <c:v>112.79975359704318</c:v>
                </c:pt>
                <c:pt idx="254">
                  <c:v>112.4785497425969</c:v>
                </c:pt>
                <c:pt idx="255">
                  <c:v>113.48616183394201</c:v>
                </c:pt>
                <c:pt idx="256">
                  <c:v>113.09015708188497</c:v>
                </c:pt>
                <c:pt idx="257">
                  <c:v>112.80855370264442</c:v>
                </c:pt>
                <c:pt idx="258">
                  <c:v>112.68975227702734</c:v>
                </c:pt>
                <c:pt idx="259">
                  <c:v>111.68214018568221</c:v>
                </c:pt>
                <c:pt idx="260">
                  <c:v>111.72174066088792</c:v>
                </c:pt>
                <c:pt idx="261">
                  <c:v>112.65015180182161</c:v>
                </c:pt>
                <c:pt idx="262">
                  <c:v>112.24534694416333</c:v>
                </c:pt>
                <c:pt idx="263">
                  <c:v>112.82615391384697</c:v>
                </c:pt>
                <c:pt idx="264">
                  <c:v>113.58736304835656</c:v>
                </c:pt>
                <c:pt idx="265">
                  <c:v>112.68095217142604</c:v>
                </c:pt>
                <c:pt idx="266">
                  <c:v>111.66013992167908</c:v>
                </c:pt>
                <c:pt idx="267">
                  <c:v>112.89215470585646</c:v>
                </c:pt>
                <c:pt idx="268">
                  <c:v>113.14295771549257</c:v>
                </c:pt>
                <c:pt idx="269">
                  <c:v>112.72935275223301</c:v>
                </c:pt>
                <c:pt idx="270">
                  <c:v>110.49412592951116</c:v>
                </c:pt>
                <c:pt idx="271">
                  <c:v>110.42372508470102</c:v>
                </c:pt>
                <c:pt idx="272">
                  <c:v>111.68654023848286</c:v>
                </c:pt>
                <c:pt idx="273">
                  <c:v>113.06375676508115</c:v>
                </c:pt>
                <c:pt idx="274">
                  <c:v>112.333348000176</c:v>
                </c:pt>
                <c:pt idx="275">
                  <c:v>112.02094425133102</c:v>
                </c:pt>
                <c:pt idx="276">
                  <c:v>110.23892286707439</c:v>
                </c:pt>
                <c:pt idx="277">
                  <c:v>110.27412328947948</c:v>
                </c:pt>
                <c:pt idx="278">
                  <c:v>109.34131209574514</c:v>
                </c:pt>
                <c:pt idx="279">
                  <c:v>108.71650459805518</c:v>
                </c:pt>
                <c:pt idx="280">
                  <c:v>107.52409028908347</c:v>
                </c:pt>
                <c:pt idx="281">
                  <c:v>106.99608395300741</c:v>
                </c:pt>
                <c:pt idx="282">
                  <c:v>107.28208738504861</c:v>
                </c:pt>
                <c:pt idx="283">
                  <c:v>106.27887534650415</c:v>
                </c:pt>
                <c:pt idx="284">
                  <c:v>105.64086769041228</c:v>
                </c:pt>
                <c:pt idx="285">
                  <c:v>106.44167730012759</c:v>
                </c:pt>
                <c:pt idx="286">
                  <c:v>104.31205174462093</c:v>
                </c:pt>
                <c:pt idx="287">
                  <c:v>103.96444757337086</c:v>
                </c:pt>
                <c:pt idx="288">
                  <c:v>104.39125269503234</c:v>
                </c:pt>
                <c:pt idx="289">
                  <c:v>102.26602719232629</c:v>
                </c:pt>
                <c:pt idx="290">
                  <c:v>101.46081752981036</c:v>
                </c:pt>
                <c:pt idx="291">
                  <c:v>101.85242222906675</c:v>
                </c:pt>
                <c:pt idx="292">
                  <c:v>102.74563294759535</c:v>
                </c:pt>
                <c:pt idx="293">
                  <c:v>101.55321863862366</c:v>
                </c:pt>
                <c:pt idx="294">
                  <c:v>99.964799577594917</c:v>
                </c:pt>
                <c:pt idx="295">
                  <c:v>97.597571170854053</c:v>
                </c:pt>
                <c:pt idx="296">
                  <c:v>100</c:v>
                </c:pt>
                <c:pt idx="297">
                  <c:v>99.55999471993664</c:v>
                </c:pt>
                <c:pt idx="298">
                  <c:v>100</c:v>
                </c:pt>
              </c:numCache>
            </c:numRef>
          </c:val>
          <c:smooth val="0"/>
          <c:extLst>
            <c:ext xmlns:c16="http://schemas.microsoft.com/office/drawing/2014/chart" uri="{C3380CC4-5D6E-409C-BE32-E72D297353CC}">
              <c16:uniqueId val="{00000001-9CA7-1640-AC1B-846166C4A072}"/>
            </c:ext>
          </c:extLst>
        </c:ser>
        <c:dLbls>
          <c:showLegendKey val="0"/>
          <c:showVal val="0"/>
          <c:showCatName val="0"/>
          <c:showSerName val="0"/>
          <c:showPercent val="0"/>
          <c:showBubbleSize val="0"/>
        </c:dLbls>
        <c:smooth val="0"/>
        <c:axId val="2071188736"/>
        <c:axId val="2071191424"/>
      </c:lineChart>
      <c:dateAx>
        <c:axId val="2071188736"/>
        <c:scaling>
          <c:orientation val="minMax"/>
        </c:scaling>
        <c:delete val="0"/>
        <c:axPos val="b"/>
        <c:numFmt formatCode="yyyy" sourceLinked="0"/>
        <c:majorTickMark val="out"/>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Jost Medium" pitchFamily="2" charset="77"/>
                <a:ea typeface="Jost Medium" pitchFamily="2" charset="77"/>
                <a:cs typeface="+mn-cs"/>
              </a:defRPr>
            </a:pPr>
            <a:endParaRPr lang="fr-FR"/>
          </a:p>
        </c:txPr>
        <c:crossAx val="2071191424"/>
        <c:crosses val="autoZero"/>
        <c:auto val="1"/>
        <c:lblOffset val="100"/>
        <c:baseTimeUnit val="days"/>
        <c:majorUnit val="1"/>
        <c:majorTimeUnit val="years"/>
      </c:dateAx>
      <c:valAx>
        <c:axId val="2071191424"/>
        <c:scaling>
          <c:orientation val="minMax"/>
          <c:min val="8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Jost Medium" pitchFamily="2" charset="77"/>
                <a:ea typeface="Jost Medium" pitchFamily="2" charset="77"/>
                <a:cs typeface="+mn-cs"/>
              </a:defRPr>
            </a:pPr>
            <a:endParaRPr lang="fr-FR"/>
          </a:p>
        </c:txPr>
        <c:crossAx val="2071188736"/>
        <c:crosses val="autoZero"/>
        <c:crossBetween val="between"/>
        <c:majorUnit val="20"/>
        <c:minorUnit val="10"/>
      </c:valAx>
      <c:spPr>
        <a:pattFill prst="narHorz">
          <a:fgClr>
            <a:srgbClr val="E7DCC7"/>
          </a:fgClr>
          <a:bgClr>
            <a:schemeClr val="bg1"/>
          </a:bgClr>
        </a:pattFill>
        <a:ln>
          <a:noFill/>
        </a:ln>
        <a:effectLst/>
      </c:spPr>
    </c:plotArea>
    <c:legend>
      <c:legendPos val="b"/>
      <c:layout>
        <c:manualLayout>
          <c:xMode val="edge"/>
          <c:yMode val="edge"/>
          <c:x val="0.26487914130102691"/>
          <c:y val="0.92211219956839618"/>
          <c:w val="0.46530807901979071"/>
          <c:h val="4.9507512619730736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Jost Medium" pitchFamily="2" charset="77"/>
              <a:ea typeface="Jost Medium" pitchFamily="2" charset="77"/>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066785884188764"/>
          <c:y val="3.1427310883810351E-2"/>
          <c:w val="0.86698051344725802"/>
          <c:h val="0.78727186106439984"/>
        </c:manualLayout>
      </c:layout>
      <c:scatterChart>
        <c:scatterStyle val="lineMarker"/>
        <c:varyColors val="1"/>
        <c:ser>
          <c:idx val="0"/>
          <c:order val="0"/>
          <c:tx>
            <c:v>ETF obligataires</c:v>
          </c:tx>
          <c:spPr>
            <a:ln w="38100">
              <a:noFill/>
            </a:ln>
          </c:spPr>
          <c:marker>
            <c:spPr>
              <a:solidFill>
                <a:srgbClr val="AB853F"/>
              </a:solidFill>
              <a:ln>
                <a:noFill/>
              </a:ln>
            </c:spPr>
          </c:marker>
          <c:dLbls>
            <c:dLbl>
              <c:idx val="0"/>
              <c:tx>
                <c:rich>
                  <a:bodyPr/>
                  <a:lstStyle/>
                  <a:p>
                    <a:r>
                      <a:rPr lang="en-US"/>
                      <a:t>ETF souverain (1 à 3 ans)</a:t>
                    </a:r>
                    <a:endParaRPr lang="en-US" dirty="0"/>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7760-C942-BDFC-DEBA29BDC004}"/>
                </c:ext>
              </c:extLst>
            </c:dLbl>
            <c:dLbl>
              <c:idx val="1"/>
              <c:tx>
                <c:rich>
                  <a:bodyPr/>
                  <a:lstStyle/>
                  <a:p>
                    <a:r>
                      <a:rPr lang="en-US"/>
                      <a:t>ETF souverain (7 à 10 ans)</a:t>
                    </a:r>
                    <a:endParaRPr lang="en-US" dirty="0"/>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7760-C942-BDFC-DEBA29BDC004}"/>
                </c:ext>
              </c:extLst>
            </c:dLbl>
            <c:dLbl>
              <c:idx val="2"/>
              <c:tx>
                <c:rich>
                  <a:bodyPr/>
                  <a:lstStyle/>
                  <a:p>
                    <a:r>
                      <a:rPr lang="en-US" dirty="0"/>
                      <a:t>ETF credit Investment Grade</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760-C942-BDFC-DEBA29BDC004}"/>
                </c:ext>
              </c:extLst>
            </c:dLbl>
            <c:dLbl>
              <c:idx val="3"/>
              <c:layout>
                <c:manualLayout>
                  <c:x val="-5.3949094993311587E-3"/>
                  <c:y val="7.3529411764705656E-3"/>
                </c:manualLayout>
              </c:layout>
              <c:tx>
                <c:rich>
                  <a:bodyPr wrap="square" lIns="38100" tIns="19050" rIns="38100" bIns="19050" anchor="ctr">
                    <a:noAutofit/>
                  </a:bodyPr>
                  <a:lstStyle/>
                  <a:p>
                    <a:pPr>
                      <a:defRPr sz="900" b="0" i="0">
                        <a:solidFill>
                          <a:srgbClr val="AB853F"/>
                        </a:solidFill>
                        <a:latin typeface="Jost Medium" pitchFamily="2" charset="77"/>
                        <a:ea typeface="Jost Medium" pitchFamily="2" charset="77"/>
                      </a:defRPr>
                    </a:pPr>
                    <a:r>
                      <a:rPr lang="en-US" dirty="0"/>
                      <a:t>ETF High Yield</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layout>
                    <c:manualLayout>
                      <c:w val="9.4862192109131369E-2"/>
                      <c:h val="8.3345684730585151E-2"/>
                    </c:manualLayout>
                  </c15:layout>
                  <c15:showDataLabelsRange val="0"/>
                </c:ext>
                <c:ext xmlns:c16="http://schemas.microsoft.com/office/drawing/2014/chart" uri="{C3380CC4-5D6E-409C-BE32-E72D297353CC}">
                  <c16:uniqueId val="{00000008-7760-C942-BDFC-DEBA29BDC004}"/>
                </c:ext>
              </c:extLst>
            </c:dLbl>
            <c:spPr>
              <a:noFill/>
              <a:ln>
                <a:noFill/>
              </a:ln>
              <a:effectLst/>
            </c:spPr>
            <c:txPr>
              <a:bodyPr wrap="square" lIns="38100" tIns="19050" rIns="38100" bIns="19050" anchor="ctr">
                <a:spAutoFit/>
              </a:bodyPr>
              <a:lstStyle/>
              <a:p>
                <a:pPr>
                  <a:defRPr sz="900" b="0" i="0">
                    <a:solidFill>
                      <a:srgbClr val="AB853F"/>
                    </a:solidFill>
                    <a:latin typeface="Jost Medium" pitchFamily="2" charset="77"/>
                    <a:ea typeface="Jost Medium" pitchFamily="2" charset="77"/>
                  </a:defRPr>
                </a:pPr>
                <a:endParaRPr lang="fr-FR"/>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xVal>
            <c:numLit>
              <c:ptCount val="0"/>
            </c:numLit>
          </c:xVal>
          <c:yVal>
            <c:numRef>
              <c:f>'Matrice obligataire'!$C$6:$C$9</c:f>
              <c:numCache>
                <c:formatCode>0.0"%"</c:formatCode>
                <c:ptCount val="4"/>
                <c:pt idx="0">
                  <c:v>2.6</c:v>
                </c:pt>
                <c:pt idx="1">
                  <c:v>3.1</c:v>
                </c:pt>
                <c:pt idx="2">
                  <c:v>3.7</c:v>
                </c:pt>
                <c:pt idx="3">
                  <c:v>5.8</c:v>
                </c:pt>
              </c:numCache>
            </c:numRef>
          </c:yVal>
          <c:smooth val="0"/>
          <c:extLst>
            <c:ext xmlns:c16="http://schemas.microsoft.com/office/drawing/2014/chart" uri="{C3380CC4-5D6E-409C-BE32-E72D297353CC}">
              <c16:uniqueId val="{00000000-7760-C942-BDFC-DEBA29BDC004}"/>
            </c:ext>
          </c:extLst>
        </c:ser>
        <c:ser>
          <c:idx val="1"/>
          <c:order val="1"/>
          <c:tx>
            <c:v>Fonds obligataires alternatifs</c:v>
          </c:tx>
          <c:spPr>
            <a:ln w="38100">
              <a:noFill/>
            </a:ln>
          </c:spPr>
          <c:marker>
            <c:symbol val="square"/>
            <c:size val="6"/>
            <c:spPr>
              <a:solidFill>
                <a:srgbClr val="144629"/>
              </a:solidFill>
              <a:ln>
                <a:noFill/>
              </a:ln>
            </c:spPr>
          </c:marker>
          <c:dLbls>
            <c:dLbl>
              <c:idx val="0"/>
              <c:layout>
                <c:manualLayout>
                  <c:x val="-1.0400362357683449E-2"/>
                  <c:y val="1.3480392156862746E-2"/>
                </c:manualLayout>
              </c:layout>
              <c:tx>
                <c:rich>
                  <a:bodyPr wrap="square" lIns="38100" tIns="19050" rIns="38100" bIns="19050" anchor="ctr">
                    <a:noAutofit/>
                  </a:bodyPr>
                  <a:lstStyle/>
                  <a:p>
                    <a:pPr>
                      <a:defRPr sz="900">
                        <a:solidFill>
                          <a:srgbClr val="144629"/>
                        </a:solidFill>
                        <a:latin typeface="Jost Medium" pitchFamily="2" charset="77"/>
                        <a:ea typeface="Jost Medium" pitchFamily="2" charset="77"/>
                      </a:defRPr>
                    </a:pPr>
                    <a:r>
                      <a:rPr lang="en-US" sz="900" dirty="0">
                        <a:solidFill>
                          <a:srgbClr val="144629"/>
                        </a:solidFill>
                      </a:rPr>
                      <a:t>Fonds </a:t>
                    </a:r>
                    <a:r>
                      <a:rPr lang="en-US" sz="900" dirty="0" err="1">
                        <a:solidFill>
                          <a:srgbClr val="144629"/>
                        </a:solidFill>
                      </a:rPr>
                      <a:t>obligataires</a:t>
                    </a:r>
                    <a:r>
                      <a:rPr lang="en-US" sz="900" dirty="0">
                        <a:solidFill>
                          <a:srgbClr val="144629"/>
                        </a:solidFill>
                      </a:rPr>
                      <a:t> flexible</a:t>
                    </a:r>
                  </a:p>
                </c:rich>
              </c:tx>
              <c:spPr>
                <a:noFill/>
                <a:ln>
                  <a:noFill/>
                </a:ln>
                <a:effectLst/>
              </c:spPr>
              <c:dLblPos val="r"/>
              <c:showLegendKey val="0"/>
              <c:showVal val="1"/>
              <c:showCatName val="0"/>
              <c:showSerName val="0"/>
              <c:showPercent val="0"/>
              <c:showBubbleSize val="0"/>
              <c:extLst>
                <c:ext xmlns:c15="http://schemas.microsoft.com/office/drawing/2012/chart" uri="{CE6537A1-D6FC-4f65-9D91-7224C49458BB}">
                  <c15:layout>
                    <c:manualLayout>
                      <c:w val="0.16144422526688443"/>
                      <c:h val="7.2450980392156861E-2"/>
                    </c:manualLayout>
                  </c15:layout>
                  <c15:showDataLabelsRange val="0"/>
                </c:ext>
                <c:ext xmlns:c16="http://schemas.microsoft.com/office/drawing/2014/chart" uri="{C3380CC4-5D6E-409C-BE32-E72D297353CC}">
                  <c16:uniqueId val="{00000002-7760-C942-BDFC-DEBA29BDC004}"/>
                </c:ext>
              </c:extLst>
            </c:dLbl>
            <c:dLbl>
              <c:idx val="1"/>
              <c:tx>
                <c:rich>
                  <a:bodyPr/>
                  <a:lstStyle/>
                  <a:p>
                    <a:r>
                      <a:rPr lang="en-US"/>
                      <a:t>Performance absolue obligataire</a:t>
                    </a:r>
                    <a:endParaRPr lang="en-US" dirty="0"/>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760-C942-BDFC-DEBA29BDC004}"/>
                </c:ext>
              </c:extLst>
            </c:dLbl>
            <c:dLbl>
              <c:idx val="2"/>
              <c:tx>
                <c:rich>
                  <a:bodyPr/>
                  <a:lstStyle/>
                  <a:p>
                    <a:r>
                      <a:rPr lang="en-US"/>
                      <a:t>Crédit opportuniste</a:t>
                    </a:r>
                    <a:endParaRPr lang="en-US" dirty="0"/>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760-C942-BDFC-DEBA29BDC004}"/>
                </c:ext>
              </c:extLst>
            </c:dLbl>
            <c:spPr>
              <a:noFill/>
              <a:ln>
                <a:noFill/>
              </a:ln>
              <a:effectLst/>
            </c:spPr>
            <c:txPr>
              <a:bodyPr wrap="square" lIns="38100" tIns="19050" rIns="38100" bIns="19050" anchor="ctr">
                <a:spAutoFit/>
              </a:bodyPr>
              <a:lstStyle/>
              <a:p>
                <a:pPr>
                  <a:defRPr sz="900">
                    <a:solidFill>
                      <a:srgbClr val="144629"/>
                    </a:solidFill>
                    <a:latin typeface="Jost Medium" pitchFamily="2" charset="77"/>
                    <a:ea typeface="Jost Medium" pitchFamily="2" charset="77"/>
                  </a:defRPr>
                </a:pPr>
                <a:endParaRPr lang="fr-FR"/>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xVal>
            <c:numLit>
              <c:ptCount val="0"/>
            </c:numLit>
          </c:xVal>
          <c:yVal>
            <c:numRef>
              <c:f>'Matrice obligataire'!$C$10:$C$12</c:f>
              <c:numCache>
                <c:formatCode>0.0"%"</c:formatCode>
                <c:ptCount val="3"/>
                <c:pt idx="0">
                  <c:v>4.5999999999999996</c:v>
                </c:pt>
                <c:pt idx="1">
                  <c:v>3.9</c:v>
                </c:pt>
                <c:pt idx="2">
                  <c:v>6.3</c:v>
                </c:pt>
              </c:numCache>
            </c:numRef>
          </c:yVal>
          <c:smooth val="0"/>
          <c:extLst>
            <c:ext xmlns:c16="http://schemas.microsoft.com/office/drawing/2014/chart" uri="{C3380CC4-5D6E-409C-BE32-E72D297353CC}">
              <c16:uniqueId val="{00000001-7760-C942-BDFC-DEBA29BDC004}"/>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majorGridlines>
          <c:spPr>
            <a:ln w="9525">
              <a:solidFill>
                <a:srgbClr val="CCCCCC"/>
              </a:solidFill>
              <a:prstDash val="dash"/>
            </a:ln>
          </c:spPr>
        </c:majorGridlines>
        <c:title>
          <c:tx>
            <c:rich>
              <a:bodyPr/>
              <a:lstStyle/>
              <a:p>
                <a:r>
                  <a:rPr lang="fr-FR" sz="750" b="0" dirty="0">
                    <a:latin typeface="Jost Medium" pitchFamily="2" charset="77"/>
                    <a:ea typeface="Jost Medium" pitchFamily="2" charset="77"/>
                  </a:rPr>
                  <a:t>Rendement indicatif (%)</a:t>
                </a:r>
              </a:p>
            </c:rich>
          </c:tx>
          <c:layout>
            <c:manualLayout>
              <c:xMode val="edge"/>
              <c:yMode val="edge"/>
              <c:x val="8.2730595043251833E-3"/>
              <c:y val="0.29264463409041858"/>
            </c:manualLayout>
          </c:layout>
          <c:overlay val="1"/>
        </c:title>
        <c:numFmt formatCode="0&quot;%&quot;" sourceLinked="0"/>
        <c:majorTickMark val="none"/>
        <c:minorTickMark val="none"/>
        <c:tickLblPos val="nextTo"/>
        <c:txPr>
          <a:bodyPr/>
          <a:lstStyle/>
          <a:p>
            <a:pPr>
              <a:defRPr sz="800" b="0" i="0">
                <a:latin typeface="Jost Medium" pitchFamily="2" charset="77"/>
                <a:ea typeface="Jost Medium" pitchFamily="2" charset="77"/>
              </a:defRPr>
            </a:pPr>
            <a:endParaRPr lang="fr-FR"/>
          </a:p>
        </c:txPr>
        <c:crossAx val="48650112"/>
        <c:crosses val="autoZero"/>
        <c:crossBetween val="midCat"/>
      </c:valAx>
      <c:valAx>
        <c:axId val="48650112"/>
        <c:scaling>
          <c:orientation val="minMax"/>
        </c:scaling>
        <c:delete val="0"/>
        <c:axPos val="b"/>
        <c:majorGridlines>
          <c:spPr>
            <a:ln w="9525">
              <a:solidFill>
                <a:srgbClr val="CCCCCC"/>
              </a:solidFill>
              <a:prstDash val="dash"/>
            </a:ln>
          </c:spPr>
        </c:majorGridlines>
        <c:title>
          <c:tx>
            <c:rich>
              <a:bodyPr/>
              <a:lstStyle/>
              <a:p>
                <a:r>
                  <a:rPr lang="fr-FR" sz="750" b="0" i="0" dirty="0">
                    <a:latin typeface="Jost Medium" pitchFamily="2" charset="77"/>
                    <a:ea typeface="Jost Medium" pitchFamily="2" charset="77"/>
                  </a:rPr>
                  <a:t>Sensibilité aux taux (duration modifiée)</a:t>
                </a:r>
              </a:p>
            </c:rich>
          </c:tx>
          <c:layout>
            <c:manualLayout>
              <c:xMode val="edge"/>
              <c:yMode val="edge"/>
              <c:x val="0.39668598119569415"/>
              <c:y val="0.88652772244626077"/>
            </c:manualLayout>
          </c:layout>
          <c:overlay val="1"/>
        </c:title>
        <c:numFmt formatCode="0.0" sourceLinked="1"/>
        <c:majorTickMark val="none"/>
        <c:minorTickMark val="none"/>
        <c:tickLblPos val="nextTo"/>
        <c:txPr>
          <a:bodyPr/>
          <a:lstStyle/>
          <a:p>
            <a:pPr>
              <a:defRPr sz="800" b="0" i="0">
                <a:latin typeface="Jost Medium" pitchFamily="2" charset="77"/>
                <a:ea typeface="Jost Medium" pitchFamily="2" charset="77"/>
              </a:defRPr>
            </a:pPr>
            <a:endParaRPr lang="fr-FR"/>
          </a:p>
        </c:txPr>
        <c:crossAx val="48672768"/>
        <c:crosses val="autoZero"/>
        <c:crossBetween val="midCat"/>
      </c:valAx>
      <c:spPr>
        <a:pattFill prst="dkVert">
          <a:fgClr>
            <a:srgbClr val="FCF9EF"/>
          </a:fgClr>
          <a:bgClr>
            <a:schemeClr val="bg1"/>
          </a:bgClr>
        </a:pattFill>
      </c:spPr>
    </c:plotArea>
    <c:legend>
      <c:legendPos val="b"/>
      <c:layout>
        <c:manualLayout>
          <c:xMode val="edge"/>
          <c:yMode val="edge"/>
          <c:x val="0.27289831105348988"/>
          <c:y val="0.93342538984097578"/>
          <c:w val="0.45420350398212272"/>
          <c:h val="5.5869111121601221E-2"/>
        </c:manualLayout>
      </c:layout>
      <c:overlay val="0"/>
      <c:txPr>
        <a:bodyPr/>
        <a:lstStyle/>
        <a:p>
          <a:pPr>
            <a:defRPr sz="900" b="0" i="0">
              <a:latin typeface="Jost Medium" pitchFamily="2" charset="77"/>
              <a:ea typeface="Jost Medium" pitchFamily="2" charset="77"/>
            </a:defRPr>
          </a:pPr>
          <a:endParaRPr lang="fr-FR"/>
        </a:p>
      </c:txPr>
    </c:legend>
    <c:plotVisOnly val="1"/>
    <c:dispBlanksAs val="zero"/>
    <c:showDLblsOverMax val="1"/>
  </c:chart>
  <c:spPr>
    <a:ln w="9525">
      <a:noFill/>
      <a:prstDash val="solid"/>
    </a:ln>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12700" cap="rnd">
              <a:solidFill>
                <a:srgbClr val="AA853F"/>
              </a:solidFill>
              <a:round/>
            </a:ln>
            <a:effectLst/>
          </c:spPr>
          <c:marker>
            <c:symbol val="none"/>
          </c:marker>
          <c:dPt>
            <c:idx val="219"/>
            <c:marker>
              <c:symbol val="picture"/>
              <c:spPr>
                <a:blipFill>
                  <a:blip xmlns:r="http://schemas.openxmlformats.org/officeDocument/2006/relationships" r:embed="rId1"/>
                  <a:stretch>
                    <a:fillRect/>
                  </a:stretch>
                </a:blipFill>
                <a:ln w="25400">
                  <a:noFill/>
                </a:ln>
                <a:effectLst/>
              </c:spPr>
            </c:marker>
            <c:bubble3D val="0"/>
            <c:extLst>
              <c:ext xmlns:c16="http://schemas.microsoft.com/office/drawing/2014/chart" uri="{C3380CC4-5D6E-409C-BE32-E72D297353CC}">
                <c16:uniqueId val="{00000006-0588-9842-94ED-F80D3D648A8E}"/>
              </c:ext>
            </c:extLst>
          </c:dPt>
          <c:dPt>
            <c:idx val="439"/>
            <c:marker>
              <c:symbol val="picture"/>
              <c:spPr>
                <a:blipFill>
                  <a:blip xmlns:r="http://schemas.openxmlformats.org/officeDocument/2006/relationships" r:embed="rId2"/>
                  <a:stretch>
                    <a:fillRect/>
                  </a:stretch>
                </a:blipFill>
                <a:ln w="25400">
                  <a:noFill/>
                </a:ln>
                <a:effectLst/>
              </c:spPr>
            </c:marker>
            <c:bubble3D val="0"/>
            <c:spPr>
              <a:ln w="0" cap="rnd">
                <a:solidFill>
                  <a:srgbClr val="AA853F"/>
                </a:solidFill>
                <a:round/>
              </a:ln>
              <a:effectLst/>
            </c:spPr>
            <c:extLst>
              <c:ext xmlns:c16="http://schemas.microsoft.com/office/drawing/2014/chart" uri="{C3380CC4-5D6E-409C-BE32-E72D297353CC}">
                <c16:uniqueId val="{00000005-0588-9842-94ED-F80D3D648A8E}"/>
              </c:ext>
            </c:extLst>
          </c:dPt>
          <c:dPt>
            <c:idx val="443"/>
            <c:marker>
              <c:symbol val="picture"/>
              <c:spPr>
                <a:solidFill>
                  <a:schemeClr val="accent1"/>
                </a:solidFill>
                <a:ln w="25400">
                  <a:noFill/>
                </a:ln>
                <a:effectLst/>
              </c:spPr>
            </c:marker>
            <c:bubble3D val="0"/>
            <c:extLst>
              <c:ext xmlns:c16="http://schemas.microsoft.com/office/drawing/2014/chart" uri="{C3380CC4-5D6E-409C-BE32-E72D297353CC}">
                <c16:uniqueId val="{00000002-0588-9842-94ED-F80D3D648A8E}"/>
              </c:ext>
            </c:extLst>
          </c:dPt>
          <c:dPt>
            <c:idx val="549"/>
            <c:marker>
              <c:symbol val="picture"/>
              <c:spPr>
                <a:blipFill>
                  <a:blip xmlns:r="http://schemas.openxmlformats.org/officeDocument/2006/relationships" r:embed="rId3"/>
                  <a:stretch>
                    <a:fillRect/>
                  </a:stretch>
                </a:blipFill>
                <a:ln w="25400">
                  <a:noFill/>
                </a:ln>
                <a:effectLst/>
              </c:spPr>
            </c:marker>
            <c:bubble3D val="0"/>
            <c:extLst>
              <c:ext xmlns:c16="http://schemas.microsoft.com/office/drawing/2014/chart" uri="{C3380CC4-5D6E-409C-BE32-E72D297353CC}">
                <c16:uniqueId val="{00000001-0588-9842-94ED-F80D3D648A8E}"/>
              </c:ext>
            </c:extLst>
          </c:dPt>
          <c:cat>
            <c:numRef>
              <c:f>Feuil1!$F$6:$F$631</c:f>
              <c:numCache>
                <c:formatCode>m/d/yy</c:formatCode>
                <c:ptCount val="626"/>
                <c:pt idx="0">
                  <c:v>41910</c:v>
                </c:pt>
                <c:pt idx="1">
                  <c:v>41917</c:v>
                </c:pt>
                <c:pt idx="2">
                  <c:v>41924</c:v>
                </c:pt>
                <c:pt idx="3">
                  <c:v>41931</c:v>
                </c:pt>
                <c:pt idx="4">
                  <c:v>41938</c:v>
                </c:pt>
                <c:pt idx="5">
                  <c:v>41945</c:v>
                </c:pt>
                <c:pt idx="6">
                  <c:v>41952</c:v>
                </c:pt>
                <c:pt idx="7">
                  <c:v>41959</c:v>
                </c:pt>
                <c:pt idx="8">
                  <c:v>41966</c:v>
                </c:pt>
                <c:pt idx="9">
                  <c:v>41973</c:v>
                </c:pt>
                <c:pt idx="10">
                  <c:v>41980</c:v>
                </c:pt>
                <c:pt idx="11">
                  <c:v>41987</c:v>
                </c:pt>
                <c:pt idx="12">
                  <c:v>41994</c:v>
                </c:pt>
                <c:pt idx="13">
                  <c:v>42001</c:v>
                </c:pt>
                <c:pt idx="14">
                  <c:v>42008</c:v>
                </c:pt>
                <c:pt idx="15">
                  <c:v>42015</c:v>
                </c:pt>
                <c:pt idx="16">
                  <c:v>42022</c:v>
                </c:pt>
                <c:pt idx="17">
                  <c:v>42029</c:v>
                </c:pt>
                <c:pt idx="18">
                  <c:v>42036</c:v>
                </c:pt>
                <c:pt idx="19">
                  <c:v>42043</c:v>
                </c:pt>
                <c:pt idx="20">
                  <c:v>42050</c:v>
                </c:pt>
                <c:pt idx="21">
                  <c:v>42057</c:v>
                </c:pt>
                <c:pt idx="22">
                  <c:v>42064</c:v>
                </c:pt>
                <c:pt idx="23">
                  <c:v>42071</c:v>
                </c:pt>
                <c:pt idx="24">
                  <c:v>42078</c:v>
                </c:pt>
                <c:pt idx="25">
                  <c:v>42085</c:v>
                </c:pt>
                <c:pt idx="26">
                  <c:v>42092</c:v>
                </c:pt>
                <c:pt idx="27">
                  <c:v>42099</c:v>
                </c:pt>
                <c:pt idx="28">
                  <c:v>42106</c:v>
                </c:pt>
                <c:pt idx="29">
                  <c:v>42113</c:v>
                </c:pt>
                <c:pt idx="30">
                  <c:v>42120</c:v>
                </c:pt>
                <c:pt idx="31">
                  <c:v>42127</c:v>
                </c:pt>
                <c:pt idx="32">
                  <c:v>42134</c:v>
                </c:pt>
                <c:pt idx="33">
                  <c:v>42141</c:v>
                </c:pt>
                <c:pt idx="34">
                  <c:v>42148</c:v>
                </c:pt>
                <c:pt idx="35">
                  <c:v>42155</c:v>
                </c:pt>
                <c:pt idx="36">
                  <c:v>42162</c:v>
                </c:pt>
                <c:pt idx="37">
                  <c:v>42169</c:v>
                </c:pt>
                <c:pt idx="38">
                  <c:v>42176</c:v>
                </c:pt>
                <c:pt idx="39">
                  <c:v>42183</c:v>
                </c:pt>
                <c:pt idx="40">
                  <c:v>42190</c:v>
                </c:pt>
                <c:pt idx="41">
                  <c:v>42197</c:v>
                </c:pt>
                <c:pt idx="42">
                  <c:v>42204</c:v>
                </c:pt>
                <c:pt idx="43">
                  <c:v>42211</c:v>
                </c:pt>
                <c:pt idx="44">
                  <c:v>42218</c:v>
                </c:pt>
                <c:pt idx="45">
                  <c:v>42225</c:v>
                </c:pt>
                <c:pt idx="46">
                  <c:v>42232</c:v>
                </c:pt>
                <c:pt idx="47">
                  <c:v>42239</c:v>
                </c:pt>
                <c:pt idx="48">
                  <c:v>42246</c:v>
                </c:pt>
                <c:pt idx="49">
                  <c:v>42253</c:v>
                </c:pt>
                <c:pt idx="50">
                  <c:v>42260</c:v>
                </c:pt>
                <c:pt idx="51">
                  <c:v>42267</c:v>
                </c:pt>
                <c:pt idx="52">
                  <c:v>42274</c:v>
                </c:pt>
                <c:pt idx="53">
                  <c:v>42281</c:v>
                </c:pt>
                <c:pt idx="54">
                  <c:v>42288</c:v>
                </c:pt>
                <c:pt idx="55">
                  <c:v>42295</c:v>
                </c:pt>
                <c:pt idx="56">
                  <c:v>42302</c:v>
                </c:pt>
                <c:pt idx="57">
                  <c:v>42309</c:v>
                </c:pt>
                <c:pt idx="58">
                  <c:v>42316</c:v>
                </c:pt>
                <c:pt idx="59">
                  <c:v>42323</c:v>
                </c:pt>
                <c:pt idx="60">
                  <c:v>42330</c:v>
                </c:pt>
                <c:pt idx="61">
                  <c:v>42337</c:v>
                </c:pt>
                <c:pt idx="62">
                  <c:v>42344</c:v>
                </c:pt>
                <c:pt idx="63">
                  <c:v>42351</c:v>
                </c:pt>
                <c:pt idx="64">
                  <c:v>42358</c:v>
                </c:pt>
                <c:pt idx="65">
                  <c:v>42365</c:v>
                </c:pt>
                <c:pt idx="66">
                  <c:v>42372</c:v>
                </c:pt>
                <c:pt idx="67">
                  <c:v>42379</c:v>
                </c:pt>
                <c:pt idx="68">
                  <c:v>42386</c:v>
                </c:pt>
                <c:pt idx="69">
                  <c:v>42393</c:v>
                </c:pt>
                <c:pt idx="70">
                  <c:v>42400</c:v>
                </c:pt>
                <c:pt idx="71">
                  <c:v>42407</c:v>
                </c:pt>
                <c:pt idx="72">
                  <c:v>42414</c:v>
                </c:pt>
                <c:pt idx="73">
                  <c:v>42421</c:v>
                </c:pt>
                <c:pt idx="74">
                  <c:v>42428</c:v>
                </c:pt>
                <c:pt idx="75">
                  <c:v>42435</c:v>
                </c:pt>
                <c:pt idx="76">
                  <c:v>42442</c:v>
                </c:pt>
                <c:pt idx="77">
                  <c:v>42449</c:v>
                </c:pt>
                <c:pt idx="78">
                  <c:v>42456</c:v>
                </c:pt>
                <c:pt idx="79">
                  <c:v>42463</c:v>
                </c:pt>
                <c:pt idx="80">
                  <c:v>42470</c:v>
                </c:pt>
                <c:pt idx="81">
                  <c:v>42477</c:v>
                </c:pt>
                <c:pt idx="82">
                  <c:v>42484</c:v>
                </c:pt>
                <c:pt idx="83">
                  <c:v>42491</c:v>
                </c:pt>
                <c:pt idx="84">
                  <c:v>42498</c:v>
                </c:pt>
                <c:pt idx="85">
                  <c:v>42505</c:v>
                </c:pt>
                <c:pt idx="86">
                  <c:v>42512</c:v>
                </c:pt>
                <c:pt idx="87">
                  <c:v>42519</c:v>
                </c:pt>
                <c:pt idx="88">
                  <c:v>42526</c:v>
                </c:pt>
                <c:pt idx="89">
                  <c:v>42533</c:v>
                </c:pt>
                <c:pt idx="90">
                  <c:v>42540</c:v>
                </c:pt>
                <c:pt idx="91">
                  <c:v>42547</c:v>
                </c:pt>
                <c:pt idx="92">
                  <c:v>42554</c:v>
                </c:pt>
                <c:pt idx="93">
                  <c:v>42561</c:v>
                </c:pt>
                <c:pt idx="94">
                  <c:v>42568</c:v>
                </c:pt>
                <c:pt idx="95">
                  <c:v>42575</c:v>
                </c:pt>
                <c:pt idx="96">
                  <c:v>42582</c:v>
                </c:pt>
                <c:pt idx="97">
                  <c:v>42589</c:v>
                </c:pt>
                <c:pt idx="98">
                  <c:v>42596</c:v>
                </c:pt>
                <c:pt idx="99">
                  <c:v>42603</c:v>
                </c:pt>
                <c:pt idx="100">
                  <c:v>42610</c:v>
                </c:pt>
                <c:pt idx="101">
                  <c:v>42617</c:v>
                </c:pt>
                <c:pt idx="102">
                  <c:v>42624</c:v>
                </c:pt>
                <c:pt idx="103">
                  <c:v>42631</c:v>
                </c:pt>
                <c:pt idx="104">
                  <c:v>42638</c:v>
                </c:pt>
                <c:pt idx="105">
                  <c:v>42645</c:v>
                </c:pt>
                <c:pt idx="106">
                  <c:v>42652</c:v>
                </c:pt>
                <c:pt idx="107">
                  <c:v>42659</c:v>
                </c:pt>
                <c:pt idx="108">
                  <c:v>42666</c:v>
                </c:pt>
                <c:pt idx="109">
                  <c:v>42673</c:v>
                </c:pt>
                <c:pt idx="110">
                  <c:v>42680</c:v>
                </c:pt>
                <c:pt idx="111">
                  <c:v>42687</c:v>
                </c:pt>
                <c:pt idx="112">
                  <c:v>42694</c:v>
                </c:pt>
                <c:pt idx="113">
                  <c:v>42701</c:v>
                </c:pt>
                <c:pt idx="114">
                  <c:v>42708</c:v>
                </c:pt>
                <c:pt idx="115">
                  <c:v>42715</c:v>
                </c:pt>
                <c:pt idx="116">
                  <c:v>42722</c:v>
                </c:pt>
                <c:pt idx="117">
                  <c:v>42729</c:v>
                </c:pt>
                <c:pt idx="118">
                  <c:v>42736</c:v>
                </c:pt>
                <c:pt idx="119">
                  <c:v>42743</c:v>
                </c:pt>
                <c:pt idx="120">
                  <c:v>42750</c:v>
                </c:pt>
                <c:pt idx="121">
                  <c:v>42757</c:v>
                </c:pt>
                <c:pt idx="122">
                  <c:v>42764</c:v>
                </c:pt>
                <c:pt idx="123">
                  <c:v>42771</c:v>
                </c:pt>
                <c:pt idx="124">
                  <c:v>42778</c:v>
                </c:pt>
                <c:pt idx="125">
                  <c:v>42785</c:v>
                </c:pt>
                <c:pt idx="126">
                  <c:v>42792</c:v>
                </c:pt>
                <c:pt idx="127">
                  <c:v>42799</c:v>
                </c:pt>
                <c:pt idx="128">
                  <c:v>42806</c:v>
                </c:pt>
                <c:pt idx="129">
                  <c:v>42813</c:v>
                </c:pt>
                <c:pt idx="130">
                  <c:v>42820</c:v>
                </c:pt>
                <c:pt idx="131">
                  <c:v>42827</c:v>
                </c:pt>
                <c:pt idx="132">
                  <c:v>42834</c:v>
                </c:pt>
                <c:pt idx="133">
                  <c:v>42841</c:v>
                </c:pt>
                <c:pt idx="134">
                  <c:v>42848</c:v>
                </c:pt>
                <c:pt idx="135">
                  <c:v>42855</c:v>
                </c:pt>
                <c:pt idx="136">
                  <c:v>42862</c:v>
                </c:pt>
                <c:pt idx="137">
                  <c:v>42869</c:v>
                </c:pt>
                <c:pt idx="138">
                  <c:v>42876</c:v>
                </c:pt>
                <c:pt idx="139">
                  <c:v>42883</c:v>
                </c:pt>
                <c:pt idx="140">
                  <c:v>42890</c:v>
                </c:pt>
                <c:pt idx="141">
                  <c:v>42897</c:v>
                </c:pt>
                <c:pt idx="142">
                  <c:v>42904</c:v>
                </c:pt>
                <c:pt idx="143">
                  <c:v>42911</c:v>
                </c:pt>
                <c:pt idx="144">
                  <c:v>42918</c:v>
                </c:pt>
                <c:pt idx="145">
                  <c:v>42925</c:v>
                </c:pt>
                <c:pt idx="146">
                  <c:v>42932</c:v>
                </c:pt>
                <c:pt idx="147">
                  <c:v>42939</c:v>
                </c:pt>
                <c:pt idx="148">
                  <c:v>42946</c:v>
                </c:pt>
                <c:pt idx="149">
                  <c:v>42953</c:v>
                </c:pt>
                <c:pt idx="150">
                  <c:v>42960</c:v>
                </c:pt>
                <c:pt idx="151">
                  <c:v>42967</c:v>
                </c:pt>
                <c:pt idx="152">
                  <c:v>42974</c:v>
                </c:pt>
                <c:pt idx="153">
                  <c:v>42981</c:v>
                </c:pt>
                <c:pt idx="154">
                  <c:v>42988</c:v>
                </c:pt>
                <c:pt idx="155">
                  <c:v>42995</c:v>
                </c:pt>
                <c:pt idx="156">
                  <c:v>43002</c:v>
                </c:pt>
                <c:pt idx="157">
                  <c:v>43009</c:v>
                </c:pt>
                <c:pt idx="158">
                  <c:v>43016</c:v>
                </c:pt>
                <c:pt idx="159">
                  <c:v>43023</c:v>
                </c:pt>
                <c:pt idx="160">
                  <c:v>43030</c:v>
                </c:pt>
                <c:pt idx="161">
                  <c:v>43037</c:v>
                </c:pt>
                <c:pt idx="162">
                  <c:v>43044</c:v>
                </c:pt>
                <c:pt idx="163">
                  <c:v>43051</c:v>
                </c:pt>
                <c:pt idx="164">
                  <c:v>43058</c:v>
                </c:pt>
                <c:pt idx="165">
                  <c:v>43065</c:v>
                </c:pt>
                <c:pt idx="166">
                  <c:v>43072</c:v>
                </c:pt>
                <c:pt idx="167">
                  <c:v>43079</c:v>
                </c:pt>
                <c:pt idx="168">
                  <c:v>43086</c:v>
                </c:pt>
                <c:pt idx="169">
                  <c:v>43093</c:v>
                </c:pt>
                <c:pt idx="170">
                  <c:v>43100</c:v>
                </c:pt>
                <c:pt idx="171">
                  <c:v>43107</c:v>
                </c:pt>
                <c:pt idx="172">
                  <c:v>43114</c:v>
                </c:pt>
                <c:pt idx="173">
                  <c:v>43121</c:v>
                </c:pt>
                <c:pt idx="174">
                  <c:v>43128</c:v>
                </c:pt>
                <c:pt idx="175">
                  <c:v>43135</c:v>
                </c:pt>
                <c:pt idx="176">
                  <c:v>43142</c:v>
                </c:pt>
                <c:pt idx="177">
                  <c:v>43149</c:v>
                </c:pt>
                <c:pt idx="178">
                  <c:v>43156</c:v>
                </c:pt>
                <c:pt idx="179">
                  <c:v>43163</c:v>
                </c:pt>
                <c:pt idx="180">
                  <c:v>43170</c:v>
                </c:pt>
                <c:pt idx="181">
                  <c:v>43177</c:v>
                </c:pt>
                <c:pt idx="182">
                  <c:v>43184</c:v>
                </c:pt>
                <c:pt idx="183">
                  <c:v>43191</c:v>
                </c:pt>
                <c:pt idx="184">
                  <c:v>43198</c:v>
                </c:pt>
                <c:pt idx="185">
                  <c:v>43205</c:v>
                </c:pt>
                <c:pt idx="186">
                  <c:v>43212</c:v>
                </c:pt>
                <c:pt idx="187">
                  <c:v>43219</c:v>
                </c:pt>
                <c:pt idx="188">
                  <c:v>43226</c:v>
                </c:pt>
                <c:pt idx="189">
                  <c:v>43233</c:v>
                </c:pt>
                <c:pt idx="190">
                  <c:v>43240</c:v>
                </c:pt>
                <c:pt idx="191">
                  <c:v>43247</c:v>
                </c:pt>
                <c:pt idx="192">
                  <c:v>43254</c:v>
                </c:pt>
                <c:pt idx="193">
                  <c:v>43261</c:v>
                </c:pt>
                <c:pt idx="194">
                  <c:v>43268</c:v>
                </c:pt>
                <c:pt idx="195">
                  <c:v>43275</c:v>
                </c:pt>
                <c:pt idx="196">
                  <c:v>43282</c:v>
                </c:pt>
                <c:pt idx="197">
                  <c:v>43289</c:v>
                </c:pt>
                <c:pt idx="198">
                  <c:v>43296</c:v>
                </c:pt>
                <c:pt idx="199">
                  <c:v>43303</c:v>
                </c:pt>
                <c:pt idx="200">
                  <c:v>43310</c:v>
                </c:pt>
                <c:pt idx="201">
                  <c:v>43317</c:v>
                </c:pt>
                <c:pt idx="202">
                  <c:v>43324</c:v>
                </c:pt>
                <c:pt idx="203">
                  <c:v>43331</c:v>
                </c:pt>
                <c:pt idx="204">
                  <c:v>43338</c:v>
                </c:pt>
                <c:pt idx="205">
                  <c:v>43345</c:v>
                </c:pt>
                <c:pt idx="206">
                  <c:v>43352</c:v>
                </c:pt>
                <c:pt idx="207">
                  <c:v>43359</c:v>
                </c:pt>
                <c:pt idx="208">
                  <c:v>43366</c:v>
                </c:pt>
                <c:pt idx="209">
                  <c:v>43373</c:v>
                </c:pt>
                <c:pt idx="210">
                  <c:v>43380</c:v>
                </c:pt>
                <c:pt idx="211">
                  <c:v>43387</c:v>
                </c:pt>
                <c:pt idx="212">
                  <c:v>43394</c:v>
                </c:pt>
                <c:pt idx="213">
                  <c:v>43401</c:v>
                </c:pt>
                <c:pt idx="214">
                  <c:v>43408</c:v>
                </c:pt>
                <c:pt idx="215">
                  <c:v>43415</c:v>
                </c:pt>
                <c:pt idx="216">
                  <c:v>43422</c:v>
                </c:pt>
                <c:pt idx="217">
                  <c:v>43429</c:v>
                </c:pt>
                <c:pt idx="218">
                  <c:v>43436</c:v>
                </c:pt>
                <c:pt idx="219">
                  <c:v>43443</c:v>
                </c:pt>
                <c:pt idx="220">
                  <c:v>43450</c:v>
                </c:pt>
                <c:pt idx="221">
                  <c:v>43457</c:v>
                </c:pt>
                <c:pt idx="222">
                  <c:v>43464</c:v>
                </c:pt>
                <c:pt idx="223">
                  <c:v>43471</c:v>
                </c:pt>
                <c:pt idx="224">
                  <c:v>43478</c:v>
                </c:pt>
                <c:pt idx="225">
                  <c:v>43485</c:v>
                </c:pt>
                <c:pt idx="226">
                  <c:v>43492</c:v>
                </c:pt>
                <c:pt idx="227">
                  <c:v>43499</c:v>
                </c:pt>
                <c:pt idx="228">
                  <c:v>43506</c:v>
                </c:pt>
                <c:pt idx="229">
                  <c:v>43513</c:v>
                </c:pt>
                <c:pt idx="230">
                  <c:v>43520</c:v>
                </c:pt>
                <c:pt idx="231">
                  <c:v>43527</c:v>
                </c:pt>
                <c:pt idx="232">
                  <c:v>43534</c:v>
                </c:pt>
                <c:pt idx="233">
                  <c:v>43541</c:v>
                </c:pt>
                <c:pt idx="234">
                  <c:v>43548</c:v>
                </c:pt>
                <c:pt idx="235">
                  <c:v>43555</c:v>
                </c:pt>
                <c:pt idx="236">
                  <c:v>43562</c:v>
                </c:pt>
                <c:pt idx="237">
                  <c:v>43569</c:v>
                </c:pt>
                <c:pt idx="238">
                  <c:v>43576</c:v>
                </c:pt>
                <c:pt idx="239">
                  <c:v>43583</c:v>
                </c:pt>
                <c:pt idx="240">
                  <c:v>43590</c:v>
                </c:pt>
                <c:pt idx="241">
                  <c:v>43597</c:v>
                </c:pt>
                <c:pt idx="242">
                  <c:v>43604</c:v>
                </c:pt>
                <c:pt idx="243">
                  <c:v>43611</c:v>
                </c:pt>
                <c:pt idx="244">
                  <c:v>43618</c:v>
                </c:pt>
                <c:pt idx="245">
                  <c:v>43625</c:v>
                </c:pt>
                <c:pt idx="246">
                  <c:v>43632</c:v>
                </c:pt>
                <c:pt idx="247">
                  <c:v>43639</c:v>
                </c:pt>
                <c:pt idx="248">
                  <c:v>43646</c:v>
                </c:pt>
                <c:pt idx="249">
                  <c:v>43653</c:v>
                </c:pt>
                <c:pt idx="250">
                  <c:v>43660</c:v>
                </c:pt>
                <c:pt idx="251">
                  <c:v>43667</c:v>
                </c:pt>
                <c:pt idx="252">
                  <c:v>43674</c:v>
                </c:pt>
                <c:pt idx="253">
                  <c:v>43681</c:v>
                </c:pt>
                <c:pt idx="254">
                  <c:v>43688</c:v>
                </c:pt>
                <c:pt idx="255">
                  <c:v>43695</c:v>
                </c:pt>
                <c:pt idx="256">
                  <c:v>43702</c:v>
                </c:pt>
                <c:pt idx="257">
                  <c:v>43709</c:v>
                </c:pt>
                <c:pt idx="258">
                  <c:v>43716</c:v>
                </c:pt>
                <c:pt idx="259">
                  <c:v>43723</c:v>
                </c:pt>
                <c:pt idx="260">
                  <c:v>43730</c:v>
                </c:pt>
                <c:pt idx="261">
                  <c:v>43737</c:v>
                </c:pt>
                <c:pt idx="262">
                  <c:v>43744</c:v>
                </c:pt>
                <c:pt idx="263">
                  <c:v>43751</c:v>
                </c:pt>
                <c:pt idx="264">
                  <c:v>43758</c:v>
                </c:pt>
                <c:pt idx="265">
                  <c:v>43765</c:v>
                </c:pt>
                <c:pt idx="266">
                  <c:v>43772</c:v>
                </c:pt>
                <c:pt idx="267">
                  <c:v>43779</c:v>
                </c:pt>
                <c:pt idx="268">
                  <c:v>43786</c:v>
                </c:pt>
                <c:pt idx="269">
                  <c:v>43793</c:v>
                </c:pt>
                <c:pt idx="270">
                  <c:v>43800</c:v>
                </c:pt>
                <c:pt idx="271">
                  <c:v>43807</c:v>
                </c:pt>
                <c:pt idx="272">
                  <c:v>43814</c:v>
                </c:pt>
                <c:pt idx="273">
                  <c:v>43821</c:v>
                </c:pt>
                <c:pt idx="274">
                  <c:v>43828</c:v>
                </c:pt>
                <c:pt idx="275">
                  <c:v>43835</c:v>
                </c:pt>
                <c:pt idx="276">
                  <c:v>43842</c:v>
                </c:pt>
                <c:pt idx="277">
                  <c:v>43849</c:v>
                </c:pt>
                <c:pt idx="278">
                  <c:v>43856</c:v>
                </c:pt>
                <c:pt idx="279">
                  <c:v>43863</c:v>
                </c:pt>
                <c:pt idx="280">
                  <c:v>43870</c:v>
                </c:pt>
                <c:pt idx="281">
                  <c:v>43877</c:v>
                </c:pt>
                <c:pt idx="282">
                  <c:v>43884</c:v>
                </c:pt>
                <c:pt idx="283">
                  <c:v>43891</c:v>
                </c:pt>
                <c:pt idx="284">
                  <c:v>43898</c:v>
                </c:pt>
                <c:pt idx="285">
                  <c:v>43905</c:v>
                </c:pt>
                <c:pt idx="286">
                  <c:v>43912</c:v>
                </c:pt>
                <c:pt idx="287">
                  <c:v>43919</c:v>
                </c:pt>
                <c:pt idx="288">
                  <c:v>43926</c:v>
                </c:pt>
                <c:pt idx="289">
                  <c:v>43933</c:v>
                </c:pt>
                <c:pt idx="290">
                  <c:v>43940</c:v>
                </c:pt>
                <c:pt idx="291">
                  <c:v>43947</c:v>
                </c:pt>
                <c:pt idx="292">
                  <c:v>43954</c:v>
                </c:pt>
                <c:pt idx="293">
                  <c:v>43961</c:v>
                </c:pt>
                <c:pt idx="294">
                  <c:v>43968</c:v>
                </c:pt>
                <c:pt idx="295">
                  <c:v>43975</c:v>
                </c:pt>
                <c:pt idx="296">
                  <c:v>43982</c:v>
                </c:pt>
                <c:pt idx="297">
                  <c:v>43989</c:v>
                </c:pt>
                <c:pt idx="298">
                  <c:v>43996</c:v>
                </c:pt>
                <c:pt idx="299">
                  <c:v>44003</c:v>
                </c:pt>
                <c:pt idx="300">
                  <c:v>44010</c:v>
                </c:pt>
                <c:pt idx="301">
                  <c:v>44017</c:v>
                </c:pt>
                <c:pt idx="302">
                  <c:v>44024</c:v>
                </c:pt>
                <c:pt idx="303">
                  <c:v>44031</c:v>
                </c:pt>
                <c:pt idx="304">
                  <c:v>44038</c:v>
                </c:pt>
                <c:pt idx="305">
                  <c:v>44045</c:v>
                </c:pt>
                <c:pt idx="306">
                  <c:v>44052</c:v>
                </c:pt>
                <c:pt idx="307">
                  <c:v>44059</c:v>
                </c:pt>
                <c:pt idx="308">
                  <c:v>44066</c:v>
                </c:pt>
                <c:pt idx="309">
                  <c:v>44073</c:v>
                </c:pt>
                <c:pt idx="310">
                  <c:v>44080</c:v>
                </c:pt>
                <c:pt idx="311">
                  <c:v>44087</c:v>
                </c:pt>
                <c:pt idx="312">
                  <c:v>44094</c:v>
                </c:pt>
                <c:pt idx="313">
                  <c:v>44101</c:v>
                </c:pt>
                <c:pt idx="314">
                  <c:v>44108</c:v>
                </c:pt>
                <c:pt idx="315">
                  <c:v>44115</c:v>
                </c:pt>
                <c:pt idx="316">
                  <c:v>44122</c:v>
                </c:pt>
                <c:pt idx="317">
                  <c:v>44129</c:v>
                </c:pt>
                <c:pt idx="318">
                  <c:v>44136</c:v>
                </c:pt>
                <c:pt idx="319">
                  <c:v>44143</c:v>
                </c:pt>
                <c:pt idx="320">
                  <c:v>44150</c:v>
                </c:pt>
                <c:pt idx="321">
                  <c:v>44157</c:v>
                </c:pt>
                <c:pt idx="322">
                  <c:v>44164</c:v>
                </c:pt>
                <c:pt idx="323">
                  <c:v>44171</c:v>
                </c:pt>
                <c:pt idx="324">
                  <c:v>44178</c:v>
                </c:pt>
                <c:pt idx="325">
                  <c:v>44185</c:v>
                </c:pt>
                <c:pt idx="326">
                  <c:v>44192</c:v>
                </c:pt>
                <c:pt idx="327">
                  <c:v>44199</c:v>
                </c:pt>
                <c:pt idx="328">
                  <c:v>44206</c:v>
                </c:pt>
                <c:pt idx="329">
                  <c:v>44213</c:v>
                </c:pt>
                <c:pt idx="330">
                  <c:v>44220</c:v>
                </c:pt>
                <c:pt idx="331">
                  <c:v>44227</c:v>
                </c:pt>
                <c:pt idx="332">
                  <c:v>44234</c:v>
                </c:pt>
                <c:pt idx="333">
                  <c:v>44241</c:v>
                </c:pt>
                <c:pt idx="334">
                  <c:v>44248</c:v>
                </c:pt>
                <c:pt idx="335">
                  <c:v>44255</c:v>
                </c:pt>
                <c:pt idx="336">
                  <c:v>44262</c:v>
                </c:pt>
                <c:pt idx="337">
                  <c:v>44269</c:v>
                </c:pt>
                <c:pt idx="338">
                  <c:v>44276</c:v>
                </c:pt>
                <c:pt idx="339">
                  <c:v>44283</c:v>
                </c:pt>
                <c:pt idx="340">
                  <c:v>44290</c:v>
                </c:pt>
                <c:pt idx="341">
                  <c:v>44297</c:v>
                </c:pt>
                <c:pt idx="342">
                  <c:v>44304</c:v>
                </c:pt>
                <c:pt idx="343">
                  <c:v>44311</c:v>
                </c:pt>
                <c:pt idx="344">
                  <c:v>44318</c:v>
                </c:pt>
                <c:pt idx="345">
                  <c:v>44325</c:v>
                </c:pt>
                <c:pt idx="346">
                  <c:v>44332</c:v>
                </c:pt>
                <c:pt idx="347">
                  <c:v>44339</c:v>
                </c:pt>
                <c:pt idx="348">
                  <c:v>44346</c:v>
                </c:pt>
                <c:pt idx="349">
                  <c:v>44353</c:v>
                </c:pt>
                <c:pt idx="350">
                  <c:v>44360</c:v>
                </c:pt>
                <c:pt idx="351">
                  <c:v>44367</c:v>
                </c:pt>
                <c:pt idx="352">
                  <c:v>44374</c:v>
                </c:pt>
                <c:pt idx="353">
                  <c:v>44381</c:v>
                </c:pt>
                <c:pt idx="354">
                  <c:v>44388</c:v>
                </c:pt>
                <c:pt idx="355">
                  <c:v>44395</c:v>
                </c:pt>
                <c:pt idx="356">
                  <c:v>44402</c:v>
                </c:pt>
                <c:pt idx="357">
                  <c:v>44409</c:v>
                </c:pt>
                <c:pt idx="358">
                  <c:v>44416</c:v>
                </c:pt>
                <c:pt idx="359">
                  <c:v>44423</c:v>
                </c:pt>
                <c:pt idx="360">
                  <c:v>44430</c:v>
                </c:pt>
                <c:pt idx="361">
                  <c:v>44437</c:v>
                </c:pt>
                <c:pt idx="362">
                  <c:v>44444</c:v>
                </c:pt>
                <c:pt idx="363">
                  <c:v>44451</c:v>
                </c:pt>
                <c:pt idx="364">
                  <c:v>44458</c:v>
                </c:pt>
                <c:pt idx="365">
                  <c:v>44465</c:v>
                </c:pt>
                <c:pt idx="366">
                  <c:v>44472</c:v>
                </c:pt>
                <c:pt idx="367">
                  <c:v>44479</c:v>
                </c:pt>
                <c:pt idx="368">
                  <c:v>44486</c:v>
                </c:pt>
                <c:pt idx="369">
                  <c:v>44493</c:v>
                </c:pt>
                <c:pt idx="370">
                  <c:v>44500</c:v>
                </c:pt>
                <c:pt idx="371">
                  <c:v>44507</c:v>
                </c:pt>
                <c:pt idx="372">
                  <c:v>44514</c:v>
                </c:pt>
                <c:pt idx="373">
                  <c:v>44521</c:v>
                </c:pt>
                <c:pt idx="374">
                  <c:v>44528</c:v>
                </c:pt>
                <c:pt idx="375">
                  <c:v>44535</c:v>
                </c:pt>
                <c:pt idx="376">
                  <c:v>44542</c:v>
                </c:pt>
                <c:pt idx="377">
                  <c:v>44549</c:v>
                </c:pt>
                <c:pt idx="378">
                  <c:v>44556</c:v>
                </c:pt>
                <c:pt idx="379">
                  <c:v>44563</c:v>
                </c:pt>
                <c:pt idx="380">
                  <c:v>44570</c:v>
                </c:pt>
                <c:pt idx="381">
                  <c:v>44577</c:v>
                </c:pt>
                <c:pt idx="382">
                  <c:v>44584</c:v>
                </c:pt>
                <c:pt idx="383">
                  <c:v>44591</c:v>
                </c:pt>
                <c:pt idx="384">
                  <c:v>44598</c:v>
                </c:pt>
                <c:pt idx="385">
                  <c:v>44605</c:v>
                </c:pt>
                <c:pt idx="386">
                  <c:v>44612</c:v>
                </c:pt>
                <c:pt idx="387">
                  <c:v>44619</c:v>
                </c:pt>
                <c:pt idx="388">
                  <c:v>44626</c:v>
                </c:pt>
                <c:pt idx="389">
                  <c:v>44633</c:v>
                </c:pt>
                <c:pt idx="390">
                  <c:v>44640</c:v>
                </c:pt>
                <c:pt idx="391">
                  <c:v>44647</c:v>
                </c:pt>
                <c:pt idx="392">
                  <c:v>44654</c:v>
                </c:pt>
                <c:pt idx="393">
                  <c:v>44661</c:v>
                </c:pt>
                <c:pt idx="394">
                  <c:v>44668</c:v>
                </c:pt>
                <c:pt idx="395">
                  <c:v>44675</c:v>
                </c:pt>
                <c:pt idx="396">
                  <c:v>44682</c:v>
                </c:pt>
                <c:pt idx="397">
                  <c:v>44689</c:v>
                </c:pt>
                <c:pt idx="398">
                  <c:v>44696</c:v>
                </c:pt>
                <c:pt idx="399">
                  <c:v>44703</c:v>
                </c:pt>
                <c:pt idx="400">
                  <c:v>44710</c:v>
                </c:pt>
                <c:pt idx="401">
                  <c:v>44717</c:v>
                </c:pt>
                <c:pt idx="402">
                  <c:v>44724</c:v>
                </c:pt>
                <c:pt idx="403">
                  <c:v>44731</c:v>
                </c:pt>
                <c:pt idx="404">
                  <c:v>44738</c:v>
                </c:pt>
                <c:pt idx="405">
                  <c:v>44745</c:v>
                </c:pt>
                <c:pt idx="406">
                  <c:v>44752</c:v>
                </c:pt>
                <c:pt idx="407">
                  <c:v>44759</c:v>
                </c:pt>
                <c:pt idx="408">
                  <c:v>44766</c:v>
                </c:pt>
                <c:pt idx="409">
                  <c:v>44773</c:v>
                </c:pt>
                <c:pt idx="410">
                  <c:v>44780</c:v>
                </c:pt>
                <c:pt idx="411">
                  <c:v>44787</c:v>
                </c:pt>
                <c:pt idx="412">
                  <c:v>44794</c:v>
                </c:pt>
                <c:pt idx="413">
                  <c:v>44801</c:v>
                </c:pt>
                <c:pt idx="414">
                  <c:v>44808</c:v>
                </c:pt>
                <c:pt idx="415">
                  <c:v>44815</c:v>
                </c:pt>
                <c:pt idx="416">
                  <c:v>44822</c:v>
                </c:pt>
                <c:pt idx="417">
                  <c:v>44829</c:v>
                </c:pt>
                <c:pt idx="418">
                  <c:v>44836</c:v>
                </c:pt>
                <c:pt idx="419">
                  <c:v>44843</c:v>
                </c:pt>
                <c:pt idx="420">
                  <c:v>44850</c:v>
                </c:pt>
                <c:pt idx="421">
                  <c:v>44857</c:v>
                </c:pt>
                <c:pt idx="422">
                  <c:v>44864</c:v>
                </c:pt>
                <c:pt idx="423">
                  <c:v>44871</c:v>
                </c:pt>
                <c:pt idx="424">
                  <c:v>44878</c:v>
                </c:pt>
                <c:pt idx="425">
                  <c:v>44885</c:v>
                </c:pt>
                <c:pt idx="426">
                  <c:v>44892</c:v>
                </c:pt>
                <c:pt idx="427">
                  <c:v>44899</c:v>
                </c:pt>
                <c:pt idx="428">
                  <c:v>44906</c:v>
                </c:pt>
                <c:pt idx="429">
                  <c:v>44913</c:v>
                </c:pt>
                <c:pt idx="430">
                  <c:v>44920</c:v>
                </c:pt>
                <c:pt idx="431">
                  <c:v>44927</c:v>
                </c:pt>
                <c:pt idx="432">
                  <c:v>44934</c:v>
                </c:pt>
                <c:pt idx="433">
                  <c:v>44941</c:v>
                </c:pt>
                <c:pt idx="434">
                  <c:v>44948</c:v>
                </c:pt>
                <c:pt idx="435">
                  <c:v>44955</c:v>
                </c:pt>
                <c:pt idx="436">
                  <c:v>44962</c:v>
                </c:pt>
                <c:pt idx="437">
                  <c:v>44969</c:v>
                </c:pt>
                <c:pt idx="438">
                  <c:v>44976</c:v>
                </c:pt>
                <c:pt idx="439">
                  <c:v>44983</c:v>
                </c:pt>
                <c:pt idx="440">
                  <c:v>44990</c:v>
                </c:pt>
                <c:pt idx="441">
                  <c:v>44997</c:v>
                </c:pt>
                <c:pt idx="442">
                  <c:v>45004</c:v>
                </c:pt>
                <c:pt idx="443">
                  <c:v>45011</c:v>
                </c:pt>
                <c:pt idx="444">
                  <c:v>45018</c:v>
                </c:pt>
                <c:pt idx="445">
                  <c:v>45025</c:v>
                </c:pt>
                <c:pt idx="446">
                  <c:v>45032</c:v>
                </c:pt>
                <c:pt idx="447">
                  <c:v>45039</c:v>
                </c:pt>
                <c:pt idx="448">
                  <c:v>45046</c:v>
                </c:pt>
                <c:pt idx="449">
                  <c:v>45053</c:v>
                </c:pt>
                <c:pt idx="450">
                  <c:v>45060</c:v>
                </c:pt>
                <c:pt idx="451">
                  <c:v>45067</c:v>
                </c:pt>
                <c:pt idx="452">
                  <c:v>45074</c:v>
                </c:pt>
                <c:pt idx="453">
                  <c:v>45081</c:v>
                </c:pt>
                <c:pt idx="454">
                  <c:v>45088</c:v>
                </c:pt>
                <c:pt idx="455">
                  <c:v>45095</c:v>
                </c:pt>
                <c:pt idx="456">
                  <c:v>45102</c:v>
                </c:pt>
                <c:pt idx="457">
                  <c:v>45109</c:v>
                </c:pt>
                <c:pt idx="458">
                  <c:v>45116</c:v>
                </c:pt>
                <c:pt idx="459">
                  <c:v>45123</c:v>
                </c:pt>
                <c:pt idx="460">
                  <c:v>45130</c:v>
                </c:pt>
                <c:pt idx="461">
                  <c:v>45137</c:v>
                </c:pt>
                <c:pt idx="462">
                  <c:v>45144</c:v>
                </c:pt>
                <c:pt idx="463">
                  <c:v>45151</c:v>
                </c:pt>
                <c:pt idx="464">
                  <c:v>45158</c:v>
                </c:pt>
                <c:pt idx="465">
                  <c:v>45165</c:v>
                </c:pt>
                <c:pt idx="466">
                  <c:v>45172</c:v>
                </c:pt>
                <c:pt idx="467">
                  <c:v>45179</c:v>
                </c:pt>
                <c:pt idx="468">
                  <c:v>45186</c:v>
                </c:pt>
                <c:pt idx="469">
                  <c:v>45193</c:v>
                </c:pt>
                <c:pt idx="470">
                  <c:v>45200</c:v>
                </c:pt>
                <c:pt idx="471">
                  <c:v>45207</c:v>
                </c:pt>
                <c:pt idx="472">
                  <c:v>45214</c:v>
                </c:pt>
                <c:pt idx="473">
                  <c:v>45221</c:v>
                </c:pt>
                <c:pt idx="474">
                  <c:v>45228</c:v>
                </c:pt>
                <c:pt idx="475">
                  <c:v>45235</c:v>
                </c:pt>
                <c:pt idx="476">
                  <c:v>45242</c:v>
                </c:pt>
                <c:pt idx="477">
                  <c:v>45249</c:v>
                </c:pt>
                <c:pt idx="478">
                  <c:v>45256</c:v>
                </c:pt>
                <c:pt idx="479">
                  <c:v>45263</c:v>
                </c:pt>
                <c:pt idx="480">
                  <c:v>45270</c:v>
                </c:pt>
                <c:pt idx="481">
                  <c:v>45277</c:v>
                </c:pt>
                <c:pt idx="482">
                  <c:v>45284</c:v>
                </c:pt>
                <c:pt idx="483">
                  <c:v>45291</c:v>
                </c:pt>
                <c:pt idx="484">
                  <c:v>45298</c:v>
                </c:pt>
                <c:pt idx="485">
                  <c:v>45305</c:v>
                </c:pt>
                <c:pt idx="486">
                  <c:v>45312</c:v>
                </c:pt>
                <c:pt idx="487">
                  <c:v>45319</c:v>
                </c:pt>
                <c:pt idx="488">
                  <c:v>45326</c:v>
                </c:pt>
                <c:pt idx="489">
                  <c:v>45333</c:v>
                </c:pt>
                <c:pt idx="490">
                  <c:v>45340</c:v>
                </c:pt>
                <c:pt idx="491">
                  <c:v>45347</c:v>
                </c:pt>
                <c:pt idx="492">
                  <c:v>45354</c:v>
                </c:pt>
                <c:pt idx="493">
                  <c:v>45361</c:v>
                </c:pt>
                <c:pt idx="494">
                  <c:v>45368</c:v>
                </c:pt>
                <c:pt idx="495">
                  <c:v>45375</c:v>
                </c:pt>
                <c:pt idx="496">
                  <c:v>45382</c:v>
                </c:pt>
                <c:pt idx="497">
                  <c:v>45389</c:v>
                </c:pt>
                <c:pt idx="498">
                  <c:v>45396</c:v>
                </c:pt>
                <c:pt idx="499">
                  <c:v>45403</c:v>
                </c:pt>
                <c:pt idx="500">
                  <c:v>45410</c:v>
                </c:pt>
                <c:pt idx="501">
                  <c:v>45417</c:v>
                </c:pt>
                <c:pt idx="502">
                  <c:v>45424</c:v>
                </c:pt>
                <c:pt idx="503">
                  <c:v>45431</c:v>
                </c:pt>
                <c:pt idx="504">
                  <c:v>45438</c:v>
                </c:pt>
                <c:pt idx="505">
                  <c:v>45445</c:v>
                </c:pt>
                <c:pt idx="506">
                  <c:v>45452</c:v>
                </c:pt>
                <c:pt idx="507">
                  <c:v>45459</c:v>
                </c:pt>
                <c:pt idx="508">
                  <c:v>45466</c:v>
                </c:pt>
                <c:pt idx="509">
                  <c:v>45473</c:v>
                </c:pt>
                <c:pt idx="510">
                  <c:v>45480</c:v>
                </c:pt>
                <c:pt idx="511">
                  <c:v>45487</c:v>
                </c:pt>
                <c:pt idx="512">
                  <c:v>45494</c:v>
                </c:pt>
                <c:pt idx="513">
                  <c:v>45501</c:v>
                </c:pt>
                <c:pt idx="514">
                  <c:v>45508</c:v>
                </c:pt>
                <c:pt idx="515">
                  <c:v>45515</c:v>
                </c:pt>
                <c:pt idx="516">
                  <c:v>45522</c:v>
                </c:pt>
                <c:pt idx="517">
                  <c:v>45529</c:v>
                </c:pt>
                <c:pt idx="518">
                  <c:v>45536</c:v>
                </c:pt>
                <c:pt idx="519">
                  <c:v>45543</c:v>
                </c:pt>
                <c:pt idx="520">
                  <c:v>45550</c:v>
                </c:pt>
                <c:pt idx="521">
                  <c:v>45557</c:v>
                </c:pt>
                <c:pt idx="522">
                  <c:v>45564</c:v>
                </c:pt>
                <c:pt idx="523">
                  <c:v>45571</c:v>
                </c:pt>
                <c:pt idx="524">
                  <c:v>45578</c:v>
                </c:pt>
                <c:pt idx="525">
                  <c:v>45585</c:v>
                </c:pt>
                <c:pt idx="526">
                  <c:v>45592</c:v>
                </c:pt>
                <c:pt idx="527">
                  <c:v>45599</c:v>
                </c:pt>
                <c:pt idx="528">
                  <c:v>45606</c:v>
                </c:pt>
                <c:pt idx="529">
                  <c:v>45613</c:v>
                </c:pt>
                <c:pt idx="530">
                  <c:v>45620</c:v>
                </c:pt>
                <c:pt idx="531">
                  <c:v>45627</c:v>
                </c:pt>
                <c:pt idx="532">
                  <c:v>45634</c:v>
                </c:pt>
                <c:pt idx="533">
                  <c:v>45641</c:v>
                </c:pt>
                <c:pt idx="534">
                  <c:v>45648</c:v>
                </c:pt>
                <c:pt idx="535">
                  <c:v>45655</c:v>
                </c:pt>
                <c:pt idx="536">
                  <c:v>45662</c:v>
                </c:pt>
                <c:pt idx="537">
                  <c:v>45669</c:v>
                </c:pt>
                <c:pt idx="538">
                  <c:v>45676</c:v>
                </c:pt>
                <c:pt idx="539">
                  <c:v>45683</c:v>
                </c:pt>
                <c:pt idx="540">
                  <c:v>45690</c:v>
                </c:pt>
                <c:pt idx="541">
                  <c:v>45697</c:v>
                </c:pt>
                <c:pt idx="542">
                  <c:v>45704</c:v>
                </c:pt>
                <c:pt idx="543">
                  <c:v>45711</c:v>
                </c:pt>
                <c:pt idx="544">
                  <c:v>45718</c:v>
                </c:pt>
                <c:pt idx="545">
                  <c:v>45725</c:v>
                </c:pt>
                <c:pt idx="546">
                  <c:v>45732</c:v>
                </c:pt>
                <c:pt idx="547">
                  <c:v>45739</c:v>
                </c:pt>
                <c:pt idx="548">
                  <c:v>45746</c:v>
                </c:pt>
                <c:pt idx="549">
                  <c:v>45753</c:v>
                </c:pt>
                <c:pt idx="550">
                  <c:v>45760</c:v>
                </c:pt>
                <c:pt idx="551">
                  <c:v>45767</c:v>
                </c:pt>
                <c:pt idx="552">
                  <c:v>45774</c:v>
                </c:pt>
                <c:pt idx="553">
                  <c:v>45781</c:v>
                </c:pt>
                <c:pt idx="554">
                  <c:v>45788</c:v>
                </c:pt>
                <c:pt idx="555">
                  <c:v>45795</c:v>
                </c:pt>
                <c:pt idx="556">
                  <c:v>45802</c:v>
                </c:pt>
                <c:pt idx="557">
                  <c:v>45809</c:v>
                </c:pt>
                <c:pt idx="558">
                  <c:v>45816</c:v>
                </c:pt>
                <c:pt idx="559">
                  <c:v>45823</c:v>
                </c:pt>
                <c:pt idx="560">
                  <c:v>45830</c:v>
                </c:pt>
                <c:pt idx="561">
                  <c:v>45837</c:v>
                </c:pt>
                <c:pt idx="562">
                  <c:v>45844</c:v>
                </c:pt>
                <c:pt idx="563">
                  <c:v>45851</c:v>
                </c:pt>
                <c:pt idx="564">
                  <c:v>45858</c:v>
                </c:pt>
                <c:pt idx="565">
                  <c:v>45865</c:v>
                </c:pt>
                <c:pt idx="566">
                  <c:v>45872</c:v>
                </c:pt>
                <c:pt idx="567">
                  <c:v>45879</c:v>
                </c:pt>
                <c:pt idx="568">
                  <c:v>45886</c:v>
                </c:pt>
                <c:pt idx="569">
                  <c:v>45893</c:v>
                </c:pt>
                <c:pt idx="570">
                  <c:v>45900</c:v>
                </c:pt>
                <c:pt idx="571">
                  <c:v>45907</c:v>
                </c:pt>
                <c:pt idx="572">
                  <c:v>45914</c:v>
                </c:pt>
                <c:pt idx="573">
                  <c:v>45921</c:v>
                </c:pt>
                <c:pt idx="574">
                  <c:v>45928</c:v>
                </c:pt>
                <c:pt idx="575">
                  <c:v>45935</c:v>
                </c:pt>
                <c:pt idx="576">
                  <c:v>45942</c:v>
                </c:pt>
                <c:pt idx="577">
                  <c:v>45949</c:v>
                </c:pt>
                <c:pt idx="578">
                  <c:v>45956</c:v>
                </c:pt>
                <c:pt idx="579">
                  <c:v>45963</c:v>
                </c:pt>
                <c:pt idx="580">
                  <c:v>45970</c:v>
                </c:pt>
                <c:pt idx="581">
                  <c:v>45977</c:v>
                </c:pt>
                <c:pt idx="582">
                  <c:v>45984</c:v>
                </c:pt>
                <c:pt idx="583">
                  <c:v>45991</c:v>
                </c:pt>
                <c:pt idx="584">
                  <c:v>45998</c:v>
                </c:pt>
                <c:pt idx="585">
                  <c:v>46005</c:v>
                </c:pt>
                <c:pt idx="586">
                  <c:v>46012</c:v>
                </c:pt>
                <c:pt idx="587">
                  <c:v>46019</c:v>
                </c:pt>
                <c:pt idx="588">
                  <c:v>46026</c:v>
                </c:pt>
                <c:pt idx="589">
                  <c:v>46033</c:v>
                </c:pt>
                <c:pt idx="590">
                  <c:v>46040</c:v>
                </c:pt>
                <c:pt idx="591">
                  <c:v>46047</c:v>
                </c:pt>
                <c:pt idx="592">
                  <c:v>46054</c:v>
                </c:pt>
                <c:pt idx="593">
                  <c:v>46061</c:v>
                </c:pt>
                <c:pt idx="594">
                  <c:v>46068</c:v>
                </c:pt>
                <c:pt idx="595">
                  <c:v>46075</c:v>
                </c:pt>
                <c:pt idx="596">
                  <c:v>46082</c:v>
                </c:pt>
                <c:pt idx="597">
                  <c:v>46089</c:v>
                </c:pt>
                <c:pt idx="598">
                  <c:v>46096</c:v>
                </c:pt>
                <c:pt idx="599">
                  <c:v>46103</c:v>
                </c:pt>
                <c:pt idx="600">
                  <c:v>46110</c:v>
                </c:pt>
                <c:pt idx="601">
                  <c:v>46117</c:v>
                </c:pt>
                <c:pt idx="602">
                  <c:v>46124</c:v>
                </c:pt>
                <c:pt idx="603">
                  <c:v>46131</c:v>
                </c:pt>
                <c:pt idx="604">
                  <c:v>46138</c:v>
                </c:pt>
                <c:pt idx="605">
                  <c:v>46145</c:v>
                </c:pt>
                <c:pt idx="606">
                  <c:v>46152</c:v>
                </c:pt>
                <c:pt idx="607">
                  <c:v>46159</c:v>
                </c:pt>
                <c:pt idx="608">
                  <c:v>46166</c:v>
                </c:pt>
                <c:pt idx="609">
                  <c:v>46173</c:v>
                </c:pt>
                <c:pt idx="610">
                  <c:v>46180</c:v>
                </c:pt>
                <c:pt idx="611">
                  <c:v>46187</c:v>
                </c:pt>
                <c:pt idx="612">
                  <c:v>46194</c:v>
                </c:pt>
                <c:pt idx="613">
                  <c:v>46201</c:v>
                </c:pt>
                <c:pt idx="614">
                  <c:v>46208</c:v>
                </c:pt>
                <c:pt idx="615">
                  <c:v>46215</c:v>
                </c:pt>
                <c:pt idx="616">
                  <c:v>46222</c:v>
                </c:pt>
                <c:pt idx="617">
                  <c:v>46229</c:v>
                </c:pt>
                <c:pt idx="618">
                  <c:v>46236</c:v>
                </c:pt>
                <c:pt idx="619">
                  <c:v>46243</c:v>
                </c:pt>
                <c:pt idx="620">
                  <c:v>46250</c:v>
                </c:pt>
                <c:pt idx="621">
                  <c:v>46257</c:v>
                </c:pt>
                <c:pt idx="622">
                  <c:v>46264</c:v>
                </c:pt>
                <c:pt idx="623">
                  <c:v>46271</c:v>
                </c:pt>
                <c:pt idx="624">
                  <c:v>46278</c:v>
                </c:pt>
                <c:pt idx="625">
                  <c:v>46285</c:v>
                </c:pt>
              </c:numCache>
            </c:numRef>
          </c:cat>
          <c:val>
            <c:numRef>
              <c:f>Feuil1!$G$6:$G$631</c:f>
              <c:numCache>
                <c:formatCode>General</c:formatCode>
                <c:ptCount val="626"/>
                <c:pt idx="0">
                  <c:v>100</c:v>
                </c:pt>
                <c:pt idx="1">
                  <c:v>99.369428702404377</c:v>
                </c:pt>
                <c:pt idx="2">
                  <c:v>98.26002358136472</c:v>
                </c:pt>
                <c:pt idx="3">
                  <c:v>98.084064162130886</c:v>
                </c:pt>
                <c:pt idx="4">
                  <c:v>98.049232604739885</c:v>
                </c:pt>
                <c:pt idx="5">
                  <c:v>98.613944233475522</c:v>
                </c:pt>
                <c:pt idx="6">
                  <c:v>99.090175699183462</c:v>
                </c:pt>
                <c:pt idx="7">
                  <c:v>99.9503550216496</c:v>
                </c:pt>
                <c:pt idx="8">
                  <c:v>100.38594967040137</c:v>
                </c:pt>
                <c:pt idx="9">
                  <c:v>100.52247336086492</c:v>
                </c:pt>
                <c:pt idx="10">
                  <c:v>98.556292000552489</c:v>
                </c:pt>
                <c:pt idx="11">
                  <c:v>99.099183860577682</c:v>
                </c:pt>
                <c:pt idx="12">
                  <c:v>99.174652234924835</c:v>
                </c:pt>
                <c:pt idx="13">
                  <c:v>98.805717980490329</c:v>
                </c:pt>
                <c:pt idx="14">
                  <c:v>98.230997283538883</c:v>
                </c:pt>
                <c:pt idx="15">
                  <c:v>98.371924964017381</c:v>
                </c:pt>
                <c:pt idx="16">
                  <c:v>100.59233665701124</c:v>
                </c:pt>
                <c:pt idx="17">
                  <c:v>99.959763545772461</c:v>
                </c:pt>
                <c:pt idx="18">
                  <c:v>101.4040720893129</c:v>
                </c:pt>
                <c:pt idx="19">
                  <c:v>102.1973908360975</c:v>
                </c:pt>
                <c:pt idx="20">
                  <c:v>103.01633279751454</c:v>
                </c:pt>
                <c:pt idx="21">
                  <c:v>103.90353660416338</c:v>
                </c:pt>
                <c:pt idx="22">
                  <c:v>103.53940670247242</c:v>
                </c:pt>
                <c:pt idx="23">
                  <c:v>103.43351076074923</c:v>
                </c:pt>
                <c:pt idx="24">
                  <c:v>104.46064134105499</c:v>
                </c:pt>
                <c:pt idx="25">
                  <c:v>103.81465607840703</c:v>
                </c:pt>
                <c:pt idx="26">
                  <c:v>104.22522805661929</c:v>
                </c:pt>
                <c:pt idx="27">
                  <c:v>105.97901698939238</c:v>
                </c:pt>
                <c:pt idx="28">
                  <c:v>105.14926523430226</c:v>
                </c:pt>
                <c:pt idx="29">
                  <c:v>105.90915369324607</c:v>
                </c:pt>
                <c:pt idx="30">
                  <c:v>105.26577078833421</c:v>
                </c:pt>
                <c:pt idx="31">
                  <c:v>105.94078234880801</c:v>
                </c:pt>
                <c:pt idx="32">
                  <c:v>106.43903376459069</c:v>
                </c:pt>
                <c:pt idx="33">
                  <c:v>107.04758511211156</c:v>
                </c:pt>
                <c:pt idx="34">
                  <c:v>106.43482995594007</c:v>
                </c:pt>
                <c:pt idx="35">
                  <c:v>105.77703399279746</c:v>
                </c:pt>
                <c:pt idx="36">
                  <c:v>106.02085489453445</c:v>
                </c:pt>
                <c:pt idx="37">
                  <c:v>105.85530490624507</c:v>
                </c:pt>
                <c:pt idx="38">
                  <c:v>106.40820583448603</c:v>
                </c:pt>
                <c:pt idx="39">
                  <c:v>105.70817160347275</c:v>
                </c:pt>
                <c:pt idx="40">
                  <c:v>105.28178529747952</c:v>
                </c:pt>
                <c:pt idx="41">
                  <c:v>106.23124550843062</c:v>
                </c:pt>
                <c:pt idx="42">
                  <c:v>106.13035410081535</c:v>
                </c:pt>
                <c:pt idx="43">
                  <c:v>106.1087345134692</c:v>
                </c:pt>
                <c:pt idx="44">
                  <c:v>106.38358352667517</c:v>
                </c:pt>
                <c:pt idx="45">
                  <c:v>106.2941024568259</c:v>
                </c:pt>
                <c:pt idx="46">
                  <c:v>104.58435342420232</c:v>
                </c:pt>
                <c:pt idx="47">
                  <c:v>104.7673191911872</c:v>
                </c:pt>
                <c:pt idx="48">
                  <c:v>104.18238924465567</c:v>
                </c:pt>
                <c:pt idx="49">
                  <c:v>104.56453546913505</c:v>
                </c:pt>
                <c:pt idx="50">
                  <c:v>104.91945702806743</c:v>
                </c:pt>
                <c:pt idx="51">
                  <c:v>103.11442166602941</c:v>
                </c:pt>
                <c:pt idx="52">
                  <c:v>103.34402969089993</c:v>
                </c:pt>
                <c:pt idx="53">
                  <c:v>104.27687484861285</c:v>
                </c:pt>
                <c:pt idx="54">
                  <c:v>104.58995850240318</c:v>
                </c:pt>
                <c:pt idx="55">
                  <c:v>105.03876512119979</c:v>
                </c:pt>
                <c:pt idx="56">
                  <c:v>105.25456063193252</c:v>
                </c:pt>
                <c:pt idx="57">
                  <c:v>105.30140307118248</c:v>
                </c:pt>
                <c:pt idx="58">
                  <c:v>105.22973814275733</c:v>
                </c:pt>
                <c:pt idx="59">
                  <c:v>105.46314961354986</c:v>
                </c:pt>
                <c:pt idx="60">
                  <c:v>105.79805303605066</c:v>
                </c:pt>
                <c:pt idx="61">
                  <c:v>106.49268237022741</c:v>
                </c:pt>
                <c:pt idx="62">
                  <c:v>106.01845271816264</c:v>
                </c:pt>
                <c:pt idx="63">
                  <c:v>105.55843594296432</c:v>
                </c:pt>
                <c:pt idx="64">
                  <c:v>106.24746019894022</c:v>
                </c:pt>
                <c:pt idx="65">
                  <c:v>106.52471138851797</c:v>
                </c:pt>
                <c:pt idx="66">
                  <c:v>106.59297323374976</c:v>
                </c:pt>
                <c:pt idx="67">
                  <c:v>106.91706686257749</c:v>
                </c:pt>
                <c:pt idx="68">
                  <c:v>107.18110608211038</c:v>
                </c:pt>
                <c:pt idx="69">
                  <c:v>108.46506935283364</c:v>
                </c:pt>
                <c:pt idx="70">
                  <c:v>108.78736134938252</c:v>
                </c:pt>
                <c:pt idx="71">
                  <c:v>108.15158533631471</c:v>
                </c:pt>
                <c:pt idx="72">
                  <c:v>109.12566785507668</c:v>
                </c:pt>
                <c:pt idx="73">
                  <c:v>109.76784967180264</c:v>
                </c:pt>
                <c:pt idx="74">
                  <c:v>110.69829265314375</c:v>
                </c:pt>
                <c:pt idx="75">
                  <c:v>110.37499974977329</c:v>
                </c:pt>
                <c:pt idx="76">
                  <c:v>111.03599861474495</c:v>
                </c:pt>
                <c:pt idx="77">
                  <c:v>111.9868600952463</c:v>
                </c:pt>
                <c:pt idx="78">
                  <c:v>112.39843298028012</c:v>
                </c:pt>
                <c:pt idx="79">
                  <c:v>111.95613225582377</c:v>
                </c:pt>
                <c:pt idx="80">
                  <c:v>112.28783277649551</c:v>
                </c:pt>
                <c:pt idx="81">
                  <c:v>111.99176453867203</c:v>
                </c:pt>
                <c:pt idx="82">
                  <c:v>112.2448938738497</c:v>
                </c:pt>
                <c:pt idx="83">
                  <c:v>112.48260924397503</c:v>
                </c:pt>
                <c:pt idx="84">
                  <c:v>112.86695746346189</c:v>
                </c:pt>
                <c:pt idx="85">
                  <c:v>113.10327156403702</c:v>
                </c:pt>
                <c:pt idx="86">
                  <c:v>113.39173291001647</c:v>
                </c:pt>
                <c:pt idx="87">
                  <c:v>113.73254168276459</c:v>
                </c:pt>
                <c:pt idx="88">
                  <c:v>113.67548999393449</c:v>
                </c:pt>
                <c:pt idx="89">
                  <c:v>113.44628233179259</c:v>
                </c:pt>
                <c:pt idx="90">
                  <c:v>113.27092345665173</c:v>
                </c:pt>
                <c:pt idx="91">
                  <c:v>113.91760935407478</c:v>
                </c:pt>
                <c:pt idx="92">
                  <c:v>113.83703635493757</c:v>
                </c:pt>
                <c:pt idx="93">
                  <c:v>114.1651336110516</c:v>
                </c:pt>
                <c:pt idx="94">
                  <c:v>114.44598806518704</c:v>
                </c:pt>
                <c:pt idx="95">
                  <c:v>114.68360334463024</c:v>
                </c:pt>
                <c:pt idx="96">
                  <c:v>114.93413032207178</c:v>
                </c:pt>
                <c:pt idx="97">
                  <c:v>115.26352875705388</c:v>
                </c:pt>
                <c:pt idx="98">
                  <c:v>115.83284455716878</c:v>
                </c:pt>
                <c:pt idx="99">
                  <c:v>115.59582982181857</c:v>
                </c:pt>
                <c:pt idx="100">
                  <c:v>116.05214324177705</c:v>
                </c:pt>
                <c:pt idx="101">
                  <c:v>116.26863938728489</c:v>
                </c:pt>
                <c:pt idx="102">
                  <c:v>116.4319873805668</c:v>
                </c:pt>
                <c:pt idx="103">
                  <c:v>116.66389749112696</c:v>
                </c:pt>
                <c:pt idx="104">
                  <c:v>116.91932891199426</c:v>
                </c:pt>
                <c:pt idx="105">
                  <c:v>117.05084806834994</c:v>
                </c:pt>
                <c:pt idx="106">
                  <c:v>116.7205488172284</c:v>
                </c:pt>
                <c:pt idx="107">
                  <c:v>117.04073890945195</c:v>
                </c:pt>
                <c:pt idx="108">
                  <c:v>115.75907772441832</c:v>
                </c:pt>
                <c:pt idx="109">
                  <c:v>115.77959631426071</c:v>
                </c:pt>
                <c:pt idx="110">
                  <c:v>116.04113326673966</c:v>
                </c:pt>
                <c:pt idx="111">
                  <c:v>116.6065455302504</c:v>
                </c:pt>
                <c:pt idx="112">
                  <c:v>116.71454337629892</c:v>
                </c:pt>
                <c:pt idx="113">
                  <c:v>116.42508112349788</c:v>
                </c:pt>
                <c:pt idx="114">
                  <c:v>117.13562487613778</c:v>
                </c:pt>
                <c:pt idx="115">
                  <c:v>117.23711682784601</c:v>
                </c:pt>
                <c:pt idx="116">
                  <c:v>117.35832664393939</c:v>
                </c:pt>
                <c:pt idx="117">
                  <c:v>117.47413156319624</c:v>
                </c:pt>
                <c:pt idx="118">
                  <c:v>118.10149995896282</c:v>
                </c:pt>
                <c:pt idx="119">
                  <c:v>118.76670263258511</c:v>
                </c:pt>
                <c:pt idx="120">
                  <c:v>118.47653974500898</c:v>
                </c:pt>
                <c:pt idx="121">
                  <c:v>118.41718597048924</c:v>
                </c:pt>
                <c:pt idx="122">
                  <c:v>117.86828866953458</c:v>
                </c:pt>
                <c:pt idx="123">
                  <c:v>118.17746878672075</c:v>
                </c:pt>
                <c:pt idx="124">
                  <c:v>118.09509415530471</c:v>
                </c:pt>
                <c:pt idx="125">
                  <c:v>117.82705130848548</c:v>
                </c:pt>
                <c:pt idx="126">
                  <c:v>118.68673017754084</c:v>
                </c:pt>
                <c:pt idx="127">
                  <c:v>118.669714761574</c:v>
                </c:pt>
                <c:pt idx="128">
                  <c:v>118.8831080959349</c:v>
                </c:pt>
                <c:pt idx="129">
                  <c:v>118.59184421085503</c:v>
                </c:pt>
                <c:pt idx="130">
                  <c:v>118.85668415584519</c:v>
                </c:pt>
                <c:pt idx="131">
                  <c:v>119.29668279461193</c:v>
                </c:pt>
                <c:pt idx="132">
                  <c:v>119.44701899921328</c:v>
                </c:pt>
                <c:pt idx="133">
                  <c:v>119.37835679125286</c:v>
                </c:pt>
                <c:pt idx="134">
                  <c:v>120.40578764360509</c:v>
                </c:pt>
                <c:pt idx="135">
                  <c:v>120.64790700374539</c:v>
                </c:pt>
                <c:pt idx="136">
                  <c:v>120.89413008185414</c:v>
                </c:pt>
                <c:pt idx="137">
                  <c:v>120.88322019749893</c:v>
                </c:pt>
                <c:pt idx="138">
                  <c:v>121.74710287520492</c:v>
                </c:pt>
                <c:pt idx="139">
                  <c:v>122.26327052309394</c:v>
                </c:pt>
                <c:pt idx="140">
                  <c:v>121.99142423035269</c:v>
                </c:pt>
                <c:pt idx="141">
                  <c:v>122.24575465371626</c:v>
                </c:pt>
                <c:pt idx="142">
                  <c:v>122.35335213703615</c:v>
                </c:pt>
                <c:pt idx="143">
                  <c:v>122.13585508470672</c:v>
                </c:pt>
                <c:pt idx="144">
                  <c:v>122.2053180181244</c:v>
                </c:pt>
                <c:pt idx="145">
                  <c:v>122.08390802066671</c:v>
                </c:pt>
                <c:pt idx="146">
                  <c:v>122.65072155372766</c:v>
                </c:pt>
                <c:pt idx="147">
                  <c:v>122.7062718823254</c:v>
                </c:pt>
                <c:pt idx="148">
                  <c:v>122.65792808284306</c:v>
                </c:pt>
                <c:pt idx="149">
                  <c:v>122.25075918782417</c:v>
                </c:pt>
                <c:pt idx="150">
                  <c:v>122.75431540976125</c:v>
                </c:pt>
                <c:pt idx="151">
                  <c:v>122.92807283398757</c:v>
                </c:pt>
                <c:pt idx="152">
                  <c:v>122.99933739968409</c:v>
                </c:pt>
                <c:pt idx="153">
                  <c:v>123.28809901771002</c:v>
                </c:pt>
                <c:pt idx="154">
                  <c:v>123.32483229806203</c:v>
                </c:pt>
                <c:pt idx="155">
                  <c:v>123.70948078959536</c:v>
                </c:pt>
                <c:pt idx="156">
                  <c:v>123.62870760909384</c:v>
                </c:pt>
                <c:pt idx="157">
                  <c:v>123.94399325789165</c:v>
                </c:pt>
                <c:pt idx="158">
                  <c:v>123.98503043757646</c:v>
                </c:pt>
                <c:pt idx="159">
                  <c:v>123.73160083035228</c:v>
                </c:pt>
                <c:pt idx="160">
                  <c:v>122.74690869928153</c:v>
                </c:pt>
                <c:pt idx="161">
                  <c:v>122.69436109114859</c:v>
                </c:pt>
                <c:pt idx="162">
                  <c:v>121.33843261995368</c:v>
                </c:pt>
                <c:pt idx="163">
                  <c:v>121.14645869157457</c:v>
                </c:pt>
                <c:pt idx="164">
                  <c:v>121.29389226639333</c:v>
                </c:pt>
                <c:pt idx="165">
                  <c:v>121.46975159494502</c:v>
                </c:pt>
                <c:pt idx="166">
                  <c:v>121.27987957089124</c:v>
                </c:pt>
                <c:pt idx="167">
                  <c:v>120.63299349210385</c:v>
                </c:pt>
                <c:pt idx="168">
                  <c:v>120.97790598282043</c:v>
                </c:pt>
                <c:pt idx="169">
                  <c:v>121.56353656412711</c:v>
                </c:pt>
                <c:pt idx="170">
                  <c:v>122.17398963460894</c:v>
                </c:pt>
                <c:pt idx="171">
                  <c:v>122.64581711030193</c:v>
                </c:pt>
                <c:pt idx="172">
                  <c:v>122.80466102288672</c:v>
                </c:pt>
                <c:pt idx="173">
                  <c:v>123.03436913843942</c:v>
                </c:pt>
                <c:pt idx="174">
                  <c:v>122.99002896624343</c:v>
                </c:pt>
                <c:pt idx="175">
                  <c:v>122.19600958468374</c:v>
                </c:pt>
                <c:pt idx="176">
                  <c:v>123.0608931692113</c:v>
                </c:pt>
                <c:pt idx="177">
                  <c:v>122.80005685150745</c:v>
                </c:pt>
                <c:pt idx="178">
                  <c:v>121.4127999967971</c:v>
                </c:pt>
                <c:pt idx="179">
                  <c:v>121.86070579945429</c:v>
                </c:pt>
                <c:pt idx="180">
                  <c:v>120.83857975325645</c:v>
                </c:pt>
                <c:pt idx="181">
                  <c:v>120.60556864519253</c:v>
                </c:pt>
                <c:pt idx="182">
                  <c:v>120.30589714281139</c:v>
                </c:pt>
                <c:pt idx="183">
                  <c:v>120.15365921524901</c:v>
                </c:pt>
                <c:pt idx="184">
                  <c:v>120.68644191637622</c:v>
                </c:pt>
                <c:pt idx="185">
                  <c:v>120.57223844803393</c:v>
                </c:pt>
                <c:pt idx="186">
                  <c:v>119.4128880765974</c:v>
                </c:pt>
                <c:pt idx="187">
                  <c:v>118.93995960340067</c:v>
                </c:pt>
                <c:pt idx="188">
                  <c:v>119.08919481049831</c:v>
                </c:pt>
                <c:pt idx="189">
                  <c:v>120.23453248643273</c:v>
                </c:pt>
                <c:pt idx="190">
                  <c:v>120.35233921933271</c:v>
                </c:pt>
                <c:pt idx="191">
                  <c:v>120.15145722024153</c:v>
                </c:pt>
                <c:pt idx="192">
                  <c:v>121.18219106510497</c:v>
                </c:pt>
                <c:pt idx="193">
                  <c:v>120.10041097234092</c:v>
                </c:pt>
                <c:pt idx="194">
                  <c:v>120.5052777816702</c:v>
                </c:pt>
                <c:pt idx="195">
                  <c:v>119.96949236007821</c:v>
                </c:pt>
                <c:pt idx="196">
                  <c:v>119.80864663385027</c:v>
                </c:pt>
                <c:pt idx="197">
                  <c:v>120.5746406244057</c:v>
                </c:pt>
                <c:pt idx="198">
                  <c:v>120.14334987498674</c:v>
                </c:pt>
                <c:pt idx="199">
                  <c:v>118.86579240792156</c:v>
                </c:pt>
                <c:pt idx="200">
                  <c:v>118.59274502699446</c:v>
                </c:pt>
                <c:pt idx="201">
                  <c:v>118.5415986884117</c:v>
                </c:pt>
                <c:pt idx="202">
                  <c:v>118.13893387408991</c:v>
                </c:pt>
                <c:pt idx="203">
                  <c:v>118.96768472235844</c:v>
                </c:pt>
                <c:pt idx="204">
                  <c:v>119.70485259645238</c:v>
                </c:pt>
                <c:pt idx="205">
                  <c:v>118.44511127081134</c:v>
                </c:pt>
                <c:pt idx="206">
                  <c:v>119.01082380636856</c:v>
                </c:pt>
                <c:pt idx="207">
                  <c:v>118.77260798283244</c:v>
                </c:pt>
                <c:pt idx="208">
                  <c:v>118.12742344564174</c:v>
                </c:pt>
                <c:pt idx="209">
                  <c:v>116.82764584713752</c:v>
                </c:pt>
                <c:pt idx="210">
                  <c:v>116.20428107865726</c:v>
                </c:pt>
                <c:pt idx="211">
                  <c:v>116.45030397540172</c:v>
                </c:pt>
                <c:pt idx="212">
                  <c:v>115.75967826851125</c:v>
                </c:pt>
                <c:pt idx="213">
                  <c:v>117.27415038024451</c:v>
                </c:pt>
                <c:pt idx="214">
                  <c:v>117.32239408904468</c:v>
                </c:pt>
                <c:pt idx="215">
                  <c:v>116.44720116425479</c:v>
                </c:pt>
                <c:pt idx="216">
                  <c:v>116.51175965424673</c:v>
                </c:pt>
                <c:pt idx="217">
                  <c:v>116.64688207516009</c:v>
                </c:pt>
                <c:pt idx="218">
                  <c:v>116.32569107611495</c:v>
                </c:pt>
                <c:pt idx="219">
                  <c:v>116.68861988961999</c:v>
                </c:pt>
                <c:pt idx="220">
                  <c:v>115.61424650733565</c:v>
                </c:pt>
                <c:pt idx="221">
                  <c:v>115.92492798475418</c:v>
                </c:pt>
                <c:pt idx="222">
                  <c:v>115.9234266245218</c:v>
                </c:pt>
                <c:pt idx="223">
                  <c:v>117.52367645086449</c:v>
                </c:pt>
                <c:pt idx="224">
                  <c:v>116.99699928134891</c:v>
                </c:pt>
                <c:pt idx="225">
                  <c:v>117.4768340116145</c:v>
                </c:pt>
                <c:pt idx="226">
                  <c:v>117.85717860381504</c:v>
                </c:pt>
                <c:pt idx="227">
                  <c:v>117.35342220051366</c:v>
                </c:pt>
                <c:pt idx="228">
                  <c:v>117.89431224689568</c:v>
                </c:pt>
                <c:pt idx="229">
                  <c:v>118.29437470348137</c:v>
                </c:pt>
                <c:pt idx="230">
                  <c:v>118.73167089382981</c:v>
                </c:pt>
                <c:pt idx="231">
                  <c:v>118.26254586655509</c:v>
                </c:pt>
                <c:pt idx="232">
                  <c:v>118.98560095446473</c:v>
                </c:pt>
                <c:pt idx="233">
                  <c:v>118.23902455624795</c:v>
                </c:pt>
                <c:pt idx="234">
                  <c:v>118.64859562763863</c:v>
                </c:pt>
                <c:pt idx="235">
                  <c:v>118.93705697361807</c:v>
                </c:pt>
                <c:pt idx="236">
                  <c:v>119.60326055406199</c:v>
                </c:pt>
                <c:pt idx="237">
                  <c:v>119.75850120208908</c:v>
                </c:pt>
                <c:pt idx="238">
                  <c:v>119.54040360566671</c:v>
                </c:pt>
                <c:pt idx="239">
                  <c:v>119.58774649832749</c:v>
                </c:pt>
                <c:pt idx="240">
                  <c:v>119.89502489255266</c:v>
                </c:pt>
                <c:pt idx="241">
                  <c:v>119.53019435608661</c:v>
                </c:pt>
                <c:pt idx="242">
                  <c:v>119.34332505249756</c:v>
                </c:pt>
                <c:pt idx="243">
                  <c:v>119.61256898750266</c:v>
                </c:pt>
                <c:pt idx="244">
                  <c:v>119.64049428782475</c:v>
                </c:pt>
                <c:pt idx="245">
                  <c:v>119.24563654671132</c:v>
                </c:pt>
                <c:pt idx="246">
                  <c:v>119.21891233457511</c:v>
                </c:pt>
                <c:pt idx="247">
                  <c:v>119.23172394189136</c:v>
                </c:pt>
                <c:pt idx="248">
                  <c:v>119.37275171305201</c:v>
                </c:pt>
                <c:pt idx="249">
                  <c:v>119.61567179864959</c:v>
                </c:pt>
                <c:pt idx="250">
                  <c:v>119.35933956164284</c:v>
                </c:pt>
                <c:pt idx="251">
                  <c:v>119.70144951325901</c:v>
                </c:pt>
                <c:pt idx="252">
                  <c:v>119.58554450331999</c:v>
                </c:pt>
                <c:pt idx="253">
                  <c:v>119.2366283853171</c:v>
                </c:pt>
                <c:pt idx="254">
                  <c:v>119.02964085461427</c:v>
                </c:pt>
                <c:pt idx="255">
                  <c:v>119.30949440192813</c:v>
                </c:pt>
                <c:pt idx="256">
                  <c:v>119.3799582421674</c:v>
                </c:pt>
                <c:pt idx="257">
                  <c:v>119.36674627212254</c:v>
                </c:pt>
                <c:pt idx="258">
                  <c:v>119.45502625378592</c:v>
                </c:pt>
                <c:pt idx="259">
                  <c:v>119.4078835424895</c:v>
                </c:pt>
                <c:pt idx="260">
                  <c:v>119.1750726157899</c:v>
                </c:pt>
                <c:pt idx="261">
                  <c:v>119.29428061824012</c:v>
                </c:pt>
                <c:pt idx="262">
                  <c:v>119.33181462404939</c:v>
                </c:pt>
                <c:pt idx="263">
                  <c:v>119.6377918394065</c:v>
                </c:pt>
                <c:pt idx="264">
                  <c:v>119.66131314971365</c:v>
                </c:pt>
                <c:pt idx="265">
                  <c:v>119.84758190920974</c:v>
                </c:pt>
                <c:pt idx="266">
                  <c:v>120.01653498069248</c:v>
                </c:pt>
                <c:pt idx="267">
                  <c:v>120.03284976188426</c:v>
                </c:pt>
                <c:pt idx="268">
                  <c:v>120.43471385074878</c:v>
                </c:pt>
                <c:pt idx="269">
                  <c:v>120.58815286649704</c:v>
                </c:pt>
                <c:pt idx="270">
                  <c:v>120.69855288891735</c:v>
                </c:pt>
                <c:pt idx="271">
                  <c:v>121.53711262403736</c:v>
                </c:pt>
                <c:pt idx="272">
                  <c:v>122.04587356144667</c:v>
                </c:pt>
                <c:pt idx="273">
                  <c:v>122.4877739231744</c:v>
                </c:pt>
                <c:pt idx="274">
                  <c:v>122.67554404290286</c:v>
                </c:pt>
                <c:pt idx="275">
                  <c:v>123.07180305356653</c:v>
                </c:pt>
                <c:pt idx="276">
                  <c:v>123.41251173563248</c:v>
                </c:pt>
                <c:pt idx="277">
                  <c:v>123.22163880475709</c:v>
                </c:pt>
                <c:pt idx="278">
                  <c:v>122.85650799624459</c:v>
                </c:pt>
                <c:pt idx="279">
                  <c:v>123.00043839718786</c:v>
                </c:pt>
                <c:pt idx="280">
                  <c:v>123.48848056339044</c:v>
                </c:pt>
                <c:pt idx="281">
                  <c:v>123.38828979055023</c:v>
                </c:pt>
                <c:pt idx="282">
                  <c:v>122.06939487175379</c:v>
                </c:pt>
                <c:pt idx="283">
                  <c:v>120.24153883418376</c:v>
                </c:pt>
                <c:pt idx="284">
                  <c:v>114.55658826897168</c:v>
                </c:pt>
                <c:pt idx="285">
                  <c:v>113</c:v>
                </c:pt>
                <c:pt idx="286">
                  <c:v>112</c:v>
                </c:pt>
                <c:pt idx="287">
                  <c:v>111</c:v>
                </c:pt>
                <c:pt idx="288">
                  <c:v>111.45107467365432</c:v>
                </c:pt>
                <c:pt idx="289">
                  <c:v>113.47420763211468</c:v>
                </c:pt>
                <c:pt idx="290">
                  <c:v>114.20466943050403</c:v>
                </c:pt>
                <c:pt idx="291">
                  <c:v>116.04603771016542</c:v>
                </c:pt>
                <c:pt idx="292">
                  <c:v>117.45671578450074</c:v>
                </c:pt>
                <c:pt idx="293">
                  <c:v>115.22339239350852</c:v>
                </c:pt>
                <c:pt idx="294">
                  <c:v>115.2195889475865</c:v>
                </c:pt>
                <c:pt idx="295">
                  <c:v>117.68322099822439</c:v>
                </c:pt>
                <c:pt idx="296">
                  <c:v>120.16036529095359</c:v>
                </c:pt>
                <c:pt idx="297">
                  <c:v>119.29418052755798</c:v>
                </c:pt>
                <c:pt idx="298">
                  <c:v>120.04065683509258</c:v>
                </c:pt>
                <c:pt idx="299">
                  <c:v>119.94236778521339</c:v>
                </c:pt>
                <c:pt idx="300">
                  <c:v>120.40138365359014</c:v>
                </c:pt>
                <c:pt idx="301">
                  <c:v>120.24143874350162</c:v>
                </c:pt>
                <c:pt idx="302">
                  <c:v>120.7702178173425</c:v>
                </c:pt>
                <c:pt idx="303">
                  <c:v>120.5391084322396</c:v>
                </c:pt>
                <c:pt idx="304">
                  <c:v>120.31270330919813</c:v>
                </c:pt>
                <c:pt idx="305">
                  <c:v>120.31620648307364</c:v>
                </c:pt>
                <c:pt idx="306">
                  <c:v>120.51178367601048</c:v>
                </c:pt>
                <c:pt idx="307">
                  <c:v>120.43621521098113</c:v>
                </c:pt>
                <c:pt idx="308">
                  <c:v>120.98921622990429</c:v>
                </c:pt>
                <c:pt idx="309">
                  <c:v>121.17738671236138</c:v>
                </c:pt>
                <c:pt idx="310">
                  <c:v>121.71407295009277</c:v>
                </c:pt>
                <c:pt idx="311">
                  <c:v>122.44503520189289</c:v>
                </c:pt>
                <c:pt idx="312">
                  <c:v>121.7109701389459</c:v>
                </c:pt>
                <c:pt idx="313">
                  <c:v>122.12584601649095</c:v>
                </c:pt>
                <c:pt idx="314">
                  <c:v>123.16768992707392</c:v>
                </c:pt>
                <c:pt idx="315">
                  <c:v>122.44493511121075</c:v>
                </c:pt>
                <c:pt idx="316">
                  <c:v>122.34604551723862</c:v>
                </c:pt>
                <c:pt idx="317">
                  <c:v>119.54370659817795</c:v>
                </c:pt>
                <c:pt idx="318">
                  <c:v>122.56934782913321</c:v>
                </c:pt>
                <c:pt idx="319">
                  <c:v>124.39320023941691</c:v>
                </c:pt>
                <c:pt idx="320">
                  <c:v>124.8105783840159</c:v>
                </c:pt>
                <c:pt idx="321">
                  <c:v>126.89266475426737</c:v>
                </c:pt>
                <c:pt idx="322">
                  <c:v>127.83361725723506</c:v>
                </c:pt>
                <c:pt idx="323">
                  <c:v>129.02519682832647</c:v>
                </c:pt>
                <c:pt idx="324">
                  <c:v>130.48702124124455</c:v>
                </c:pt>
                <c:pt idx="325">
                  <c:v>130.39223536524091</c:v>
                </c:pt>
                <c:pt idx="326">
                  <c:v>130.51784917134924</c:v>
                </c:pt>
                <c:pt idx="327">
                  <c:v>131.98447793701092</c:v>
                </c:pt>
                <c:pt idx="328">
                  <c:v>132.57671450334004</c:v>
                </c:pt>
                <c:pt idx="329">
                  <c:v>133.07596682594431</c:v>
                </c:pt>
                <c:pt idx="330">
                  <c:v>132.39104628793689</c:v>
                </c:pt>
                <c:pt idx="331">
                  <c:v>134.13993077728421</c:v>
                </c:pt>
                <c:pt idx="332">
                  <c:v>135.31559592991249</c:v>
                </c:pt>
                <c:pt idx="333">
                  <c:v>135.89872424416524</c:v>
                </c:pt>
                <c:pt idx="334">
                  <c:v>134.97778987762914</c:v>
                </c:pt>
                <c:pt idx="335">
                  <c:v>134.59684474133564</c:v>
                </c:pt>
                <c:pt idx="336">
                  <c:v>135.45982660290224</c:v>
                </c:pt>
                <c:pt idx="337">
                  <c:v>135.73747815520861</c:v>
                </c:pt>
                <c:pt idx="338">
                  <c:v>135.8612903290381</c:v>
                </c:pt>
                <c:pt idx="339">
                  <c:v>136.17197180645667</c:v>
                </c:pt>
                <c:pt idx="340">
                  <c:v>136.37075190122249</c:v>
                </c:pt>
                <c:pt idx="341">
                  <c:v>136.63649266235208</c:v>
                </c:pt>
                <c:pt idx="342">
                  <c:v>137.08129565386238</c:v>
                </c:pt>
                <c:pt idx="343">
                  <c:v>137.48466110295931</c:v>
                </c:pt>
                <c:pt idx="344">
                  <c:v>137.85239426920791</c:v>
                </c:pt>
                <c:pt idx="345">
                  <c:v>137.85199390647927</c:v>
                </c:pt>
                <c:pt idx="346">
                  <c:v>138.4903722772832</c:v>
                </c:pt>
                <c:pt idx="347">
                  <c:v>139.25426436351333</c:v>
                </c:pt>
                <c:pt idx="348">
                  <c:v>139.98852960782469</c:v>
                </c:pt>
                <c:pt idx="349">
                  <c:v>140.37618081982274</c:v>
                </c:pt>
                <c:pt idx="350">
                  <c:v>140.21163173835492</c:v>
                </c:pt>
                <c:pt idx="351">
                  <c:v>139.87412595811804</c:v>
                </c:pt>
                <c:pt idx="352">
                  <c:v>140.57846408846413</c:v>
                </c:pt>
                <c:pt idx="353">
                  <c:v>140.261076535341</c:v>
                </c:pt>
                <c:pt idx="354">
                  <c:v>140.73350455512696</c:v>
                </c:pt>
                <c:pt idx="355">
                  <c:v>141.19872604579749</c:v>
                </c:pt>
                <c:pt idx="356">
                  <c:v>140.48177648949948</c:v>
                </c:pt>
                <c:pt idx="357">
                  <c:v>140.50549798117095</c:v>
                </c:pt>
                <c:pt idx="358">
                  <c:v>140.58877342872643</c:v>
                </c:pt>
                <c:pt idx="359">
                  <c:v>140.94940015654183</c:v>
                </c:pt>
                <c:pt idx="360">
                  <c:v>141.07211133286756</c:v>
                </c:pt>
                <c:pt idx="361">
                  <c:v>141.45405737598264</c:v>
                </c:pt>
                <c:pt idx="362">
                  <c:v>141.44384812640251</c:v>
                </c:pt>
                <c:pt idx="363">
                  <c:v>141.80107177102454</c:v>
                </c:pt>
                <c:pt idx="364">
                  <c:v>143.0717229810208</c:v>
                </c:pt>
                <c:pt idx="365">
                  <c:v>143.1410858237563</c:v>
                </c:pt>
                <c:pt idx="366">
                  <c:v>143.32715440188809</c:v>
                </c:pt>
                <c:pt idx="367">
                  <c:v>143.61851837765013</c:v>
                </c:pt>
                <c:pt idx="368">
                  <c:v>144.35698743061212</c:v>
                </c:pt>
                <c:pt idx="369">
                  <c:v>144.4533747575303</c:v>
                </c:pt>
                <c:pt idx="370">
                  <c:v>144.51092689977119</c:v>
                </c:pt>
                <c:pt idx="371">
                  <c:v>144.57538529908095</c:v>
                </c:pt>
                <c:pt idx="372">
                  <c:v>144.45037203706556</c:v>
                </c:pt>
                <c:pt idx="373">
                  <c:v>144.55356553037052</c:v>
                </c:pt>
                <c:pt idx="374">
                  <c:v>144.08564159128167</c:v>
                </c:pt>
                <c:pt idx="375">
                  <c:v>144.48260123672048</c:v>
                </c:pt>
                <c:pt idx="376">
                  <c:v>144.81700420581046</c:v>
                </c:pt>
                <c:pt idx="377">
                  <c:v>145.55477262399734</c:v>
                </c:pt>
                <c:pt idx="378">
                  <c:v>145.45097858659946</c:v>
                </c:pt>
                <c:pt idx="379">
                  <c:v>145.60181524461163</c:v>
                </c:pt>
                <c:pt idx="380">
                  <c:v>145.7022061988161</c:v>
                </c:pt>
                <c:pt idx="381">
                  <c:v>145.5885031838846</c:v>
                </c:pt>
                <c:pt idx="382">
                  <c:v>145.41264385533293</c:v>
                </c:pt>
                <c:pt idx="383">
                  <c:v>145.72993131777389</c:v>
                </c:pt>
                <c:pt idx="384">
                  <c:v>146.03420699153432</c:v>
                </c:pt>
                <c:pt idx="385">
                  <c:v>145.97525357974322</c:v>
                </c:pt>
                <c:pt idx="386">
                  <c:v>145.9405221130344</c:v>
                </c:pt>
                <c:pt idx="387">
                  <c:v>145.10966936044053</c:v>
                </c:pt>
                <c:pt idx="388">
                  <c:v>145.40733904917855</c:v>
                </c:pt>
                <c:pt idx="389">
                  <c:v>144.49160939811466</c:v>
                </c:pt>
                <c:pt idx="390">
                  <c:v>144.79438371164275</c:v>
                </c:pt>
                <c:pt idx="391">
                  <c:v>144.87705861510528</c:v>
                </c:pt>
                <c:pt idx="392">
                  <c:v>144.48330187149557</c:v>
                </c:pt>
                <c:pt idx="393">
                  <c:v>144.41133667102395</c:v>
                </c:pt>
                <c:pt idx="394">
                  <c:v>144.29933519768909</c:v>
                </c:pt>
                <c:pt idx="395">
                  <c:v>144.05010939911557</c:v>
                </c:pt>
                <c:pt idx="396">
                  <c:v>143.16140423223439</c:v>
                </c:pt>
                <c:pt idx="397">
                  <c:v>142.37759410025484</c:v>
                </c:pt>
                <c:pt idx="398">
                  <c:v>142.18672116937944</c:v>
                </c:pt>
                <c:pt idx="399">
                  <c:v>142.33245320260156</c:v>
                </c:pt>
                <c:pt idx="400">
                  <c:v>142.59559160599503</c:v>
                </c:pt>
                <c:pt idx="401">
                  <c:v>142.51521878822214</c:v>
                </c:pt>
                <c:pt idx="402">
                  <c:v>140.78004672233044</c:v>
                </c:pt>
                <c:pt idx="403">
                  <c:v>141.09643336863195</c:v>
                </c:pt>
                <c:pt idx="404">
                  <c:v>140.94279417151941</c:v>
                </c:pt>
                <c:pt idx="405">
                  <c:v>140.57556145868156</c:v>
                </c:pt>
                <c:pt idx="406">
                  <c:v>140.46686297785794</c:v>
                </c:pt>
                <c:pt idx="407">
                  <c:v>141.92998856964408</c:v>
                </c:pt>
                <c:pt idx="408">
                  <c:v>142.59128770666223</c:v>
                </c:pt>
                <c:pt idx="409">
                  <c:v>144.39992633325792</c:v>
                </c:pt>
                <c:pt idx="410">
                  <c:v>144.97564793703094</c:v>
                </c:pt>
                <c:pt idx="411">
                  <c:v>144.86224519414588</c:v>
                </c:pt>
                <c:pt idx="412">
                  <c:v>144.67137226327051</c:v>
                </c:pt>
                <c:pt idx="413">
                  <c:v>144.40883440396999</c:v>
                </c:pt>
                <c:pt idx="414">
                  <c:v>145.23348153427006</c:v>
                </c:pt>
                <c:pt idx="415">
                  <c:v>145.13249003597258</c:v>
                </c:pt>
                <c:pt idx="416">
                  <c:v>144.52584041141273</c:v>
                </c:pt>
                <c:pt idx="417">
                  <c:v>142.87964896195953</c:v>
                </c:pt>
                <c:pt idx="418">
                  <c:v>144.21525902467636</c:v>
                </c:pt>
                <c:pt idx="419">
                  <c:v>143.99756179098262</c:v>
                </c:pt>
                <c:pt idx="420">
                  <c:v>144.7992881550685</c:v>
                </c:pt>
                <c:pt idx="421">
                  <c:v>145.40153378961341</c:v>
                </c:pt>
                <c:pt idx="422">
                  <c:v>145.87606371372465</c:v>
                </c:pt>
                <c:pt idx="423">
                  <c:v>146.51434199384644</c:v>
                </c:pt>
                <c:pt idx="424">
                  <c:v>146.67528781075654</c:v>
                </c:pt>
                <c:pt idx="425">
                  <c:v>147.48151825553953</c:v>
                </c:pt>
                <c:pt idx="426">
                  <c:v>147.70442020470546</c:v>
                </c:pt>
                <c:pt idx="427">
                  <c:v>147.85185377952425</c:v>
                </c:pt>
                <c:pt idx="428">
                  <c:v>148.36561925104144</c:v>
                </c:pt>
                <c:pt idx="429">
                  <c:v>148.81092269596252</c:v>
                </c:pt>
                <c:pt idx="430">
                  <c:v>149.12320562429562</c:v>
                </c:pt>
                <c:pt idx="431">
                  <c:v>149.72805361657663</c:v>
                </c:pt>
                <c:pt idx="432">
                  <c:v>149.83034629374211</c:v>
                </c:pt>
                <c:pt idx="433">
                  <c:v>150.10259294921198</c:v>
                </c:pt>
                <c:pt idx="434">
                  <c:v>150.45421151563318</c:v>
                </c:pt>
                <c:pt idx="435">
                  <c:v>151.19948673498189</c:v>
                </c:pt>
                <c:pt idx="436">
                  <c:v>151.20298990885743</c:v>
                </c:pt>
                <c:pt idx="437">
                  <c:v>151.26854930567092</c:v>
                </c:pt>
                <c:pt idx="438">
                  <c:v>151.30117886805445</c:v>
                </c:pt>
                <c:pt idx="439">
                  <c:v>151.33370833975579</c:v>
                </c:pt>
                <c:pt idx="440">
                  <c:v>151.37964996286635</c:v>
                </c:pt>
                <c:pt idx="441">
                  <c:v>151.0448466310477</c:v>
                </c:pt>
                <c:pt idx="442">
                  <c:v>151.37794842126965</c:v>
                </c:pt>
                <c:pt idx="443">
                  <c:v>151.65650078971549</c:v>
                </c:pt>
                <c:pt idx="444">
                  <c:v>151.55570947278235</c:v>
                </c:pt>
                <c:pt idx="445">
                  <c:v>151.88240545934616</c:v>
                </c:pt>
                <c:pt idx="446">
                  <c:v>152.09549852166063</c:v>
                </c:pt>
                <c:pt idx="447">
                  <c:v>152.13073044178026</c:v>
                </c:pt>
                <c:pt idx="448">
                  <c:v>152.23072103325615</c:v>
                </c:pt>
                <c:pt idx="449">
                  <c:v>152.42900067461122</c:v>
                </c:pt>
                <c:pt idx="450">
                  <c:v>151.72516299767588</c:v>
                </c:pt>
                <c:pt idx="451">
                  <c:v>151.6418875501204</c:v>
                </c:pt>
                <c:pt idx="452">
                  <c:v>151.85407979629545</c:v>
                </c:pt>
                <c:pt idx="453">
                  <c:v>152.08558954412698</c:v>
                </c:pt>
                <c:pt idx="454">
                  <c:v>152.42940103733983</c:v>
                </c:pt>
                <c:pt idx="455">
                  <c:v>152.42579777278215</c:v>
                </c:pt>
                <c:pt idx="456">
                  <c:v>152.52538800152939</c:v>
                </c:pt>
                <c:pt idx="457">
                  <c:v>152.4709386704354</c:v>
                </c:pt>
                <c:pt idx="458">
                  <c:v>153.22412105367462</c:v>
                </c:pt>
                <c:pt idx="459">
                  <c:v>153.19749693222059</c:v>
                </c:pt>
                <c:pt idx="460">
                  <c:v>152.92334855378974</c:v>
                </c:pt>
                <c:pt idx="461">
                  <c:v>152.94676977341473</c:v>
                </c:pt>
                <c:pt idx="462">
                  <c:v>153.47785093294524</c:v>
                </c:pt>
                <c:pt idx="463">
                  <c:v>153.29158217344914</c:v>
                </c:pt>
                <c:pt idx="464">
                  <c:v>153.98831341195122</c:v>
                </c:pt>
                <c:pt idx="465">
                  <c:v>154.57614598826538</c:v>
                </c:pt>
                <c:pt idx="466">
                  <c:v>154.60577283018412</c:v>
                </c:pt>
                <c:pt idx="467">
                  <c:v>155.09391508706889</c:v>
                </c:pt>
                <c:pt idx="468">
                  <c:v>154.85069472942484</c:v>
                </c:pt>
                <c:pt idx="469">
                  <c:v>155.12194047807313</c:v>
                </c:pt>
                <c:pt idx="470">
                  <c:v>154.70546314961356</c:v>
                </c:pt>
                <c:pt idx="471">
                  <c:v>155.14886487157364</c:v>
                </c:pt>
                <c:pt idx="472">
                  <c:v>154.75881148320377</c:v>
                </c:pt>
                <c:pt idx="473">
                  <c:v>154.63539967210292</c:v>
                </c:pt>
                <c:pt idx="474">
                  <c:v>155.90685160755643</c:v>
                </c:pt>
                <c:pt idx="475">
                  <c:v>156.35285568725266</c:v>
                </c:pt>
                <c:pt idx="476">
                  <c:v>156.58126262393728</c:v>
                </c:pt>
                <c:pt idx="477">
                  <c:v>157.21503682336197</c:v>
                </c:pt>
                <c:pt idx="478">
                  <c:v>157.353762508833</c:v>
                </c:pt>
                <c:pt idx="479">
                  <c:v>157.6626423539727</c:v>
                </c:pt>
                <c:pt idx="480">
                  <c:v>158.41372283288661</c:v>
                </c:pt>
                <c:pt idx="481">
                  <c:v>158.86403081191557</c:v>
                </c:pt>
                <c:pt idx="482">
                  <c:v>159.17261038500882</c:v>
                </c:pt>
                <c:pt idx="483">
                  <c:v>159.55866014609236</c:v>
                </c:pt>
                <c:pt idx="484">
                  <c:v>159.83941450954563</c:v>
                </c:pt>
                <c:pt idx="485">
                  <c:v>158.23235851681622</c:v>
                </c:pt>
                <c:pt idx="486">
                  <c:v>159.04559530935026</c:v>
                </c:pt>
                <c:pt idx="487">
                  <c:v>158.31773586869701</c:v>
                </c:pt>
                <c:pt idx="488">
                  <c:v>158.44615221390578</c:v>
                </c:pt>
                <c:pt idx="489">
                  <c:v>158.62631544179027</c:v>
                </c:pt>
                <c:pt idx="490">
                  <c:v>159.01606855811366</c:v>
                </c:pt>
                <c:pt idx="491">
                  <c:v>159.13537665124602</c:v>
                </c:pt>
                <c:pt idx="492">
                  <c:v>159.89196211767859</c:v>
                </c:pt>
                <c:pt idx="493">
                  <c:v>159.96022396291039</c:v>
                </c:pt>
                <c:pt idx="494">
                  <c:v>160.07392697784189</c:v>
                </c:pt>
                <c:pt idx="495">
                  <c:v>160.16040532722647</c:v>
                </c:pt>
                <c:pt idx="496">
                  <c:v>160.47388934374541</c:v>
                </c:pt>
                <c:pt idx="497">
                  <c:v>160.83321489269278</c:v>
                </c:pt>
                <c:pt idx="498">
                  <c:v>160.66005801255935</c:v>
                </c:pt>
                <c:pt idx="499">
                  <c:v>161.07293207646129</c:v>
                </c:pt>
                <c:pt idx="500">
                  <c:v>161.49481430175737</c:v>
                </c:pt>
                <c:pt idx="501">
                  <c:v>161.78898081661984</c:v>
                </c:pt>
                <c:pt idx="502">
                  <c:v>161.94442164601128</c:v>
                </c:pt>
                <c:pt idx="503">
                  <c:v>162.03680534564316</c:v>
                </c:pt>
                <c:pt idx="504">
                  <c:v>162.38311910590994</c:v>
                </c:pt>
                <c:pt idx="505">
                  <c:v>162.52064370319508</c:v>
                </c:pt>
                <c:pt idx="506">
                  <c:v>161.98075456363463</c:v>
                </c:pt>
                <c:pt idx="507">
                  <c:v>161.87085499462512</c:v>
                </c:pt>
                <c:pt idx="508">
                  <c:v>161.87776125169401</c:v>
                </c:pt>
                <c:pt idx="509">
                  <c:v>162.7140189011244</c:v>
                </c:pt>
                <c:pt idx="510">
                  <c:v>163.50563610631232</c:v>
                </c:pt>
                <c:pt idx="511">
                  <c:v>163.69270559126568</c:v>
                </c:pt>
                <c:pt idx="512">
                  <c:v>163.63695508130365</c:v>
                </c:pt>
                <c:pt idx="513">
                  <c:v>163.58080420861302</c:v>
                </c:pt>
                <c:pt idx="514">
                  <c:v>163.45248795408639</c:v>
                </c:pt>
                <c:pt idx="515">
                  <c:v>163.93232268435202</c:v>
                </c:pt>
                <c:pt idx="516">
                  <c:v>164.1668351526483</c:v>
                </c:pt>
                <c:pt idx="517">
                  <c:v>164.63886280970559</c:v>
                </c:pt>
                <c:pt idx="518">
                  <c:v>164.71383073064194</c:v>
                </c:pt>
                <c:pt idx="519">
                  <c:v>164.10087539310615</c:v>
                </c:pt>
                <c:pt idx="520">
                  <c:v>164.70282075560459</c:v>
                </c:pt>
                <c:pt idx="521">
                  <c:v>164.2508112349789</c:v>
                </c:pt>
                <c:pt idx="522">
                  <c:v>163.58510810794579</c:v>
                </c:pt>
                <c:pt idx="523">
                  <c:v>164.19315900205584</c:v>
                </c:pt>
                <c:pt idx="524">
                  <c:v>164.30556083811933</c:v>
                </c:pt>
                <c:pt idx="525">
                  <c:v>164.47851753688843</c:v>
                </c:pt>
                <c:pt idx="526">
                  <c:v>164.63696108674458</c:v>
                </c:pt>
                <c:pt idx="527">
                  <c:v>164.46740747116885</c:v>
                </c:pt>
                <c:pt idx="528">
                  <c:v>164.61574186212707</c:v>
                </c:pt>
                <c:pt idx="529">
                  <c:v>164.4752145443772</c:v>
                </c:pt>
                <c:pt idx="530">
                  <c:v>164.77448568402971</c:v>
                </c:pt>
                <c:pt idx="531">
                  <c:v>164.64356707176702</c:v>
                </c:pt>
                <c:pt idx="532">
                  <c:v>164.75917180965953</c:v>
                </c:pt>
                <c:pt idx="533">
                  <c:v>163.31296154315811</c:v>
                </c:pt>
                <c:pt idx="534">
                  <c:v>164.52836269660312</c:v>
                </c:pt>
                <c:pt idx="535">
                  <c:v>165.39634909227757</c:v>
                </c:pt>
                <c:pt idx="536">
                  <c:v>165.33789613389732</c:v>
                </c:pt>
                <c:pt idx="537">
                  <c:v>165.22999837853095</c:v>
                </c:pt>
                <c:pt idx="538">
                  <c:v>165.45540259475084</c:v>
                </c:pt>
                <c:pt idx="539">
                  <c:v>165.58021567540189</c:v>
                </c:pt>
                <c:pt idx="540">
                  <c:v>165.92152490156082</c:v>
                </c:pt>
                <c:pt idx="541">
                  <c:v>166.00019617773702</c:v>
                </c:pt>
                <c:pt idx="542">
                  <c:v>166.32519062270416</c:v>
                </c:pt>
                <c:pt idx="543">
                  <c:v>166.55279683393155</c:v>
                </c:pt>
                <c:pt idx="544">
                  <c:v>166.28095054119032</c:v>
                </c:pt>
                <c:pt idx="545">
                  <c:v>166.86007522815669</c:v>
                </c:pt>
                <c:pt idx="546">
                  <c:v>167.54529603821061</c:v>
                </c:pt>
                <c:pt idx="547">
                  <c:v>167.69483151735471</c:v>
                </c:pt>
                <c:pt idx="548">
                  <c:v>165.67820445323463</c:v>
                </c:pt>
                <c:pt idx="549">
                  <c:v>165.14131803413892</c:v>
                </c:pt>
                <c:pt idx="550">
                  <c:v>166.72845598111888</c:v>
                </c:pt>
                <c:pt idx="551">
                  <c:v>167.22300404166174</c:v>
                </c:pt>
                <c:pt idx="552">
                  <c:v>167.85787923859016</c:v>
                </c:pt>
                <c:pt idx="553">
                  <c:v>168.03053566531275</c:v>
                </c:pt>
                <c:pt idx="554">
                  <c:v>169.16085973892345</c:v>
                </c:pt>
                <c:pt idx="555">
                  <c:v>169.49846560984253</c:v>
                </c:pt>
                <c:pt idx="556">
                  <c:v>170.30459596394331</c:v>
                </c:pt>
                <c:pt idx="557">
                  <c:v>170.55192003955582</c:v>
                </c:pt>
                <c:pt idx="558">
                  <c:v>170.70966295463691</c:v>
                </c:pt>
                <c:pt idx="559">
                  <c:v>171.43061613822121</c:v>
                </c:pt>
                <c:pt idx="560">
                  <c:v>171.97060536846379</c:v>
                </c:pt>
                <c:pt idx="561">
                  <c:v>172.50348816027318</c:v>
                </c:pt>
                <c:pt idx="562">
                  <c:v>172.63831030914008</c:v>
                </c:pt>
                <c:pt idx="563">
                  <c:v>172.61378809201136</c:v>
                </c:pt>
                <c:pt idx="564">
                  <c:v>173.0945236384164</c:v>
                </c:pt>
                <c:pt idx="565">
                  <c:v>173.43463177638941</c:v>
                </c:pt>
                <c:pt idx="566">
                  <c:v>173.45334873395296</c:v>
                </c:pt>
                <c:pt idx="567">
                  <c:v>173.41261182631465</c:v>
                </c:pt>
                <c:pt idx="568">
                  <c:v>173.75642331952747</c:v>
                </c:pt>
                <c:pt idx="569">
                  <c:v>173.78925306327531</c:v>
                </c:pt>
                <c:pt idx="570">
                  <c:v>173.55173787451429</c:v>
                </c:pt>
                <c:pt idx="571">
                  <c:v>174.18921542917886</c:v>
                </c:pt>
                <c:pt idx="572">
                  <c:v>173.99173651328101</c:v>
                </c:pt>
                <c:pt idx="573">
                  <c:v>174.44274512708512</c:v>
                </c:pt>
                <c:pt idx="574">
                  <c:v>175.30802907434133</c:v>
                </c:pt>
                <c:pt idx="575">
                  <c:v>175.02907634316688</c:v>
                </c:pt>
                <c:pt idx="576">
                  <c:v>175.01246128992867</c:v>
                </c:pt>
                <c:pt idx="577">
                  <c:v>175.71149461412037</c:v>
                </c:pt>
                <c:pt idx="578">
                  <c:v>176.00486040352558</c:v>
                </c:pt>
                <c:pt idx="579">
                  <c:v>175.62391526723209</c:v>
                </c:pt>
                <c:pt idx="580">
                  <c:v>175.94220363649464</c:v>
                </c:pt>
                <c:pt idx="581">
                  <c:v>176.26329454485762</c:v>
                </c:pt>
                <c:pt idx="582">
                  <c:v>177.11876960526237</c:v>
                </c:pt>
                <c:pt idx="583">
                  <c:v>177.0581146518746</c:v>
                </c:pt>
                <c:pt idx="584">
                  <c:v>177.530842943707</c:v>
                </c:pt>
                <c:pt idx="585">
                  <c:v>177.75354471150862</c:v>
                </c:pt>
                <c:pt idx="586">
                  <c:v>177.90928581294651</c:v>
                </c:pt>
                <c:pt idx="587">
                  <c:v>178.18913936026038</c:v>
                </c:pt>
                <c:pt idx="588">
                  <c:v>178.84753586749596</c:v>
                </c:pt>
                <c:pt idx="589">
                  <c:v>179.6116281350904</c:v>
                </c:pt>
                <c:pt idx="590">
                  <c:v>180.07935189281488</c:v>
                </c:pt>
                <c:pt idx="591">
                  <c:v>179.99587626389507</c:v>
                </c:pt>
                <c:pt idx="592">
                  <c:v>180.30725837608875</c:v>
                </c:pt>
                <c:pt idx="593">
                  <c:v>180.27382808824794</c:v>
                </c:pt>
                <c:pt idx="594">
                  <c:v>180.83964071448733</c:v>
                </c:pt>
                <c:pt idx="595">
                  <c:v>180.79309854728382</c:v>
                </c:pt>
                <c:pt idx="596">
                  <c:v>179.80170034050849</c:v>
                </c:pt>
                <c:pt idx="597">
                  <c:v>178.80009288415303</c:v>
                </c:pt>
                <c:pt idx="598">
                  <c:v>178.91509707795262</c:v>
                </c:pt>
                <c:pt idx="599">
                  <c:v>179.1577168915037</c:v>
                </c:pt>
                <c:pt idx="600">
                  <c:v>179.71402090293805</c:v>
                </c:pt>
                <c:pt idx="601">
                  <c:v>180.58781255817769</c:v>
                </c:pt>
                <c:pt idx="602">
                  <c:v>181.71223128154108</c:v>
                </c:pt>
                <c:pt idx="603">
                  <c:v>181.4648071152464</c:v>
                </c:pt>
                <c:pt idx="604">
                  <c:v>181.41115850960972</c:v>
                </c:pt>
                <c:pt idx="605">
                  <c:v>181.94564275233361</c:v>
                </c:pt>
                <c:pt idx="606">
                  <c:v>182.24111044606411</c:v>
                </c:pt>
                <c:pt idx="607">
                  <c:v>182.33269342023871</c:v>
                </c:pt>
                <c:pt idx="608">
                  <c:v>182.79210965134411</c:v>
                </c:pt>
                <c:pt idx="609">
                  <c:v>182.58211940017654</c:v>
                </c:pt>
                <c:pt idx="610">
                  <c:v>182.32478625634826</c:v>
                </c:pt>
                <c:pt idx="611">
                  <c:v>182.4711188336633</c:v>
                </c:pt>
                <c:pt idx="612">
                  <c:v>182.43738827377604</c:v>
                </c:pt>
                <c:pt idx="613">
                  <c:v>183.65759377996466</c:v>
                </c:pt>
                <c:pt idx="614">
                  <c:v>183.27694891571761</c:v>
                </c:pt>
                <c:pt idx="615">
                  <c:v>183.10659457468466</c:v>
                </c:pt>
                <c:pt idx="616">
                  <c:v>182.83665000490444</c:v>
                </c:pt>
                <c:pt idx="617">
                  <c:v>183.40856816275544</c:v>
                </c:pt>
                <c:pt idx="618">
                  <c:v>183.64678398629158</c:v>
                </c:pt>
                <c:pt idx="619">
                  <c:v>183.89891241464767</c:v>
                </c:pt>
                <c:pt idx="620">
                  <c:v>184.00600944455675</c:v>
                </c:pt>
                <c:pt idx="621">
                  <c:v>183.95986764008191</c:v>
                </c:pt>
                <c:pt idx="622">
                  <c:v>184.26264195360997</c:v>
                </c:pt>
                <c:pt idx="623">
                  <c:v>184.14243304433816</c:v>
                </c:pt>
                <c:pt idx="624">
                  <c:v>184.1043985851181</c:v>
                </c:pt>
                <c:pt idx="625">
                  <c:v>184.49565306167389</c:v>
                </c:pt>
              </c:numCache>
            </c:numRef>
          </c:val>
          <c:smooth val="0"/>
          <c:extLst>
            <c:ext xmlns:c16="http://schemas.microsoft.com/office/drawing/2014/chart" uri="{C3380CC4-5D6E-409C-BE32-E72D297353CC}">
              <c16:uniqueId val="{00000000-0588-9842-94ED-F80D3D648A8E}"/>
            </c:ext>
          </c:extLst>
        </c:ser>
        <c:dLbls>
          <c:showLegendKey val="0"/>
          <c:showVal val="0"/>
          <c:showCatName val="0"/>
          <c:showSerName val="0"/>
          <c:showPercent val="0"/>
          <c:showBubbleSize val="0"/>
        </c:dLbls>
        <c:smooth val="0"/>
        <c:axId val="20364159"/>
        <c:axId val="20352959"/>
      </c:lineChart>
      <c:dateAx>
        <c:axId val="20364159"/>
        <c:scaling>
          <c:orientation val="minMax"/>
          <c:max val="46376"/>
          <c:min val="42005"/>
        </c:scaling>
        <c:delete val="0"/>
        <c:axPos val="b"/>
        <c:numFmt formatCode="yy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Jost Light" pitchFamily="2" charset="77"/>
                <a:ea typeface="Jost Light" pitchFamily="2" charset="77"/>
                <a:cs typeface="+mn-cs"/>
              </a:defRPr>
            </a:pPr>
            <a:endParaRPr lang="fr-FR"/>
          </a:p>
        </c:txPr>
        <c:crossAx val="20352959"/>
        <c:crosses val="autoZero"/>
        <c:auto val="0"/>
        <c:lblOffset val="100"/>
        <c:baseTimeUnit val="days"/>
        <c:majorUnit val="1"/>
        <c:majorTimeUnit val="years"/>
      </c:dateAx>
      <c:valAx>
        <c:axId val="20352959"/>
        <c:scaling>
          <c:orientation val="minMax"/>
          <c:min val="90"/>
        </c:scaling>
        <c:delete val="0"/>
        <c:axPos val="r"/>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Jost Light" pitchFamily="2" charset="77"/>
                <a:ea typeface="Jost Light" pitchFamily="2" charset="77"/>
                <a:cs typeface="+mn-cs"/>
              </a:defRPr>
            </a:pPr>
            <a:endParaRPr lang="fr-FR"/>
          </a:p>
        </c:txPr>
        <c:crossAx val="20364159"/>
        <c:crosses val="max"/>
        <c:crossBetween val="between"/>
        <c:majorUnit val="20"/>
        <c:minorUnit val="10"/>
      </c:valAx>
      <c:spPr>
        <a:pattFill prst="narHorz">
          <a:fgClr>
            <a:srgbClr val="E8DCC7"/>
          </a:fgClr>
          <a:bgClr>
            <a:schemeClr val="bg1"/>
          </a:bgClr>
        </a:pattFill>
        <a:ln>
          <a:noFill/>
        </a:ln>
        <a:effectLst/>
      </c:spPr>
    </c:plotArea>
    <c:plotVisOnly val="1"/>
    <c:dispBlanksAs val="gap"/>
    <c:showDLblsOverMax val="0"/>
  </c:chart>
  <c:spPr>
    <a:noFill/>
    <a:ln>
      <a:noFill/>
    </a:ln>
    <a:effectLst/>
  </c:spPr>
  <c:txPr>
    <a:bodyPr/>
    <a:lstStyle/>
    <a:p>
      <a:pPr>
        <a:defRPr/>
      </a:pPr>
      <a:endParaRPr lang="fr-FR"/>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0.41989</cdr:x>
      <cdr:y>0.74304</cdr:y>
    </cdr:from>
    <cdr:to>
      <cdr:x>0.51752</cdr:x>
      <cdr:y>0.85682</cdr:y>
    </cdr:to>
    <cdr:sp macro="" textlink="">
      <cdr:nvSpPr>
        <cdr:cNvPr id="2" name="ZoneTexte 1">
          <a:extLst xmlns:a="http://schemas.openxmlformats.org/drawingml/2006/main">
            <a:ext uri="{FF2B5EF4-FFF2-40B4-BE49-F238E27FC236}">
              <a16:creationId xmlns:a16="http://schemas.microsoft.com/office/drawing/2014/main" id="{90C5E5DE-1604-77C5-7D6C-44D7E6ED3138}"/>
            </a:ext>
          </a:extLst>
        </cdr:cNvPr>
        <cdr:cNvSpPr txBox="1"/>
      </cdr:nvSpPr>
      <cdr:spPr>
        <a:xfrm xmlns:a="http://schemas.openxmlformats.org/drawingml/2006/main">
          <a:off x="3141350" y="2236465"/>
          <a:ext cx="730389" cy="34244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fr-FR" sz="700" kern="1200" dirty="0">
              <a:solidFill>
                <a:schemeClr val="tx1"/>
              </a:solidFill>
              <a:latin typeface="Jost Light" pitchFamily="2" charset="77"/>
              <a:ea typeface="Jost Light" pitchFamily="2" charset="77"/>
            </a:rPr>
            <a:t>(2) Mars 2020</a:t>
          </a:r>
        </a:p>
        <a:p xmlns:a="http://schemas.openxmlformats.org/drawingml/2006/main">
          <a:r>
            <a:rPr lang="fr-FR" sz="700" b="1" kern="1200" dirty="0">
              <a:latin typeface="Jost Medium" pitchFamily="2" charset="77"/>
              <a:ea typeface="Jost Medium" pitchFamily="2" charset="77"/>
            </a:rPr>
            <a:t>C</a:t>
          </a:r>
          <a:r>
            <a:rPr lang="fr-FR" sz="700" b="1" i="0" kern="1200" dirty="0">
              <a:latin typeface="Jost Medium" pitchFamily="2" charset="77"/>
              <a:ea typeface="Jost Medium" pitchFamily="2" charset="77"/>
            </a:rPr>
            <a:t>hoc Covid</a:t>
          </a:r>
        </a:p>
      </cdr:txBody>
    </cdr:sp>
  </cdr:relSizeAnchor>
  <cdr:relSizeAnchor xmlns:cdr="http://schemas.openxmlformats.org/drawingml/2006/chartDrawing">
    <cdr:from>
      <cdr:x>0.42575</cdr:x>
      <cdr:y>0.71241</cdr:y>
    </cdr:from>
    <cdr:to>
      <cdr:x>0.43067</cdr:x>
      <cdr:y>0.72437</cdr:y>
    </cdr:to>
    <cdr:sp macro="" textlink="">
      <cdr:nvSpPr>
        <cdr:cNvPr id="4" name="Ellipse 3">
          <a:extLst xmlns:a="http://schemas.openxmlformats.org/drawingml/2006/main">
            <a:ext uri="{FF2B5EF4-FFF2-40B4-BE49-F238E27FC236}">
              <a16:creationId xmlns:a16="http://schemas.microsoft.com/office/drawing/2014/main" id="{5AB70F92-389B-B556-7779-8C51DA789216}"/>
            </a:ext>
          </a:extLst>
        </cdr:cNvPr>
        <cdr:cNvSpPr/>
      </cdr:nvSpPr>
      <cdr:spPr>
        <a:xfrm xmlns:a="http://schemas.openxmlformats.org/drawingml/2006/main" flipH="1">
          <a:off x="3185207" y="2144265"/>
          <a:ext cx="36811" cy="36000"/>
        </a:xfrm>
        <a:prstGeom xmlns:a="http://schemas.openxmlformats.org/drawingml/2006/main" prst="ellipse">
          <a:avLst/>
        </a:prstGeom>
        <a:solidFill xmlns:a="http://schemas.openxmlformats.org/drawingml/2006/main">
          <a:srgbClr val="001A00"/>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kern="1200" dirty="0"/>
        </a:p>
      </cdr:txBody>
    </cdr:sp>
  </cdr:relSizeAnchor>
  <cdr:relSizeAnchor xmlns:cdr="http://schemas.openxmlformats.org/drawingml/2006/chartDrawing">
    <cdr:from>
      <cdr:x>0.60314</cdr:x>
      <cdr:y>0.46121</cdr:y>
    </cdr:from>
    <cdr:to>
      <cdr:x>0.60806</cdr:x>
      <cdr:y>0.47318</cdr:y>
    </cdr:to>
    <cdr:sp macro="" textlink="">
      <cdr:nvSpPr>
        <cdr:cNvPr id="5" name="Ellipse 4">
          <a:extLst xmlns:a="http://schemas.openxmlformats.org/drawingml/2006/main">
            <a:ext uri="{FF2B5EF4-FFF2-40B4-BE49-F238E27FC236}">
              <a16:creationId xmlns:a16="http://schemas.microsoft.com/office/drawing/2014/main" id="{7A46B9F5-BE86-6DC5-FB2D-6F4A3A56E6BF}"/>
            </a:ext>
          </a:extLst>
        </cdr:cNvPr>
        <cdr:cNvSpPr/>
      </cdr:nvSpPr>
      <cdr:spPr>
        <a:xfrm xmlns:a="http://schemas.openxmlformats.org/drawingml/2006/main">
          <a:off x="4512348" y="1388196"/>
          <a:ext cx="36811" cy="36000"/>
        </a:xfrm>
        <a:prstGeom xmlns:a="http://schemas.openxmlformats.org/drawingml/2006/main" prst="ellipse">
          <a:avLst/>
        </a:prstGeom>
        <a:solidFill xmlns:a="http://schemas.openxmlformats.org/drawingml/2006/main">
          <a:srgbClr val="001A00"/>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kern="1200" dirty="0"/>
        </a:p>
      </cdr:txBody>
    </cdr:sp>
  </cdr:relSizeAnchor>
  <cdr:relSizeAnchor xmlns:cdr="http://schemas.openxmlformats.org/drawingml/2006/chartDrawing">
    <cdr:from>
      <cdr:x>0.53872</cdr:x>
      <cdr:y>0.49162</cdr:y>
    </cdr:from>
    <cdr:to>
      <cdr:x>0.63635</cdr:x>
      <cdr:y>0.56567</cdr:y>
    </cdr:to>
    <cdr:sp macro="" textlink="">
      <cdr:nvSpPr>
        <cdr:cNvPr id="7" name="ZoneTexte 1">
          <a:extLst xmlns:a="http://schemas.openxmlformats.org/drawingml/2006/main">
            <a:ext uri="{FF2B5EF4-FFF2-40B4-BE49-F238E27FC236}">
              <a16:creationId xmlns:a16="http://schemas.microsoft.com/office/drawing/2014/main" id="{15A23149-D836-9CD8-03B3-DCEDD547D9E6}"/>
            </a:ext>
          </a:extLst>
        </cdr:cNvPr>
        <cdr:cNvSpPr txBox="1"/>
      </cdr:nvSpPr>
      <cdr:spPr>
        <a:xfrm xmlns:a="http://schemas.openxmlformats.org/drawingml/2006/main">
          <a:off x="4030393" y="1479711"/>
          <a:ext cx="730389" cy="222866"/>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fr-FR" sz="700" kern="1200" dirty="0">
              <a:solidFill>
                <a:schemeClr val="tx1"/>
              </a:solidFill>
              <a:latin typeface="Jost Light" pitchFamily="2" charset="77"/>
              <a:ea typeface="Jost Light" pitchFamily="2" charset="77"/>
            </a:rPr>
            <a:t>(3) Fév. 2022</a:t>
          </a:r>
        </a:p>
        <a:p xmlns:a="http://schemas.openxmlformats.org/drawingml/2006/main">
          <a:r>
            <a:rPr lang="fr-FR" sz="700" b="1" kern="1200" dirty="0">
              <a:latin typeface="Jost Medium" pitchFamily="2" charset="77"/>
              <a:ea typeface="Jost Medium" pitchFamily="2" charset="77"/>
            </a:rPr>
            <a:t>Invasion de </a:t>
          </a:r>
        </a:p>
        <a:p xmlns:a="http://schemas.openxmlformats.org/drawingml/2006/main">
          <a:r>
            <a:rPr lang="fr-FR" sz="700" b="1" kern="1200" dirty="0">
              <a:latin typeface="Jost Medium" pitchFamily="2" charset="77"/>
              <a:ea typeface="Jost Medium" pitchFamily="2" charset="77"/>
            </a:rPr>
            <a:t>l’ Ukraine</a:t>
          </a:r>
          <a:endParaRPr lang="fr-FR" sz="700" b="1" i="0" kern="1200" dirty="0">
            <a:latin typeface="Jost Medium" pitchFamily="2" charset="77"/>
            <a:ea typeface="Jost Medium" pitchFamily="2" charset="77"/>
          </a:endParaRPr>
        </a:p>
      </cdr:txBody>
    </cdr:sp>
  </cdr:relSizeAnchor>
  <cdr:relSizeAnchor xmlns:cdr="http://schemas.openxmlformats.org/drawingml/2006/chartDrawing">
    <cdr:from>
      <cdr:x>0.81025</cdr:x>
      <cdr:y>0.26154</cdr:y>
    </cdr:from>
    <cdr:to>
      <cdr:x>0.92428</cdr:x>
      <cdr:y>0.33558</cdr:y>
    </cdr:to>
    <cdr:sp macro="" textlink="">
      <cdr:nvSpPr>
        <cdr:cNvPr id="8" name="ZoneTexte 1">
          <a:extLst xmlns:a="http://schemas.openxmlformats.org/drawingml/2006/main">
            <a:ext uri="{FF2B5EF4-FFF2-40B4-BE49-F238E27FC236}">
              <a16:creationId xmlns:a16="http://schemas.microsoft.com/office/drawing/2014/main" id="{FC83C612-8BBA-ECA0-E651-27E1139EB3CF}"/>
            </a:ext>
          </a:extLst>
        </cdr:cNvPr>
        <cdr:cNvSpPr txBox="1"/>
      </cdr:nvSpPr>
      <cdr:spPr>
        <a:xfrm xmlns:a="http://schemas.openxmlformats.org/drawingml/2006/main">
          <a:off x="5928213" y="1177168"/>
          <a:ext cx="834291" cy="33327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fr-FR" sz="700" kern="1200" dirty="0">
              <a:solidFill>
                <a:schemeClr val="tx1"/>
              </a:solidFill>
              <a:latin typeface="Jost Light" pitchFamily="2" charset="77"/>
              <a:ea typeface="Jost Light" pitchFamily="2" charset="77"/>
            </a:rPr>
            <a:t>(5) Avr. 2025</a:t>
          </a:r>
        </a:p>
        <a:p xmlns:a="http://schemas.openxmlformats.org/drawingml/2006/main">
          <a:r>
            <a:rPr lang="fr-FR" sz="700" b="1" kern="1200" dirty="0">
              <a:latin typeface="Jost Medium" pitchFamily="2" charset="77"/>
              <a:ea typeface="Jost Medium" pitchFamily="2" charset="77"/>
            </a:rPr>
            <a:t>Tarifs douaniers de Trump</a:t>
          </a:r>
          <a:endParaRPr lang="fr-FR" sz="700" b="1" i="0" kern="1200" dirty="0">
            <a:latin typeface="Jost Medium" pitchFamily="2" charset="77"/>
            <a:ea typeface="Jost Medium" pitchFamily="2" charset="77"/>
          </a:endParaRPr>
        </a:p>
      </cdr:txBody>
    </cdr:sp>
  </cdr:relSizeAnchor>
  <cdr:relSizeAnchor xmlns:cdr="http://schemas.openxmlformats.org/drawingml/2006/chartDrawing">
    <cdr:from>
      <cdr:x>0.6508</cdr:x>
      <cdr:y>0.3917</cdr:y>
    </cdr:from>
    <cdr:to>
      <cdr:x>0.75804</cdr:x>
      <cdr:y>0.46574</cdr:y>
    </cdr:to>
    <cdr:sp macro="" textlink="">
      <cdr:nvSpPr>
        <cdr:cNvPr id="10" name="ZoneTexte 1">
          <a:extLst xmlns:a="http://schemas.openxmlformats.org/drawingml/2006/main">
            <a:ext uri="{FF2B5EF4-FFF2-40B4-BE49-F238E27FC236}">
              <a16:creationId xmlns:a16="http://schemas.microsoft.com/office/drawing/2014/main" id="{0590A9D4-88EA-66CE-83F2-64A3F88E8428}"/>
            </a:ext>
          </a:extLst>
        </cdr:cNvPr>
        <cdr:cNvSpPr txBox="1"/>
      </cdr:nvSpPr>
      <cdr:spPr>
        <a:xfrm xmlns:a="http://schemas.openxmlformats.org/drawingml/2006/main">
          <a:off x="4868909" y="1178959"/>
          <a:ext cx="802296" cy="222865"/>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fr-FR" sz="700" kern="1200" dirty="0">
              <a:solidFill>
                <a:schemeClr val="tx1"/>
              </a:solidFill>
              <a:latin typeface="Jost Light" pitchFamily="2" charset="77"/>
              <a:ea typeface="Jost Light" pitchFamily="2" charset="77"/>
            </a:rPr>
            <a:t>(4) Mars 2023</a:t>
          </a:r>
        </a:p>
        <a:p xmlns:a="http://schemas.openxmlformats.org/drawingml/2006/main">
          <a:r>
            <a:rPr lang="fr-FR" sz="700" b="1" kern="1200" dirty="0">
              <a:latin typeface="Jost Medium" pitchFamily="2" charset="77"/>
              <a:ea typeface="Jost Medium" pitchFamily="2" charset="77"/>
            </a:rPr>
            <a:t>Crise bancaire SVB / CS</a:t>
          </a:r>
          <a:endParaRPr lang="fr-FR" sz="700" b="1" i="0" kern="1200" dirty="0">
            <a:latin typeface="Jost Medium" pitchFamily="2" charset="77"/>
            <a:ea typeface="Jost Medium" pitchFamily="2" charset="77"/>
          </a:endParaRPr>
        </a:p>
      </cdr:txBody>
    </cdr:sp>
  </cdr:relSizeAnchor>
  <cdr:relSizeAnchor xmlns:cdr="http://schemas.openxmlformats.org/drawingml/2006/chartDrawing">
    <cdr:from>
      <cdr:x>0.26562</cdr:x>
      <cdr:y>0.70929</cdr:y>
    </cdr:from>
    <cdr:to>
      <cdr:x>0.36325</cdr:x>
      <cdr:y>0.82306</cdr:y>
    </cdr:to>
    <cdr:sp macro="" textlink="">
      <cdr:nvSpPr>
        <cdr:cNvPr id="11" name="ZoneTexte 1">
          <a:extLst xmlns:a="http://schemas.openxmlformats.org/drawingml/2006/main">
            <a:ext uri="{FF2B5EF4-FFF2-40B4-BE49-F238E27FC236}">
              <a16:creationId xmlns:a16="http://schemas.microsoft.com/office/drawing/2014/main" id="{032F6D58-8F9C-AC94-FA0C-AFBCA8D5702A}"/>
            </a:ext>
          </a:extLst>
        </cdr:cNvPr>
        <cdr:cNvSpPr txBox="1"/>
      </cdr:nvSpPr>
      <cdr:spPr>
        <a:xfrm xmlns:a="http://schemas.openxmlformats.org/drawingml/2006/main">
          <a:off x="1987238" y="2134855"/>
          <a:ext cx="730389" cy="342446"/>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fr-FR" sz="700" kern="1200" dirty="0">
              <a:solidFill>
                <a:schemeClr val="tx1"/>
              </a:solidFill>
              <a:latin typeface="Jost Light" pitchFamily="2" charset="77"/>
              <a:ea typeface="Jost Light" pitchFamily="2" charset="77"/>
            </a:rPr>
            <a:t>(1) Déc. 2018</a:t>
          </a:r>
        </a:p>
        <a:p xmlns:a="http://schemas.openxmlformats.org/drawingml/2006/main">
          <a:r>
            <a:rPr lang="fr-FR" sz="700" b="1" kern="1200" dirty="0">
              <a:latin typeface="Jost Medium" pitchFamily="2" charset="77"/>
              <a:ea typeface="Jost Medium" pitchFamily="2" charset="77"/>
            </a:rPr>
            <a:t>Fed restrictive</a:t>
          </a:r>
          <a:endParaRPr lang="fr-FR" sz="700" b="1" i="0" kern="1200" dirty="0">
            <a:latin typeface="Jost Medium" pitchFamily="2" charset="77"/>
            <a:ea typeface="Jost Medium" pitchFamily="2" charset="77"/>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0.41989</cdr:x>
      <cdr:y>0.74304</cdr:y>
    </cdr:from>
    <cdr:to>
      <cdr:x>0.51752</cdr:x>
      <cdr:y>0.85682</cdr:y>
    </cdr:to>
    <cdr:sp macro="" textlink="">
      <cdr:nvSpPr>
        <cdr:cNvPr id="2" name="ZoneTexte 1">
          <a:extLst xmlns:a="http://schemas.openxmlformats.org/drawingml/2006/main">
            <a:ext uri="{FF2B5EF4-FFF2-40B4-BE49-F238E27FC236}">
              <a16:creationId xmlns:a16="http://schemas.microsoft.com/office/drawing/2014/main" id="{90C5E5DE-1604-77C5-7D6C-44D7E6ED3138}"/>
            </a:ext>
          </a:extLst>
        </cdr:cNvPr>
        <cdr:cNvSpPr txBox="1"/>
      </cdr:nvSpPr>
      <cdr:spPr>
        <a:xfrm xmlns:a="http://schemas.openxmlformats.org/drawingml/2006/main">
          <a:off x="3141350" y="2236465"/>
          <a:ext cx="730389" cy="34244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fr-FR" sz="700" kern="1200" dirty="0">
              <a:solidFill>
                <a:schemeClr val="tx1"/>
              </a:solidFill>
              <a:latin typeface="Jost Light" pitchFamily="2" charset="77"/>
              <a:ea typeface="Jost Light" pitchFamily="2" charset="77"/>
            </a:rPr>
            <a:t>(2) Mars 2020</a:t>
          </a:r>
        </a:p>
        <a:p xmlns:a="http://schemas.openxmlformats.org/drawingml/2006/main">
          <a:r>
            <a:rPr lang="fr-FR" sz="700" b="1" kern="1200" dirty="0">
              <a:latin typeface="Jost Medium" pitchFamily="2" charset="77"/>
              <a:ea typeface="Jost Medium" pitchFamily="2" charset="77"/>
            </a:rPr>
            <a:t>C</a:t>
          </a:r>
          <a:r>
            <a:rPr lang="fr-FR" sz="700" b="1" i="0" kern="1200" dirty="0">
              <a:latin typeface="Jost Medium" pitchFamily="2" charset="77"/>
              <a:ea typeface="Jost Medium" pitchFamily="2" charset="77"/>
            </a:rPr>
            <a:t>hoc Covid</a:t>
          </a:r>
        </a:p>
      </cdr:txBody>
    </cdr:sp>
  </cdr:relSizeAnchor>
  <cdr:relSizeAnchor xmlns:cdr="http://schemas.openxmlformats.org/drawingml/2006/chartDrawing">
    <cdr:from>
      <cdr:x>0.42575</cdr:x>
      <cdr:y>0.71241</cdr:y>
    </cdr:from>
    <cdr:to>
      <cdr:x>0.43067</cdr:x>
      <cdr:y>0.72437</cdr:y>
    </cdr:to>
    <cdr:sp macro="" textlink="">
      <cdr:nvSpPr>
        <cdr:cNvPr id="4" name="Ellipse 3">
          <a:extLst xmlns:a="http://schemas.openxmlformats.org/drawingml/2006/main">
            <a:ext uri="{FF2B5EF4-FFF2-40B4-BE49-F238E27FC236}">
              <a16:creationId xmlns:a16="http://schemas.microsoft.com/office/drawing/2014/main" id="{5AB70F92-389B-B556-7779-8C51DA789216}"/>
            </a:ext>
          </a:extLst>
        </cdr:cNvPr>
        <cdr:cNvSpPr/>
      </cdr:nvSpPr>
      <cdr:spPr>
        <a:xfrm xmlns:a="http://schemas.openxmlformats.org/drawingml/2006/main" flipH="1">
          <a:off x="3185207" y="2144265"/>
          <a:ext cx="36811" cy="36000"/>
        </a:xfrm>
        <a:prstGeom xmlns:a="http://schemas.openxmlformats.org/drawingml/2006/main" prst="ellipse">
          <a:avLst/>
        </a:prstGeom>
        <a:solidFill xmlns:a="http://schemas.openxmlformats.org/drawingml/2006/main">
          <a:srgbClr val="001A00"/>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kern="1200" dirty="0"/>
        </a:p>
      </cdr:txBody>
    </cdr:sp>
  </cdr:relSizeAnchor>
  <cdr:relSizeAnchor xmlns:cdr="http://schemas.openxmlformats.org/drawingml/2006/chartDrawing">
    <cdr:from>
      <cdr:x>0.60314</cdr:x>
      <cdr:y>0.46121</cdr:y>
    </cdr:from>
    <cdr:to>
      <cdr:x>0.60806</cdr:x>
      <cdr:y>0.47318</cdr:y>
    </cdr:to>
    <cdr:sp macro="" textlink="">
      <cdr:nvSpPr>
        <cdr:cNvPr id="5" name="Ellipse 4">
          <a:extLst xmlns:a="http://schemas.openxmlformats.org/drawingml/2006/main">
            <a:ext uri="{FF2B5EF4-FFF2-40B4-BE49-F238E27FC236}">
              <a16:creationId xmlns:a16="http://schemas.microsoft.com/office/drawing/2014/main" id="{7A46B9F5-BE86-6DC5-FB2D-6F4A3A56E6BF}"/>
            </a:ext>
          </a:extLst>
        </cdr:cNvPr>
        <cdr:cNvSpPr/>
      </cdr:nvSpPr>
      <cdr:spPr>
        <a:xfrm xmlns:a="http://schemas.openxmlformats.org/drawingml/2006/main">
          <a:off x="4512348" y="1388196"/>
          <a:ext cx="36811" cy="36000"/>
        </a:xfrm>
        <a:prstGeom xmlns:a="http://schemas.openxmlformats.org/drawingml/2006/main" prst="ellipse">
          <a:avLst/>
        </a:prstGeom>
        <a:solidFill xmlns:a="http://schemas.openxmlformats.org/drawingml/2006/main">
          <a:srgbClr val="001A00"/>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kern="1200" dirty="0"/>
        </a:p>
      </cdr:txBody>
    </cdr:sp>
  </cdr:relSizeAnchor>
  <cdr:relSizeAnchor xmlns:cdr="http://schemas.openxmlformats.org/drawingml/2006/chartDrawing">
    <cdr:from>
      <cdr:x>0.53872</cdr:x>
      <cdr:y>0.49162</cdr:y>
    </cdr:from>
    <cdr:to>
      <cdr:x>0.63635</cdr:x>
      <cdr:y>0.56567</cdr:y>
    </cdr:to>
    <cdr:sp macro="" textlink="">
      <cdr:nvSpPr>
        <cdr:cNvPr id="7" name="ZoneTexte 1">
          <a:extLst xmlns:a="http://schemas.openxmlformats.org/drawingml/2006/main">
            <a:ext uri="{FF2B5EF4-FFF2-40B4-BE49-F238E27FC236}">
              <a16:creationId xmlns:a16="http://schemas.microsoft.com/office/drawing/2014/main" id="{15A23149-D836-9CD8-03B3-DCEDD547D9E6}"/>
            </a:ext>
          </a:extLst>
        </cdr:cNvPr>
        <cdr:cNvSpPr txBox="1"/>
      </cdr:nvSpPr>
      <cdr:spPr>
        <a:xfrm xmlns:a="http://schemas.openxmlformats.org/drawingml/2006/main">
          <a:off x="4030393" y="1479711"/>
          <a:ext cx="730389" cy="222866"/>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fr-FR" sz="700" kern="1200" dirty="0">
              <a:solidFill>
                <a:schemeClr val="tx1"/>
              </a:solidFill>
              <a:latin typeface="Jost Light" pitchFamily="2" charset="77"/>
              <a:ea typeface="Jost Light" pitchFamily="2" charset="77"/>
            </a:rPr>
            <a:t>(3) Fév. 2022</a:t>
          </a:r>
        </a:p>
        <a:p xmlns:a="http://schemas.openxmlformats.org/drawingml/2006/main">
          <a:r>
            <a:rPr lang="fr-FR" sz="700" b="1" kern="1200" dirty="0">
              <a:latin typeface="Jost Medium" pitchFamily="2" charset="77"/>
              <a:ea typeface="Jost Medium" pitchFamily="2" charset="77"/>
            </a:rPr>
            <a:t>Invasion de </a:t>
          </a:r>
        </a:p>
        <a:p xmlns:a="http://schemas.openxmlformats.org/drawingml/2006/main">
          <a:r>
            <a:rPr lang="fr-FR" sz="700" b="1" kern="1200" dirty="0">
              <a:latin typeface="Jost Medium" pitchFamily="2" charset="77"/>
              <a:ea typeface="Jost Medium" pitchFamily="2" charset="77"/>
            </a:rPr>
            <a:t>l’ Ukraine</a:t>
          </a:r>
          <a:endParaRPr lang="fr-FR" sz="700" b="1" i="0" kern="1200" dirty="0">
            <a:latin typeface="Jost Medium" pitchFamily="2" charset="77"/>
            <a:ea typeface="Jost Medium" pitchFamily="2" charset="77"/>
          </a:endParaRPr>
        </a:p>
      </cdr:txBody>
    </cdr:sp>
  </cdr:relSizeAnchor>
  <cdr:relSizeAnchor xmlns:cdr="http://schemas.openxmlformats.org/drawingml/2006/chartDrawing">
    <cdr:from>
      <cdr:x>0.81025</cdr:x>
      <cdr:y>0.26154</cdr:y>
    </cdr:from>
    <cdr:to>
      <cdr:x>0.92428</cdr:x>
      <cdr:y>0.33558</cdr:y>
    </cdr:to>
    <cdr:sp macro="" textlink="">
      <cdr:nvSpPr>
        <cdr:cNvPr id="8" name="ZoneTexte 1">
          <a:extLst xmlns:a="http://schemas.openxmlformats.org/drawingml/2006/main">
            <a:ext uri="{FF2B5EF4-FFF2-40B4-BE49-F238E27FC236}">
              <a16:creationId xmlns:a16="http://schemas.microsoft.com/office/drawing/2014/main" id="{FC83C612-8BBA-ECA0-E651-27E1139EB3CF}"/>
            </a:ext>
          </a:extLst>
        </cdr:cNvPr>
        <cdr:cNvSpPr txBox="1"/>
      </cdr:nvSpPr>
      <cdr:spPr>
        <a:xfrm xmlns:a="http://schemas.openxmlformats.org/drawingml/2006/main">
          <a:off x="5928213" y="1177168"/>
          <a:ext cx="834291" cy="333272"/>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fr-FR" sz="700" kern="1200" dirty="0">
              <a:solidFill>
                <a:schemeClr val="tx1"/>
              </a:solidFill>
              <a:latin typeface="Jost Light" pitchFamily="2" charset="77"/>
              <a:ea typeface="Jost Light" pitchFamily="2" charset="77"/>
            </a:rPr>
            <a:t>(5) Avr. 2025</a:t>
          </a:r>
        </a:p>
        <a:p xmlns:a="http://schemas.openxmlformats.org/drawingml/2006/main">
          <a:r>
            <a:rPr lang="fr-FR" sz="700" b="1" kern="1200" dirty="0">
              <a:latin typeface="Jost Medium" pitchFamily="2" charset="77"/>
              <a:ea typeface="Jost Medium" pitchFamily="2" charset="77"/>
            </a:rPr>
            <a:t>Tarifs douaniers de Trump</a:t>
          </a:r>
          <a:endParaRPr lang="fr-FR" sz="700" b="1" i="0" kern="1200" dirty="0">
            <a:latin typeface="Jost Medium" pitchFamily="2" charset="77"/>
            <a:ea typeface="Jost Medium" pitchFamily="2" charset="77"/>
          </a:endParaRPr>
        </a:p>
      </cdr:txBody>
    </cdr:sp>
  </cdr:relSizeAnchor>
  <cdr:relSizeAnchor xmlns:cdr="http://schemas.openxmlformats.org/drawingml/2006/chartDrawing">
    <cdr:from>
      <cdr:x>0.6508</cdr:x>
      <cdr:y>0.3917</cdr:y>
    </cdr:from>
    <cdr:to>
      <cdr:x>0.75804</cdr:x>
      <cdr:y>0.46574</cdr:y>
    </cdr:to>
    <cdr:sp macro="" textlink="">
      <cdr:nvSpPr>
        <cdr:cNvPr id="10" name="ZoneTexte 1">
          <a:extLst xmlns:a="http://schemas.openxmlformats.org/drawingml/2006/main">
            <a:ext uri="{FF2B5EF4-FFF2-40B4-BE49-F238E27FC236}">
              <a16:creationId xmlns:a16="http://schemas.microsoft.com/office/drawing/2014/main" id="{0590A9D4-88EA-66CE-83F2-64A3F88E8428}"/>
            </a:ext>
          </a:extLst>
        </cdr:cNvPr>
        <cdr:cNvSpPr txBox="1"/>
      </cdr:nvSpPr>
      <cdr:spPr>
        <a:xfrm xmlns:a="http://schemas.openxmlformats.org/drawingml/2006/main">
          <a:off x="4868909" y="1178959"/>
          <a:ext cx="802296" cy="222865"/>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fr-FR" sz="700" kern="1200" dirty="0">
              <a:solidFill>
                <a:schemeClr val="tx1"/>
              </a:solidFill>
              <a:latin typeface="Jost Light" pitchFamily="2" charset="77"/>
              <a:ea typeface="Jost Light" pitchFamily="2" charset="77"/>
            </a:rPr>
            <a:t>(4) Mars 2023</a:t>
          </a:r>
        </a:p>
        <a:p xmlns:a="http://schemas.openxmlformats.org/drawingml/2006/main">
          <a:r>
            <a:rPr lang="fr-FR" sz="700" b="1" kern="1200" dirty="0">
              <a:latin typeface="Jost Medium" pitchFamily="2" charset="77"/>
              <a:ea typeface="Jost Medium" pitchFamily="2" charset="77"/>
            </a:rPr>
            <a:t>Crise bancaire SVB / CS</a:t>
          </a:r>
          <a:endParaRPr lang="fr-FR" sz="700" b="1" i="0" kern="1200" dirty="0">
            <a:latin typeface="Jost Medium" pitchFamily="2" charset="77"/>
            <a:ea typeface="Jost Medium" pitchFamily="2" charset="77"/>
          </a:endParaRPr>
        </a:p>
      </cdr:txBody>
    </cdr:sp>
  </cdr:relSizeAnchor>
  <cdr:relSizeAnchor xmlns:cdr="http://schemas.openxmlformats.org/drawingml/2006/chartDrawing">
    <cdr:from>
      <cdr:x>0.26562</cdr:x>
      <cdr:y>0.70929</cdr:y>
    </cdr:from>
    <cdr:to>
      <cdr:x>0.36325</cdr:x>
      <cdr:y>0.82306</cdr:y>
    </cdr:to>
    <cdr:sp macro="" textlink="">
      <cdr:nvSpPr>
        <cdr:cNvPr id="11" name="ZoneTexte 1">
          <a:extLst xmlns:a="http://schemas.openxmlformats.org/drawingml/2006/main">
            <a:ext uri="{FF2B5EF4-FFF2-40B4-BE49-F238E27FC236}">
              <a16:creationId xmlns:a16="http://schemas.microsoft.com/office/drawing/2014/main" id="{032F6D58-8F9C-AC94-FA0C-AFBCA8D5702A}"/>
            </a:ext>
          </a:extLst>
        </cdr:cNvPr>
        <cdr:cNvSpPr txBox="1"/>
      </cdr:nvSpPr>
      <cdr:spPr>
        <a:xfrm xmlns:a="http://schemas.openxmlformats.org/drawingml/2006/main">
          <a:off x="1987238" y="2134855"/>
          <a:ext cx="730389" cy="342446"/>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fr-FR" sz="700" kern="1200" dirty="0">
              <a:solidFill>
                <a:schemeClr val="tx1"/>
              </a:solidFill>
              <a:latin typeface="Jost Light" pitchFamily="2" charset="77"/>
              <a:ea typeface="Jost Light" pitchFamily="2" charset="77"/>
            </a:rPr>
            <a:t>(1) Déc. 2018</a:t>
          </a:r>
        </a:p>
        <a:p xmlns:a="http://schemas.openxmlformats.org/drawingml/2006/main">
          <a:r>
            <a:rPr lang="fr-FR" sz="700" b="1" kern="1200" dirty="0">
              <a:latin typeface="Jost Medium" pitchFamily="2" charset="77"/>
              <a:ea typeface="Jost Medium" pitchFamily="2" charset="77"/>
            </a:rPr>
            <a:t>Fed restrictive</a:t>
          </a:r>
          <a:endParaRPr lang="fr-FR" sz="700" b="1" i="0" kern="1200" dirty="0">
            <a:latin typeface="Jost Medium" pitchFamily="2" charset="77"/>
            <a:ea typeface="Jost Medium" pitchFamily="2" charset="77"/>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52F87F-1B7E-1B4D-8AA2-9913687DD406}" type="datetimeFigureOut">
              <a:rPr lang="fr-FR" smtClean="0"/>
              <a:t>28/09/2026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5153EF-445C-C048-A8E2-33FD81FF483D}" type="slidenum">
              <a:rPr lang="fr-FR" smtClean="0"/>
              <a:t>‹N°›</a:t>
            </a:fld>
            <a:endParaRPr lang="fr-FR"/>
          </a:p>
        </p:txBody>
      </p:sp>
    </p:spTree>
    <p:extLst>
      <p:ext uri="{BB962C8B-B14F-4D97-AF65-F5344CB8AC3E}">
        <p14:creationId xmlns:p14="http://schemas.microsoft.com/office/powerpoint/2010/main" val="1124467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E3F85-B117-941B-8D1C-A41B00826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B2205-A84D-B42D-A994-1A37A82A273C}"/>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20E9D27B-C97F-F05B-BBF4-53A28F025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CFCD50-2805-D57C-E10C-1BD8C4D8AE88}"/>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192980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824C1-9B4E-C1E5-52AC-4E9188D599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3F0E5B0-D819-290C-3769-9D442538C45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81CA6A9-D8BB-F72D-1FF7-259141C2D4A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CBED7D8-B92E-84E3-4336-845D8C7CEA13}"/>
              </a:ext>
            </a:extLst>
          </p:cNvPr>
          <p:cNvSpPr>
            <a:spLocks noGrp="1"/>
          </p:cNvSpPr>
          <p:nvPr>
            <p:ph type="sldNum" sz="quarter" idx="5"/>
          </p:nvPr>
        </p:nvSpPr>
        <p:spPr/>
        <p:txBody>
          <a:bodyPr/>
          <a:lstStyle/>
          <a:p>
            <a:fld id="{FB531FE2-E6B5-A847-8A5C-DE13EA842466}" type="slidenum">
              <a:rPr lang="fr-FR" smtClean="0"/>
              <a:t>43</a:t>
            </a:fld>
            <a:endParaRPr lang="fr-FR"/>
          </a:p>
        </p:txBody>
      </p:sp>
    </p:spTree>
    <p:extLst>
      <p:ext uri="{BB962C8B-B14F-4D97-AF65-F5344CB8AC3E}">
        <p14:creationId xmlns:p14="http://schemas.microsoft.com/office/powerpoint/2010/main" val="12156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FB531FE2-E6B5-A847-8A5C-DE13EA842466}" type="slidenum">
              <a:rPr lang="fr-FR" smtClean="0"/>
              <a:t>44</a:t>
            </a:fld>
            <a:endParaRPr lang="fr-FR"/>
          </a:p>
        </p:txBody>
      </p:sp>
    </p:spTree>
    <p:extLst>
      <p:ext uri="{BB962C8B-B14F-4D97-AF65-F5344CB8AC3E}">
        <p14:creationId xmlns:p14="http://schemas.microsoft.com/office/powerpoint/2010/main" val="3348458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2328B-8C5C-80B4-4327-30F93C862FD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33C5D09-D04A-128E-3CA1-94F687ED9E9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806AEC8-2316-CB26-66BA-181A420A6AD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5AB6C83B-14CE-DA41-49C4-09EEEE9DE8B8}"/>
              </a:ext>
            </a:extLst>
          </p:cNvPr>
          <p:cNvSpPr>
            <a:spLocks noGrp="1"/>
          </p:cNvSpPr>
          <p:nvPr>
            <p:ph type="sldNum" sz="quarter" idx="5"/>
          </p:nvPr>
        </p:nvSpPr>
        <p:spPr/>
        <p:txBody>
          <a:bodyPr/>
          <a:lstStyle/>
          <a:p>
            <a:fld id="{FB531FE2-E6B5-A847-8A5C-DE13EA842466}" type="slidenum">
              <a:rPr lang="fr-FR" smtClean="0"/>
              <a:t>45</a:t>
            </a:fld>
            <a:endParaRPr lang="fr-FR"/>
          </a:p>
        </p:txBody>
      </p:sp>
    </p:spTree>
    <p:extLst>
      <p:ext uri="{BB962C8B-B14F-4D97-AF65-F5344CB8AC3E}">
        <p14:creationId xmlns:p14="http://schemas.microsoft.com/office/powerpoint/2010/main" val="3364585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2A86F-7FA9-BC33-FC43-E2D57A5B5C9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6E6A3A-7E1A-AC1A-F2D7-9915A43CCCA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62516E6-4EB2-CE70-C369-FF365377D81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481D148-2B61-F3FD-6607-BDBD5F869CC5}"/>
              </a:ext>
            </a:extLst>
          </p:cNvPr>
          <p:cNvSpPr>
            <a:spLocks noGrp="1"/>
          </p:cNvSpPr>
          <p:nvPr>
            <p:ph type="sldNum" sz="quarter" idx="5"/>
          </p:nvPr>
        </p:nvSpPr>
        <p:spPr/>
        <p:txBody>
          <a:bodyPr/>
          <a:lstStyle/>
          <a:p>
            <a:fld id="{FB531FE2-E6B5-A847-8A5C-DE13EA842466}" type="slidenum">
              <a:rPr lang="fr-FR" smtClean="0"/>
              <a:t>46</a:t>
            </a:fld>
            <a:endParaRPr lang="fr-FR"/>
          </a:p>
        </p:txBody>
      </p:sp>
    </p:spTree>
    <p:extLst>
      <p:ext uri="{BB962C8B-B14F-4D97-AF65-F5344CB8AC3E}">
        <p14:creationId xmlns:p14="http://schemas.microsoft.com/office/powerpoint/2010/main" val="496761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9F4D1-769E-9C72-8A6E-1852939CA1A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753B11-0C75-046A-44E1-A98B8A8BB0A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CBA4F1-8900-7C27-79F6-5C4A173A6DE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57CCFA01-062C-5C2F-11C9-ECD8E8D8E0AF}"/>
              </a:ext>
            </a:extLst>
          </p:cNvPr>
          <p:cNvSpPr>
            <a:spLocks noGrp="1"/>
          </p:cNvSpPr>
          <p:nvPr>
            <p:ph type="sldNum" sz="quarter" idx="5"/>
          </p:nvPr>
        </p:nvSpPr>
        <p:spPr/>
        <p:txBody>
          <a:bodyPr/>
          <a:lstStyle/>
          <a:p>
            <a:fld id="{FB531FE2-E6B5-A847-8A5C-DE13EA842466}" type="slidenum">
              <a:rPr lang="fr-FR" smtClean="0"/>
              <a:t>47</a:t>
            </a:fld>
            <a:endParaRPr lang="fr-FR"/>
          </a:p>
        </p:txBody>
      </p:sp>
    </p:spTree>
    <p:extLst>
      <p:ext uri="{BB962C8B-B14F-4D97-AF65-F5344CB8AC3E}">
        <p14:creationId xmlns:p14="http://schemas.microsoft.com/office/powerpoint/2010/main" val="2651332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53A9F-7757-CC9C-81FF-002349EBDFD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55388CC-82EB-E3E6-A62A-B810CD14E46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F633DDC-0B06-0963-25C5-8F9A7F725CC3}"/>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257C1F0-ACDF-51B6-1312-4889076CF01B}"/>
              </a:ext>
            </a:extLst>
          </p:cNvPr>
          <p:cNvSpPr>
            <a:spLocks noGrp="1"/>
          </p:cNvSpPr>
          <p:nvPr>
            <p:ph type="sldNum" sz="quarter" idx="5"/>
          </p:nvPr>
        </p:nvSpPr>
        <p:spPr/>
        <p:txBody>
          <a:bodyPr/>
          <a:lstStyle/>
          <a:p>
            <a:fld id="{FB531FE2-E6B5-A847-8A5C-DE13EA842466}" type="slidenum">
              <a:rPr lang="fr-FR" smtClean="0"/>
              <a:t>48</a:t>
            </a:fld>
            <a:endParaRPr lang="fr-FR"/>
          </a:p>
        </p:txBody>
      </p:sp>
    </p:spTree>
    <p:extLst>
      <p:ext uri="{BB962C8B-B14F-4D97-AF65-F5344CB8AC3E}">
        <p14:creationId xmlns:p14="http://schemas.microsoft.com/office/powerpoint/2010/main" val="977174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395BF-4CF1-D652-EDFC-4A8EDD89CC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556050-6B2E-9816-1696-AED7335BDFB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B46DA2D-D0EF-F97E-FF60-EB56633B275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0F96D79-5920-F851-6E06-4D85690DE80E}"/>
              </a:ext>
            </a:extLst>
          </p:cNvPr>
          <p:cNvSpPr>
            <a:spLocks noGrp="1"/>
          </p:cNvSpPr>
          <p:nvPr>
            <p:ph type="sldNum" sz="quarter" idx="5"/>
          </p:nvPr>
        </p:nvSpPr>
        <p:spPr/>
        <p:txBody>
          <a:bodyPr/>
          <a:lstStyle/>
          <a:p>
            <a:fld id="{FB531FE2-E6B5-A847-8A5C-DE13EA842466}" type="slidenum">
              <a:rPr lang="fr-FR" smtClean="0"/>
              <a:t>49</a:t>
            </a:fld>
            <a:endParaRPr lang="fr-FR"/>
          </a:p>
        </p:txBody>
      </p:sp>
    </p:spTree>
    <p:extLst>
      <p:ext uri="{BB962C8B-B14F-4D97-AF65-F5344CB8AC3E}">
        <p14:creationId xmlns:p14="http://schemas.microsoft.com/office/powerpoint/2010/main" val="1734322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56FF9-961A-BD14-FAA6-35FB48467E3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184CD60-8582-A48E-F3C9-68A04AF40AF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C86B733-2814-9BFF-1254-739EDFD924C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29FE945-AC53-3648-94A5-8F2DE59AFFE9}"/>
              </a:ext>
            </a:extLst>
          </p:cNvPr>
          <p:cNvSpPr>
            <a:spLocks noGrp="1"/>
          </p:cNvSpPr>
          <p:nvPr>
            <p:ph type="sldNum" sz="quarter" idx="5"/>
          </p:nvPr>
        </p:nvSpPr>
        <p:spPr/>
        <p:txBody>
          <a:bodyPr/>
          <a:lstStyle/>
          <a:p>
            <a:fld id="{FB531FE2-E6B5-A847-8A5C-DE13EA842466}" type="slidenum">
              <a:rPr lang="fr-FR" smtClean="0"/>
              <a:t>50</a:t>
            </a:fld>
            <a:endParaRPr lang="fr-FR"/>
          </a:p>
        </p:txBody>
      </p:sp>
    </p:spTree>
    <p:extLst>
      <p:ext uri="{BB962C8B-B14F-4D97-AF65-F5344CB8AC3E}">
        <p14:creationId xmlns:p14="http://schemas.microsoft.com/office/powerpoint/2010/main" val="2758521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B531FE2-E6B5-A847-8A5C-DE13EA842466}" type="slidenum">
              <a:rPr lang="fr-FR" smtClean="0"/>
              <a:t>51</a:t>
            </a:fld>
            <a:endParaRPr lang="fr-FR"/>
          </a:p>
        </p:txBody>
      </p:sp>
    </p:spTree>
    <p:extLst>
      <p:ext uri="{BB962C8B-B14F-4D97-AF65-F5344CB8AC3E}">
        <p14:creationId xmlns:p14="http://schemas.microsoft.com/office/powerpoint/2010/main" val="2314314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8063B-097B-CB49-BE88-70E0BE1C13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9C203C-C2E9-B266-6EA9-3ECFAFD105B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27C0D6F-080A-BEC1-35A9-2ACFC143A26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042A02ED-0E6E-9539-1576-2079CFD84E83}"/>
              </a:ext>
            </a:extLst>
          </p:cNvPr>
          <p:cNvSpPr>
            <a:spLocks noGrp="1"/>
          </p:cNvSpPr>
          <p:nvPr>
            <p:ph type="sldNum" sz="quarter" idx="5"/>
          </p:nvPr>
        </p:nvSpPr>
        <p:spPr/>
        <p:txBody>
          <a:bodyPr/>
          <a:lstStyle/>
          <a:p>
            <a:fld id="{FB531FE2-E6B5-A847-8A5C-DE13EA842466}" type="slidenum">
              <a:rPr lang="fr-FR" smtClean="0"/>
              <a:t>52</a:t>
            </a:fld>
            <a:endParaRPr lang="fr-FR"/>
          </a:p>
        </p:txBody>
      </p:sp>
    </p:spTree>
    <p:extLst>
      <p:ext uri="{BB962C8B-B14F-4D97-AF65-F5344CB8AC3E}">
        <p14:creationId xmlns:p14="http://schemas.microsoft.com/office/powerpoint/2010/main" val="2453570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ADF1E-DC04-DF32-F3F0-A9A262F4542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CBF7F5A-BECB-0371-43EB-DDC82C7F12A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045C726-848E-70B8-D4AD-697F0778163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93DD3C6-686C-0CEF-F86E-ED7E0D17DA24}"/>
              </a:ext>
            </a:extLst>
          </p:cNvPr>
          <p:cNvSpPr>
            <a:spLocks noGrp="1"/>
          </p:cNvSpPr>
          <p:nvPr>
            <p:ph type="sldNum" sz="quarter" idx="5"/>
          </p:nvPr>
        </p:nvSpPr>
        <p:spPr/>
        <p:txBody>
          <a:bodyPr/>
          <a:lstStyle/>
          <a:p>
            <a:fld id="{FB531FE2-E6B5-A847-8A5C-DE13EA842466}" type="slidenum">
              <a:rPr lang="fr-FR" smtClean="0"/>
              <a:t>53</a:t>
            </a:fld>
            <a:endParaRPr lang="fr-FR"/>
          </a:p>
        </p:txBody>
      </p:sp>
    </p:spTree>
    <p:extLst>
      <p:ext uri="{BB962C8B-B14F-4D97-AF65-F5344CB8AC3E}">
        <p14:creationId xmlns:p14="http://schemas.microsoft.com/office/powerpoint/2010/main" val="2325553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972BC-95E3-BF13-6D27-2DBE06C864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B83133-68A1-5A30-C276-AE498C1DEC4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CCA24C-5D29-29C0-BCE1-8B360966589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06330FE8-D2D1-39A0-164E-64217FC8A197}"/>
              </a:ext>
            </a:extLst>
          </p:cNvPr>
          <p:cNvSpPr>
            <a:spLocks noGrp="1"/>
          </p:cNvSpPr>
          <p:nvPr>
            <p:ph type="sldNum" sz="quarter" idx="5"/>
          </p:nvPr>
        </p:nvSpPr>
        <p:spPr/>
        <p:txBody>
          <a:bodyPr/>
          <a:lstStyle/>
          <a:p>
            <a:fld id="{FB531FE2-E6B5-A847-8A5C-DE13EA842466}" type="slidenum">
              <a:rPr lang="fr-FR" smtClean="0"/>
              <a:t>54</a:t>
            </a:fld>
            <a:endParaRPr lang="fr-FR"/>
          </a:p>
        </p:txBody>
      </p:sp>
    </p:spTree>
    <p:extLst>
      <p:ext uri="{BB962C8B-B14F-4D97-AF65-F5344CB8AC3E}">
        <p14:creationId xmlns:p14="http://schemas.microsoft.com/office/powerpoint/2010/main" val="5576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E45D6-B77B-390F-3165-D674A2516AC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95B02D8-38BA-4A8F-C58A-1995043B99E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8B15774-7BEE-B900-DF1A-014351F7C11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0C86FDC-50BD-15C7-C947-19F2051D82B5}"/>
              </a:ext>
            </a:extLst>
          </p:cNvPr>
          <p:cNvSpPr>
            <a:spLocks noGrp="1"/>
          </p:cNvSpPr>
          <p:nvPr>
            <p:ph type="sldNum" sz="quarter" idx="5"/>
          </p:nvPr>
        </p:nvSpPr>
        <p:spPr/>
        <p:txBody>
          <a:bodyPr/>
          <a:lstStyle/>
          <a:p>
            <a:fld id="{FB531FE2-E6B5-A847-8A5C-DE13EA842466}" type="slidenum">
              <a:rPr lang="fr-FR" smtClean="0"/>
              <a:t>55</a:t>
            </a:fld>
            <a:endParaRPr lang="fr-FR"/>
          </a:p>
        </p:txBody>
      </p:sp>
    </p:spTree>
    <p:extLst>
      <p:ext uri="{BB962C8B-B14F-4D97-AF65-F5344CB8AC3E}">
        <p14:creationId xmlns:p14="http://schemas.microsoft.com/office/powerpoint/2010/main" val="3089251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7F475-2E3A-0F89-F384-EB792C88AC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1B72EFF-59EE-FD4C-1C17-0E201C197E7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2C1693B-6B55-41F4-19FD-ED6C380EC15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15272A9-8491-DF43-5144-E59A407259D7}"/>
              </a:ext>
            </a:extLst>
          </p:cNvPr>
          <p:cNvSpPr>
            <a:spLocks noGrp="1"/>
          </p:cNvSpPr>
          <p:nvPr>
            <p:ph type="sldNum" sz="quarter" idx="5"/>
          </p:nvPr>
        </p:nvSpPr>
        <p:spPr/>
        <p:txBody>
          <a:bodyPr/>
          <a:lstStyle/>
          <a:p>
            <a:fld id="{FB531FE2-E6B5-A847-8A5C-DE13EA842466}" type="slidenum">
              <a:rPr lang="fr-FR" smtClean="0"/>
              <a:t>56</a:t>
            </a:fld>
            <a:endParaRPr lang="fr-FR"/>
          </a:p>
        </p:txBody>
      </p:sp>
    </p:spTree>
    <p:extLst>
      <p:ext uri="{BB962C8B-B14F-4D97-AF65-F5344CB8AC3E}">
        <p14:creationId xmlns:p14="http://schemas.microsoft.com/office/powerpoint/2010/main" val="14481621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C1AAC-4984-4DD2-EC96-17736A06E56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5A4BAFD-D53D-F414-71EC-AE5E0FEA03E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C0272B3-4C30-B102-EFC8-3495EC80B7C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B9B56B6E-C095-C54C-633C-CF8FB07C25E2}"/>
              </a:ext>
            </a:extLst>
          </p:cNvPr>
          <p:cNvSpPr>
            <a:spLocks noGrp="1"/>
          </p:cNvSpPr>
          <p:nvPr>
            <p:ph type="sldNum" sz="quarter" idx="5"/>
          </p:nvPr>
        </p:nvSpPr>
        <p:spPr/>
        <p:txBody>
          <a:bodyPr/>
          <a:lstStyle/>
          <a:p>
            <a:fld id="{FB531FE2-E6B5-A847-8A5C-DE13EA842466}" type="slidenum">
              <a:rPr lang="fr-FR" smtClean="0"/>
              <a:t>57</a:t>
            </a:fld>
            <a:endParaRPr lang="fr-FR"/>
          </a:p>
        </p:txBody>
      </p:sp>
    </p:spTree>
    <p:extLst>
      <p:ext uri="{BB962C8B-B14F-4D97-AF65-F5344CB8AC3E}">
        <p14:creationId xmlns:p14="http://schemas.microsoft.com/office/powerpoint/2010/main" val="39306314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16E14-6031-75B2-DBF2-3B666FB08BC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B91315A-7992-BC46-0C54-2684D732425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05613E9-B590-5BF3-BFFD-3FE9773A02A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216E47C5-A3C8-FA3E-4B63-E4F2EB6AEDC2}"/>
              </a:ext>
            </a:extLst>
          </p:cNvPr>
          <p:cNvSpPr>
            <a:spLocks noGrp="1"/>
          </p:cNvSpPr>
          <p:nvPr>
            <p:ph type="sldNum" sz="quarter" idx="5"/>
          </p:nvPr>
        </p:nvSpPr>
        <p:spPr/>
        <p:txBody>
          <a:bodyPr/>
          <a:lstStyle/>
          <a:p>
            <a:fld id="{FB531FE2-E6B5-A847-8A5C-DE13EA842466}" type="slidenum">
              <a:rPr lang="fr-FR" smtClean="0"/>
              <a:t>58</a:t>
            </a:fld>
            <a:endParaRPr lang="fr-FR"/>
          </a:p>
        </p:txBody>
      </p:sp>
    </p:spTree>
    <p:extLst>
      <p:ext uri="{BB962C8B-B14F-4D97-AF65-F5344CB8AC3E}">
        <p14:creationId xmlns:p14="http://schemas.microsoft.com/office/powerpoint/2010/main" val="11375299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C22CB-063A-3229-BBB4-5B3F776341B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078094F-B7DC-8DBC-987D-86ECF2EF176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21D8E33-E683-725F-F56B-FE056279726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A5D8C90-0866-6D4D-1E10-6B5C79A82889}"/>
              </a:ext>
            </a:extLst>
          </p:cNvPr>
          <p:cNvSpPr>
            <a:spLocks noGrp="1"/>
          </p:cNvSpPr>
          <p:nvPr>
            <p:ph type="sldNum" sz="quarter" idx="5"/>
          </p:nvPr>
        </p:nvSpPr>
        <p:spPr/>
        <p:txBody>
          <a:bodyPr/>
          <a:lstStyle/>
          <a:p>
            <a:fld id="{FB531FE2-E6B5-A847-8A5C-DE13EA842466}" type="slidenum">
              <a:rPr lang="fr-FR" smtClean="0"/>
              <a:t>59</a:t>
            </a:fld>
            <a:endParaRPr lang="fr-FR"/>
          </a:p>
        </p:txBody>
      </p:sp>
    </p:spTree>
    <p:extLst>
      <p:ext uri="{BB962C8B-B14F-4D97-AF65-F5344CB8AC3E}">
        <p14:creationId xmlns:p14="http://schemas.microsoft.com/office/powerpoint/2010/main" val="1321281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9B816-7222-B299-DFA8-84E255542AE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5C58EF6-2222-121B-D73A-CD2A088F216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095DA5B-94DE-5921-2D5F-32A58A8D12E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FB09381D-C734-7C70-E938-5E67B2BCD6C9}"/>
              </a:ext>
            </a:extLst>
          </p:cNvPr>
          <p:cNvSpPr>
            <a:spLocks noGrp="1"/>
          </p:cNvSpPr>
          <p:nvPr>
            <p:ph type="sldNum" sz="quarter" idx="5"/>
          </p:nvPr>
        </p:nvSpPr>
        <p:spPr/>
        <p:txBody>
          <a:bodyPr/>
          <a:lstStyle/>
          <a:p>
            <a:fld id="{FB531FE2-E6B5-A847-8A5C-DE13EA842466}" type="slidenum">
              <a:rPr lang="fr-FR" smtClean="0"/>
              <a:t>60</a:t>
            </a:fld>
            <a:endParaRPr lang="fr-FR"/>
          </a:p>
        </p:txBody>
      </p:sp>
    </p:spTree>
    <p:extLst>
      <p:ext uri="{BB962C8B-B14F-4D97-AF65-F5344CB8AC3E}">
        <p14:creationId xmlns:p14="http://schemas.microsoft.com/office/powerpoint/2010/main" val="19398598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AD3AD-E936-C90A-3723-18B498A0E1C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F19217-4D28-3DC0-76EB-16F3301EF2E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17F2246-1921-1D80-516D-F1C2D7E5239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7DE0826-BA01-C52A-C91E-12D38C92709F}"/>
              </a:ext>
            </a:extLst>
          </p:cNvPr>
          <p:cNvSpPr>
            <a:spLocks noGrp="1"/>
          </p:cNvSpPr>
          <p:nvPr>
            <p:ph type="sldNum" sz="quarter" idx="5"/>
          </p:nvPr>
        </p:nvSpPr>
        <p:spPr/>
        <p:txBody>
          <a:bodyPr/>
          <a:lstStyle/>
          <a:p>
            <a:fld id="{FB531FE2-E6B5-A847-8A5C-DE13EA842466}" type="slidenum">
              <a:rPr lang="fr-FR" smtClean="0"/>
              <a:t>61</a:t>
            </a:fld>
            <a:endParaRPr lang="fr-FR"/>
          </a:p>
        </p:txBody>
      </p:sp>
    </p:spTree>
    <p:extLst>
      <p:ext uri="{BB962C8B-B14F-4D97-AF65-F5344CB8AC3E}">
        <p14:creationId xmlns:p14="http://schemas.microsoft.com/office/powerpoint/2010/main" val="32432892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89F91-F234-2CC4-F3F9-0AE6B1E2A6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C5AFE50-4771-62B6-0DD1-62161FE84C5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3660470-4554-F8BE-B7A5-BDB5A725997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2FEF59E-D8E5-20C6-6A2A-1752A75308CD}"/>
              </a:ext>
            </a:extLst>
          </p:cNvPr>
          <p:cNvSpPr>
            <a:spLocks noGrp="1"/>
          </p:cNvSpPr>
          <p:nvPr>
            <p:ph type="sldNum" sz="quarter" idx="5"/>
          </p:nvPr>
        </p:nvSpPr>
        <p:spPr/>
        <p:txBody>
          <a:bodyPr/>
          <a:lstStyle/>
          <a:p>
            <a:fld id="{FB531FE2-E6B5-A847-8A5C-DE13EA842466}" type="slidenum">
              <a:rPr lang="fr-FR" smtClean="0"/>
              <a:t>62</a:t>
            </a:fld>
            <a:endParaRPr lang="fr-FR"/>
          </a:p>
        </p:txBody>
      </p:sp>
    </p:spTree>
    <p:extLst>
      <p:ext uri="{BB962C8B-B14F-4D97-AF65-F5344CB8AC3E}">
        <p14:creationId xmlns:p14="http://schemas.microsoft.com/office/powerpoint/2010/main" val="21480839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2DB3E-E984-1F03-1A05-116D23D22BB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A60A5E3-D7AE-0F2D-35B2-52622AC535A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4150AC8-82C1-5377-C1A8-DBEF06C5089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0B292E6-7388-91FB-2F47-0E054E8161C2}"/>
              </a:ext>
            </a:extLst>
          </p:cNvPr>
          <p:cNvSpPr>
            <a:spLocks noGrp="1"/>
          </p:cNvSpPr>
          <p:nvPr>
            <p:ph type="sldNum" sz="quarter" idx="5"/>
          </p:nvPr>
        </p:nvSpPr>
        <p:spPr/>
        <p:txBody>
          <a:bodyPr/>
          <a:lstStyle/>
          <a:p>
            <a:fld id="{FB531FE2-E6B5-A847-8A5C-DE13EA842466}" type="slidenum">
              <a:rPr lang="fr-FR" smtClean="0"/>
              <a:t>63</a:t>
            </a:fld>
            <a:endParaRPr lang="fr-FR"/>
          </a:p>
        </p:txBody>
      </p:sp>
    </p:spTree>
    <p:extLst>
      <p:ext uri="{BB962C8B-B14F-4D97-AF65-F5344CB8AC3E}">
        <p14:creationId xmlns:p14="http://schemas.microsoft.com/office/powerpoint/2010/main" val="19839809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9F4D1-769E-9C72-8A6E-1852939CA1A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753B11-0C75-046A-44E1-A98B8A8BB0A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CBA4F1-8900-7C27-79F6-5C4A173A6DE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57CCFA01-062C-5C2F-11C9-ECD8E8D8E0AF}"/>
              </a:ext>
            </a:extLst>
          </p:cNvPr>
          <p:cNvSpPr>
            <a:spLocks noGrp="1"/>
          </p:cNvSpPr>
          <p:nvPr>
            <p:ph type="sldNum" sz="quarter" idx="5"/>
          </p:nvPr>
        </p:nvSpPr>
        <p:spPr/>
        <p:txBody>
          <a:bodyPr/>
          <a:lstStyle/>
          <a:p>
            <a:fld id="{FB531FE2-E6B5-A847-8A5C-DE13EA842466}" type="slidenum">
              <a:rPr lang="fr-FR" smtClean="0"/>
              <a:t>64</a:t>
            </a:fld>
            <a:endParaRPr lang="fr-FR"/>
          </a:p>
        </p:txBody>
      </p:sp>
    </p:spTree>
    <p:extLst>
      <p:ext uri="{BB962C8B-B14F-4D97-AF65-F5344CB8AC3E}">
        <p14:creationId xmlns:p14="http://schemas.microsoft.com/office/powerpoint/2010/main" val="26513322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56FF9-961A-BD14-FAA6-35FB48467E3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184CD60-8582-A48E-F3C9-68A04AF40AF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C86B733-2814-9BFF-1254-739EDFD924C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29FE945-AC53-3648-94A5-8F2DE59AFFE9}"/>
              </a:ext>
            </a:extLst>
          </p:cNvPr>
          <p:cNvSpPr>
            <a:spLocks noGrp="1"/>
          </p:cNvSpPr>
          <p:nvPr>
            <p:ph type="sldNum" sz="quarter" idx="5"/>
          </p:nvPr>
        </p:nvSpPr>
        <p:spPr/>
        <p:txBody>
          <a:bodyPr/>
          <a:lstStyle/>
          <a:p>
            <a:fld id="{FB531FE2-E6B5-A847-8A5C-DE13EA842466}" type="slidenum">
              <a:rPr lang="fr-FR" smtClean="0"/>
              <a:t>65</a:t>
            </a:fld>
            <a:endParaRPr lang="fr-FR"/>
          </a:p>
        </p:txBody>
      </p:sp>
    </p:spTree>
    <p:extLst>
      <p:ext uri="{BB962C8B-B14F-4D97-AF65-F5344CB8AC3E}">
        <p14:creationId xmlns:p14="http://schemas.microsoft.com/office/powerpoint/2010/main" val="27585213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B531FE2-E6B5-A847-8A5C-DE13EA842466}" type="slidenum">
              <a:rPr lang="fr-FR" smtClean="0"/>
              <a:t>66</a:t>
            </a:fld>
            <a:endParaRPr lang="fr-FR"/>
          </a:p>
        </p:txBody>
      </p:sp>
    </p:spTree>
    <p:extLst>
      <p:ext uri="{BB962C8B-B14F-4D97-AF65-F5344CB8AC3E}">
        <p14:creationId xmlns:p14="http://schemas.microsoft.com/office/powerpoint/2010/main" val="23143145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8063B-097B-CB49-BE88-70E0BE1C13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9C203C-C2E9-B266-6EA9-3ECFAFD105B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27C0D6F-080A-BEC1-35A9-2ACFC143A26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042A02ED-0E6E-9539-1576-2079CFD84E83}"/>
              </a:ext>
            </a:extLst>
          </p:cNvPr>
          <p:cNvSpPr>
            <a:spLocks noGrp="1"/>
          </p:cNvSpPr>
          <p:nvPr>
            <p:ph type="sldNum" sz="quarter" idx="5"/>
          </p:nvPr>
        </p:nvSpPr>
        <p:spPr/>
        <p:txBody>
          <a:bodyPr/>
          <a:lstStyle/>
          <a:p>
            <a:fld id="{FB531FE2-E6B5-A847-8A5C-DE13EA842466}" type="slidenum">
              <a:rPr lang="fr-FR" smtClean="0"/>
              <a:t>67</a:t>
            </a:fld>
            <a:endParaRPr lang="fr-FR"/>
          </a:p>
        </p:txBody>
      </p:sp>
    </p:spTree>
    <p:extLst>
      <p:ext uri="{BB962C8B-B14F-4D97-AF65-F5344CB8AC3E}">
        <p14:creationId xmlns:p14="http://schemas.microsoft.com/office/powerpoint/2010/main" val="2453570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ADF1E-DC04-DF32-F3F0-A9A262F4542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CBF7F5A-BECB-0371-43EB-DDC82C7F12A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045C726-848E-70B8-D4AD-697F0778163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93DD3C6-686C-0CEF-F86E-ED7E0D17DA24}"/>
              </a:ext>
            </a:extLst>
          </p:cNvPr>
          <p:cNvSpPr>
            <a:spLocks noGrp="1"/>
          </p:cNvSpPr>
          <p:nvPr>
            <p:ph type="sldNum" sz="quarter" idx="5"/>
          </p:nvPr>
        </p:nvSpPr>
        <p:spPr/>
        <p:txBody>
          <a:bodyPr/>
          <a:lstStyle/>
          <a:p>
            <a:fld id="{FB531FE2-E6B5-A847-8A5C-DE13EA842466}" type="slidenum">
              <a:rPr lang="fr-FR" smtClean="0"/>
              <a:t>68</a:t>
            </a:fld>
            <a:endParaRPr lang="fr-FR"/>
          </a:p>
        </p:txBody>
      </p:sp>
    </p:spTree>
    <p:extLst>
      <p:ext uri="{BB962C8B-B14F-4D97-AF65-F5344CB8AC3E}">
        <p14:creationId xmlns:p14="http://schemas.microsoft.com/office/powerpoint/2010/main" val="23255532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972BC-95E3-BF13-6D27-2DBE06C864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B83133-68A1-5A30-C276-AE498C1DEC4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CCA24C-5D29-29C0-BCE1-8B360966589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06330FE8-D2D1-39A0-164E-64217FC8A197}"/>
              </a:ext>
            </a:extLst>
          </p:cNvPr>
          <p:cNvSpPr>
            <a:spLocks noGrp="1"/>
          </p:cNvSpPr>
          <p:nvPr>
            <p:ph type="sldNum" sz="quarter" idx="5"/>
          </p:nvPr>
        </p:nvSpPr>
        <p:spPr/>
        <p:txBody>
          <a:bodyPr/>
          <a:lstStyle/>
          <a:p>
            <a:fld id="{FB531FE2-E6B5-A847-8A5C-DE13EA842466}" type="slidenum">
              <a:rPr lang="fr-FR" smtClean="0"/>
              <a:t>69</a:t>
            </a:fld>
            <a:endParaRPr lang="fr-FR"/>
          </a:p>
        </p:txBody>
      </p:sp>
    </p:spTree>
    <p:extLst>
      <p:ext uri="{BB962C8B-B14F-4D97-AF65-F5344CB8AC3E}">
        <p14:creationId xmlns:p14="http://schemas.microsoft.com/office/powerpoint/2010/main" val="55768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AD3AD-E936-C90A-3723-18B498A0E1C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F19217-4D28-3DC0-76EB-16F3301EF2E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17F2246-1921-1D80-516D-F1C2D7E5239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7DE0826-BA01-C52A-C91E-12D38C92709F}"/>
              </a:ext>
            </a:extLst>
          </p:cNvPr>
          <p:cNvSpPr>
            <a:spLocks noGrp="1"/>
          </p:cNvSpPr>
          <p:nvPr>
            <p:ph type="sldNum" sz="quarter" idx="5"/>
          </p:nvPr>
        </p:nvSpPr>
        <p:spPr/>
        <p:txBody>
          <a:bodyPr/>
          <a:lstStyle/>
          <a:p>
            <a:fld id="{FB531FE2-E6B5-A847-8A5C-DE13EA842466}" type="slidenum">
              <a:rPr lang="fr-FR" smtClean="0"/>
              <a:t>70</a:t>
            </a:fld>
            <a:endParaRPr lang="fr-FR"/>
          </a:p>
        </p:txBody>
      </p:sp>
    </p:spTree>
    <p:extLst>
      <p:ext uri="{BB962C8B-B14F-4D97-AF65-F5344CB8AC3E}">
        <p14:creationId xmlns:p14="http://schemas.microsoft.com/office/powerpoint/2010/main" val="3243289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38ACF5-1BE8-E1D9-C05B-236365B549E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8650E3C-CAA3-9BEC-CD45-5BA692EBB1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AC85C2F-74D8-067D-E262-B943ED34B124}"/>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5" name="Espace réservé du pied de page 4">
            <a:extLst>
              <a:ext uri="{FF2B5EF4-FFF2-40B4-BE49-F238E27FC236}">
                <a16:creationId xmlns:a16="http://schemas.microsoft.com/office/drawing/2014/main" id="{95A85FE1-A632-5CF8-A6B1-91FFA807D4C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0BF9DF1-4438-63AA-1BA3-C6BE682E0963}"/>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3715982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7B17AD-7FD2-4281-C26B-20EEDB31857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A754674-ED4D-6E38-27A4-1C3953CE112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87D0305-C759-BF17-1E8A-6F8DDF12FC95}"/>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5" name="Espace réservé du pied de page 4">
            <a:extLst>
              <a:ext uri="{FF2B5EF4-FFF2-40B4-BE49-F238E27FC236}">
                <a16:creationId xmlns:a16="http://schemas.microsoft.com/office/drawing/2014/main" id="{25E18056-9CE0-7BFD-64CB-ED3CDCE43E9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BDE578E-FEF6-BB76-6EE5-22CD1BC59FDA}"/>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3505512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79B646-0C06-198A-F1F7-704F44A0536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6FE966B9-AD6A-A87A-D841-BA49265077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D27DA77-D094-0D2D-BDA0-16B1FF9C08DE}"/>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5" name="Espace réservé du pied de page 4">
            <a:extLst>
              <a:ext uri="{FF2B5EF4-FFF2-40B4-BE49-F238E27FC236}">
                <a16:creationId xmlns:a16="http://schemas.microsoft.com/office/drawing/2014/main" id="{316EF662-7A13-3410-8064-C02585EA62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81F2EC-6D97-A194-1020-EB4D44A9A664}"/>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23127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DE7A89-F67F-8825-00CB-9E95DC3F3D4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247FE60-3C34-72D8-501D-F01BCA3ADCF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1E9B42C-FEAF-D02F-B8C9-D6D41C84548A}"/>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23F07B6-A67E-6E8B-88C3-8C434590BB9F}"/>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6" name="Espace réservé du pied de page 5">
            <a:extLst>
              <a:ext uri="{FF2B5EF4-FFF2-40B4-BE49-F238E27FC236}">
                <a16:creationId xmlns:a16="http://schemas.microsoft.com/office/drawing/2014/main" id="{DD3DE572-B25F-5724-8B3A-47A22BB02C6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8FA8547-0DB6-7E10-75DD-B103E8F552CA}"/>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1332285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1BDA2B-5D85-631E-BF80-619650802C5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1B6A40D-1C37-A0AB-4F7C-794F0B7D94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C5E9B78-FC35-CEBF-6CC4-E7D211F2042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38CEB9B-2106-0987-50EE-B9E98D227A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285A8DA-CDF4-93D5-EF07-A3E297B455F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600DDDB-C666-9BBF-70AA-618A3130E429}"/>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8" name="Espace réservé du pied de page 7">
            <a:extLst>
              <a:ext uri="{FF2B5EF4-FFF2-40B4-BE49-F238E27FC236}">
                <a16:creationId xmlns:a16="http://schemas.microsoft.com/office/drawing/2014/main" id="{BAFBD3AC-1A7E-2274-1E9C-8600C4C18C4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322C31C-0D37-30B8-FC0F-9E801FEAC722}"/>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764122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0C164-2403-8317-A382-A7878C3E469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0834A4E9-C162-9442-FF12-2F8F56FB57B6}"/>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4" name="Espace réservé du pied de page 3">
            <a:extLst>
              <a:ext uri="{FF2B5EF4-FFF2-40B4-BE49-F238E27FC236}">
                <a16:creationId xmlns:a16="http://schemas.microsoft.com/office/drawing/2014/main" id="{E76BE0FD-AA97-2893-C06D-8CB712EF43C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7E643BE-C303-CD96-E266-AC3B41FF98D5}"/>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676009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03BFC78-50B1-4E7E-5850-E4CA00393AE5}"/>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3" name="Espace réservé du pied de page 2">
            <a:extLst>
              <a:ext uri="{FF2B5EF4-FFF2-40B4-BE49-F238E27FC236}">
                <a16:creationId xmlns:a16="http://schemas.microsoft.com/office/drawing/2014/main" id="{D8503EE6-76A9-C333-BC80-3681F0BAA4C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AF2ABA6-FA69-468C-B794-3893F8C006BE}"/>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475983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F8A53F-CAC0-3EE3-EAD9-2C500F6D618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454974C-D2E0-17D7-6AF0-AB828B144D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4D5F09D-577D-3404-3460-562A27C96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054611E-3297-E6FA-7274-4D08676ABAED}"/>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6" name="Espace réservé du pied de page 5">
            <a:extLst>
              <a:ext uri="{FF2B5EF4-FFF2-40B4-BE49-F238E27FC236}">
                <a16:creationId xmlns:a16="http://schemas.microsoft.com/office/drawing/2014/main" id="{A7D79F7E-436B-6D94-18A7-516A937DAC8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D60ACA3-2256-3C6C-CFB6-9E364596E562}"/>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2923970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936291-AA50-BD82-F6FF-8FFE1E90E21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CA2D078-2B5A-216A-4A78-293140ADA8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57EB78C-3A3D-DB43-4CF1-6989BA99E5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16ECD50-5CBE-EA05-FCCC-2DDD5568A8AC}"/>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6" name="Espace réservé du pied de page 5">
            <a:extLst>
              <a:ext uri="{FF2B5EF4-FFF2-40B4-BE49-F238E27FC236}">
                <a16:creationId xmlns:a16="http://schemas.microsoft.com/office/drawing/2014/main" id="{D2DCD934-FC07-EDA5-E4DF-568294BD9B5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0D1EDC2-7DDB-7D2C-5FF7-82086712D45D}"/>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3903792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90D9FA-57DC-A0EB-DEEB-37CFDE22800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0530CDF-2111-3DB2-E8D7-9AD40F8735F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7F9F2C8-B718-54C2-75ED-B33626CEF3F1}"/>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5" name="Espace réservé du pied de page 4">
            <a:extLst>
              <a:ext uri="{FF2B5EF4-FFF2-40B4-BE49-F238E27FC236}">
                <a16:creationId xmlns:a16="http://schemas.microsoft.com/office/drawing/2014/main" id="{2AFFA469-7217-69CD-BE8C-CF5CD7A9D24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0B026EA-E049-922A-00A7-B5FEE9BC9FBB}"/>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3443548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09ACE3D-432B-6197-ECD8-4A91E84662C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750A78F-4AB2-6125-8F5A-AB01DEAFA5B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92DD9D5-FF4D-9674-3E82-82B3D088F033}"/>
              </a:ext>
            </a:extLst>
          </p:cNvPr>
          <p:cNvSpPr>
            <a:spLocks noGrp="1"/>
          </p:cNvSpPr>
          <p:nvPr>
            <p:ph type="dt" sz="half" idx="10"/>
          </p:nvPr>
        </p:nvSpPr>
        <p:spPr/>
        <p:txBody>
          <a:bodyPr/>
          <a:lstStyle/>
          <a:p>
            <a:fld id="{0D31D734-39A7-F44A-8F3A-BA32D03C1215}" type="datetimeFigureOut">
              <a:rPr lang="fr-FR" smtClean="0"/>
              <a:t>28/09/2026</a:t>
            </a:fld>
            <a:endParaRPr lang="fr-FR"/>
          </a:p>
        </p:txBody>
      </p:sp>
      <p:sp>
        <p:nvSpPr>
          <p:cNvPr id="5" name="Espace réservé du pied de page 4">
            <a:extLst>
              <a:ext uri="{FF2B5EF4-FFF2-40B4-BE49-F238E27FC236}">
                <a16:creationId xmlns:a16="http://schemas.microsoft.com/office/drawing/2014/main" id="{8345DD18-F7EA-8A89-6D81-4471179A1C0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7B226ED-59EA-AFAD-5899-90F49A6B0991}"/>
              </a:ext>
            </a:extLst>
          </p:cNvPr>
          <p:cNvSpPr>
            <a:spLocks noGrp="1"/>
          </p:cNvSpPr>
          <p:nvPr>
            <p:ph type="sldNum" sz="quarter" idx="12"/>
          </p:nvPr>
        </p:nvSpPr>
        <p:spPr/>
        <p:txBody>
          <a:bodyPr/>
          <a:lstStyle/>
          <a:p>
            <a:fld id="{FEFED91E-5A51-6B46-BB88-1566B9C6C61C}" type="slidenum">
              <a:rPr lang="fr-FR" smtClean="0"/>
              <a:t>‹N°›</a:t>
            </a:fld>
            <a:endParaRPr lang="fr-FR"/>
          </a:p>
        </p:txBody>
      </p:sp>
    </p:spTree>
    <p:extLst>
      <p:ext uri="{BB962C8B-B14F-4D97-AF65-F5344CB8AC3E}">
        <p14:creationId xmlns:p14="http://schemas.microsoft.com/office/powerpoint/2010/main" val="3785861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EFAULT">
    <p:bg>
      <p:bgRef idx="1001">
        <a:schemeClr val="bg1"/>
      </p:bgRef>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A4FCA372-603E-F001-8FAA-AA8E5895B1D4}"/>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8E19D978-E7F0-AD6C-696B-5D62C20CD564}"/>
              </a:ext>
            </a:extLst>
          </p:cNvPr>
          <p:cNvSpPr>
            <a:spLocks noGrp="1"/>
          </p:cNvSpPr>
          <p:nvPr>
            <p:ph type="sldNum" sz="quarter" idx="11"/>
          </p:nvPr>
        </p:nvSpPr>
        <p:spPr/>
        <p:txBody>
          <a:bodyPr/>
          <a:lstStyle/>
          <a:p>
            <a:fld id="{49B61AA6-5A41-F343-9833-839BE35FDF94}" type="slidenum">
              <a:rPr lang="fr-FR" smtClean="0"/>
              <a:pPr/>
              <a:t>‹N°›</a:t>
            </a:fld>
            <a:endParaRPr lang="fr-FR" dirty="0">
              <a:solidFill>
                <a:schemeClr val="tx1"/>
              </a:solidFill>
            </a:endParaRPr>
          </a:p>
        </p:txBody>
      </p:sp>
    </p:spTree>
    <p:extLst>
      <p:ext uri="{BB962C8B-B14F-4D97-AF65-F5344CB8AC3E}">
        <p14:creationId xmlns:p14="http://schemas.microsoft.com/office/powerpoint/2010/main" val="9342794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AF2B299-39AC-F89B-98B8-792B12CA89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3C0E29D-6700-6476-E911-8C81C0ECEC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C1DA6A-65E3-415B-122B-B7816A8F47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31D734-39A7-F44A-8F3A-BA32D03C1215}" type="datetimeFigureOut">
              <a:rPr lang="fr-FR" smtClean="0"/>
              <a:t>28/09/2026</a:t>
            </a:fld>
            <a:endParaRPr lang="fr-FR"/>
          </a:p>
        </p:txBody>
      </p:sp>
      <p:sp>
        <p:nvSpPr>
          <p:cNvPr id="5" name="Espace réservé du pied de page 4">
            <a:extLst>
              <a:ext uri="{FF2B5EF4-FFF2-40B4-BE49-F238E27FC236}">
                <a16:creationId xmlns:a16="http://schemas.microsoft.com/office/drawing/2014/main" id="{C86CE34C-BEBC-0419-8F3D-4A49D077FB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EC0B650-CE6B-0AC7-F2B4-BA57FA25D0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FED91E-5A51-6B46-BB88-1566B9C6C61C}" type="slidenum">
              <a:rPr lang="fr-FR" smtClean="0"/>
              <a:t>‹N°›</a:t>
            </a:fld>
            <a:endParaRPr lang="fr-FR"/>
          </a:p>
        </p:txBody>
      </p:sp>
    </p:spTree>
    <p:extLst>
      <p:ext uri="{BB962C8B-B14F-4D97-AF65-F5344CB8AC3E}">
        <p14:creationId xmlns:p14="http://schemas.microsoft.com/office/powerpoint/2010/main" val="82902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2.png"/><Relationship Id="rId5" Type="http://schemas.microsoft.com/office/2007/relationships/hdphoto" Target="../media/hdphoto2.wdp"/><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chart" Target="../charts/chart3.xml"/></Relationships>
</file>

<file path=ppt/slides/_rels/slide3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chart" Target="../charts/chart5.xml"/></Relationships>
</file>

<file path=ppt/slides/_rels/slide3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chart" Target="../charts/chart7.xml"/></Relationships>
</file>

<file path=ppt/slides/_rels/slide3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chart" Target="../charts/chart9.xml"/></Relationships>
</file>

<file path=ppt/slides/_rels/slide3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chart" Target="../charts/chart11.xml"/></Relationships>
</file>

<file path=ppt/slides/_rels/slide39.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chart" Target="../charts/chart13.xml"/></Relationships>
</file>

<file path=ppt/slides/_rels/slide40.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chart" Target="../charts/chart15.xml"/></Relationships>
</file>

<file path=ppt/slides/_rels/slide41.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chart" Target="../charts/chart19.xml"/><Relationship Id="rId5" Type="http://schemas.openxmlformats.org/officeDocument/2006/relationships/chart" Target="../charts/chart18.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chart" Target="../charts/chart21.xml"/><Relationship Id="rId5" Type="http://schemas.openxmlformats.org/officeDocument/2006/relationships/image" Target="../media/image4.png"/><Relationship Id="rId4" Type="http://schemas.openxmlformats.org/officeDocument/2006/relationships/chart" Target="../charts/chart20.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chart" Target="../charts/chart23.xml"/><Relationship Id="rId5" Type="http://schemas.openxmlformats.org/officeDocument/2006/relationships/chart" Target="../charts/chart2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chart" Target="../charts/chart25.xml"/><Relationship Id="rId5" Type="http://schemas.openxmlformats.org/officeDocument/2006/relationships/chart" Target="../charts/chart24.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chart" Target="../charts/chart27.xml"/><Relationship Id="rId5" Type="http://schemas.openxmlformats.org/officeDocument/2006/relationships/chart" Target="../charts/chart26.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chart" Target="../charts/chart29.xml"/><Relationship Id="rId5" Type="http://schemas.openxmlformats.org/officeDocument/2006/relationships/chart" Target="../charts/chart28.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chart" Target="../charts/chart31.xml"/><Relationship Id="rId5" Type="http://schemas.openxmlformats.org/officeDocument/2006/relationships/chart" Target="../charts/chart30.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chart" Target="../charts/chart32.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chart" Target="../charts/chart33.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7.emf"/><Relationship Id="rId5" Type="http://schemas.openxmlformats.org/officeDocument/2006/relationships/chart" Target="../charts/chart34.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9.emf"/><Relationship Id="rId4" Type="http://schemas.openxmlformats.org/officeDocument/2006/relationships/package" Target="../embeddings/Feuille_de_calcul_Microsoft_Excel.xlsx"/></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20.emf"/><Relationship Id="rId4" Type="http://schemas.openxmlformats.org/officeDocument/2006/relationships/package" Target="../embeddings/Feuille_de_calcul_Microsoft_Excel1.xlsx"/></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21.emf"/><Relationship Id="rId4" Type="http://schemas.openxmlformats.org/officeDocument/2006/relationships/package" Target="../embeddings/Feuille_de_calcul_Microsoft_Excel2.xlsx"/></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22.emf"/><Relationship Id="rId4" Type="http://schemas.openxmlformats.org/officeDocument/2006/relationships/package" Target="../embeddings/Feuille_de_calcul_Microsoft_Excel3.xlsx"/></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23.emf"/><Relationship Id="rId4" Type="http://schemas.openxmlformats.org/officeDocument/2006/relationships/package" Target="../embeddings/Feuille_de_calcul_Microsoft_Excel4.xlsx"/></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24.emf"/><Relationship Id="rId4" Type="http://schemas.openxmlformats.org/officeDocument/2006/relationships/package" Target="../embeddings/Feuille_de_calcul_Microsoft_Excel5.xlsx"/></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25.emf"/><Relationship Id="rId4" Type="http://schemas.openxmlformats.org/officeDocument/2006/relationships/package" Target="../embeddings/Feuille_de_calcul_Microsoft_Excel6.xlsx"/></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26.emf"/><Relationship Id="rId4" Type="http://schemas.openxmlformats.org/officeDocument/2006/relationships/package" Target="../embeddings/Feuille_de_calcul_Microsoft_Excel7.xlsx"/></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27.emf"/><Relationship Id="rId4" Type="http://schemas.openxmlformats.org/officeDocument/2006/relationships/package" Target="../embeddings/Feuille_de_calcul_Microsoft_Excel8.xlsx"/></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chart" Target="../charts/chart36.xml"/><Relationship Id="rId5" Type="http://schemas.openxmlformats.org/officeDocument/2006/relationships/chart" Target="../charts/chart35.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chart" Target="../charts/chart37.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chart" Target="../charts/chart38.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17.emf"/><Relationship Id="rId5" Type="http://schemas.openxmlformats.org/officeDocument/2006/relationships/chart" Target="../charts/chart39.xml"/><Relationship Id="rId4" Type="http://schemas.openxmlformats.org/officeDocument/2006/relationships/image" Target="../media/image4.png"/></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25.emf"/><Relationship Id="rId4" Type="http://schemas.openxmlformats.org/officeDocument/2006/relationships/package" Target="../embeddings/Feuille_de_calcul_Microsoft_Excel6.xlsx"/></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EA633-6096-04E1-ACAB-5A77798BBB32}"/>
            </a:ext>
          </a:extLst>
        </p:cNvPr>
        <p:cNvGrpSpPr/>
        <p:nvPr/>
      </p:nvGrpSpPr>
      <p:grpSpPr>
        <a:xfrm>
          <a:off x="0" y="0"/>
          <a:ext cx="0" cy="0"/>
          <a:chOff x="0" y="0"/>
          <a:chExt cx="0" cy="0"/>
        </a:xfrm>
      </p:grpSpPr>
      <p:pic>
        <p:nvPicPr>
          <p:cNvPr id="23" name="Image 22">
            <a:extLst>
              <a:ext uri="{FF2B5EF4-FFF2-40B4-BE49-F238E27FC236}">
                <a16:creationId xmlns:a16="http://schemas.microsoft.com/office/drawing/2014/main" id="{A1ABB355-D41E-408F-4CAD-D40E5523E3EE}"/>
              </a:ext>
            </a:extLst>
          </p:cNvPr>
          <p:cNvPicPr>
            <a:picLocks noChangeAspect="1"/>
          </p:cNvPicPr>
          <p:nvPr/>
        </p:nvPicPr>
        <p:blipFill>
          <a:blip r:embed="rId3">
            <a:alphaModFix amt="20000"/>
            <a:extLst>
              <a:ext uri="{BEBA8EAE-BF5A-486C-A8C5-ECC9F3942E4B}">
                <a14:imgProps xmlns:a14="http://schemas.microsoft.com/office/drawing/2010/main">
                  <a14:imgLayer r:embed="rId4">
                    <a14:imgEffect>
                      <a14:saturation sat="66000"/>
                    </a14:imgEffect>
                  </a14:imgLayer>
                </a14:imgProps>
              </a:ext>
            </a:extLst>
          </a:blip>
          <a:srcRect l="73942" t="-21403" r="19496" b="-27711"/>
          <a:stretch>
            <a:fillRect/>
          </a:stretch>
        </p:blipFill>
        <p:spPr>
          <a:xfrm>
            <a:off x="11590972" y="156744"/>
            <a:ext cx="617961" cy="7327940"/>
          </a:xfrm>
          <a:prstGeom prst="rect">
            <a:avLst/>
          </a:prstGeom>
        </p:spPr>
      </p:pic>
      <p:pic>
        <p:nvPicPr>
          <p:cNvPr id="8" name="Image 7">
            <a:extLst>
              <a:ext uri="{FF2B5EF4-FFF2-40B4-BE49-F238E27FC236}">
                <a16:creationId xmlns:a16="http://schemas.microsoft.com/office/drawing/2014/main" id="{E1E23B3D-9DA4-B67C-48A1-8C1AC46CD6A6}"/>
              </a:ext>
            </a:extLst>
          </p:cNvPr>
          <p:cNvPicPr>
            <a:picLocks noChangeAspect="1"/>
          </p:cNvPicPr>
          <p:nvPr/>
        </p:nvPicPr>
        <p:blipFill>
          <a:blip r:embed="rId3">
            <a:alphaModFix amt="20000"/>
            <a:extLst>
              <a:ext uri="{BEBA8EAE-BF5A-486C-A8C5-ECC9F3942E4B}">
                <a14:imgProps xmlns:a14="http://schemas.microsoft.com/office/drawing/2010/main">
                  <a14:imgLayer r:embed="rId5">
                    <a14:imgEffect>
                      <a14:saturation sat="66000"/>
                    </a14:imgEffect>
                  </a14:imgLayer>
                </a14:imgProps>
              </a:ext>
            </a:extLst>
          </a:blip>
          <a:srcRect l="26213" t="-15878" r="65984" b="-33235"/>
          <a:stretch>
            <a:fillRect/>
          </a:stretch>
        </p:blipFill>
        <p:spPr>
          <a:xfrm>
            <a:off x="-25827" y="724734"/>
            <a:ext cx="734857" cy="6138411"/>
          </a:xfrm>
          <a:prstGeom prst="rect">
            <a:avLst/>
          </a:prstGeom>
        </p:spPr>
      </p:pic>
      <p:sp>
        <p:nvSpPr>
          <p:cNvPr id="5" name="Shape 1">
            <a:extLst>
              <a:ext uri="{FF2B5EF4-FFF2-40B4-BE49-F238E27FC236}">
                <a16:creationId xmlns:a16="http://schemas.microsoft.com/office/drawing/2014/main" id="{D85FADF1-563D-D7FB-3FDA-108CA98EA3BA}"/>
              </a:ext>
            </a:extLst>
          </p:cNvPr>
          <p:cNvSpPr/>
          <p:nvPr/>
        </p:nvSpPr>
        <p:spPr>
          <a:xfrm flipH="1">
            <a:off x="3766751" y="919842"/>
            <a:ext cx="54430" cy="5018315"/>
          </a:xfrm>
          <a:prstGeom prst="line">
            <a:avLst/>
          </a:prstGeom>
          <a:noFill/>
          <a:ln w="7620">
            <a:solidFill>
              <a:srgbClr val="A9853F"/>
            </a:solidFill>
            <a:prstDash val="solid"/>
          </a:ln>
        </p:spPr>
        <p:txBody>
          <a:bodyPr/>
          <a:lstStyle/>
          <a:p>
            <a:endParaRPr lang="fr-FR"/>
          </a:p>
        </p:txBody>
      </p:sp>
      <p:sp>
        <p:nvSpPr>
          <p:cNvPr id="34" name="Rectangle 33">
            <a:extLst>
              <a:ext uri="{FF2B5EF4-FFF2-40B4-BE49-F238E27FC236}">
                <a16:creationId xmlns:a16="http://schemas.microsoft.com/office/drawing/2014/main" id="{6ED7CCAC-2D77-9DFC-EB54-7667CFBEACB5}"/>
              </a:ext>
            </a:extLst>
          </p:cNvPr>
          <p:cNvSpPr/>
          <p:nvPr/>
        </p:nvSpPr>
        <p:spPr>
          <a:xfrm>
            <a:off x="464234" y="351693"/>
            <a:ext cx="112541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Shape 0">
            <a:extLst>
              <a:ext uri="{FF2B5EF4-FFF2-40B4-BE49-F238E27FC236}">
                <a16:creationId xmlns:a16="http://schemas.microsoft.com/office/drawing/2014/main" id="{C7E4D50E-A6A7-129E-D6CA-E6DAA3686454}"/>
              </a:ext>
            </a:extLst>
          </p:cNvPr>
          <p:cNvSpPr/>
          <p:nvPr/>
        </p:nvSpPr>
        <p:spPr>
          <a:xfrm>
            <a:off x="1359182" y="1771745"/>
            <a:ext cx="2849060" cy="2689733"/>
          </a:xfrm>
          <a:prstGeom prst="rect">
            <a:avLst/>
          </a:prstGeom>
          <a:solidFill>
            <a:srgbClr val="FCF7EC"/>
          </a:solidFill>
          <a:ln w="12700">
            <a:solidFill>
              <a:srgbClr val="073527">
                <a:alpha val="0"/>
              </a:srgbClr>
            </a:solidFill>
            <a:prstDash val="solid"/>
          </a:ln>
        </p:spPr>
        <p:txBody>
          <a:bodyPr/>
          <a:lstStyle/>
          <a:p>
            <a:endParaRPr lang="fr-FR"/>
          </a:p>
        </p:txBody>
      </p:sp>
      <p:sp>
        <p:nvSpPr>
          <p:cNvPr id="12" name="Shape 8">
            <a:extLst>
              <a:ext uri="{FF2B5EF4-FFF2-40B4-BE49-F238E27FC236}">
                <a16:creationId xmlns:a16="http://schemas.microsoft.com/office/drawing/2014/main" id="{2CF550F1-C236-0623-1461-A8EC7C795E96}"/>
              </a:ext>
            </a:extLst>
          </p:cNvPr>
          <p:cNvSpPr/>
          <p:nvPr/>
        </p:nvSpPr>
        <p:spPr>
          <a:xfrm>
            <a:off x="6826858" y="3362300"/>
            <a:ext cx="615451" cy="0"/>
          </a:xfrm>
          <a:prstGeom prst="line">
            <a:avLst/>
          </a:prstGeom>
          <a:noFill/>
          <a:ln w="12700">
            <a:solidFill>
              <a:srgbClr val="A9853F"/>
            </a:solidFill>
            <a:prstDash val="solid"/>
          </a:ln>
        </p:spPr>
        <p:txBody>
          <a:bodyPr/>
          <a:lstStyle/>
          <a:p>
            <a:endParaRPr lang="fr-FR" noProof="0" dirty="0"/>
          </a:p>
        </p:txBody>
      </p:sp>
      <p:sp>
        <p:nvSpPr>
          <p:cNvPr id="13" name="Text 9">
            <a:extLst>
              <a:ext uri="{FF2B5EF4-FFF2-40B4-BE49-F238E27FC236}">
                <a16:creationId xmlns:a16="http://schemas.microsoft.com/office/drawing/2014/main" id="{EDACCF7B-D413-6EC3-53D8-21BC8CCD8DBD}"/>
              </a:ext>
            </a:extLst>
          </p:cNvPr>
          <p:cNvSpPr/>
          <p:nvPr/>
        </p:nvSpPr>
        <p:spPr>
          <a:xfrm>
            <a:off x="6796378" y="3792154"/>
            <a:ext cx="3370881" cy="835202"/>
          </a:xfrm>
          <a:prstGeom prst="rect">
            <a:avLst/>
          </a:prstGeom>
          <a:noFill/>
          <a:ln/>
        </p:spPr>
        <p:txBody>
          <a:bodyPr wrap="square" lIns="0" tIns="0" rIns="0" bIns="0" rtlCol="0" anchor="t">
            <a:normAutofit/>
          </a:bodyPr>
          <a:lstStyle/>
          <a:p>
            <a:r>
              <a:rPr lang="fr-FR" noProof="0" dirty="0">
                <a:solidFill>
                  <a:srgbClr val="FBFBFB"/>
                </a:solidFill>
                <a:latin typeface="Jost Medium" pitchFamily="2" charset="77"/>
                <a:ea typeface="Jost Medium" pitchFamily="2" charset="77"/>
                <a:cs typeface="Futura Medium" panose="020B0602020204020303" pitchFamily="34" charset="-79"/>
              </a:rPr>
              <a:t>Gestion privée &amp;</a:t>
            </a:r>
          </a:p>
          <a:p>
            <a:r>
              <a:rPr lang="fr-FR" noProof="0" dirty="0">
                <a:solidFill>
                  <a:srgbClr val="FBFBFB"/>
                </a:solidFill>
                <a:latin typeface="Jost Medium" pitchFamily="2" charset="77"/>
                <a:ea typeface="Jost Medium" pitchFamily="2" charset="77"/>
                <a:cs typeface="Futura Medium" panose="020B0602020204020303" pitchFamily="34" charset="-79"/>
              </a:rPr>
              <a:t>placement de trésorerie</a:t>
            </a:r>
          </a:p>
        </p:txBody>
      </p:sp>
      <p:sp>
        <p:nvSpPr>
          <p:cNvPr id="14" name="Text 10">
            <a:extLst>
              <a:ext uri="{FF2B5EF4-FFF2-40B4-BE49-F238E27FC236}">
                <a16:creationId xmlns:a16="http://schemas.microsoft.com/office/drawing/2014/main" id="{08ED3ECE-D6CB-AE5A-FAA9-A801766B5B9A}"/>
              </a:ext>
            </a:extLst>
          </p:cNvPr>
          <p:cNvSpPr/>
          <p:nvPr/>
        </p:nvSpPr>
        <p:spPr>
          <a:xfrm>
            <a:off x="6796379" y="4537116"/>
            <a:ext cx="2861188" cy="594734"/>
          </a:xfrm>
          <a:prstGeom prst="rect">
            <a:avLst/>
          </a:prstGeom>
          <a:noFill/>
          <a:ln/>
        </p:spPr>
        <p:txBody>
          <a:bodyPr wrap="square" lIns="0" tIns="0" rIns="0" bIns="0" rtlCol="0" anchor="t">
            <a:normAutofit/>
          </a:bodyPr>
          <a:lstStyle/>
          <a:p>
            <a:r>
              <a:rPr lang="fr-FR" sz="1100" noProof="0" dirty="0">
                <a:solidFill>
                  <a:srgbClr val="FCF9EF"/>
                </a:solidFill>
                <a:latin typeface="Jost Medium" pitchFamily="2" charset="77"/>
                <a:ea typeface="Jost Medium" pitchFamily="2" charset="77"/>
                <a:cs typeface="Futura Medium" panose="020B0602020204020303" pitchFamily="34" charset="-79"/>
              </a:rPr>
              <a:t>Conseil sur mesure pour entrepreneurs, familles et dirigeants.</a:t>
            </a:r>
          </a:p>
        </p:txBody>
      </p:sp>
      <p:sp>
        <p:nvSpPr>
          <p:cNvPr id="15" name="Shape 11">
            <a:extLst>
              <a:ext uri="{FF2B5EF4-FFF2-40B4-BE49-F238E27FC236}">
                <a16:creationId xmlns:a16="http://schemas.microsoft.com/office/drawing/2014/main" id="{3D2F14C0-054A-7003-09C7-7E66C6101B2C}"/>
              </a:ext>
            </a:extLst>
          </p:cNvPr>
          <p:cNvSpPr/>
          <p:nvPr/>
        </p:nvSpPr>
        <p:spPr>
          <a:xfrm>
            <a:off x="10841944" y="5682441"/>
            <a:ext cx="536321" cy="0"/>
          </a:xfrm>
          <a:prstGeom prst="line">
            <a:avLst/>
          </a:prstGeom>
          <a:noFill/>
          <a:ln w="10160">
            <a:solidFill>
              <a:srgbClr val="A9853F"/>
            </a:solidFill>
            <a:prstDash val="solid"/>
          </a:ln>
        </p:spPr>
        <p:txBody>
          <a:bodyPr/>
          <a:lstStyle/>
          <a:p>
            <a:endParaRPr lang="fr-FR" noProof="0" dirty="0"/>
          </a:p>
        </p:txBody>
      </p:sp>
      <p:pic>
        <p:nvPicPr>
          <p:cNvPr id="4" name="Image 1" descr="/mnt/data/lfdr_assets/staircase.png">
            <a:extLst>
              <a:ext uri="{FF2B5EF4-FFF2-40B4-BE49-F238E27FC236}">
                <a16:creationId xmlns:a16="http://schemas.microsoft.com/office/drawing/2014/main" id="{23B1CC02-34D6-28E6-5351-88464A74FE1C}"/>
              </a:ext>
            </a:extLst>
          </p:cNvPr>
          <p:cNvPicPr>
            <a:picLocks noChangeAspect="1"/>
          </p:cNvPicPr>
          <p:nvPr/>
        </p:nvPicPr>
        <p:blipFill>
          <a:blip r:embed="rId6"/>
          <a:srcRect l="5195" t="16070"/>
          <a:stretch>
            <a:fillRect/>
          </a:stretch>
        </p:blipFill>
        <p:spPr>
          <a:xfrm>
            <a:off x="1859921" y="2233929"/>
            <a:ext cx="3370881" cy="2897921"/>
          </a:xfrm>
          <a:prstGeom prst="rect">
            <a:avLst/>
          </a:prstGeom>
        </p:spPr>
      </p:pic>
      <p:sp>
        <p:nvSpPr>
          <p:cNvPr id="6" name="ZoneTexte 5">
            <a:extLst>
              <a:ext uri="{FF2B5EF4-FFF2-40B4-BE49-F238E27FC236}">
                <a16:creationId xmlns:a16="http://schemas.microsoft.com/office/drawing/2014/main" id="{027AA720-2F0D-65F2-34CD-E714FED421A5}"/>
              </a:ext>
            </a:extLst>
          </p:cNvPr>
          <p:cNvSpPr txBox="1"/>
          <p:nvPr/>
        </p:nvSpPr>
        <p:spPr>
          <a:xfrm>
            <a:off x="7212640" y="5876812"/>
            <a:ext cx="4270329" cy="261610"/>
          </a:xfrm>
          <a:prstGeom prst="rect">
            <a:avLst/>
          </a:prstGeom>
          <a:noFill/>
        </p:spPr>
        <p:txBody>
          <a:bodyPr wrap="square" rtlCol="0">
            <a:spAutoFit/>
          </a:bodyPr>
          <a:lstStyle/>
          <a:p>
            <a:pPr algn="r"/>
            <a:r>
              <a:rPr lang="fr-FR" sz="1100" dirty="0">
                <a:solidFill>
                  <a:srgbClr val="FDFDFD"/>
                </a:solidFill>
                <a:latin typeface="Jost Medium" pitchFamily="2" charset="77"/>
                <a:ea typeface="Jost Medium" pitchFamily="2" charset="77"/>
                <a:cs typeface="Futura Medium" panose="020B0602020204020303" pitchFamily="34" charset="-79"/>
              </a:rPr>
              <a:t>Madame &amp; Monsieur </a:t>
            </a:r>
            <a:r>
              <a:rPr lang="fr-FR" sz="1100" dirty="0">
                <a:solidFill>
                  <a:srgbClr val="FDFDFD"/>
                </a:solidFill>
                <a:highlight>
                  <a:srgbClr val="FFFF00"/>
                </a:highlight>
                <a:latin typeface="Jost Medium" pitchFamily="2" charset="77"/>
                <a:ea typeface="Jost Medium" pitchFamily="2" charset="77"/>
                <a:cs typeface="Futura Medium" panose="020B0602020204020303" pitchFamily="34" charset="-79"/>
              </a:rPr>
              <a:t>XXX</a:t>
            </a:r>
            <a:r>
              <a:rPr lang="fr-FR" sz="1100" dirty="0">
                <a:solidFill>
                  <a:srgbClr val="FDFDFD"/>
                </a:solidFill>
                <a:latin typeface="Jost Medium" pitchFamily="2" charset="77"/>
                <a:ea typeface="Jost Medium" pitchFamily="2" charset="77"/>
                <a:cs typeface="Futura Medium" panose="020B0602020204020303" pitchFamily="34" charset="-79"/>
              </a:rPr>
              <a:t> </a:t>
            </a:r>
            <a:r>
              <a:rPr lang="fr-FR" sz="1100" noProof="0" dirty="0">
                <a:solidFill>
                  <a:srgbClr val="FDFDFD"/>
                </a:solidFill>
                <a:latin typeface="Jost Medium" pitchFamily="2" charset="77"/>
                <a:ea typeface="Jost Medium" pitchFamily="2" charset="77"/>
                <a:cs typeface="Futura Medium" panose="020B0602020204020303" pitchFamily="34" charset="-79"/>
              </a:rPr>
              <a:t>- </a:t>
            </a:r>
            <a:r>
              <a:rPr lang="fr-FR" sz="1100" noProof="0" dirty="0">
                <a:solidFill>
                  <a:srgbClr val="FDFDFD"/>
                </a:solidFill>
                <a:highlight>
                  <a:srgbClr val="FFFF00"/>
                </a:highlight>
                <a:latin typeface="Jost Medium" pitchFamily="2" charset="77"/>
                <a:ea typeface="Jost Medium" pitchFamily="2" charset="77"/>
                <a:cs typeface="Futura Medium" panose="020B0602020204020303" pitchFamily="34" charset="-79"/>
              </a:rPr>
              <a:t>Date</a:t>
            </a:r>
          </a:p>
        </p:txBody>
      </p:sp>
      <p:pic>
        <p:nvPicPr>
          <p:cNvPr id="22" name="Image 21">
            <a:extLst>
              <a:ext uri="{FF2B5EF4-FFF2-40B4-BE49-F238E27FC236}">
                <a16:creationId xmlns:a16="http://schemas.microsoft.com/office/drawing/2014/main" id="{CBBF8332-12CD-9FD5-3BC1-6A11ABF0010A}"/>
              </a:ext>
            </a:extLst>
          </p:cNvPr>
          <p:cNvPicPr>
            <a:picLocks noChangeAspect="1"/>
          </p:cNvPicPr>
          <p:nvPr/>
        </p:nvPicPr>
        <p:blipFill>
          <a:blip r:embed="rId7"/>
          <a:stretch>
            <a:fillRect/>
          </a:stretch>
        </p:blipFill>
        <p:spPr>
          <a:xfrm>
            <a:off x="6615811" y="1969440"/>
            <a:ext cx="3409585" cy="1146516"/>
          </a:xfrm>
          <a:prstGeom prst="rect">
            <a:avLst/>
          </a:prstGeom>
        </p:spPr>
      </p:pic>
    </p:spTree>
    <p:extLst>
      <p:ext uri="{BB962C8B-B14F-4D97-AF65-F5344CB8AC3E}">
        <p14:creationId xmlns:p14="http://schemas.microsoft.com/office/powerpoint/2010/main" val="1537851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 26">
            <a:extLst>
              <a:ext uri="{FF2B5EF4-FFF2-40B4-BE49-F238E27FC236}">
                <a16:creationId xmlns:a16="http://schemas.microsoft.com/office/drawing/2014/main" id="{30FE354E-1506-D512-0CE6-429FFC121C3D}"/>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26214" t="-15878" r="44222" b="-33235"/>
          <a:stretch>
            <a:fillRect/>
          </a:stretch>
        </p:blipFill>
        <p:spPr>
          <a:xfrm>
            <a:off x="-25827" y="724734"/>
            <a:ext cx="2784267" cy="6138411"/>
          </a:xfrm>
          <a:prstGeom prst="rect">
            <a:avLst/>
          </a:prstGeom>
        </p:spPr>
      </p:pic>
      <p:sp>
        <p:nvSpPr>
          <p:cNvPr id="2" name="Rectangle 1">
            <a:extLst>
              <a:ext uri="{FF2B5EF4-FFF2-40B4-BE49-F238E27FC236}">
                <a16:creationId xmlns:a16="http://schemas.microsoft.com/office/drawing/2014/main" id="{BC06DCCC-0318-04D8-3ED8-F6D94B44876F}"/>
              </a:ext>
            </a:extLst>
          </p:cNvPr>
          <p:cNvSpPr/>
          <p:nvPr/>
        </p:nvSpPr>
        <p:spPr>
          <a:xfrm>
            <a:off x="2640013" y="518615"/>
            <a:ext cx="7127875" cy="5832758"/>
          </a:xfrm>
          <a:prstGeom prst="rect">
            <a:avLst/>
          </a:prstGeom>
          <a:solidFill>
            <a:srgbClr val="FEF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9">
            <a:extLst>
              <a:ext uri="{FF2B5EF4-FFF2-40B4-BE49-F238E27FC236}">
                <a16:creationId xmlns:a16="http://schemas.microsoft.com/office/drawing/2014/main" id="{98646227-C898-B8FF-5647-69D1F3515ACB}"/>
              </a:ext>
            </a:extLst>
          </p:cNvPr>
          <p:cNvSpPr/>
          <p:nvPr/>
        </p:nvSpPr>
        <p:spPr>
          <a:xfrm>
            <a:off x="3305660" y="1317065"/>
            <a:ext cx="5580679" cy="371138"/>
          </a:xfrm>
          <a:prstGeom prst="rect">
            <a:avLst/>
          </a:prstGeom>
          <a:noFill/>
          <a:ln/>
        </p:spPr>
        <p:txBody>
          <a:bodyPr wrap="square" lIns="0" tIns="0" rIns="0" bIns="0" rtlCol="0" anchor="t">
            <a:normAutofit/>
          </a:bodyPr>
          <a:lstStyle/>
          <a:p>
            <a:pPr algn="ctr"/>
            <a:r>
              <a:rPr lang="en-US" b="1" dirty="0">
                <a:solidFill>
                  <a:srgbClr val="073527"/>
                </a:solidFill>
                <a:latin typeface="Jost Black" pitchFamily="2" charset="77"/>
                <a:ea typeface="Jost Black" pitchFamily="2" charset="77"/>
                <a:cs typeface="Futura Medium" panose="020B0602020204020303" pitchFamily="34" charset="-79"/>
              </a:rPr>
              <a:t>SOMMAIRE</a:t>
            </a:r>
          </a:p>
          <a:p>
            <a:pPr algn="ctr"/>
            <a:endParaRPr lang="en-US" b="1" dirty="0">
              <a:solidFill>
                <a:srgbClr val="073527"/>
              </a:solidFill>
              <a:latin typeface="Jost Black" pitchFamily="2" charset="77"/>
              <a:ea typeface="Jost Black" pitchFamily="2" charset="77"/>
              <a:cs typeface="Futura Medium" panose="020B0602020204020303" pitchFamily="34" charset="-79"/>
            </a:endParaRPr>
          </a:p>
          <a:p>
            <a:pPr algn="ctr"/>
            <a:endParaRPr lang="en-US" b="1" dirty="0">
              <a:solidFill>
                <a:srgbClr val="073527"/>
              </a:solidFill>
              <a:latin typeface="Jost Black" pitchFamily="2" charset="77"/>
              <a:ea typeface="Jost Black" pitchFamily="2" charset="77"/>
              <a:cs typeface="Futura Medium" panose="020B0602020204020303" pitchFamily="34" charset="-79"/>
            </a:endParaRPr>
          </a:p>
        </p:txBody>
      </p:sp>
      <p:pic>
        <p:nvPicPr>
          <p:cNvPr id="10" name="Image 9">
            <a:extLst>
              <a:ext uri="{FF2B5EF4-FFF2-40B4-BE49-F238E27FC236}">
                <a16:creationId xmlns:a16="http://schemas.microsoft.com/office/drawing/2014/main" id="{0E71C5AF-2481-9C68-AF28-22BBCA681261}"/>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220169"/>
            <a:ext cx="2441045" cy="7327940"/>
          </a:xfrm>
          <a:prstGeom prst="rect">
            <a:avLst/>
          </a:prstGeom>
        </p:spPr>
      </p:pic>
      <p:sp>
        <p:nvSpPr>
          <p:cNvPr id="11" name="ZoneTexte 10">
            <a:extLst>
              <a:ext uri="{FF2B5EF4-FFF2-40B4-BE49-F238E27FC236}">
                <a16:creationId xmlns:a16="http://schemas.microsoft.com/office/drawing/2014/main" id="{017E4702-C24A-9AC5-B033-986B61A4EE45}"/>
              </a:ext>
            </a:extLst>
          </p:cNvPr>
          <p:cNvSpPr txBox="1"/>
          <p:nvPr/>
        </p:nvSpPr>
        <p:spPr>
          <a:xfrm>
            <a:off x="3237469" y="2111327"/>
            <a:ext cx="5470762"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1. Notre maison de Gestion Privée …………………………………………............</a:t>
            </a:r>
          </a:p>
        </p:txBody>
      </p:sp>
      <p:sp>
        <p:nvSpPr>
          <p:cNvPr id="12" name="ZoneTexte 11">
            <a:extLst>
              <a:ext uri="{FF2B5EF4-FFF2-40B4-BE49-F238E27FC236}">
                <a16:creationId xmlns:a16="http://schemas.microsoft.com/office/drawing/2014/main" id="{45BDF94D-98BC-49D6-EABB-5881802471A5}"/>
              </a:ext>
            </a:extLst>
          </p:cNvPr>
          <p:cNvSpPr txBox="1"/>
          <p:nvPr/>
        </p:nvSpPr>
        <p:spPr>
          <a:xfrm>
            <a:off x="3237470" y="2505712"/>
            <a:ext cx="3880022"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2. Notre recommandation :</a:t>
            </a:r>
          </a:p>
        </p:txBody>
      </p:sp>
      <p:sp>
        <p:nvSpPr>
          <p:cNvPr id="13" name="ZoneTexte 12">
            <a:extLst>
              <a:ext uri="{FF2B5EF4-FFF2-40B4-BE49-F238E27FC236}">
                <a16:creationId xmlns:a16="http://schemas.microsoft.com/office/drawing/2014/main" id="{35CF2B3C-CBD0-66F0-1D36-F69895DB2B6F}"/>
              </a:ext>
            </a:extLst>
          </p:cNvPr>
          <p:cNvSpPr txBox="1"/>
          <p:nvPr/>
        </p:nvSpPr>
        <p:spPr>
          <a:xfrm>
            <a:off x="3305660" y="2900097"/>
            <a:ext cx="5267471"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Votre enveloppe patrimoniale …………………………………………………………</a:t>
            </a:r>
          </a:p>
        </p:txBody>
      </p:sp>
      <p:sp>
        <p:nvSpPr>
          <p:cNvPr id="15" name="ZoneTexte 14">
            <a:extLst>
              <a:ext uri="{FF2B5EF4-FFF2-40B4-BE49-F238E27FC236}">
                <a16:creationId xmlns:a16="http://schemas.microsoft.com/office/drawing/2014/main" id="{418F937E-BB64-EB22-775A-56EC423FB96F}"/>
              </a:ext>
            </a:extLst>
          </p:cNvPr>
          <p:cNvSpPr txBox="1"/>
          <p:nvPr/>
        </p:nvSpPr>
        <p:spPr>
          <a:xfrm>
            <a:off x="3236088" y="3275381"/>
            <a:ext cx="5639030"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3. L’ allocation retenue .………………….……………………………………………...</a:t>
            </a:r>
          </a:p>
        </p:txBody>
      </p:sp>
      <p:sp>
        <p:nvSpPr>
          <p:cNvPr id="16" name="ZoneTexte 15">
            <a:extLst>
              <a:ext uri="{FF2B5EF4-FFF2-40B4-BE49-F238E27FC236}">
                <a16:creationId xmlns:a16="http://schemas.microsoft.com/office/drawing/2014/main" id="{24BC43AD-84E7-E881-2B69-6519AEC42053}"/>
              </a:ext>
            </a:extLst>
          </p:cNvPr>
          <p:cNvSpPr txBox="1"/>
          <p:nvPr/>
        </p:nvSpPr>
        <p:spPr>
          <a:xfrm>
            <a:off x="3237470" y="3666774"/>
            <a:ext cx="5335660"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4. La réponse à vos objectifs …………………………………………………………..</a:t>
            </a:r>
          </a:p>
        </p:txBody>
      </p:sp>
      <p:sp>
        <p:nvSpPr>
          <p:cNvPr id="17" name="ZoneTexte 16">
            <a:extLst>
              <a:ext uri="{FF2B5EF4-FFF2-40B4-BE49-F238E27FC236}">
                <a16:creationId xmlns:a16="http://schemas.microsoft.com/office/drawing/2014/main" id="{506556B0-BF54-DC76-E7A6-B011FA3A9869}"/>
              </a:ext>
            </a:extLst>
          </p:cNvPr>
          <p:cNvSpPr txBox="1"/>
          <p:nvPr/>
        </p:nvSpPr>
        <p:spPr>
          <a:xfrm>
            <a:off x="3237468" y="4058167"/>
            <a:ext cx="5373131"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5. Conditions tarifaires …………………………………………………………….......</a:t>
            </a:r>
          </a:p>
        </p:txBody>
      </p:sp>
      <p:sp>
        <p:nvSpPr>
          <p:cNvPr id="18" name="ZoneTexte 17">
            <a:extLst>
              <a:ext uri="{FF2B5EF4-FFF2-40B4-BE49-F238E27FC236}">
                <a16:creationId xmlns:a16="http://schemas.microsoft.com/office/drawing/2014/main" id="{4A610211-7B50-D4DB-2981-0C1DC199B5F6}"/>
              </a:ext>
            </a:extLst>
          </p:cNvPr>
          <p:cNvSpPr txBox="1"/>
          <p:nvPr/>
        </p:nvSpPr>
        <p:spPr>
          <a:xfrm>
            <a:off x="8399611" y="2111326"/>
            <a:ext cx="475507"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3</a:t>
            </a:r>
          </a:p>
        </p:txBody>
      </p:sp>
      <p:sp>
        <p:nvSpPr>
          <p:cNvPr id="19" name="ZoneTexte 18">
            <a:extLst>
              <a:ext uri="{FF2B5EF4-FFF2-40B4-BE49-F238E27FC236}">
                <a16:creationId xmlns:a16="http://schemas.microsoft.com/office/drawing/2014/main" id="{D0253461-3281-AE7F-24C3-8DDB7CAC4B68}"/>
              </a:ext>
            </a:extLst>
          </p:cNvPr>
          <p:cNvSpPr txBox="1"/>
          <p:nvPr/>
        </p:nvSpPr>
        <p:spPr>
          <a:xfrm>
            <a:off x="8410831" y="2896490"/>
            <a:ext cx="475507"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6</a:t>
            </a:r>
          </a:p>
        </p:txBody>
      </p:sp>
      <p:sp>
        <p:nvSpPr>
          <p:cNvPr id="21" name="ZoneTexte 20">
            <a:extLst>
              <a:ext uri="{FF2B5EF4-FFF2-40B4-BE49-F238E27FC236}">
                <a16:creationId xmlns:a16="http://schemas.microsoft.com/office/drawing/2014/main" id="{DEB1A8BF-18ED-D7ED-6F19-2F5DF8C076E1}"/>
              </a:ext>
            </a:extLst>
          </p:cNvPr>
          <p:cNvSpPr txBox="1"/>
          <p:nvPr/>
        </p:nvSpPr>
        <p:spPr>
          <a:xfrm>
            <a:off x="8399612" y="3275380"/>
            <a:ext cx="536990"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11</a:t>
            </a:r>
          </a:p>
        </p:txBody>
      </p:sp>
      <p:sp>
        <p:nvSpPr>
          <p:cNvPr id="22" name="ZoneTexte 21">
            <a:extLst>
              <a:ext uri="{FF2B5EF4-FFF2-40B4-BE49-F238E27FC236}">
                <a16:creationId xmlns:a16="http://schemas.microsoft.com/office/drawing/2014/main" id="{277B125F-9615-17C4-8E74-4D9254B12464}"/>
              </a:ext>
            </a:extLst>
          </p:cNvPr>
          <p:cNvSpPr txBox="1"/>
          <p:nvPr/>
        </p:nvSpPr>
        <p:spPr>
          <a:xfrm>
            <a:off x="8405221" y="3667193"/>
            <a:ext cx="475507"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9</a:t>
            </a:r>
          </a:p>
        </p:txBody>
      </p:sp>
      <p:sp>
        <p:nvSpPr>
          <p:cNvPr id="23" name="ZoneTexte 22">
            <a:extLst>
              <a:ext uri="{FF2B5EF4-FFF2-40B4-BE49-F238E27FC236}">
                <a16:creationId xmlns:a16="http://schemas.microsoft.com/office/drawing/2014/main" id="{EB4CC0CA-C204-F6A6-1FA1-430BF96DEB86}"/>
              </a:ext>
            </a:extLst>
          </p:cNvPr>
          <p:cNvSpPr txBox="1"/>
          <p:nvPr/>
        </p:nvSpPr>
        <p:spPr>
          <a:xfrm>
            <a:off x="8297503" y="4058167"/>
            <a:ext cx="639098"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11</a:t>
            </a:r>
          </a:p>
        </p:txBody>
      </p:sp>
      <p:sp>
        <p:nvSpPr>
          <p:cNvPr id="25" name="Shape 8">
            <a:extLst>
              <a:ext uri="{FF2B5EF4-FFF2-40B4-BE49-F238E27FC236}">
                <a16:creationId xmlns:a16="http://schemas.microsoft.com/office/drawing/2014/main" id="{0F23A0EE-7456-E5F0-E77A-05C4EDB46339}"/>
              </a:ext>
            </a:extLst>
          </p:cNvPr>
          <p:cNvSpPr/>
          <p:nvPr/>
        </p:nvSpPr>
        <p:spPr>
          <a:xfrm>
            <a:off x="5788274" y="1846651"/>
            <a:ext cx="615451" cy="0"/>
          </a:xfrm>
          <a:prstGeom prst="line">
            <a:avLst/>
          </a:prstGeom>
          <a:noFill/>
          <a:ln w="12700">
            <a:solidFill>
              <a:srgbClr val="A9853F"/>
            </a:solidFill>
            <a:prstDash val="solid"/>
          </a:ln>
        </p:spPr>
        <p:txBody>
          <a:bodyPr/>
          <a:lstStyle/>
          <a:p>
            <a:endParaRPr lang="fr-FR"/>
          </a:p>
        </p:txBody>
      </p:sp>
      <p:pic>
        <p:nvPicPr>
          <p:cNvPr id="26" name="Image 25">
            <a:extLst>
              <a:ext uri="{FF2B5EF4-FFF2-40B4-BE49-F238E27FC236}">
                <a16:creationId xmlns:a16="http://schemas.microsoft.com/office/drawing/2014/main" id="{6126CD17-5EF7-D327-7E04-7CE76550AA43}"/>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3524122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EF7D3-D2A8-AC2C-AE4D-13B46E5BECA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2288ADB8-2BDD-AFFC-C7D8-097F991025AF}"/>
              </a:ext>
            </a:extLst>
          </p:cNvPr>
          <p:cNvSpPr/>
          <p:nvPr/>
        </p:nvSpPr>
        <p:spPr>
          <a:xfrm>
            <a:off x="464234" y="351693"/>
            <a:ext cx="93036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E6F2F81-E95E-EBA8-9D1A-A0D7967B3F24}"/>
              </a:ext>
            </a:extLst>
          </p:cNvPr>
          <p:cNvSpPr txBox="1"/>
          <p:nvPr/>
        </p:nvSpPr>
        <p:spPr>
          <a:xfrm>
            <a:off x="1310516" y="3429000"/>
            <a:ext cx="4709284" cy="1200329"/>
          </a:xfrm>
          <a:prstGeom prst="rect">
            <a:avLst/>
          </a:prstGeom>
          <a:noFill/>
        </p:spPr>
        <p:txBody>
          <a:bodyPr wrap="square" rtlCol="0">
            <a:spAutoFit/>
          </a:bodyPr>
          <a:lstStyle/>
          <a:p>
            <a:r>
              <a:rPr lang="fr-FR" sz="3600" b="1" dirty="0">
                <a:solidFill>
                  <a:srgbClr val="E7DCC7"/>
                </a:solidFill>
                <a:latin typeface="Jost SemiBold" pitchFamily="2" charset="77"/>
                <a:ea typeface="Jost SemiBold" pitchFamily="2" charset="77"/>
                <a:cs typeface="Futura" panose="020B0602020204020303" pitchFamily="34" charset="-79"/>
              </a:rPr>
              <a:t>1. Notre maison de Gestion Privée</a:t>
            </a:r>
          </a:p>
        </p:txBody>
      </p:sp>
      <p:sp>
        <p:nvSpPr>
          <p:cNvPr id="12" name="Shape 8">
            <a:extLst>
              <a:ext uri="{FF2B5EF4-FFF2-40B4-BE49-F238E27FC236}">
                <a16:creationId xmlns:a16="http://schemas.microsoft.com/office/drawing/2014/main" id="{04A77B9F-92B5-144F-D645-60609F78F771}"/>
              </a:ext>
            </a:extLst>
          </p:cNvPr>
          <p:cNvSpPr/>
          <p:nvPr/>
        </p:nvSpPr>
        <p:spPr>
          <a:xfrm>
            <a:off x="1371476" y="5012467"/>
            <a:ext cx="2009154" cy="0"/>
          </a:xfrm>
          <a:prstGeom prst="line">
            <a:avLst/>
          </a:prstGeom>
          <a:noFill/>
          <a:ln w="19050">
            <a:solidFill>
              <a:srgbClr val="A9853F"/>
            </a:solidFill>
            <a:prstDash val="solid"/>
          </a:ln>
        </p:spPr>
        <p:txBody>
          <a:bodyPr/>
          <a:lstStyle/>
          <a:p>
            <a:endParaRPr lang="fr-FR"/>
          </a:p>
        </p:txBody>
      </p:sp>
      <p:pic>
        <p:nvPicPr>
          <p:cNvPr id="19" name="Image 18">
            <a:extLst>
              <a:ext uri="{FF2B5EF4-FFF2-40B4-BE49-F238E27FC236}">
                <a16:creationId xmlns:a16="http://schemas.microsoft.com/office/drawing/2014/main" id="{4318DBE6-624C-FDA4-79D6-988E5AEDEC61}"/>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156744"/>
            <a:ext cx="2441045" cy="7327940"/>
          </a:xfrm>
          <a:prstGeom prst="rect">
            <a:avLst/>
          </a:prstGeom>
        </p:spPr>
      </p:pic>
      <p:pic>
        <p:nvPicPr>
          <p:cNvPr id="2" name="Image 1">
            <a:extLst>
              <a:ext uri="{FF2B5EF4-FFF2-40B4-BE49-F238E27FC236}">
                <a16:creationId xmlns:a16="http://schemas.microsoft.com/office/drawing/2014/main" id="{FC7C683E-5571-A759-CC8F-0EC7DC1C43B9}"/>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1539254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 23">
            <a:extLst>
              <a:ext uri="{FF2B5EF4-FFF2-40B4-BE49-F238E27FC236}">
                <a16:creationId xmlns:a16="http://schemas.microsoft.com/office/drawing/2014/main" id="{8E6B57DC-E879-78BD-5238-9E1C13619272}"/>
              </a:ext>
            </a:extLst>
          </p:cNvPr>
          <p:cNvPicPr>
            <a:picLocks noChangeAspect="1"/>
          </p:cNvPicPr>
          <p:nvPr/>
        </p:nvPicPr>
        <p:blipFill>
          <a:blip r:embed="rId2">
            <a:alphaModFix amt="5000"/>
          </a:blip>
          <a:srcRect l="6207" b="6232"/>
          <a:stretch>
            <a:fillRect/>
          </a:stretch>
        </p:blipFill>
        <p:spPr>
          <a:xfrm>
            <a:off x="1" y="0"/>
            <a:ext cx="12191999" cy="6859822"/>
          </a:xfrm>
          <a:prstGeom prst="rect">
            <a:avLst/>
          </a:prstGeom>
        </p:spPr>
      </p:pic>
      <p:pic>
        <p:nvPicPr>
          <p:cNvPr id="2" name="Image 1">
            <a:extLst>
              <a:ext uri="{FF2B5EF4-FFF2-40B4-BE49-F238E27FC236}">
                <a16:creationId xmlns:a16="http://schemas.microsoft.com/office/drawing/2014/main" id="{1B408EF5-F494-F2AB-ED64-0FA4990AF6CA}"/>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7065D056-BED8-0171-67A7-2ECEB77D3726}"/>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67AD8324-2095-E7F0-A5DC-DEE0810D1464}"/>
              </a:ext>
            </a:extLst>
          </p:cNvPr>
          <p:cNvSpPr/>
          <p:nvPr/>
        </p:nvSpPr>
        <p:spPr>
          <a:xfrm>
            <a:off x="947468" y="982962"/>
            <a:ext cx="5960108" cy="371138"/>
          </a:xfrm>
          <a:prstGeom prst="rect">
            <a:avLst/>
          </a:prstGeom>
          <a:noFill/>
          <a:ln/>
        </p:spPr>
        <p:txBody>
          <a:bodyPr wrap="square" lIns="0" tIns="0" rIns="0" bIns="0" rtlCol="0" anchor="t">
            <a:normAutofit/>
          </a:bodyPr>
          <a:lstStyle/>
          <a:p>
            <a:r>
              <a:rPr lang="fr-FR" sz="1200" noProof="0" dirty="0">
                <a:latin typeface="Jost Medium" pitchFamily="2" charset="77"/>
                <a:ea typeface="Jost Medium" pitchFamily="2" charset="77"/>
                <a:cs typeface="Futura Medium" panose="020B0602020204020303" pitchFamily="34" charset="-79"/>
              </a:rPr>
              <a:t>Gestion privée et Family Office : un accompagnement vertical, un interlocuteur unique</a:t>
            </a:r>
          </a:p>
        </p:txBody>
      </p:sp>
      <p:sp>
        <p:nvSpPr>
          <p:cNvPr id="5" name="Text 9">
            <a:extLst>
              <a:ext uri="{FF2B5EF4-FFF2-40B4-BE49-F238E27FC236}">
                <a16:creationId xmlns:a16="http://schemas.microsoft.com/office/drawing/2014/main" id="{A7A8CFAD-7438-95A3-1823-D4F3A30AB431}"/>
              </a:ext>
            </a:extLst>
          </p:cNvPr>
          <p:cNvSpPr/>
          <p:nvPr/>
        </p:nvSpPr>
        <p:spPr>
          <a:xfrm>
            <a:off x="947468" y="578773"/>
            <a:ext cx="5805872"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Notre maison : La Financière de Rochechouart</a:t>
            </a:r>
          </a:p>
        </p:txBody>
      </p:sp>
      <p:sp>
        <p:nvSpPr>
          <p:cNvPr id="70003" name="Text 70003"/>
          <p:cNvSpPr txBox="1"/>
          <p:nvPr/>
        </p:nvSpPr>
        <p:spPr>
          <a:xfrm>
            <a:off x="1237468" y="1657050"/>
            <a:ext cx="3390000" cy="300000"/>
          </a:xfrm>
          <a:prstGeom prst="rect">
            <a:avLst/>
          </a:prstGeom>
          <a:noFill/>
          <a:ln>
            <a:noFill/>
          </a:ln>
        </p:spPr>
        <p:txBody>
          <a:bodyPr wrap="square" lIns="0" tIns="0" rIns="0" bIns="0" rtlCol="0" anchor="t">
            <a:normAutofit/>
          </a:bodyPr>
          <a:lstStyle/>
          <a:p>
            <a:pPr algn="l">
              <a:buNone/>
            </a:pPr>
            <a:endParaRPr lang="fr-FR" sz="900" dirty="0">
              <a:solidFill>
                <a:srgbClr val="A9853F"/>
              </a:solidFill>
              <a:latin typeface="Jost Medium" pitchFamily="2" charset="77"/>
              <a:ea typeface="Jost Medium" pitchFamily="2" charset="77"/>
              <a:cs typeface="Jost Medium" pitchFamily="2" charset="77"/>
            </a:endParaRPr>
          </a:p>
        </p:txBody>
      </p:sp>
      <p:sp>
        <p:nvSpPr>
          <p:cNvPr id="70005" name="Shape 70005"/>
          <p:cNvSpPr/>
          <p:nvPr/>
        </p:nvSpPr>
        <p:spPr>
          <a:xfrm>
            <a:off x="1237468" y="3407050"/>
            <a:ext cx="700000" cy="1"/>
          </a:xfrm>
          <a:prstGeom prst="line">
            <a:avLst/>
          </a:prstGeom>
          <a:noFill/>
          <a:ln w="12700">
            <a:solidFill>
              <a:srgbClr val="A9853F"/>
            </a:solidFill>
          </a:ln>
        </p:spPr>
        <p:txBody>
          <a:bodyPr rtlCol="0" anchor="ctr"/>
          <a:lstStyle/>
          <a:p>
            <a:endParaRPr lang="fr-FR"/>
          </a:p>
        </p:txBody>
      </p:sp>
      <p:sp>
        <p:nvSpPr>
          <p:cNvPr id="70006" name="Text 70006"/>
          <p:cNvSpPr txBox="1"/>
          <p:nvPr/>
        </p:nvSpPr>
        <p:spPr>
          <a:xfrm>
            <a:off x="1327468" y="4050000"/>
            <a:ext cx="3390000" cy="480000"/>
          </a:xfrm>
          <a:prstGeom prst="rect">
            <a:avLst/>
          </a:prstGeom>
          <a:noFill/>
          <a:ln>
            <a:noFill/>
          </a:ln>
        </p:spPr>
        <p:txBody>
          <a:bodyPr wrap="square" lIns="0" tIns="0" rIns="0" bIns="0" rtlCol="0" anchor="t">
            <a:normAutofit/>
          </a:bodyPr>
          <a:lstStyle/>
          <a:p>
            <a:pPr algn="l">
              <a:buNone/>
            </a:pPr>
            <a:r>
              <a:rPr lang="fr-FR" sz="1050" dirty="0">
                <a:latin typeface="Jost Light" pitchFamily="2" charset="77"/>
                <a:ea typeface="Jost Light" pitchFamily="2" charset="77"/>
                <a:cs typeface="Jost Light" pitchFamily="2" charset="77"/>
              </a:rPr>
              <a:t>Verticalisation de notre accompagnement.</a:t>
            </a:r>
          </a:p>
        </p:txBody>
      </p:sp>
      <p:sp>
        <p:nvSpPr>
          <p:cNvPr id="70007" name="Text 70007"/>
          <p:cNvSpPr txBox="1"/>
          <p:nvPr/>
        </p:nvSpPr>
        <p:spPr>
          <a:xfrm>
            <a:off x="1327468" y="4570000"/>
            <a:ext cx="3390000" cy="480000"/>
          </a:xfrm>
          <a:prstGeom prst="rect">
            <a:avLst/>
          </a:prstGeom>
          <a:noFill/>
          <a:ln>
            <a:noFill/>
          </a:ln>
        </p:spPr>
        <p:txBody>
          <a:bodyPr wrap="square" lIns="0" tIns="0" rIns="0" bIns="0" rtlCol="0" anchor="t">
            <a:normAutofit/>
          </a:bodyPr>
          <a:lstStyle/>
          <a:p>
            <a:pPr algn="l">
              <a:buNone/>
            </a:pPr>
            <a:r>
              <a:rPr lang="fr-FR" sz="1050" dirty="0">
                <a:latin typeface="Jost Light" pitchFamily="2" charset="77"/>
                <a:ea typeface="Jost Light" pitchFamily="2" charset="77"/>
                <a:cs typeface="Jost Light" pitchFamily="2" charset="77"/>
              </a:rPr>
              <a:t>Une conviction : le sur-mesure.</a:t>
            </a:r>
          </a:p>
        </p:txBody>
      </p:sp>
      <p:sp>
        <p:nvSpPr>
          <p:cNvPr id="70008" name="Text 70008"/>
          <p:cNvSpPr txBox="1"/>
          <p:nvPr/>
        </p:nvSpPr>
        <p:spPr>
          <a:xfrm>
            <a:off x="1327468" y="5090000"/>
            <a:ext cx="3390000" cy="480000"/>
          </a:xfrm>
          <a:prstGeom prst="rect">
            <a:avLst/>
          </a:prstGeom>
          <a:noFill/>
          <a:ln>
            <a:noFill/>
          </a:ln>
        </p:spPr>
        <p:txBody>
          <a:bodyPr wrap="square" lIns="0" tIns="0" rIns="0" bIns="0" rtlCol="0" anchor="t">
            <a:normAutofit/>
          </a:bodyPr>
          <a:lstStyle/>
          <a:p>
            <a:pPr algn="l">
              <a:buNone/>
            </a:pPr>
            <a:r>
              <a:rPr lang="fr-FR" sz="1050" dirty="0">
                <a:latin typeface="Jost Light" pitchFamily="2" charset="77"/>
                <a:ea typeface="Jost Light" pitchFamily="2" charset="77"/>
                <a:cs typeface="Jost Light" pitchFamily="2" charset="77"/>
              </a:rPr>
              <a:t>Suivi à 360° de toutes vos activités</a:t>
            </a:r>
            <a:r>
              <a:rPr lang="fr-FR" sz="1050" dirty="0">
                <a:solidFill>
                  <a:srgbClr val="FFFFFF"/>
                </a:solidFill>
                <a:latin typeface="Jost Light" pitchFamily="2" charset="77"/>
                <a:ea typeface="Jost Light" pitchFamily="2" charset="77"/>
                <a:cs typeface="Jost Light" pitchFamily="2" charset="77"/>
              </a:rPr>
              <a:t>.</a:t>
            </a:r>
          </a:p>
        </p:txBody>
      </p:sp>
      <p:sp>
        <p:nvSpPr>
          <p:cNvPr id="70009" name="Text 70009"/>
          <p:cNvSpPr txBox="1"/>
          <p:nvPr/>
        </p:nvSpPr>
        <p:spPr>
          <a:xfrm>
            <a:off x="1327468" y="5700000"/>
            <a:ext cx="3390000" cy="580000"/>
          </a:xfrm>
          <a:prstGeom prst="rect">
            <a:avLst/>
          </a:prstGeom>
          <a:noFill/>
          <a:ln>
            <a:noFill/>
          </a:ln>
        </p:spPr>
        <p:txBody>
          <a:bodyPr wrap="square" lIns="0" tIns="0" rIns="0" bIns="0" rtlCol="0" anchor="t">
            <a:normAutofit/>
          </a:bodyPr>
          <a:lstStyle/>
          <a:p>
            <a:pPr algn="just">
              <a:buNone/>
            </a:pPr>
            <a:r>
              <a:rPr lang="fr-FR" sz="950" dirty="0">
                <a:solidFill>
                  <a:srgbClr val="A9853F"/>
                </a:solidFill>
                <a:latin typeface="Jost Light" pitchFamily="2" charset="77"/>
                <a:ea typeface="Jost Light" pitchFamily="2" charset="77"/>
                <a:cs typeface="Jost Light" pitchFamily="2" charset="77"/>
              </a:rPr>
              <a:t>Avocats, notaires, fiscalistes, experts immobiliers, art et actifs de passion : nous réconcilions vos besoins et les expertises de notre réseau, avec notre Maison en chef d’orchestre.</a:t>
            </a:r>
          </a:p>
        </p:txBody>
      </p:sp>
      <p:sp>
        <p:nvSpPr>
          <p:cNvPr id="70010" name="Text 70010"/>
          <p:cNvSpPr txBox="1"/>
          <p:nvPr/>
        </p:nvSpPr>
        <p:spPr>
          <a:xfrm>
            <a:off x="5517468" y="1700000"/>
            <a:ext cx="6174532"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NOS DIFFÉRENCES</a:t>
            </a:r>
          </a:p>
        </p:txBody>
      </p:sp>
      <p:sp>
        <p:nvSpPr>
          <p:cNvPr id="70011" name="Text 70011"/>
          <p:cNvSpPr txBox="1"/>
          <p:nvPr/>
        </p:nvSpPr>
        <p:spPr>
          <a:xfrm>
            <a:off x="5517468" y="2285255"/>
            <a:ext cx="400000" cy="300000"/>
          </a:xfrm>
          <a:prstGeom prst="rect">
            <a:avLst/>
          </a:prstGeom>
          <a:noFill/>
          <a:ln>
            <a:noFill/>
          </a:ln>
        </p:spPr>
        <p:txBody>
          <a:bodyPr wrap="square" lIns="0" tIns="0" rIns="0" bIns="0" rtlCol="0" anchor="t">
            <a:normAutofit/>
          </a:bodyPr>
          <a:lstStyle/>
          <a:p>
            <a:pPr algn="l">
              <a:buNone/>
            </a:pPr>
            <a:r>
              <a:rPr lang="fr-FR" sz="1300" dirty="0">
                <a:solidFill>
                  <a:srgbClr val="A9853F"/>
                </a:solidFill>
                <a:latin typeface="Arial" pitchFamily="2" charset="77"/>
                <a:ea typeface="Arial" pitchFamily="2" charset="77"/>
                <a:cs typeface="Arial" pitchFamily="2" charset="77"/>
              </a:rPr>
              <a:t>→</a:t>
            </a:r>
          </a:p>
        </p:txBody>
      </p:sp>
      <p:sp>
        <p:nvSpPr>
          <p:cNvPr id="70012" name="Text 70012"/>
          <p:cNvSpPr txBox="1"/>
          <p:nvPr/>
        </p:nvSpPr>
        <p:spPr>
          <a:xfrm>
            <a:off x="5967468" y="2255255"/>
            <a:ext cx="2507266" cy="350000"/>
          </a:xfrm>
          <a:prstGeom prst="rect">
            <a:avLst/>
          </a:prstGeom>
          <a:noFill/>
          <a:ln>
            <a:noFill/>
          </a:ln>
        </p:spPr>
        <p:txBody>
          <a:bodyPr wrap="square" lIns="0" tIns="0" rIns="0" bIns="0" rtlCol="0" anchor="t">
            <a:normAutofit/>
          </a:bodyPr>
          <a:lstStyle/>
          <a:p>
            <a:pPr algn="l">
              <a:buNone/>
            </a:pPr>
            <a:r>
              <a:rPr lang="fr-FR" sz="1100" dirty="0">
                <a:latin typeface="Jost Medium" pitchFamily="2" charset="77"/>
                <a:ea typeface="Jost Medium" pitchFamily="2" charset="77"/>
                <a:cs typeface="Jost Medium" pitchFamily="2" charset="77"/>
              </a:rPr>
              <a:t>Un Gérant Privé vous accompagne.</a:t>
            </a:r>
          </a:p>
        </p:txBody>
      </p:sp>
      <p:sp>
        <p:nvSpPr>
          <p:cNvPr id="70013" name="Text 70013"/>
          <p:cNvSpPr txBox="1"/>
          <p:nvPr/>
        </p:nvSpPr>
        <p:spPr>
          <a:xfrm>
            <a:off x="5517468" y="2685255"/>
            <a:ext cx="2837266" cy="833333"/>
          </a:xfrm>
          <a:prstGeom prst="rect">
            <a:avLst/>
          </a:prstGeom>
          <a:noFill/>
          <a:ln>
            <a:noFill/>
          </a:ln>
        </p:spPr>
        <p:txBody>
          <a:bodyPr wrap="square" lIns="0" tIns="0" rIns="0" bIns="0" rtlCol="0" anchor="t">
            <a:normAutofit/>
          </a:bodyPr>
          <a:lstStyle/>
          <a:p>
            <a:pPr algn="l">
              <a:buNone/>
            </a:pPr>
            <a:r>
              <a:rPr lang="fr-FR" sz="950" dirty="0">
                <a:solidFill>
                  <a:srgbClr val="6B6B6B"/>
                </a:solidFill>
                <a:latin typeface="Jost Light" pitchFamily="2" charset="77"/>
                <a:ea typeface="Jost Light" pitchFamily="2" charset="77"/>
                <a:cs typeface="Jost Light" pitchFamily="2" charset="77"/>
              </a:rPr>
              <a:t>Un nombre de familles volontairement limité par gérant : de la disponibilité réelle et un interlocuteur unique.</a:t>
            </a:r>
          </a:p>
          <a:p>
            <a:pPr algn="l">
              <a:buNone/>
            </a:pPr>
            <a:endParaRPr lang="fr-FR" sz="950" dirty="0">
              <a:solidFill>
                <a:srgbClr val="6B6B6B"/>
              </a:solidFill>
              <a:latin typeface="Jost Light" pitchFamily="2" charset="77"/>
              <a:ea typeface="Jost Light" pitchFamily="2" charset="77"/>
              <a:cs typeface="Jost Light" pitchFamily="2" charset="77"/>
            </a:endParaRPr>
          </a:p>
          <a:p>
            <a:r>
              <a:rPr lang="fr-FR" sz="950" dirty="0">
                <a:solidFill>
                  <a:srgbClr val="6B6B6B"/>
                </a:solidFill>
                <a:latin typeface="Jost Light" pitchFamily="2" charset="77"/>
                <a:ea typeface="Jost Light" pitchFamily="2" charset="77"/>
              </a:rPr>
              <a:t>Vous parlez à celui qui gère, pas à un intermédiaire qui transmettra. </a:t>
            </a:r>
          </a:p>
        </p:txBody>
      </p:sp>
      <p:sp>
        <p:nvSpPr>
          <p:cNvPr id="70014" name="Text 70014"/>
          <p:cNvSpPr txBox="1"/>
          <p:nvPr/>
        </p:nvSpPr>
        <p:spPr>
          <a:xfrm>
            <a:off x="8734734" y="2285255"/>
            <a:ext cx="400000" cy="300000"/>
          </a:xfrm>
          <a:prstGeom prst="rect">
            <a:avLst/>
          </a:prstGeom>
          <a:noFill/>
          <a:ln>
            <a:noFill/>
          </a:ln>
        </p:spPr>
        <p:txBody>
          <a:bodyPr wrap="square" lIns="0" tIns="0" rIns="0" bIns="0" rtlCol="0" anchor="t">
            <a:normAutofit/>
          </a:bodyPr>
          <a:lstStyle/>
          <a:p>
            <a:pPr algn="l">
              <a:buNone/>
            </a:pPr>
            <a:r>
              <a:rPr lang="fr-FR" sz="1300" dirty="0">
                <a:solidFill>
                  <a:srgbClr val="A9853F"/>
                </a:solidFill>
                <a:latin typeface="Arial" pitchFamily="2" charset="77"/>
                <a:ea typeface="Arial" pitchFamily="2" charset="77"/>
                <a:cs typeface="Arial" pitchFamily="2" charset="77"/>
              </a:rPr>
              <a:t>→</a:t>
            </a:r>
          </a:p>
        </p:txBody>
      </p:sp>
      <p:sp>
        <p:nvSpPr>
          <p:cNvPr id="70015" name="Text 70015"/>
          <p:cNvSpPr txBox="1"/>
          <p:nvPr/>
        </p:nvSpPr>
        <p:spPr>
          <a:xfrm>
            <a:off x="9184734" y="2255255"/>
            <a:ext cx="2507266" cy="350000"/>
          </a:xfrm>
          <a:prstGeom prst="rect">
            <a:avLst/>
          </a:prstGeom>
          <a:noFill/>
          <a:ln>
            <a:noFill/>
          </a:ln>
        </p:spPr>
        <p:txBody>
          <a:bodyPr wrap="square" lIns="0" tIns="0" rIns="0" bIns="0" rtlCol="0" anchor="t">
            <a:normAutofit/>
          </a:bodyPr>
          <a:lstStyle/>
          <a:p>
            <a:pPr algn="l">
              <a:buNone/>
            </a:pPr>
            <a:r>
              <a:rPr lang="fr-FR" sz="1100" dirty="0">
                <a:latin typeface="Jost Medium" pitchFamily="2" charset="77"/>
                <a:ea typeface="Jost Medium" pitchFamily="2" charset="77"/>
                <a:cs typeface="Jost Medium" pitchFamily="2" charset="77"/>
              </a:rPr>
              <a:t>Une gestion menée en interne.</a:t>
            </a:r>
          </a:p>
        </p:txBody>
      </p:sp>
      <p:sp>
        <p:nvSpPr>
          <p:cNvPr id="70016" name="Text 70016"/>
          <p:cNvSpPr txBox="1"/>
          <p:nvPr/>
        </p:nvSpPr>
        <p:spPr>
          <a:xfrm>
            <a:off x="8734734" y="2685255"/>
            <a:ext cx="2837266" cy="833333"/>
          </a:xfrm>
          <a:prstGeom prst="rect">
            <a:avLst/>
          </a:prstGeom>
          <a:noFill/>
          <a:ln>
            <a:noFill/>
          </a:ln>
        </p:spPr>
        <p:txBody>
          <a:bodyPr wrap="square" lIns="0" tIns="0" rIns="0" bIns="0" rtlCol="0" anchor="t">
            <a:normAutofit lnSpcReduction="10000"/>
          </a:bodyPr>
          <a:lstStyle/>
          <a:p>
            <a:pPr algn="just">
              <a:buNone/>
            </a:pPr>
            <a:r>
              <a:rPr lang="fr-FR" sz="950" dirty="0">
                <a:solidFill>
                  <a:srgbClr val="6B6B6B"/>
                </a:solidFill>
                <a:latin typeface="Jost Light" pitchFamily="2" charset="77"/>
                <a:ea typeface="Jost Light" pitchFamily="2" charset="77"/>
              </a:rPr>
              <a:t>Titres vifs détenus en direct, complétés par des stratégies de performance absolue, des OPC et des ETF, ou une allocation intégralement indicielle. </a:t>
            </a:r>
          </a:p>
          <a:p>
            <a:pPr algn="just">
              <a:buNone/>
            </a:pPr>
            <a:endParaRPr lang="fr-FR" sz="950" dirty="0">
              <a:solidFill>
                <a:srgbClr val="6B6B6B"/>
              </a:solidFill>
              <a:latin typeface="Jost Light" pitchFamily="2" charset="77"/>
              <a:ea typeface="Jost Light" pitchFamily="2" charset="77"/>
            </a:endParaRPr>
          </a:p>
          <a:p>
            <a:pPr algn="just">
              <a:buNone/>
            </a:pPr>
            <a:r>
              <a:rPr lang="fr-FR" sz="950" dirty="0">
                <a:solidFill>
                  <a:srgbClr val="6B6B6B"/>
                </a:solidFill>
                <a:latin typeface="Jost Light" pitchFamily="2" charset="77"/>
                <a:ea typeface="Jost Light" pitchFamily="2" charset="77"/>
              </a:rPr>
              <a:t>Des titres que vous détenez et des stratégies diversifiantes qui les complètent.</a:t>
            </a:r>
          </a:p>
        </p:txBody>
      </p:sp>
      <p:sp>
        <p:nvSpPr>
          <p:cNvPr id="70017" name="Text 70017"/>
          <p:cNvSpPr txBox="1"/>
          <p:nvPr/>
        </p:nvSpPr>
        <p:spPr>
          <a:xfrm>
            <a:off x="5517468" y="3733673"/>
            <a:ext cx="400000" cy="300000"/>
          </a:xfrm>
          <a:prstGeom prst="rect">
            <a:avLst/>
          </a:prstGeom>
          <a:noFill/>
          <a:ln>
            <a:noFill/>
          </a:ln>
        </p:spPr>
        <p:txBody>
          <a:bodyPr wrap="square" lIns="0" tIns="0" rIns="0" bIns="0" rtlCol="0" anchor="t">
            <a:normAutofit/>
          </a:bodyPr>
          <a:lstStyle/>
          <a:p>
            <a:pPr algn="l">
              <a:buNone/>
            </a:pPr>
            <a:r>
              <a:rPr lang="fr-FR" sz="1300" dirty="0">
                <a:solidFill>
                  <a:srgbClr val="A9853F"/>
                </a:solidFill>
                <a:latin typeface="Arial" pitchFamily="2" charset="77"/>
                <a:ea typeface="Arial" pitchFamily="2" charset="77"/>
                <a:cs typeface="Arial" pitchFamily="2" charset="77"/>
              </a:rPr>
              <a:t>→</a:t>
            </a:r>
          </a:p>
        </p:txBody>
      </p:sp>
      <p:sp>
        <p:nvSpPr>
          <p:cNvPr id="70018" name="Text 70018"/>
          <p:cNvSpPr txBox="1"/>
          <p:nvPr/>
        </p:nvSpPr>
        <p:spPr>
          <a:xfrm>
            <a:off x="5967468" y="3703673"/>
            <a:ext cx="2507266" cy="350000"/>
          </a:xfrm>
          <a:prstGeom prst="rect">
            <a:avLst/>
          </a:prstGeom>
          <a:noFill/>
          <a:ln>
            <a:noFill/>
          </a:ln>
        </p:spPr>
        <p:txBody>
          <a:bodyPr wrap="square" lIns="0" tIns="0" rIns="0" bIns="0" rtlCol="0" anchor="t">
            <a:normAutofit/>
          </a:bodyPr>
          <a:lstStyle/>
          <a:p>
            <a:r>
              <a:rPr lang="fr-FR" sz="1100" dirty="0">
                <a:latin typeface="Jost Medium" pitchFamily="2" charset="77"/>
                <a:ea typeface="Jost Medium" pitchFamily="2" charset="77"/>
              </a:rPr>
              <a:t>Un accès direct aux salles de marchés.</a:t>
            </a:r>
          </a:p>
        </p:txBody>
      </p:sp>
      <p:sp>
        <p:nvSpPr>
          <p:cNvPr id="70019" name="Text 70019"/>
          <p:cNvSpPr txBox="1"/>
          <p:nvPr/>
        </p:nvSpPr>
        <p:spPr>
          <a:xfrm>
            <a:off x="5517468" y="4133673"/>
            <a:ext cx="2837266" cy="833333"/>
          </a:xfrm>
          <a:prstGeom prst="rect">
            <a:avLst/>
          </a:prstGeom>
          <a:noFill/>
          <a:ln>
            <a:noFill/>
          </a:ln>
        </p:spPr>
        <p:txBody>
          <a:bodyPr wrap="square" lIns="0" tIns="0" rIns="0" bIns="0" rtlCol="0" anchor="t">
            <a:normAutofit/>
          </a:bodyPr>
          <a:lstStyle/>
          <a:p>
            <a:pPr algn="just">
              <a:buNone/>
            </a:pPr>
            <a:r>
              <a:rPr lang="fr-FR" sz="950" dirty="0">
                <a:solidFill>
                  <a:srgbClr val="6B6B6B"/>
                </a:solidFill>
                <a:latin typeface="Jost Light" pitchFamily="2" charset="77"/>
                <a:ea typeface="Jost Light" pitchFamily="2" charset="77"/>
                <a:cs typeface="Jost Light" pitchFamily="2" charset="77"/>
              </a:rPr>
              <a:t>Des produits structurés construits sur mesure, calibrés sur votre horizon, sans strate d’intermédiaires.</a:t>
            </a:r>
          </a:p>
          <a:p>
            <a:pPr algn="just">
              <a:buNone/>
            </a:pPr>
            <a:endParaRPr lang="fr-FR" sz="950" dirty="0">
              <a:solidFill>
                <a:srgbClr val="6B6B6B"/>
              </a:solidFill>
              <a:latin typeface="Jost Light" pitchFamily="2" charset="77"/>
              <a:ea typeface="Jost Light" pitchFamily="2" charset="77"/>
              <a:cs typeface="Jost Light" pitchFamily="2" charset="77"/>
            </a:endParaRPr>
          </a:p>
          <a:p>
            <a:pPr algn="just">
              <a:buNone/>
            </a:pPr>
            <a:r>
              <a:rPr lang="fr-FR" sz="950" dirty="0">
                <a:solidFill>
                  <a:srgbClr val="6B6B6B"/>
                </a:solidFill>
                <a:latin typeface="Jost Light" pitchFamily="2" charset="77"/>
                <a:ea typeface="Jost Light" pitchFamily="2" charset="77"/>
                <a:cs typeface="Jost Light" pitchFamily="2" charset="77"/>
              </a:rPr>
              <a:t>Une gestion possible en qualité d’institutionnelle pour votre contrat et vos besoins.</a:t>
            </a:r>
          </a:p>
        </p:txBody>
      </p:sp>
      <p:sp>
        <p:nvSpPr>
          <p:cNvPr id="70020" name="Text 70020"/>
          <p:cNvSpPr txBox="1"/>
          <p:nvPr/>
        </p:nvSpPr>
        <p:spPr>
          <a:xfrm>
            <a:off x="8734734" y="3733673"/>
            <a:ext cx="400000" cy="300000"/>
          </a:xfrm>
          <a:prstGeom prst="rect">
            <a:avLst/>
          </a:prstGeom>
          <a:noFill/>
          <a:ln>
            <a:noFill/>
          </a:ln>
        </p:spPr>
        <p:txBody>
          <a:bodyPr wrap="square" lIns="0" tIns="0" rIns="0" bIns="0" rtlCol="0" anchor="t">
            <a:normAutofit/>
          </a:bodyPr>
          <a:lstStyle/>
          <a:p>
            <a:pPr algn="l">
              <a:buNone/>
            </a:pPr>
            <a:r>
              <a:rPr lang="fr-FR" sz="1300" dirty="0">
                <a:solidFill>
                  <a:srgbClr val="A9853F"/>
                </a:solidFill>
                <a:latin typeface="Arial" pitchFamily="2" charset="77"/>
                <a:ea typeface="Arial" pitchFamily="2" charset="77"/>
                <a:cs typeface="Arial" pitchFamily="2" charset="77"/>
              </a:rPr>
              <a:t>→</a:t>
            </a:r>
          </a:p>
        </p:txBody>
      </p:sp>
      <p:sp>
        <p:nvSpPr>
          <p:cNvPr id="70021" name="Text 70021"/>
          <p:cNvSpPr txBox="1"/>
          <p:nvPr/>
        </p:nvSpPr>
        <p:spPr>
          <a:xfrm>
            <a:off x="9184734" y="3703673"/>
            <a:ext cx="2507266" cy="350000"/>
          </a:xfrm>
          <a:prstGeom prst="rect">
            <a:avLst/>
          </a:prstGeom>
          <a:noFill/>
          <a:ln>
            <a:noFill/>
          </a:ln>
        </p:spPr>
        <p:txBody>
          <a:bodyPr wrap="square" lIns="0" tIns="0" rIns="0" bIns="0" rtlCol="0" anchor="t">
            <a:normAutofit/>
          </a:bodyPr>
          <a:lstStyle/>
          <a:p>
            <a:pPr algn="l">
              <a:buNone/>
            </a:pPr>
            <a:r>
              <a:rPr lang="fr-FR" sz="1100" dirty="0">
                <a:latin typeface="Jost Medium" pitchFamily="2" charset="77"/>
                <a:ea typeface="Jost Medium" pitchFamily="2" charset="77"/>
                <a:cs typeface="Jost Medium" pitchFamily="2" charset="77"/>
              </a:rPr>
              <a:t>Une architecture réellement ouverte.</a:t>
            </a:r>
          </a:p>
        </p:txBody>
      </p:sp>
      <p:sp>
        <p:nvSpPr>
          <p:cNvPr id="70022" name="Text 70022"/>
          <p:cNvSpPr txBox="1"/>
          <p:nvPr/>
        </p:nvSpPr>
        <p:spPr>
          <a:xfrm>
            <a:off x="8734734" y="4133673"/>
            <a:ext cx="2837266" cy="833333"/>
          </a:xfrm>
          <a:prstGeom prst="rect">
            <a:avLst/>
          </a:prstGeom>
          <a:noFill/>
          <a:ln>
            <a:noFill/>
          </a:ln>
        </p:spPr>
        <p:txBody>
          <a:bodyPr wrap="square" lIns="0" tIns="0" rIns="0" bIns="0" rtlCol="0" anchor="t">
            <a:normAutofit lnSpcReduction="10000"/>
          </a:bodyPr>
          <a:lstStyle/>
          <a:p>
            <a:pPr algn="just"/>
            <a:r>
              <a:rPr lang="fr-FR" sz="950" dirty="0">
                <a:solidFill>
                  <a:srgbClr val="6B6B6B"/>
                </a:solidFill>
                <a:latin typeface="Jost Light" pitchFamily="2" charset="77"/>
                <a:ea typeface="Jost Light" pitchFamily="2" charset="77"/>
              </a:rPr>
              <a:t>Tout l'univers d'investissement vous est accessible. Nous comparons les supports de l'ensemble du marché, sans liste imposée.</a:t>
            </a:r>
          </a:p>
          <a:p>
            <a:pPr algn="just"/>
            <a:endParaRPr lang="fr-FR" sz="950" dirty="0">
              <a:solidFill>
                <a:srgbClr val="6B6B6B"/>
              </a:solidFill>
              <a:latin typeface="Jost Light" pitchFamily="2" charset="77"/>
              <a:ea typeface="Jost Light" pitchFamily="2" charset="77"/>
            </a:endParaRPr>
          </a:p>
          <a:p>
            <a:pPr algn="just"/>
            <a:r>
              <a:rPr lang="fr-FR" sz="950" dirty="0">
                <a:solidFill>
                  <a:srgbClr val="6B6B6B"/>
                </a:solidFill>
                <a:latin typeface="Jost Light" pitchFamily="2" charset="77"/>
                <a:ea typeface="Jost Light" pitchFamily="2" charset="77"/>
              </a:rPr>
              <a:t>Notre seul intérêt est que votre allocation tienne dans la durée.</a:t>
            </a:r>
          </a:p>
          <a:p>
            <a:pPr algn="just"/>
            <a:endParaRPr lang="fr-FR" sz="950" dirty="0">
              <a:solidFill>
                <a:srgbClr val="6B6B6B"/>
              </a:solidFill>
              <a:latin typeface="Jost Light" pitchFamily="2" charset="77"/>
              <a:ea typeface="Jost Light" pitchFamily="2" charset="77"/>
            </a:endParaRPr>
          </a:p>
          <a:p>
            <a:pPr algn="just"/>
            <a:endParaRPr lang="fr-FR" sz="950" dirty="0">
              <a:solidFill>
                <a:srgbClr val="6B6B6B"/>
              </a:solidFill>
              <a:latin typeface="Jost Light" pitchFamily="2" charset="77"/>
              <a:ea typeface="Jost Light" pitchFamily="2" charset="77"/>
            </a:endParaRPr>
          </a:p>
        </p:txBody>
      </p:sp>
      <p:sp>
        <p:nvSpPr>
          <p:cNvPr id="70023" name="Text 70023"/>
          <p:cNvSpPr txBox="1"/>
          <p:nvPr/>
        </p:nvSpPr>
        <p:spPr>
          <a:xfrm>
            <a:off x="5517468" y="5160057"/>
            <a:ext cx="400000" cy="300000"/>
          </a:xfrm>
          <a:prstGeom prst="rect">
            <a:avLst/>
          </a:prstGeom>
          <a:noFill/>
          <a:ln>
            <a:noFill/>
          </a:ln>
        </p:spPr>
        <p:txBody>
          <a:bodyPr wrap="square" lIns="0" tIns="0" rIns="0" bIns="0" rtlCol="0" anchor="t">
            <a:normAutofit/>
          </a:bodyPr>
          <a:lstStyle/>
          <a:p>
            <a:pPr algn="l">
              <a:buNone/>
            </a:pPr>
            <a:r>
              <a:rPr lang="fr-FR" sz="1300" dirty="0">
                <a:solidFill>
                  <a:srgbClr val="A9853F"/>
                </a:solidFill>
                <a:latin typeface="Arial" pitchFamily="2" charset="77"/>
                <a:ea typeface="Arial" pitchFamily="2" charset="77"/>
                <a:cs typeface="Arial" pitchFamily="2" charset="77"/>
              </a:rPr>
              <a:t>→</a:t>
            </a:r>
          </a:p>
        </p:txBody>
      </p:sp>
      <p:sp>
        <p:nvSpPr>
          <p:cNvPr id="70024" name="Text 70024"/>
          <p:cNvSpPr txBox="1"/>
          <p:nvPr/>
        </p:nvSpPr>
        <p:spPr>
          <a:xfrm>
            <a:off x="5967468" y="5130057"/>
            <a:ext cx="2507266" cy="350000"/>
          </a:xfrm>
          <a:prstGeom prst="rect">
            <a:avLst/>
          </a:prstGeom>
          <a:noFill/>
          <a:ln>
            <a:noFill/>
          </a:ln>
        </p:spPr>
        <p:txBody>
          <a:bodyPr wrap="square" lIns="0" tIns="0" rIns="0" bIns="0" rtlCol="0" anchor="t">
            <a:normAutofit/>
          </a:bodyPr>
          <a:lstStyle/>
          <a:p>
            <a:pPr algn="l">
              <a:buNone/>
            </a:pPr>
            <a:r>
              <a:rPr lang="fr-FR" sz="1100" dirty="0">
                <a:latin typeface="Jost Medium" pitchFamily="2" charset="77"/>
                <a:ea typeface="Jost Medium" pitchFamily="2" charset="77"/>
                <a:cs typeface="Jost Medium" pitchFamily="2" charset="77"/>
              </a:rPr>
              <a:t>Une ingénierie patrimoniale intégrée.</a:t>
            </a:r>
          </a:p>
        </p:txBody>
      </p:sp>
      <p:sp>
        <p:nvSpPr>
          <p:cNvPr id="70025" name="Text 70025"/>
          <p:cNvSpPr txBox="1"/>
          <p:nvPr/>
        </p:nvSpPr>
        <p:spPr>
          <a:xfrm>
            <a:off x="5517468" y="5560057"/>
            <a:ext cx="2837266" cy="833333"/>
          </a:xfrm>
          <a:prstGeom prst="rect">
            <a:avLst/>
          </a:prstGeom>
          <a:noFill/>
          <a:ln>
            <a:noFill/>
          </a:ln>
        </p:spPr>
        <p:txBody>
          <a:bodyPr wrap="square" lIns="0" tIns="0" rIns="0" bIns="0" rtlCol="0" anchor="t">
            <a:normAutofit/>
          </a:bodyPr>
          <a:lstStyle/>
          <a:p>
            <a:pPr algn="just">
              <a:buNone/>
            </a:pPr>
            <a:r>
              <a:rPr lang="fr-FR" sz="950" dirty="0">
                <a:solidFill>
                  <a:srgbClr val="6B6B6B"/>
                </a:solidFill>
                <a:latin typeface="Jost Light" pitchFamily="2" charset="77"/>
                <a:ea typeface="Jost Light" pitchFamily="2" charset="77"/>
                <a:cs typeface="Jost Light" pitchFamily="2" charset="77"/>
              </a:rPr>
              <a:t>Clause bénéficiaire sur mesure, création d’holding, démembrement, défiscalisation, contrat luxembourgeois : le civil et le fiscal avant le choix de votre enveloppe de gestion.</a:t>
            </a:r>
          </a:p>
        </p:txBody>
      </p:sp>
      <p:sp>
        <p:nvSpPr>
          <p:cNvPr id="70026" name="Text 70026"/>
          <p:cNvSpPr txBox="1"/>
          <p:nvPr/>
        </p:nvSpPr>
        <p:spPr>
          <a:xfrm>
            <a:off x="8734734" y="5160057"/>
            <a:ext cx="400000" cy="300000"/>
          </a:xfrm>
          <a:prstGeom prst="rect">
            <a:avLst/>
          </a:prstGeom>
          <a:noFill/>
          <a:ln>
            <a:noFill/>
          </a:ln>
        </p:spPr>
        <p:txBody>
          <a:bodyPr wrap="square" lIns="0" tIns="0" rIns="0" bIns="0" rtlCol="0" anchor="t">
            <a:normAutofit/>
          </a:bodyPr>
          <a:lstStyle/>
          <a:p>
            <a:pPr algn="l">
              <a:buNone/>
            </a:pPr>
            <a:r>
              <a:rPr lang="fr-FR" sz="1300" dirty="0">
                <a:solidFill>
                  <a:srgbClr val="A9853F"/>
                </a:solidFill>
                <a:latin typeface="Arial" pitchFamily="2" charset="77"/>
                <a:ea typeface="Arial" pitchFamily="2" charset="77"/>
                <a:cs typeface="Arial" pitchFamily="2" charset="77"/>
              </a:rPr>
              <a:t>→</a:t>
            </a:r>
          </a:p>
        </p:txBody>
      </p:sp>
      <p:sp>
        <p:nvSpPr>
          <p:cNvPr id="70027" name="Text 70027"/>
          <p:cNvSpPr txBox="1"/>
          <p:nvPr/>
        </p:nvSpPr>
        <p:spPr>
          <a:xfrm>
            <a:off x="9184734" y="5130057"/>
            <a:ext cx="2507266" cy="350000"/>
          </a:xfrm>
          <a:prstGeom prst="rect">
            <a:avLst/>
          </a:prstGeom>
          <a:noFill/>
          <a:ln>
            <a:noFill/>
          </a:ln>
        </p:spPr>
        <p:txBody>
          <a:bodyPr wrap="square" lIns="0" tIns="0" rIns="0" bIns="0" rtlCol="0" anchor="t">
            <a:normAutofit/>
          </a:bodyPr>
          <a:lstStyle/>
          <a:p>
            <a:pPr algn="l">
              <a:buNone/>
            </a:pPr>
            <a:r>
              <a:rPr lang="fr-FR" sz="1100" dirty="0">
                <a:latin typeface="Jost Medium" pitchFamily="2" charset="77"/>
                <a:ea typeface="Jost Medium" pitchFamily="2" charset="77"/>
                <a:cs typeface="Jost Medium" pitchFamily="2" charset="77"/>
              </a:rPr>
              <a:t>Un suivi à 360°</a:t>
            </a:r>
          </a:p>
        </p:txBody>
      </p:sp>
      <p:sp>
        <p:nvSpPr>
          <p:cNvPr id="70028" name="Text 70028"/>
          <p:cNvSpPr txBox="1"/>
          <p:nvPr/>
        </p:nvSpPr>
        <p:spPr>
          <a:xfrm>
            <a:off x="8734734" y="5560057"/>
            <a:ext cx="2837266" cy="833333"/>
          </a:xfrm>
          <a:prstGeom prst="rect">
            <a:avLst/>
          </a:prstGeom>
          <a:noFill/>
          <a:ln>
            <a:noFill/>
          </a:ln>
        </p:spPr>
        <p:txBody>
          <a:bodyPr wrap="square" lIns="0" tIns="0" rIns="0" bIns="0" rtlCol="0" anchor="t">
            <a:normAutofit/>
          </a:bodyPr>
          <a:lstStyle/>
          <a:p>
            <a:pPr algn="just">
              <a:buNone/>
            </a:pPr>
            <a:r>
              <a:rPr lang="fr-FR" sz="950" dirty="0">
                <a:solidFill>
                  <a:srgbClr val="6B6B6B"/>
                </a:solidFill>
                <a:latin typeface="Jost Light" pitchFamily="2" charset="77"/>
                <a:ea typeface="Jost Light" pitchFamily="2" charset="77"/>
                <a:cs typeface="Jost Light" pitchFamily="2" charset="77"/>
              </a:rPr>
              <a:t>Financier, immobilier, professionnel : une vision consolidée de votre patrimoine et de vos sociétés.</a:t>
            </a:r>
          </a:p>
        </p:txBody>
      </p:sp>
      <p:sp>
        <p:nvSpPr>
          <p:cNvPr id="6" name="Rectangle : avec coin arrondi 5">
            <a:extLst>
              <a:ext uri="{FF2B5EF4-FFF2-40B4-BE49-F238E27FC236}">
                <a16:creationId xmlns:a16="http://schemas.microsoft.com/office/drawing/2014/main" id="{48873218-135B-1F61-3336-EC12C58F355A}"/>
              </a:ext>
            </a:extLst>
          </p:cNvPr>
          <p:cNvSpPr/>
          <p:nvPr/>
        </p:nvSpPr>
        <p:spPr>
          <a:xfrm>
            <a:off x="1084127" y="1997050"/>
            <a:ext cx="3633341" cy="1037867"/>
          </a:xfrm>
          <a:prstGeom prst="round1Rect">
            <a:avLst/>
          </a:prstGeom>
          <a:solidFill>
            <a:srgbClr val="A985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1B00"/>
              </a:solidFill>
            </a:endParaRPr>
          </a:p>
        </p:txBody>
      </p:sp>
      <p:sp>
        <p:nvSpPr>
          <p:cNvPr id="70004" name="Text 70004"/>
          <p:cNvSpPr txBox="1"/>
          <p:nvPr/>
        </p:nvSpPr>
        <p:spPr>
          <a:xfrm>
            <a:off x="947468" y="2087049"/>
            <a:ext cx="3770000" cy="955481"/>
          </a:xfrm>
          <a:prstGeom prst="rect">
            <a:avLst/>
          </a:prstGeom>
          <a:noFill/>
          <a:ln>
            <a:noFill/>
          </a:ln>
        </p:spPr>
        <p:txBody>
          <a:bodyPr wrap="square" lIns="0" tIns="0" rIns="0" bIns="0" rtlCol="0" anchor="t">
            <a:normAutofit/>
          </a:bodyPr>
          <a:lstStyle/>
          <a:p>
            <a:pPr algn="ctr">
              <a:spcAft>
                <a:spcPts val="100"/>
              </a:spcAft>
              <a:buNone/>
            </a:pPr>
            <a:r>
              <a:rPr lang="fr-FR" sz="2400" b="1" dirty="0">
                <a:solidFill>
                  <a:schemeClr val="bg1"/>
                </a:solidFill>
                <a:latin typeface="Cormorant Garamond SemiBold" pitchFamily="2" charset="77"/>
                <a:ea typeface="Cormorant Garamond SemiBold" pitchFamily="2" charset="77"/>
                <a:cs typeface="Cormorant Garamond SemiBold" pitchFamily="2" charset="77"/>
              </a:rPr>
              <a:t>Votre patrimoine,</a:t>
            </a:r>
          </a:p>
          <a:p>
            <a:pPr algn="ctr">
              <a:spcAft>
                <a:spcPts val="100"/>
              </a:spcAft>
              <a:buNone/>
            </a:pPr>
            <a:r>
              <a:rPr lang="fr-FR" sz="2400" b="1" dirty="0">
                <a:solidFill>
                  <a:schemeClr val="bg1"/>
                </a:solidFill>
                <a:latin typeface="Cormorant Garamond SemiBold" pitchFamily="2" charset="77"/>
                <a:ea typeface="Cormorant Garamond SemiBold" pitchFamily="2" charset="77"/>
                <a:cs typeface="Cormorant Garamond SemiBold" pitchFamily="2" charset="77"/>
              </a:rPr>
              <a:t>vu dans son ensemble</a:t>
            </a:r>
          </a:p>
        </p:txBody>
      </p:sp>
    </p:spTree>
    <p:extLst>
      <p:ext uri="{BB962C8B-B14F-4D97-AF65-F5344CB8AC3E}">
        <p14:creationId xmlns:p14="http://schemas.microsoft.com/office/powerpoint/2010/main" val="521028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477ACD0-314D-3FA2-7F46-8C3405ECC47E}"/>
              </a:ext>
            </a:extLst>
          </p:cNvPr>
          <p:cNvSpPr/>
          <p:nvPr/>
        </p:nvSpPr>
        <p:spPr>
          <a:xfrm>
            <a:off x="464234" y="351693"/>
            <a:ext cx="93036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0CC011A1-A14B-50E9-72E0-E73D072A9895}"/>
              </a:ext>
            </a:extLst>
          </p:cNvPr>
          <p:cNvSpPr txBox="1"/>
          <p:nvPr/>
        </p:nvSpPr>
        <p:spPr>
          <a:xfrm>
            <a:off x="1310516" y="3429000"/>
            <a:ext cx="3828643" cy="1200329"/>
          </a:xfrm>
          <a:prstGeom prst="rect">
            <a:avLst/>
          </a:prstGeom>
          <a:noFill/>
        </p:spPr>
        <p:txBody>
          <a:bodyPr wrap="square" rtlCol="0">
            <a:spAutoFit/>
          </a:bodyPr>
          <a:lstStyle/>
          <a:p>
            <a:r>
              <a:rPr lang="fr-FR" sz="3600" b="1" dirty="0">
                <a:solidFill>
                  <a:srgbClr val="E7DCC7"/>
                </a:solidFill>
                <a:latin typeface="Jost SemiBold" pitchFamily="2" charset="77"/>
                <a:ea typeface="Jost SemiBold" pitchFamily="2" charset="77"/>
                <a:cs typeface="Futura" panose="020B0602020204020303" pitchFamily="34" charset="-79"/>
              </a:rPr>
              <a:t>2. Notre recommandation</a:t>
            </a:r>
          </a:p>
        </p:txBody>
      </p:sp>
      <p:sp>
        <p:nvSpPr>
          <p:cNvPr id="12" name="Shape 8">
            <a:extLst>
              <a:ext uri="{FF2B5EF4-FFF2-40B4-BE49-F238E27FC236}">
                <a16:creationId xmlns:a16="http://schemas.microsoft.com/office/drawing/2014/main" id="{72047B36-302F-BD51-EA1C-7206EC3E0DDC}"/>
              </a:ext>
            </a:extLst>
          </p:cNvPr>
          <p:cNvSpPr/>
          <p:nvPr/>
        </p:nvSpPr>
        <p:spPr>
          <a:xfrm>
            <a:off x="1371476" y="5012467"/>
            <a:ext cx="2009154" cy="0"/>
          </a:xfrm>
          <a:prstGeom prst="line">
            <a:avLst/>
          </a:prstGeom>
          <a:noFill/>
          <a:ln w="19050">
            <a:solidFill>
              <a:srgbClr val="A9853F"/>
            </a:solidFill>
            <a:prstDash val="solid"/>
          </a:ln>
        </p:spPr>
        <p:txBody>
          <a:bodyPr/>
          <a:lstStyle/>
          <a:p>
            <a:endParaRPr lang="fr-FR"/>
          </a:p>
        </p:txBody>
      </p:sp>
      <p:pic>
        <p:nvPicPr>
          <p:cNvPr id="19" name="Image 18">
            <a:extLst>
              <a:ext uri="{FF2B5EF4-FFF2-40B4-BE49-F238E27FC236}">
                <a16:creationId xmlns:a16="http://schemas.microsoft.com/office/drawing/2014/main" id="{D3A26E59-C11D-BEAB-D7B8-A0B897D52B9D}"/>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156744"/>
            <a:ext cx="2441045" cy="7327940"/>
          </a:xfrm>
          <a:prstGeom prst="rect">
            <a:avLst/>
          </a:prstGeom>
        </p:spPr>
      </p:pic>
      <p:pic>
        <p:nvPicPr>
          <p:cNvPr id="20" name="Image 19">
            <a:extLst>
              <a:ext uri="{FF2B5EF4-FFF2-40B4-BE49-F238E27FC236}">
                <a16:creationId xmlns:a16="http://schemas.microsoft.com/office/drawing/2014/main" id="{0238716E-F168-DE82-D938-0BD0A32BF06B}"/>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1761878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6267" y="-1822"/>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98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Capitaliser, percevoir des revenus, transmettre : trois usages, pour une seule enveloppe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9800000" cy="371138"/>
          </a:xfrm>
          <a:prstGeom prst="rect">
            <a:avLst/>
          </a:prstGeom>
          <a:noFill/>
          <a:ln/>
        </p:spPr>
        <p:txBody>
          <a:bodyPr wrap="square" lIns="0" tIns="0" rIns="0" bIns="0" rtlCol="0" anchor="t">
            <a:normAutofit/>
          </a:bodyPr>
          <a:lstStyle/>
          <a:p>
            <a:r>
              <a:rPr lang="fr-FR" sz="2000" b="1" dirty="0">
                <a:solidFill>
                  <a:srgbClr val="A9853F"/>
                </a:solidFill>
                <a:latin typeface="Cormorant Garamond SemiBold" pitchFamily="2" charset="77"/>
                <a:ea typeface="Cormorant Garamond SemiBold" pitchFamily="2" charset="77"/>
                <a:cs typeface="Cormorant Garamond SemiBold" pitchFamily="2" charset="77"/>
              </a:rPr>
              <a:t>L’assurance vie française : le pilier de votre épargne </a:t>
            </a:r>
          </a:p>
        </p:txBody>
      </p:sp>
      <p:sp>
        <p:nvSpPr>
          <p:cNvPr id="211" name="Shape 211"/>
          <p:cNvSpPr/>
          <p:nvPr/>
        </p:nvSpPr>
        <p:spPr>
          <a:xfrm>
            <a:off x="1011872" y="6045507"/>
            <a:ext cx="10744532" cy="427644"/>
          </a:xfrm>
          <a:prstGeom prst="rect">
            <a:avLst/>
          </a:prstGeom>
          <a:solidFill>
            <a:srgbClr val="A9853F"/>
          </a:solidFill>
          <a:ln>
            <a:noFill/>
          </a:ln>
        </p:spPr>
        <p:txBody>
          <a:bodyPr rtlCol="0" anchor="ctr"/>
          <a:lstStyle/>
          <a:p>
            <a:pPr algn="ctr"/>
            <a:endParaRPr lang="fr-FR"/>
          </a:p>
        </p:txBody>
      </p:sp>
      <p:sp>
        <p:nvSpPr>
          <p:cNvPr id="212" name="Banner 212"/>
          <p:cNvSpPr txBox="1"/>
          <p:nvPr/>
        </p:nvSpPr>
        <p:spPr>
          <a:xfrm>
            <a:off x="1231872" y="6020507"/>
            <a:ext cx="10304532" cy="477644"/>
          </a:xfrm>
          <a:prstGeom prst="rect">
            <a:avLst/>
          </a:prstGeom>
          <a:noFill/>
          <a:ln>
            <a:noFill/>
          </a:ln>
        </p:spPr>
        <p:txBody>
          <a:bodyPr wrap="square" lIns="0" tIns="0" rIns="0" bIns="0" rtlCol="0" anchor="ctr">
            <a:normAutofit/>
          </a:bodyPr>
          <a:lstStyle/>
          <a:p>
            <a:pPr algn="ctr">
              <a:buNone/>
            </a:pPr>
            <a:r>
              <a:rPr lang="fr-FR" sz="950" b="1" dirty="0">
                <a:solidFill>
                  <a:srgbClr val="FFFFFF"/>
                </a:solidFill>
                <a:latin typeface="Jost Medium" pitchFamily="2" charset="77"/>
                <a:ea typeface="Jost Medium" pitchFamily="2" charset="77"/>
                <a:cs typeface="Jost Medium" pitchFamily="2" charset="77"/>
              </a:rPr>
              <a:t>En 2026, l’assurance-vie est la seule grande enveloppe à échapper à la hausse de la CSG : ses prélèvements sociaux restent figés à 17,2%, quand le CTO et le PEA grimpent à 18,6% (LFSS 2026).</a:t>
            </a:r>
          </a:p>
        </p:txBody>
      </p:sp>
      <p:sp>
        <p:nvSpPr>
          <p:cNvPr id="213" name="Hub Title 213"/>
          <p:cNvSpPr txBox="1"/>
          <p:nvPr/>
        </p:nvSpPr>
        <p:spPr>
          <a:xfrm>
            <a:off x="947468" y="1430462"/>
            <a:ext cx="10851064" cy="300000"/>
          </a:xfrm>
          <a:prstGeom prst="rect">
            <a:avLst/>
          </a:prstGeom>
          <a:noFill/>
          <a:ln>
            <a:noFill/>
          </a:ln>
        </p:spPr>
        <p:txBody>
          <a:bodyPr wrap="square" lIns="0" tIns="0" rIns="0" bIns="0" rtlCol="0" anchor="t">
            <a:normAutofit/>
          </a:bodyPr>
          <a:lstStyle/>
          <a:p>
            <a:pPr>
              <a:buNone/>
            </a:pPr>
            <a:r>
              <a:rPr lang="fr-FR" sz="1150" b="1" dirty="0">
                <a:solidFill>
                  <a:srgbClr val="A9853F"/>
                </a:solidFill>
                <a:latin typeface="Cormorant Garamond SemiBold" pitchFamily="2" charset="77"/>
                <a:ea typeface="Cormorant Garamond SemiBold" pitchFamily="2" charset="77"/>
                <a:cs typeface="Cormorant Garamond SemiBold" pitchFamily="2" charset="77"/>
              </a:rPr>
              <a:t>L’enveloppe qui répond à l’ensemble de vos objectifs patrimoniaux :</a:t>
            </a:r>
          </a:p>
        </p:txBody>
      </p:sp>
      <p:sp>
        <p:nvSpPr>
          <p:cNvPr id="215" name="Shape 215"/>
          <p:cNvSpPr/>
          <p:nvPr/>
        </p:nvSpPr>
        <p:spPr>
          <a:xfrm>
            <a:off x="5419306" y="1682224"/>
            <a:ext cx="1750000" cy="375336"/>
          </a:xfrm>
          <a:prstGeom prst="rect">
            <a:avLst/>
          </a:prstGeom>
          <a:solidFill>
            <a:srgbClr val="FCF9EF"/>
          </a:solidFill>
          <a:ln>
            <a:noFill/>
          </a:ln>
        </p:spPr>
        <p:txBody>
          <a:bodyPr rtlCol="0" anchor="ctr"/>
          <a:lstStyle/>
          <a:p>
            <a:pPr algn="ctr"/>
            <a:endParaRPr lang="fr-FR"/>
          </a:p>
        </p:txBody>
      </p:sp>
      <p:sp>
        <p:nvSpPr>
          <p:cNvPr id="218" name="Shape 218"/>
          <p:cNvSpPr/>
          <p:nvPr/>
        </p:nvSpPr>
        <p:spPr>
          <a:xfrm>
            <a:off x="8078883" y="2046050"/>
            <a:ext cx="1750000" cy="460000"/>
          </a:xfrm>
          <a:prstGeom prst="rect">
            <a:avLst/>
          </a:prstGeom>
          <a:solidFill>
            <a:srgbClr val="FCF9EF"/>
          </a:solidFill>
          <a:ln>
            <a:noFill/>
          </a:ln>
        </p:spPr>
        <p:txBody>
          <a:bodyPr rtlCol="0" anchor="ctr"/>
          <a:lstStyle/>
          <a:p>
            <a:pPr algn="ctr"/>
            <a:endParaRPr lang="fr-FR"/>
          </a:p>
        </p:txBody>
      </p:sp>
      <p:sp>
        <p:nvSpPr>
          <p:cNvPr id="219" name="Objective Box 219"/>
          <p:cNvSpPr txBox="1"/>
          <p:nvPr/>
        </p:nvSpPr>
        <p:spPr>
          <a:xfrm>
            <a:off x="8138883" y="2096050"/>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Percevoir des revenus</a:t>
            </a:r>
          </a:p>
          <a:p>
            <a:pPr algn="ctr">
              <a:buNone/>
            </a:pPr>
            <a:r>
              <a:rPr lang="fr-FR" sz="750" dirty="0">
                <a:solidFill>
                  <a:srgbClr val="073527"/>
                </a:solidFill>
                <a:latin typeface="Jost Light" pitchFamily="2" charset="77"/>
                <a:ea typeface="Jost Light" pitchFamily="2" charset="77"/>
                <a:cs typeface="Jost Light" pitchFamily="2" charset="77"/>
              </a:rPr>
              <a:t>Rachats programmés / ou distribution</a:t>
            </a:r>
          </a:p>
        </p:txBody>
      </p:sp>
      <p:sp>
        <p:nvSpPr>
          <p:cNvPr id="221" name="Shape 221"/>
          <p:cNvSpPr/>
          <p:nvPr/>
        </p:nvSpPr>
        <p:spPr>
          <a:xfrm>
            <a:off x="8078883" y="2766048"/>
            <a:ext cx="1750000" cy="460000"/>
          </a:xfrm>
          <a:prstGeom prst="rect">
            <a:avLst/>
          </a:prstGeom>
          <a:solidFill>
            <a:srgbClr val="FCF9EF"/>
          </a:solidFill>
          <a:ln>
            <a:noFill/>
          </a:ln>
        </p:spPr>
        <p:txBody>
          <a:bodyPr rtlCol="0" anchor="ctr"/>
          <a:lstStyle/>
          <a:p>
            <a:pPr algn="ctr"/>
            <a:endParaRPr lang="fr-FR"/>
          </a:p>
        </p:txBody>
      </p:sp>
      <p:sp>
        <p:nvSpPr>
          <p:cNvPr id="222" name="Objective Box 222"/>
          <p:cNvSpPr txBox="1"/>
          <p:nvPr/>
        </p:nvSpPr>
        <p:spPr>
          <a:xfrm>
            <a:off x="5474390" y="1686453"/>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Savoir se diversifier</a:t>
            </a:r>
          </a:p>
          <a:p>
            <a:pPr algn="ctr">
              <a:buNone/>
            </a:pPr>
            <a:r>
              <a:rPr lang="fr-FR" sz="750" dirty="0">
                <a:solidFill>
                  <a:srgbClr val="073527"/>
                </a:solidFill>
                <a:latin typeface="Jost Light" pitchFamily="2" charset="77"/>
                <a:ea typeface="Jost Light" pitchFamily="2" charset="77"/>
                <a:cs typeface="Jost Light" pitchFamily="2" charset="77"/>
              </a:rPr>
              <a:t>ETF, OPC, PE, Fond Mixtes</a:t>
            </a:r>
          </a:p>
        </p:txBody>
      </p:sp>
      <p:sp>
        <p:nvSpPr>
          <p:cNvPr id="224" name="Shape 224"/>
          <p:cNvSpPr/>
          <p:nvPr/>
        </p:nvSpPr>
        <p:spPr>
          <a:xfrm>
            <a:off x="5384734" y="5483054"/>
            <a:ext cx="1750000" cy="460000"/>
          </a:xfrm>
          <a:prstGeom prst="rect">
            <a:avLst/>
          </a:prstGeom>
          <a:solidFill>
            <a:srgbClr val="FCF9EF"/>
          </a:solidFill>
          <a:ln>
            <a:noFill/>
          </a:ln>
        </p:spPr>
        <p:txBody>
          <a:bodyPr rtlCol="0" anchor="ctr"/>
          <a:lstStyle/>
          <a:p>
            <a:pPr algn="ctr"/>
            <a:endParaRPr lang="fr-FR"/>
          </a:p>
        </p:txBody>
      </p:sp>
      <p:sp>
        <p:nvSpPr>
          <p:cNvPr id="225" name="Objective Box 225"/>
          <p:cNvSpPr txBox="1"/>
          <p:nvPr/>
        </p:nvSpPr>
        <p:spPr>
          <a:xfrm>
            <a:off x="5504734" y="5533054"/>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Transmettre</a:t>
            </a:r>
          </a:p>
          <a:p>
            <a:pPr algn="ctr">
              <a:buNone/>
            </a:pPr>
            <a:r>
              <a:rPr lang="fr-FR" sz="750" dirty="0">
                <a:solidFill>
                  <a:srgbClr val="073527"/>
                </a:solidFill>
                <a:latin typeface="Jost Light" pitchFamily="2" charset="77"/>
                <a:ea typeface="Jost Light" pitchFamily="2" charset="77"/>
                <a:cs typeface="Jost Light" pitchFamily="2" charset="77"/>
              </a:rPr>
              <a:t>Hors succession</a:t>
            </a:r>
          </a:p>
        </p:txBody>
      </p:sp>
      <p:sp>
        <p:nvSpPr>
          <p:cNvPr id="227" name="Shape 227"/>
          <p:cNvSpPr/>
          <p:nvPr/>
        </p:nvSpPr>
        <p:spPr>
          <a:xfrm>
            <a:off x="2363117" y="2766048"/>
            <a:ext cx="1750000" cy="460000"/>
          </a:xfrm>
          <a:prstGeom prst="rect">
            <a:avLst/>
          </a:prstGeom>
          <a:solidFill>
            <a:srgbClr val="FCF9EF"/>
          </a:solidFill>
          <a:ln>
            <a:noFill/>
          </a:ln>
        </p:spPr>
        <p:txBody>
          <a:bodyPr rtlCol="0" anchor="ctr"/>
          <a:lstStyle/>
          <a:p>
            <a:pPr algn="ctr"/>
            <a:endParaRPr lang="fr-FR"/>
          </a:p>
        </p:txBody>
      </p:sp>
      <p:sp>
        <p:nvSpPr>
          <p:cNvPr id="228" name="Objective Box 228"/>
          <p:cNvSpPr txBox="1"/>
          <p:nvPr/>
        </p:nvSpPr>
        <p:spPr>
          <a:xfrm>
            <a:off x="2423117" y="2816048"/>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Protéger son capital</a:t>
            </a:r>
          </a:p>
          <a:p>
            <a:pPr algn="ctr">
              <a:buNone/>
            </a:pPr>
            <a:r>
              <a:rPr lang="fr-FR" sz="750" dirty="0">
                <a:solidFill>
                  <a:srgbClr val="073527"/>
                </a:solidFill>
                <a:latin typeface="Jost Light" pitchFamily="2" charset="77"/>
                <a:ea typeface="Jost Light" pitchFamily="2" charset="77"/>
                <a:cs typeface="Jost Light" pitchFamily="2" charset="77"/>
              </a:rPr>
              <a:t>Fonds euro garanti</a:t>
            </a:r>
          </a:p>
        </p:txBody>
      </p:sp>
      <p:sp>
        <p:nvSpPr>
          <p:cNvPr id="230" name="Shape 230"/>
          <p:cNvSpPr/>
          <p:nvPr/>
        </p:nvSpPr>
        <p:spPr>
          <a:xfrm>
            <a:off x="2363117" y="2046049"/>
            <a:ext cx="1750000" cy="460000"/>
          </a:xfrm>
          <a:prstGeom prst="rect">
            <a:avLst/>
          </a:prstGeom>
          <a:solidFill>
            <a:srgbClr val="FCF9EF"/>
          </a:solidFill>
          <a:ln>
            <a:noFill/>
          </a:ln>
        </p:spPr>
        <p:txBody>
          <a:bodyPr rtlCol="0" anchor="ctr"/>
          <a:lstStyle/>
          <a:p>
            <a:pPr algn="ctr"/>
            <a:endParaRPr lang="fr-FR"/>
          </a:p>
        </p:txBody>
      </p:sp>
      <p:sp>
        <p:nvSpPr>
          <p:cNvPr id="231" name="Objective Box 231"/>
          <p:cNvSpPr txBox="1"/>
          <p:nvPr/>
        </p:nvSpPr>
        <p:spPr>
          <a:xfrm>
            <a:off x="2423117" y="2096049"/>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Optimiser sa fiscalité</a:t>
            </a:r>
          </a:p>
          <a:p>
            <a:pPr algn="ctr">
              <a:buNone/>
            </a:pPr>
            <a:r>
              <a:rPr lang="fr-FR" sz="750" dirty="0">
                <a:solidFill>
                  <a:srgbClr val="073527"/>
                </a:solidFill>
                <a:latin typeface="Jost Light" pitchFamily="2" charset="77"/>
                <a:ea typeface="Jost Light" pitchFamily="2" charset="77"/>
                <a:cs typeface="Jost Light" pitchFamily="2" charset="77"/>
              </a:rPr>
              <a:t>Après 8 ans</a:t>
            </a:r>
          </a:p>
        </p:txBody>
      </p:sp>
      <p:sp>
        <p:nvSpPr>
          <p:cNvPr id="233" name="Shape 233"/>
          <p:cNvSpPr/>
          <p:nvPr/>
        </p:nvSpPr>
        <p:spPr>
          <a:xfrm>
            <a:off x="10418265" y="1911049"/>
            <a:ext cx="1050001" cy="1450000"/>
          </a:xfrm>
          <a:prstGeom prst="rect">
            <a:avLst/>
          </a:prstGeom>
          <a:solidFill>
            <a:srgbClr val="A9853F"/>
          </a:solidFill>
          <a:ln>
            <a:noFill/>
          </a:ln>
        </p:spPr>
        <p:txBody>
          <a:bodyPr rtlCol="0" anchor="ctr"/>
          <a:lstStyle/>
          <a:p>
            <a:pPr algn="ctr"/>
            <a:endParaRPr lang="fr-FR"/>
          </a:p>
        </p:txBody>
      </p:sp>
      <p:sp>
        <p:nvSpPr>
          <p:cNvPr id="232" name="Hub Center"/>
          <p:cNvSpPr/>
          <p:nvPr/>
        </p:nvSpPr>
        <p:spPr>
          <a:xfrm>
            <a:off x="5734737" y="2254497"/>
            <a:ext cx="1123864" cy="1037950"/>
          </a:xfrm>
          <a:prstGeom prst="ellipse">
            <a:avLst/>
          </a:prstGeom>
          <a:solidFill>
            <a:srgbClr val="001B00"/>
          </a:solidFill>
          <a:ln w="25400">
            <a:noFill/>
          </a:ln>
        </p:spPr>
        <p:txBody>
          <a:bodyPr wrap="square" lIns="0" tIns="0" rIns="0" bIns="0" anchor="ctr"/>
          <a:lstStyle/>
          <a:p>
            <a:pPr algn="ctr"/>
            <a:r>
              <a:rPr lang="fr-FR" sz="900" b="1" dirty="0">
                <a:solidFill>
                  <a:srgbClr val="FFFFFF"/>
                </a:solidFill>
                <a:latin typeface="Jost Black" pitchFamily="2" charset="77"/>
                <a:ea typeface="Jost Black" pitchFamily="2" charset="77"/>
                <a:cs typeface="Cormorant Garamond SemiBold" pitchFamily="2" charset="77"/>
              </a:rPr>
              <a:t>Assurance-vie</a:t>
            </a:r>
          </a:p>
        </p:txBody>
      </p:sp>
      <p:sp>
        <p:nvSpPr>
          <p:cNvPr id="234" name="Liquidity Badge 234"/>
          <p:cNvSpPr txBox="1"/>
          <p:nvPr/>
        </p:nvSpPr>
        <p:spPr>
          <a:xfrm>
            <a:off x="10508266" y="2011049"/>
            <a:ext cx="870000" cy="1250000"/>
          </a:xfrm>
          <a:prstGeom prst="rect">
            <a:avLst/>
          </a:prstGeom>
          <a:noFill/>
          <a:ln>
            <a:noFill/>
          </a:ln>
        </p:spPr>
        <p:txBody>
          <a:bodyPr wrap="square" lIns="0" tIns="0" rIns="0" bIns="0" rtlCol="0" anchor="ctr">
            <a:normAutofit/>
          </a:bodyPr>
          <a:lstStyle/>
          <a:p>
            <a:pPr algn="ctr">
              <a:spcAft>
                <a:spcPts val="100"/>
              </a:spcAft>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100% </a:t>
            </a:r>
            <a:r>
              <a:rPr lang="fr-FR" sz="1000" b="1" dirty="0">
                <a:solidFill>
                  <a:srgbClr val="FFFFFF"/>
                </a:solidFill>
                <a:latin typeface="Jost Medium" pitchFamily="2" charset="77"/>
                <a:ea typeface="Jost Medium" pitchFamily="2" charset="77"/>
                <a:cs typeface="Jost Medium" pitchFamily="2" charset="77"/>
              </a:rPr>
              <a:t>liquide</a:t>
            </a:r>
          </a:p>
          <a:p>
            <a:pPr algn="ctr">
              <a:buNone/>
            </a:pPr>
            <a:endParaRPr lang="fr-FR" sz="700" dirty="0">
              <a:solidFill>
                <a:srgbClr val="FFFFFF"/>
              </a:solidFill>
              <a:latin typeface="Jost Light" pitchFamily="2" charset="77"/>
              <a:ea typeface="Jost Light" pitchFamily="2" charset="77"/>
              <a:cs typeface="Jost Light" pitchFamily="2" charset="77"/>
            </a:endParaRPr>
          </a:p>
          <a:p>
            <a:pPr algn="ctr">
              <a:buNone/>
            </a:pPr>
            <a:r>
              <a:rPr lang="fr-FR" sz="700" dirty="0">
                <a:solidFill>
                  <a:srgbClr val="FFFFFF"/>
                </a:solidFill>
                <a:latin typeface="Jost Light" pitchFamily="2" charset="77"/>
                <a:ea typeface="Jost Light" pitchFamily="2" charset="77"/>
                <a:cs typeface="Jost Light" pitchFamily="2" charset="77"/>
              </a:rPr>
              <a:t>Vos avoirs financiers disponibles à tout moment, rachat partiel ou total.</a:t>
            </a:r>
          </a:p>
        </p:txBody>
      </p:sp>
      <p:sp>
        <p:nvSpPr>
          <p:cNvPr id="235" name="Footnote 235"/>
          <p:cNvSpPr txBox="1"/>
          <p:nvPr/>
        </p:nvSpPr>
        <p:spPr>
          <a:xfrm>
            <a:off x="947468" y="6560000"/>
            <a:ext cx="10744532" cy="260000"/>
          </a:xfrm>
          <a:prstGeom prst="rect">
            <a:avLst/>
          </a:prstGeom>
          <a:noFill/>
          <a:ln>
            <a:noFill/>
          </a:ln>
        </p:spPr>
        <p:txBody>
          <a:bodyPr wrap="square" lIns="0" tIns="0" rIns="0" bIns="0" rtlCol="0" anchor="t">
            <a:normAutofit/>
          </a:bodyPr>
          <a:lstStyle/>
          <a:p>
            <a:pPr algn="ctr">
              <a:buNone/>
            </a:pPr>
            <a:r>
              <a:rPr lang="fr-FR" sz="750" i="1" dirty="0">
                <a:solidFill>
                  <a:srgbClr val="6B6B6B"/>
                </a:solidFill>
                <a:latin typeface="Jost Light" pitchFamily="2" charset="77"/>
                <a:ea typeface="Jost Light" pitchFamily="2" charset="77"/>
                <a:cs typeface="Jost Light" pitchFamily="2" charset="77"/>
              </a:rPr>
              <a:t>Taux et abattements en vigueur en 2026. Fiscalité présentée à titre informatif, susceptible d’évolution.</a:t>
            </a:r>
          </a:p>
        </p:txBody>
      </p:sp>
      <p:cxnSp>
        <p:nvCxnSpPr>
          <p:cNvPr id="6" name="Timeline Line">
            <a:extLst>
              <a:ext uri="{FF2B5EF4-FFF2-40B4-BE49-F238E27FC236}">
                <a16:creationId xmlns:a16="http://schemas.microsoft.com/office/drawing/2014/main" id="{49BBD349-9109-C2D4-39AB-6F20A4239512}"/>
              </a:ext>
            </a:extLst>
          </p:cNvPr>
          <p:cNvCxnSpPr/>
          <p:nvPr/>
        </p:nvCxnSpPr>
        <p:spPr>
          <a:xfrm>
            <a:off x="2651556" y="4184864"/>
            <a:ext cx="7336355" cy="0"/>
          </a:xfrm>
          <a:prstGeom prst="line">
            <a:avLst/>
          </a:prstGeom>
          <a:ln w="19050">
            <a:solidFill>
              <a:srgbClr val="A9853F"/>
            </a:solidFill>
          </a:ln>
        </p:spPr>
      </p:cxnSp>
      <p:sp>
        <p:nvSpPr>
          <p:cNvPr id="7" name="Node 202">
            <a:extLst>
              <a:ext uri="{FF2B5EF4-FFF2-40B4-BE49-F238E27FC236}">
                <a16:creationId xmlns:a16="http://schemas.microsoft.com/office/drawing/2014/main" id="{DF470D1F-1968-04B4-E3D9-9D8B69516CFC}"/>
              </a:ext>
            </a:extLst>
          </p:cNvPr>
          <p:cNvSpPr/>
          <p:nvPr/>
        </p:nvSpPr>
        <p:spPr>
          <a:xfrm>
            <a:off x="2421556" y="3954864"/>
            <a:ext cx="460000" cy="460000"/>
          </a:xfrm>
          <a:prstGeom prst="ellipse">
            <a:avLst/>
          </a:prstGeom>
          <a:solidFill>
            <a:srgbClr val="001B00"/>
          </a:solidFill>
          <a:ln w="19050">
            <a:solidFill>
              <a:srgbClr val="FCF9EF"/>
            </a:solidFill>
          </a:ln>
        </p:spPr>
        <p:txBody>
          <a:bodyPr anchor="ctr"/>
          <a:lstStyle/>
          <a:p>
            <a:pPr algn="ctr"/>
            <a:r>
              <a:rPr lang="fr-FR" sz="1400" b="1" dirty="0">
                <a:solidFill>
                  <a:srgbClr val="FFFFFF"/>
                </a:solidFill>
                <a:latin typeface="Cormorant Garamond SemiBold" pitchFamily="2" charset="77"/>
                <a:ea typeface="Cormorant Garamond SemiBold" pitchFamily="2" charset="77"/>
                <a:cs typeface="Cormorant Garamond SemiBold" pitchFamily="2" charset="77"/>
              </a:rPr>
              <a:t>1</a:t>
            </a:r>
          </a:p>
        </p:txBody>
      </p:sp>
      <p:sp>
        <p:nvSpPr>
          <p:cNvPr id="8" name="Shape 203">
            <a:extLst>
              <a:ext uri="{FF2B5EF4-FFF2-40B4-BE49-F238E27FC236}">
                <a16:creationId xmlns:a16="http://schemas.microsoft.com/office/drawing/2014/main" id="{26A31527-E29F-EF0F-44D5-299083366E4A}"/>
              </a:ext>
            </a:extLst>
          </p:cNvPr>
          <p:cNvSpPr/>
          <p:nvPr/>
        </p:nvSpPr>
        <p:spPr>
          <a:xfrm>
            <a:off x="947468" y="4544864"/>
            <a:ext cx="3408177" cy="816049"/>
          </a:xfrm>
          <a:prstGeom prst="rect">
            <a:avLst/>
          </a:prstGeom>
          <a:solidFill>
            <a:srgbClr val="FCF9EF"/>
          </a:solidFill>
          <a:ln>
            <a:noFill/>
          </a:ln>
        </p:spPr>
        <p:txBody>
          <a:bodyPr rtlCol="0" anchor="ctr"/>
          <a:lstStyle/>
          <a:p>
            <a:pPr algn="ctr"/>
            <a:endParaRPr lang="fr-FR"/>
          </a:p>
        </p:txBody>
      </p:sp>
      <p:sp>
        <p:nvSpPr>
          <p:cNvPr id="9" name="Milestone Body 204">
            <a:extLst>
              <a:ext uri="{FF2B5EF4-FFF2-40B4-BE49-F238E27FC236}">
                <a16:creationId xmlns:a16="http://schemas.microsoft.com/office/drawing/2014/main" id="{847A992E-D2A7-E38F-47C1-92BABAEF711A}"/>
              </a:ext>
            </a:extLst>
          </p:cNvPr>
          <p:cNvSpPr txBox="1"/>
          <p:nvPr/>
        </p:nvSpPr>
        <p:spPr>
          <a:xfrm>
            <a:off x="1067468" y="4654864"/>
            <a:ext cx="3168177" cy="830000"/>
          </a:xfrm>
          <a:prstGeom prst="rect">
            <a:avLst/>
          </a:prstGeom>
          <a:noFill/>
          <a:ln>
            <a:noFill/>
          </a:ln>
        </p:spPr>
        <p:txBody>
          <a:bodyPr wrap="square" lIns="0" tIns="0" rIns="0" bIns="0" rtlCol="0" anchor="t">
            <a:normAutofit/>
          </a:bodyPr>
          <a:lstStyle/>
          <a:p>
            <a:pPr algn="ctr">
              <a:spcAft>
                <a:spcPts val="180"/>
              </a:spcAft>
              <a:buNone/>
            </a:pPr>
            <a:r>
              <a:rPr lang="fr-FR" sz="850" b="1" dirty="0">
                <a:solidFill>
                  <a:srgbClr val="A9853F"/>
                </a:solidFill>
                <a:latin typeface="Jost Medium" pitchFamily="2" charset="77"/>
                <a:ea typeface="Jost Medium" pitchFamily="2" charset="77"/>
                <a:cs typeface="Jost Medium" pitchFamily="2" charset="77"/>
              </a:rPr>
              <a:t>Dès l’ouverture</a:t>
            </a:r>
          </a:p>
          <a:p>
            <a:pPr algn="ctr">
              <a:spcAft>
                <a:spcPts val="180"/>
              </a:spcAft>
              <a:buNone/>
            </a:pPr>
            <a:r>
              <a:rPr lang="fr-FR" sz="1150" b="1" dirty="0">
                <a:solidFill>
                  <a:srgbClr val="001B00"/>
                </a:solidFill>
                <a:latin typeface="Cormorant Garamond SemiBold" pitchFamily="2" charset="77"/>
                <a:ea typeface="Cormorant Garamond SemiBold" pitchFamily="2" charset="77"/>
                <a:cs typeface="Cormorant Garamond SemiBold" pitchFamily="2" charset="77"/>
              </a:rPr>
              <a:t>PFU de 30%</a:t>
            </a:r>
          </a:p>
          <a:p>
            <a:pPr algn="ctr">
              <a:buNone/>
            </a:pPr>
            <a:r>
              <a:rPr lang="fr-FR" sz="780" dirty="0">
                <a:solidFill>
                  <a:srgbClr val="073527"/>
                </a:solidFill>
                <a:latin typeface="Jost Light" pitchFamily="2" charset="77"/>
                <a:ea typeface="Jost Light" pitchFamily="2" charset="77"/>
                <a:cs typeface="Jost Light" pitchFamily="2" charset="77"/>
              </a:rPr>
              <a:t>12,8% IR + 17,2% PS, sur la totalité des gains retirés.</a:t>
            </a:r>
          </a:p>
        </p:txBody>
      </p:sp>
      <p:sp>
        <p:nvSpPr>
          <p:cNvPr id="10" name="Node 205">
            <a:extLst>
              <a:ext uri="{FF2B5EF4-FFF2-40B4-BE49-F238E27FC236}">
                <a16:creationId xmlns:a16="http://schemas.microsoft.com/office/drawing/2014/main" id="{F95DAAB3-4CE8-B266-5F5B-6E34CF579949}"/>
              </a:ext>
            </a:extLst>
          </p:cNvPr>
          <p:cNvSpPr/>
          <p:nvPr/>
        </p:nvSpPr>
        <p:spPr>
          <a:xfrm>
            <a:off x="6089733" y="3954864"/>
            <a:ext cx="460000" cy="460000"/>
          </a:xfrm>
          <a:prstGeom prst="ellipse">
            <a:avLst/>
          </a:prstGeom>
          <a:solidFill>
            <a:srgbClr val="001B00"/>
          </a:solidFill>
          <a:ln w="19050">
            <a:solidFill>
              <a:srgbClr val="FCF9EF"/>
            </a:solidFill>
          </a:ln>
        </p:spPr>
        <p:txBody>
          <a:bodyPr anchor="ctr"/>
          <a:lstStyle/>
          <a:p>
            <a:pPr algn="ctr"/>
            <a:r>
              <a:rPr lang="fr-FR" sz="1400" b="1" dirty="0">
                <a:solidFill>
                  <a:srgbClr val="FFFFFF"/>
                </a:solidFill>
                <a:latin typeface="Cormorant Garamond SemiBold" pitchFamily="2" charset="77"/>
                <a:ea typeface="Cormorant Garamond SemiBold" pitchFamily="2" charset="77"/>
                <a:cs typeface="Cormorant Garamond SemiBold" pitchFamily="2" charset="77"/>
              </a:rPr>
              <a:t>2</a:t>
            </a:r>
          </a:p>
        </p:txBody>
      </p:sp>
      <p:sp>
        <p:nvSpPr>
          <p:cNvPr id="11" name="Shape 206">
            <a:extLst>
              <a:ext uri="{FF2B5EF4-FFF2-40B4-BE49-F238E27FC236}">
                <a16:creationId xmlns:a16="http://schemas.microsoft.com/office/drawing/2014/main" id="{374CA6B5-874B-1ADD-D21C-E45467E123AA}"/>
              </a:ext>
            </a:extLst>
          </p:cNvPr>
          <p:cNvSpPr/>
          <p:nvPr/>
        </p:nvSpPr>
        <p:spPr>
          <a:xfrm>
            <a:off x="4615645" y="4544864"/>
            <a:ext cx="3408177" cy="816047"/>
          </a:xfrm>
          <a:prstGeom prst="rect">
            <a:avLst/>
          </a:prstGeom>
          <a:solidFill>
            <a:srgbClr val="FCF9EF"/>
          </a:solidFill>
          <a:ln>
            <a:noFill/>
          </a:ln>
        </p:spPr>
        <p:txBody>
          <a:bodyPr rtlCol="0" anchor="ctr"/>
          <a:lstStyle/>
          <a:p>
            <a:pPr algn="ctr"/>
            <a:endParaRPr lang="fr-FR"/>
          </a:p>
        </p:txBody>
      </p:sp>
      <p:sp>
        <p:nvSpPr>
          <p:cNvPr id="12" name="Milestone Body 207">
            <a:extLst>
              <a:ext uri="{FF2B5EF4-FFF2-40B4-BE49-F238E27FC236}">
                <a16:creationId xmlns:a16="http://schemas.microsoft.com/office/drawing/2014/main" id="{9CC6C361-3D70-7FF6-EB97-168F95AF81A4}"/>
              </a:ext>
            </a:extLst>
          </p:cNvPr>
          <p:cNvSpPr txBox="1"/>
          <p:nvPr/>
        </p:nvSpPr>
        <p:spPr>
          <a:xfrm>
            <a:off x="4735645" y="4654864"/>
            <a:ext cx="3168177" cy="830000"/>
          </a:xfrm>
          <a:prstGeom prst="rect">
            <a:avLst/>
          </a:prstGeom>
          <a:noFill/>
          <a:ln>
            <a:noFill/>
          </a:ln>
        </p:spPr>
        <p:txBody>
          <a:bodyPr wrap="square" lIns="0" tIns="0" rIns="0" bIns="0" rtlCol="0" anchor="t">
            <a:normAutofit/>
          </a:bodyPr>
          <a:lstStyle/>
          <a:p>
            <a:pPr algn="ctr">
              <a:spcAft>
                <a:spcPts val="180"/>
              </a:spcAft>
              <a:buNone/>
            </a:pPr>
            <a:r>
              <a:rPr lang="fr-FR" sz="850" b="1" dirty="0">
                <a:solidFill>
                  <a:srgbClr val="A9853F"/>
                </a:solidFill>
                <a:latin typeface="Jost Medium" pitchFamily="2" charset="77"/>
                <a:ea typeface="Jost Medium" pitchFamily="2" charset="77"/>
                <a:cs typeface="Jost Medium" pitchFamily="2" charset="77"/>
              </a:rPr>
              <a:t>Après 8 ans</a:t>
            </a:r>
          </a:p>
          <a:p>
            <a:pPr algn="ctr">
              <a:spcAft>
                <a:spcPts val="180"/>
              </a:spcAft>
              <a:buNone/>
            </a:pPr>
            <a:r>
              <a:rPr lang="fr-FR" sz="1150" b="1" dirty="0">
                <a:solidFill>
                  <a:srgbClr val="001B00"/>
                </a:solidFill>
                <a:latin typeface="Cormorant Garamond SemiBold" pitchFamily="2" charset="77"/>
                <a:ea typeface="Cormorant Garamond SemiBold" pitchFamily="2" charset="77"/>
                <a:cs typeface="Cormorant Garamond SemiBold" pitchFamily="2" charset="77"/>
              </a:rPr>
              <a:t>24,7% après abattement</a:t>
            </a:r>
          </a:p>
          <a:p>
            <a:pPr algn="ctr">
              <a:buNone/>
            </a:pPr>
            <a:r>
              <a:rPr lang="fr-FR" sz="780" dirty="0">
                <a:solidFill>
                  <a:srgbClr val="073527"/>
                </a:solidFill>
                <a:latin typeface="Jost Light" pitchFamily="2" charset="77"/>
                <a:ea typeface="Jost Light" pitchFamily="2" charset="77"/>
                <a:cs typeface="Jost Light" pitchFamily="2" charset="77"/>
              </a:rPr>
              <a:t>Abattement annuel de 4 600 EUR (9 200 EUR pour un couple) </a:t>
            </a:r>
          </a:p>
          <a:p>
            <a:pPr algn="ctr">
              <a:buNone/>
            </a:pPr>
            <a:r>
              <a:rPr lang="fr-FR" sz="780" dirty="0">
                <a:solidFill>
                  <a:srgbClr val="073527"/>
                </a:solidFill>
                <a:latin typeface="Jost Light" pitchFamily="2" charset="77"/>
                <a:ea typeface="Jost Light" pitchFamily="2" charset="77"/>
                <a:cs typeface="Jost Light" pitchFamily="2" charset="77"/>
              </a:rPr>
              <a:t>puis 7,5% IR + 17,2% PS.</a:t>
            </a:r>
          </a:p>
        </p:txBody>
      </p:sp>
      <p:sp>
        <p:nvSpPr>
          <p:cNvPr id="13" name="Node 208">
            <a:extLst>
              <a:ext uri="{FF2B5EF4-FFF2-40B4-BE49-F238E27FC236}">
                <a16:creationId xmlns:a16="http://schemas.microsoft.com/office/drawing/2014/main" id="{7FDCFAF9-7CE2-BE3A-44F7-2DA3127DF0EB}"/>
              </a:ext>
            </a:extLst>
          </p:cNvPr>
          <p:cNvSpPr/>
          <p:nvPr/>
        </p:nvSpPr>
        <p:spPr>
          <a:xfrm>
            <a:off x="9757910" y="3954864"/>
            <a:ext cx="460000" cy="460000"/>
          </a:xfrm>
          <a:prstGeom prst="ellipse">
            <a:avLst/>
          </a:prstGeom>
          <a:solidFill>
            <a:srgbClr val="001B00"/>
          </a:solidFill>
          <a:ln w="19050">
            <a:solidFill>
              <a:srgbClr val="FCF9EF"/>
            </a:solidFill>
          </a:ln>
        </p:spPr>
        <p:txBody>
          <a:bodyPr anchor="ctr"/>
          <a:lstStyle/>
          <a:p>
            <a:pPr algn="ctr"/>
            <a:r>
              <a:rPr lang="fr-FR" sz="1400" b="1" dirty="0">
                <a:solidFill>
                  <a:srgbClr val="FFFFFF"/>
                </a:solidFill>
                <a:latin typeface="Cormorant Garamond SemiBold" pitchFamily="2" charset="77"/>
                <a:ea typeface="Cormorant Garamond SemiBold" pitchFamily="2" charset="77"/>
                <a:cs typeface="Cormorant Garamond SemiBold" pitchFamily="2" charset="77"/>
              </a:rPr>
              <a:t>3</a:t>
            </a:r>
          </a:p>
        </p:txBody>
      </p:sp>
      <p:sp>
        <p:nvSpPr>
          <p:cNvPr id="14" name="Shape 209">
            <a:extLst>
              <a:ext uri="{FF2B5EF4-FFF2-40B4-BE49-F238E27FC236}">
                <a16:creationId xmlns:a16="http://schemas.microsoft.com/office/drawing/2014/main" id="{8013ED11-1466-E43C-7EFA-403119C62999}"/>
              </a:ext>
            </a:extLst>
          </p:cNvPr>
          <p:cNvSpPr/>
          <p:nvPr/>
        </p:nvSpPr>
        <p:spPr>
          <a:xfrm>
            <a:off x="8283822" y="4544864"/>
            <a:ext cx="3408177" cy="816047"/>
          </a:xfrm>
          <a:prstGeom prst="rect">
            <a:avLst/>
          </a:prstGeom>
          <a:solidFill>
            <a:srgbClr val="FCF9EF"/>
          </a:solidFill>
          <a:ln>
            <a:noFill/>
          </a:ln>
        </p:spPr>
        <p:txBody>
          <a:bodyPr rtlCol="0" anchor="ctr"/>
          <a:lstStyle/>
          <a:p>
            <a:pPr algn="ctr"/>
            <a:endParaRPr lang="fr-FR"/>
          </a:p>
        </p:txBody>
      </p:sp>
      <p:sp>
        <p:nvSpPr>
          <p:cNvPr id="15" name="Milestone Body 210">
            <a:extLst>
              <a:ext uri="{FF2B5EF4-FFF2-40B4-BE49-F238E27FC236}">
                <a16:creationId xmlns:a16="http://schemas.microsoft.com/office/drawing/2014/main" id="{8C6290C3-D05D-E87B-2DDC-FAA774541D7E}"/>
              </a:ext>
            </a:extLst>
          </p:cNvPr>
          <p:cNvSpPr txBox="1"/>
          <p:nvPr/>
        </p:nvSpPr>
        <p:spPr>
          <a:xfrm>
            <a:off x="8403822" y="4654864"/>
            <a:ext cx="3168177" cy="830000"/>
          </a:xfrm>
          <a:prstGeom prst="rect">
            <a:avLst/>
          </a:prstGeom>
          <a:noFill/>
          <a:ln>
            <a:noFill/>
          </a:ln>
        </p:spPr>
        <p:txBody>
          <a:bodyPr wrap="square" lIns="0" tIns="0" rIns="0" bIns="0" rtlCol="0" anchor="t">
            <a:normAutofit/>
          </a:bodyPr>
          <a:lstStyle/>
          <a:p>
            <a:pPr algn="ctr">
              <a:spcAft>
                <a:spcPts val="180"/>
              </a:spcAft>
              <a:buNone/>
            </a:pPr>
            <a:r>
              <a:rPr lang="fr-FR" sz="850" b="1" dirty="0">
                <a:solidFill>
                  <a:srgbClr val="A9853F"/>
                </a:solidFill>
                <a:latin typeface="Jost Medium" pitchFamily="2" charset="77"/>
                <a:ea typeface="Jost Medium" pitchFamily="2" charset="77"/>
                <a:cs typeface="Jost Medium" pitchFamily="2" charset="77"/>
              </a:rPr>
              <a:t>En cas de transmission</a:t>
            </a:r>
          </a:p>
          <a:p>
            <a:pPr algn="ctr">
              <a:spcAft>
                <a:spcPts val="180"/>
              </a:spcAft>
              <a:buNone/>
            </a:pPr>
            <a:r>
              <a:rPr lang="fr-FR" sz="1150" b="1" dirty="0">
                <a:solidFill>
                  <a:srgbClr val="001B00"/>
                </a:solidFill>
                <a:latin typeface="Cormorant Garamond SemiBold" pitchFamily="2" charset="77"/>
                <a:ea typeface="Cormorant Garamond SemiBold" pitchFamily="2" charset="77"/>
                <a:cs typeface="Cormorant Garamond SemiBold" pitchFamily="2" charset="77"/>
              </a:rPr>
              <a:t>Jusqu’à 152 500 EUR exonérés</a:t>
            </a:r>
          </a:p>
          <a:p>
            <a:pPr algn="ctr">
              <a:buNone/>
            </a:pPr>
            <a:r>
              <a:rPr lang="fr-FR" sz="780" dirty="0">
                <a:solidFill>
                  <a:srgbClr val="073527"/>
                </a:solidFill>
                <a:latin typeface="Jost Light" pitchFamily="2" charset="77"/>
                <a:ea typeface="Jost Light" pitchFamily="2" charset="77"/>
                <a:cs typeface="Jost Light" pitchFamily="2" charset="77"/>
              </a:rPr>
              <a:t>Par bénéficiaire, pour les versements effectués avant 70 ans.</a:t>
            </a:r>
          </a:p>
        </p:txBody>
      </p:sp>
      <p:sp>
        <p:nvSpPr>
          <p:cNvPr id="22" name="Objective Box 216">
            <a:extLst>
              <a:ext uri="{FF2B5EF4-FFF2-40B4-BE49-F238E27FC236}">
                <a16:creationId xmlns:a16="http://schemas.microsoft.com/office/drawing/2014/main" id="{2F6BBDD3-A0F6-9B51-EB36-FD10FDD3EA5A}"/>
              </a:ext>
            </a:extLst>
          </p:cNvPr>
          <p:cNvSpPr txBox="1"/>
          <p:nvPr/>
        </p:nvSpPr>
        <p:spPr>
          <a:xfrm>
            <a:off x="8166822" y="2833122"/>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Capitaliser</a:t>
            </a:r>
          </a:p>
          <a:p>
            <a:pPr algn="ctr">
              <a:buNone/>
            </a:pPr>
            <a:r>
              <a:rPr lang="fr-FR" sz="750" dirty="0">
                <a:solidFill>
                  <a:srgbClr val="073527"/>
                </a:solidFill>
                <a:latin typeface="Jost Light" pitchFamily="2" charset="77"/>
                <a:ea typeface="Jost Light" pitchFamily="2" charset="77"/>
                <a:cs typeface="Jost Light" pitchFamily="2" charset="77"/>
              </a:rPr>
              <a:t>Fonds euro ou unités de compte</a:t>
            </a:r>
          </a:p>
        </p:txBody>
      </p:sp>
      <p:sp>
        <p:nvSpPr>
          <p:cNvPr id="16" name="Hub Title 213">
            <a:extLst>
              <a:ext uri="{FF2B5EF4-FFF2-40B4-BE49-F238E27FC236}">
                <a16:creationId xmlns:a16="http://schemas.microsoft.com/office/drawing/2014/main" id="{622BD0D9-461A-2F3D-6F66-31A5E5A5B198}"/>
              </a:ext>
            </a:extLst>
          </p:cNvPr>
          <p:cNvSpPr txBox="1"/>
          <p:nvPr/>
        </p:nvSpPr>
        <p:spPr>
          <a:xfrm>
            <a:off x="947194" y="3560268"/>
            <a:ext cx="10851064" cy="300000"/>
          </a:xfrm>
          <a:prstGeom prst="rect">
            <a:avLst/>
          </a:prstGeom>
          <a:noFill/>
          <a:ln>
            <a:noFill/>
          </a:ln>
        </p:spPr>
        <p:txBody>
          <a:bodyPr wrap="square" lIns="0" tIns="0" rIns="0" bIns="0" rtlCol="0" anchor="t">
            <a:normAutofit/>
          </a:bodyPr>
          <a:lstStyle/>
          <a:p>
            <a:pPr>
              <a:buNone/>
            </a:pPr>
            <a:r>
              <a:rPr lang="fr-FR" sz="1150" b="1" dirty="0">
                <a:solidFill>
                  <a:srgbClr val="A9853F"/>
                </a:solidFill>
                <a:latin typeface="Cormorant Garamond SemiBold" pitchFamily="2" charset="77"/>
                <a:ea typeface="Cormorant Garamond SemiBold" pitchFamily="2" charset="77"/>
                <a:cs typeface="Cormorant Garamond SemiBold" pitchFamily="2" charset="77"/>
              </a:rPr>
              <a:t>Rappel de la fiscalité applicable sur votre enveloppe d’assurance vie française :</a:t>
            </a:r>
          </a:p>
        </p:txBody>
      </p:sp>
    </p:spTree>
    <p:extLst>
      <p:ext uri="{BB962C8B-B14F-4D97-AF65-F5344CB8AC3E}">
        <p14:creationId xmlns:p14="http://schemas.microsoft.com/office/powerpoint/2010/main" val="2731716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20178"/>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Une porte d’entrée simple vers la sécurité luxembourgeoise, en gestion libre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L’assurance vie luxembourgeoise dès 100 </a:t>
            </a:r>
            <a:r>
              <a:rPr lang="fr-FR" sz="2000" b="1" dirty="0">
                <a:solidFill>
                  <a:srgbClr val="A9853F"/>
                </a:solidFill>
                <a:latin typeface="Cormorant Garamond SemiBold" pitchFamily="2" charset="77"/>
                <a:ea typeface="Cormorant Garamond SemiBold" pitchFamily="2" charset="77"/>
                <a:cs typeface="Cormorant Garamond SemiBold" pitchFamily="2" charset="77"/>
              </a:rPr>
              <a:t>000 </a:t>
            </a:r>
            <a:r>
              <a:rPr lang="fr-FR" sz="1600" b="1" dirty="0">
                <a:solidFill>
                  <a:srgbClr val="A9853F"/>
                </a:solidFill>
                <a:latin typeface="Cormorant Garamond SemiBold" pitchFamily="2" charset="77"/>
                <a:ea typeface="Cormorant Garamond SemiBold" pitchFamily="2" charset="77"/>
                <a:cs typeface="Cormorant Garamond SemiBold" pitchFamily="2" charset="77"/>
              </a:rPr>
              <a:t>EUR</a:t>
            </a:r>
            <a:endParaRPr lang="fr-FR" sz="2000" b="1" noProof="0" dirty="0">
              <a:solidFill>
                <a:srgbClr val="A9853F"/>
              </a:solidFill>
              <a:latin typeface="Cormorant Garamond SemiBold" pitchFamily="2" charset="77"/>
              <a:ea typeface="Cormorant Garamond SemiBold" pitchFamily="2" charset="77"/>
              <a:cs typeface="Cormorant Garamond SemiBold" pitchFamily="2" charset="77"/>
            </a:endParaRPr>
          </a:p>
        </p:txBody>
      </p:sp>
      <p:sp>
        <p:nvSpPr>
          <p:cNvPr id="2001" name="Shape 2001"/>
          <p:cNvSpPr/>
          <p:nvPr/>
        </p:nvSpPr>
        <p:spPr>
          <a:xfrm>
            <a:off x="947468" y="2198641"/>
            <a:ext cx="3900000" cy="3226666"/>
          </a:xfrm>
          <a:prstGeom prst="rect">
            <a:avLst/>
          </a:prstGeom>
          <a:solidFill>
            <a:srgbClr val="001A00"/>
          </a:solidFill>
          <a:ln>
            <a:noFill/>
          </a:ln>
        </p:spPr>
        <p:txBody>
          <a:bodyPr rtlCol="0" anchor="ctr"/>
          <a:lstStyle/>
          <a:p>
            <a:endParaRPr lang="fr-FR"/>
          </a:p>
        </p:txBody>
      </p:sp>
      <p:sp>
        <p:nvSpPr>
          <p:cNvPr id="2002" name="Text 2002"/>
          <p:cNvSpPr txBox="1"/>
          <p:nvPr/>
        </p:nvSpPr>
        <p:spPr>
          <a:xfrm>
            <a:off x="1327468" y="2698641"/>
            <a:ext cx="3140000" cy="300000"/>
          </a:xfrm>
          <a:prstGeom prst="rect">
            <a:avLst/>
          </a:prstGeom>
          <a:noFill/>
          <a:ln>
            <a:noFill/>
          </a:ln>
        </p:spPr>
        <p:txBody>
          <a:bodyPr wrap="square" lIns="0" tIns="0" rIns="0" bIns="0" rtlCol="0" anchor="t">
            <a:normAutofit/>
          </a:bodyPr>
          <a:lstStyle/>
          <a:p>
            <a:pPr algn="l">
              <a:buNone/>
            </a:pPr>
            <a:r>
              <a:rPr lang="fr-FR" sz="900" dirty="0">
                <a:solidFill>
                  <a:schemeClr val="bg1"/>
                </a:solidFill>
                <a:latin typeface="Jost Medium" pitchFamily="2" charset="77"/>
                <a:ea typeface="Jost Medium" pitchFamily="2" charset="77"/>
                <a:cs typeface="Jost Medium" pitchFamily="2" charset="77"/>
              </a:rPr>
              <a:t>TICKET D’ENTRÉE au sein de La Financière de Rochechouart.</a:t>
            </a:r>
          </a:p>
        </p:txBody>
      </p:sp>
      <p:sp>
        <p:nvSpPr>
          <p:cNvPr id="2003" name="Text 2003"/>
          <p:cNvSpPr txBox="1"/>
          <p:nvPr/>
        </p:nvSpPr>
        <p:spPr>
          <a:xfrm>
            <a:off x="1327468" y="3048641"/>
            <a:ext cx="3140000" cy="1000000"/>
          </a:xfrm>
          <a:prstGeom prst="rect">
            <a:avLst/>
          </a:prstGeom>
          <a:noFill/>
          <a:ln>
            <a:noFill/>
          </a:ln>
        </p:spPr>
        <p:txBody>
          <a:bodyPr wrap="square" lIns="0" tIns="0" rIns="0" bIns="0" rtlCol="0" anchor="ctr">
            <a:normAutofit/>
          </a:bodyPr>
          <a:lstStyle/>
          <a:p>
            <a:pPr algn="l">
              <a:buNone/>
            </a:pPr>
            <a:r>
              <a:rPr lang="fr-FR" sz="4800" b="1" dirty="0">
                <a:solidFill>
                  <a:srgbClr val="FFFFFF"/>
                </a:solidFill>
                <a:latin typeface="Cormorant Garamond SemiBold" pitchFamily="2" charset="77"/>
                <a:ea typeface="Cormorant Garamond SemiBold" pitchFamily="2" charset="77"/>
                <a:cs typeface="Cormorant Garamond SemiBold" pitchFamily="2" charset="77"/>
              </a:rPr>
              <a:t>100 000 </a:t>
            </a:r>
            <a:r>
              <a:rPr lang="fr-FR" sz="3200" b="1" dirty="0">
                <a:solidFill>
                  <a:srgbClr val="FFFFFF"/>
                </a:solidFill>
                <a:latin typeface="Cormorant Garamond SemiBold" pitchFamily="2" charset="77"/>
                <a:ea typeface="Cormorant Garamond SemiBold" pitchFamily="2" charset="77"/>
                <a:cs typeface="Cormorant Garamond SemiBold" pitchFamily="2" charset="77"/>
              </a:rPr>
              <a:t>EUR</a:t>
            </a:r>
            <a:endParaRPr lang="fr-FR" sz="4800" b="1" dirty="0">
              <a:solidFill>
                <a:srgbClr val="FFFFFF"/>
              </a:solidFill>
              <a:latin typeface="Cormorant Garamond SemiBold" pitchFamily="2" charset="77"/>
              <a:ea typeface="Cormorant Garamond SemiBold" pitchFamily="2" charset="77"/>
              <a:cs typeface="Cormorant Garamond SemiBold" pitchFamily="2" charset="77"/>
            </a:endParaRPr>
          </a:p>
        </p:txBody>
      </p:sp>
      <p:sp>
        <p:nvSpPr>
          <p:cNvPr id="2004" name="Shape 2004"/>
          <p:cNvSpPr/>
          <p:nvPr/>
        </p:nvSpPr>
        <p:spPr>
          <a:xfrm>
            <a:off x="1327468" y="4198641"/>
            <a:ext cx="700000" cy="1"/>
          </a:xfrm>
          <a:prstGeom prst="line">
            <a:avLst/>
          </a:prstGeom>
          <a:noFill/>
          <a:ln w="12700">
            <a:solidFill>
              <a:srgbClr val="A9853F"/>
            </a:solidFill>
          </a:ln>
        </p:spPr>
        <p:txBody>
          <a:bodyPr rtlCol="0" anchor="ctr"/>
          <a:lstStyle/>
          <a:p>
            <a:endParaRPr lang="fr-FR"/>
          </a:p>
        </p:txBody>
      </p:sp>
      <p:sp>
        <p:nvSpPr>
          <p:cNvPr id="2005" name="Text 2005"/>
          <p:cNvSpPr txBox="1"/>
          <p:nvPr/>
        </p:nvSpPr>
        <p:spPr>
          <a:xfrm>
            <a:off x="1267469" y="4518640"/>
            <a:ext cx="3520000" cy="1000000"/>
          </a:xfrm>
          <a:prstGeom prst="rect">
            <a:avLst/>
          </a:prstGeom>
          <a:noFill/>
          <a:ln>
            <a:noFill/>
          </a:ln>
        </p:spPr>
        <p:txBody>
          <a:bodyPr wrap="square" lIns="0" tIns="0" rIns="0" bIns="0" rtlCol="0" anchor="t">
            <a:normAutofit/>
          </a:bodyPr>
          <a:lstStyle/>
          <a:p>
            <a:pPr algn="l">
              <a:buNone/>
            </a:pPr>
            <a:r>
              <a:rPr lang="fr-FR" sz="1100" dirty="0">
                <a:solidFill>
                  <a:srgbClr val="FFFFFF"/>
                </a:solidFill>
                <a:latin typeface="Jost Light" pitchFamily="2" charset="77"/>
                <a:ea typeface="Jost Light" pitchFamily="2" charset="77"/>
                <a:cs typeface="Jost Light" pitchFamily="2" charset="77"/>
              </a:rPr>
              <a:t>Un contrat luxembourgeois accessible, en gestion déléguée ou conjointe.</a:t>
            </a:r>
          </a:p>
        </p:txBody>
      </p:sp>
      <p:sp>
        <p:nvSpPr>
          <p:cNvPr id="2012" name="Shape 2012"/>
          <p:cNvSpPr/>
          <p:nvPr/>
        </p:nvSpPr>
        <p:spPr>
          <a:xfrm>
            <a:off x="5147468" y="1780000"/>
            <a:ext cx="6544532" cy="1413333"/>
          </a:xfrm>
          <a:prstGeom prst="rect">
            <a:avLst/>
          </a:prstGeom>
          <a:solidFill>
            <a:srgbClr val="FCF9EF"/>
          </a:solidFill>
          <a:ln>
            <a:noFill/>
          </a:ln>
        </p:spPr>
        <p:txBody>
          <a:bodyPr rtlCol="0" anchor="ctr"/>
          <a:lstStyle/>
          <a:p>
            <a:endParaRPr lang="fr-FR"/>
          </a:p>
        </p:txBody>
      </p:sp>
      <p:sp>
        <p:nvSpPr>
          <p:cNvPr id="2013" name="Text 2013"/>
          <p:cNvSpPr txBox="1"/>
          <p:nvPr/>
        </p:nvSpPr>
        <p:spPr>
          <a:xfrm>
            <a:off x="5447468" y="1780000"/>
            <a:ext cx="900000" cy="1413333"/>
          </a:xfrm>
          <a:prstGeom prst="rect">
            <a:avLst/>
          </a:prstGeom>
          <a:noFill/>
          <a:ln>
            <a:noFill/>
          </a:ln>
        </p:spPr>
        <p:txBody>
          <a:bodyPr wrap="square" lIns="0" tIns="0" rIns="0" bIns="0" rtlCol="0" anchor="ctr">
            <a:normAutofit/>
          </a:bodyPr>
          <a:lstStyle/>
          <a:p>
            <a:pPr algn="l">
              <a:buNone/>
            </a:pPr>
            <a:r>
              <a:rPr lang="fr-FR" sz="3200" b="1" dirty="0">
                <a:solidFill>
                  <a:srgbClr val="A9853F"/>
                </a:solidFill>
                <a:latin typeface="Cormorant Garamond SemiBold" pitchFamily="2" charset="77"/>
                <a:ea typeface="Cormorant Garamond SemiBold" pitchFamily="2" charset="77"/>
                <a:cs typeface="Cormorant Garamond SemiBold" pitchFamily="2" charset="77"/>
              </a:rPr>
              <a:t>01</a:t>
            </a:r>
          </a:p>
        </p:txBody>
      </p:sp>
      <p:sp>
        <p:nvSpPr>
          <p:cNvPr id="2014" name="Shape 2014"/>
          <p:cNvSpPr/>
          <p:nvPr/>
        </p:nvSpPr>
        <p:spPr>
          <a:xfrm>
            <a:off x="6397468" y="2030000"/>
            <a:ext cx="1" cy="913333"/>
          </a:xfrm>
          <a:prstGeom prst="line">
            <a:avLst/>
          </a:prstGeom>
          <a:noFill/>
          <a:ln w="9525">
            <a:solidFill>
              <a:srgbClr val="A9853F"/>
            </a:solidFill>
          </a:ln>
        </p:spPr>
        <p:txBody>
          <a:bodyPr rtlCol="0" anchor="ctr"/>
          <a:lstStyle/>
          <a:p>
            <a:endParaRPr lang="fr-FR"/>
          </a:p>
        </p:txBody>
      </p:sp>
      <p:sp>
        <p:nvSpPr>
          <p:cNvPr id="2015" name="Text 2015"/>
          <p:cNvSpPr txBox="1"/>
          <p:nvPr/>
        </p:nvSpPr>
        <p:spPr>
          <a:xfrm>
            <a:off x="6625433" y="1780000"/>
            <a:ext cx="5044531" cy="1413333"/>
          </a:xfrm>
          <a:prstGeom prst="rect">
            <a:avLst/>
          </a:prstGeom>
          <a:noFill/>
          <a:ln>
            <a:noFill/>
          </a:ln>
        </p:spPr>
        <p:txBody>
          <a:bodyPr wrap="square" lIns="0" tIns="0" rIns="0" bIns="0" rtlCol="0" anchor="ctr">
            <a:normAutofit/>
          </a:bodyPr>
          <a:lstStyle/>
          <a:p>
            <a:pPr algn="l">
              <a:spcAft>
                <a:spcPts val="300"/>
              </a:spcAft>
              <a:buNone/>
            </a:pPr>
            <a:r>
              <a:rPr lang="fr-FR" sz="1200" dirty="0">
                <a:solidFill>
                  <a:srgbClr val="073527"/>
                </a:solidFill>
                <a:latin typeface="Jost Medium" pitchFamily="2" charset="77"/>
                <a:ea typeface="Jost Medium" pitchFamily="2" charset="77"/>
                <a:cs typeface="Jost Medium" pitchFamily="2" charset="77"/>
              </a:rPr>
              <a:t>Une gestion déléguée ou conjointe</a:t>
            </a:r>
          </a:p>
          <a:p>
            <a:pPr algn="just"/>
            <a:r>
              <a:rPr lang="fr-FR" sz="1100" dirty="0">
                <a:solidFill>
                  <a:srgbClr val="073527"/>
                </a:solidFill>
                <a:latin typeface="Jost Light" pitchFamily="2" charset="77"/>
                <a:ea typeface="Jost Light" pitchFamily="2" charset="77"/>
              </a:rPr>
              <a:t>Vous pouvez déléguer la gestion de votre contrat pour ne pas avoir à vous en occuper, ou sélectionner et arbitrer vos supports, avec l’accompagnement de votre conseiller et sous condition des supports disponibles.</a:t>
            </a:r>
          </a:p>
        </p:txBody>
      </p:sp>
      <p:sp>
        <p:nvSpPr>
          <p:cNvPr id="2016" name="Shape 2016"/>
          <p:cNvSpPr/>
          <p:nvPr/>
        </p:nvSpPr>
        <p:spPr>
          <a:xfrm>
            <a:off x="5147468" y="3393333"/>
            <a:ext cx="6544532" cy="1413333"/>
          </a:xfrm>
          <a:prstGeom prst="rect">
            <a:avLst/>
          </a:prstGeom>
          <a:solidFill>
            <a:srgbClr val="FCF9EF"/>
          </a:solidFill>
          <a:ln>
            <a:noFill/>
          </a:ln>
        </p:spPr>
        <p:txBody>
          <a:bodyPr rtlCol="0" anchor="ctr"/>
          <a:lstStyle/>
          <a:p>
            <a:endParaRPr lang="fr-FR"/>
          </a:p>
        </p:txBody>
      </p:sp>
      <p:sp>
        <p:nvSpPr>
          <p:cNvPr id="2017" name="Text 2017"/>
          <p:cNvSpPr txBox="1"/>
          <p:nvPr/>
        </p:nvSpPr>
        <p:spPr>
          <a:xfrm>
            <a:off x="5447468" y="3393333"/>
            <a:ext cx="900000" cy="1413333"/>
          </a:xfrm>
          <a:prstGeom prst="rect">
            <a:avLst/>
          </a:prstGeom>
          <a:noFill/>
          <a:ln>
            <a:noFill/>
          </a:ln>
        </p:spPr>
        <p:txBody>
          <a:bodyPr wrap="square" lIns="0" tIns="0" rIns="0" bIns="0" rtlCol="0" anchor="ctr">
            <a:normAutofit/>
          </a:bodyPr>
          <a:lstStyle/>
          <a:p>
            <a:pPr algn="l">
              <a:buNone/>
            </a:pPr>
            <a:r>
              <a:rPr lang="fr-FR" sz="3200" b="1" dirty="0">
                <a:solidFill>
                  <a:srgbClr val="A9853F"/>
                </a:solidFill>
                <a:latin typeface="Cormorant Garamond SemiBold" pitchFamily="2" charset="77"/>
                <a:ea typeface="Cormorant Garamond SemiBold" pitchFamily="2" charset="77"/>
                <a:cs typeface="Cormorant Garamond SemiBold" pitchFamily="2" charset="77"/>
              </a:rPr>
              <a:t>02</a:t>
            </a:r>
          </a:p>
        </p:txBody>
      </p:sp>
      <p:sp>
        <p:nvSpPr>
          <p:cNvPr id="2018" name="Shape 2018"/>
          <p:cNvSpPr/>
          <p:nvPr/>
        </p:nvSpPr>
        <p:spPr>
          <a:xfrm>
            <a:off x="6397468" y="3643333"/>
            <a:ext cx="1" cy="913333"/>
          </a:xfrm>
          <a:prstGeom prst="line">
            <a:avLst/>
          </a:prstGeom>
          <a:noFill/>
          <a:ln w="9525">
            <a:solidFill>
              <a:srgbClr val="A9853F"/>
            </a:solidFill>
          </a:ln>
        </p:spPr>
        <p:txBody>
          <a:bodyPr rtlCol="0" anchor="ctr"/>
          <a:lstStyle/>
          <a:p>
            <a:endParaRPr lang="fr-FR"/>
          </a:p>
        </p:txBody>
      </p:sp>
      <p:sp>
        <p:nvSpPr>
          <p:cNvPr id="2019" name="Text 2019"/>
          <p:cNvSpPr txBox="1"/>
          <p:nvPr/>
        </p:nvSpPr>
        <p:spPr>
          <a:xfrm>
            <a:off x="6625433" y="3393333"/>
            <a:ext cx="5044525" cy="1413333"/>
          </a:xfrm>
          <a:prstGeom prst="rect">
            <a:avLst/>
          </a:prstGeom>
          <a:noFill/>
          <a:ln>
            <a:noFill/>
          </a:ln>
        </p:spPr>
        <p:txBody>
          <a:bodyPr wrap="square" lIns="0" tIns="0" rIns="0" bIns="0" rtlCol="0" anchor="ctr">
            <a:normAutofit/>
          </a:bodyPr>
          <a:lstStyle/>
          <a:p>
            <a:pPr lvl="0">
              <a:spcAft>
                <a:spcPts val="300"/>
              </a:spcAft>
            </a:pPr>
            <a:r>
              <a:rPr lang="fr-FR" sz="1200" dirty="0">
                <a:solidFill>
                  <a:srgbClr val="073527"/>
                </a:solidFill>
                <a:latin typeface="Jost Medium" pitchFamily="2" charset="77"/>
                <a:ea typeface="Jost Medium" pitchFamily="2" charset="77"/>
              </a:rPr>
              <a:t>Ouvrez-vous aux opportunités du contrat Luxembourgeois</a:t>
            </a:r>
          </a:p>
          <a:p>
            <a:pPr algn="just"/>
            <a:r>
              <a:rPr lang="fr-FR" sz="1100" dirty="0">
                <a:solidFill>
                  <a:srgbClr val="073527"/>
                </a:solidFill>
                <a:latin typeface="Jost Light" pitchFamily="2" charset="77"/>
                <a:ea typeface="Jost Light" pitchFamily="2" charset="77"/>
              </a:rPr>
              <a:t>Une enveloppe en architecture ouverte, régulièrement enrichie de nouveaux supports et solutions, pour vous permettre de faire évoluer votre stratégie au fil du temps. Elle s’adapte à vos objectifs, à votre situation et aux opportunités de demain, pour vous accompagner durablement tout au long de votre vie.</a:t>
            </a:r>
          </a:p>
        </p:txBody>
      </p:sp>
      <p:sp>
        <p:nvSpPr>
          <p:cNvPr id="2020" name="Shape 2020"/>
          <p:cNvSpPr/>
          <p:nvPr/>
        </p:nvSpPr>
        <p:spPr>
          <a:xfrm>
            <a:off x="5147468" y="5006666"/>
            <a:ext cx="6544532" cy="1413333"/>
          </a:xfrm>
          <a:prstGeom prst="rect">
            <a:avLst/>
          </a:prstGeom>
          <a:solidFill>
            <a:srgbClr val="FCF9EF"/>
          </a:solidFill>
          <a:ln>
            <a:noFill/>
          </a:ln>
        </p:spPr>
        <p:txBody>
          <a:bodyPr rtlCol="0" anchor="ctr"/>
          <a:lstStyle/>
          <a:p>
            <a:endParaRPr lang="fr-FR"/>
          </a:p>
        </p:txBody>
      </p:sp>
      <p:sp>
        <p:nvSpPr>
          <p:cNvPr id="2021" name="Text 2021"/>
          <p:cNvSpPr txBox="1"/>
          <p:nvPr/>
        </p:nvSpPr>
        <p:spPr>
          <a:xfrm>
            <a:off x="5447468" y="5006666"/>
            <a:ext cx="900000" cy="1413333"/>
          </a:xfrm>
          <a:prstGeom prst="rect">
            <a:avLst/>
          </a:prstGeom>
          <a:noFill/>
          <a:ln>
            <a:noFill/>
          </a:ln>
        </p:spPr>
        <p:txBody>
          <a:bodyPr wrap="square" lIns="0" tIns="0" rIns="0" bIns="0" rtlCol="0" anchor="ctr">
            <a:normAutofit/>
          </a:bodyPr>
          <a:lstStyle/>
          <a:p>
            <a:pPr algn="l">
              <a:buNone/>
            </a:pPr>
            <a:r>
              <a:rPr lang="fr-FR" sz="3200" b="1" dirty="0">
                <a:solidFill>
                  <a:srgbClr val="A9853F"/>
                </a:solidFill>
                <a:latin typeface="Cormorant Garamond SemiBold" pitchFamily="2" charset="77"/>
                <a:ea typeface="Cormorant Garamond SemiBold" pitchFamily="2" charset="77"/>
                <a:cs typeface="Cormorant Garamond SemiBold" pitchFamily="2" charset="77"/>
              </a:rPr>
              <a:t>03</a:t>
            </a:r>
          </a:p>
        </p:txBody>
      </p:sp>
      <p:sp>
        <p:nvSpPr>
          <p:cNvPr id="2022" name="Shape 2022"/>
          <p:cNvSpPr/>
          <p:nvPr/>
        </p:nvSpPr>
        <p:spPr>
          <a:xfrm>
            <a:off x="6397468" y="5256666"/>
            <a:ext cx="1" cy="913333"/>
          </a:xfrm>
          <a:prstGeom prst="line">
            <a:avLst/>
          </a:prstGeom>
          <a:noFill/>
          <a:ln w="9525">
            <a:solidFill>
              <a:srgbClr val="A9853F"/>
            </a:solidFill>
          </a:ln>
        </p:spPr>
        <p:txBody>
          <a:bodyPr rtlCol="0" anchor="ctr"/>
          <a:lstStyle/>
          <a:p>
            <a:endParaRPr lang="fr-FR"/>
          </a:p>
        </p:txBody>
      </p:sp>
      <p:sp>
        <p:nvSpPr>
          <p:cNvPr id="2023" name="Text 2023"/>
          <p:cNvSpPr txBox="1"/>
          <p:nvPr/>
        </p:nvSpPr>
        <p:spPr>
          <a:xfrm>
            <a:off x="6625433" y="5006666"/>
            <a:ext cx="5044523" cy="1413333"/>
          </a:xfrm>
          <a:prstGeom prst="rect">
            <a:avLst/>
          </a:prstGeom>
          <a:noFill/>
          <a:ln>
            <a:noFill/>
          </a:ln>
        </p:spPr>
        <p:txBody>
          <a:bodyPr wrap="square" lIns="0" tIns="0" rIns="0" bIns="0" rtlCol="0" anchor="ctr">
            <a:normAutofit/>
          </a:bodyPr>
          <a:lstStyle/>
          <a:p>
            <a:pPr algn="l">
              <a:spcAft>
                <a:spcPts val="300"/>
              </a:spcAft>
              <a:buNone/>
            </a:pPr>
            <a:r>
              <a:rPr lang="fr-FR" sz="1200" dirty="0">
                <a:solidFill>
                  <a:srgbClr val="073527"/>
                </a:solidFill>
                <a:latin typeface="Jost Medium" pitchFamily="2" charset="77"/>
                <a:ea typeface="Jost Medium" pitchFamily="2" charset="77"/>
                <a:cs typeface="Jost Medium" pitchFamily="2" charset="77"/>
              </a:rPr>
              <a:t>La sécurité luxembourgeoise</a:t>
            </a:r>
          </a:p>
          <a:p>
            <a:pPr algn="just"/>
            <a:r>
              <a:rPr lang="fr-FR" sz="1100" dirty="0">
                <a:solidFill>
                  <a:srgbClr val="073527"/>
                </a:solidFill>
                <a:latin typeface="Jost Light" pitchFamily="2" charset="77"/>
                <a:ea typeface="Jost Light" pitchFamily="2" charset="77"/>
              </a:rPr>
              <a:t>Le triangle de sécurité et le super privilège vous sont accessibles : des dispositifs conçus pour apporter davantage de sécurité et de souplesse à votre épargne.</a:t>
            </a:r>
          </a:p>
        </p:txBody>
      </p:sp>
    </p:spTree>
    <p:extLst>
      <p:ext uri="{BB962C8B-B14F-4D97-AF65-F5344CB8AC3E}">
        <p14:creationId xmlns:p14="http://schemas.microsoft.com/office/powerpoint/2010/main" val="3449083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3">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Une protection réglementaire unique en Europe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Le triangle de sécurité luxembourgeois</a:t>
            </a:r>
          </a:p>
        </p:txBody>
      </p:sp>
      <p:sp>
        <p:nvSpPr>
          <p:cNvPr id="922" name="Shape 922"/>
          <p:cNvSpPr/>
          <p:nvPr/>
        </p:nvSpPr>
        <p:spPr>
          <a:xfrm flipH="1">
            <a:off x="2964353" y="2806032"/>
            <a:ext cx="1006880" cy="1743968"/>
          </a:xfrm>
          <a:prstGeom prst="line">
            <a:avLst/>
          </a:prstGeom>
          <a:noFill/>
          <a:ln w="22225">
            <a:solidFill>
              <a:srgbClr val="A9853F"/>
            </a:solidFill>
          </a:ln>
        </p:spPr>
        <p:txBody>
          <a:bodyPr rtlCol="0" anchor="ctr"/>
          <a:lstStyle/>
          <a:p>
            <a:endParaRPr lang="fr-FR"/>
          </a:p>
        </p:txBody>
      </p:sp>
      <p:sp>
        <p:nvSpPr>
          <p:cNvPr id="923" name="Shape 923"/>
          <p:cNvSpPr/>
          <p:nvPr/>
        </p:nvSpPr>
        <p:spPr>
          <a:xfrm>
            <a:off x="3971234" y="2806032"/>
            <a:ext cx="1006880" cy="1743968"/>
          </a:xfrm>
          <a:prstGeom prst="line">
            <a:avLst/>
          </a:prstGeom>
          <a:noFill/>
          <a:ln w="22225">
            <a:solidFill>
              <a:srgbClr val="A9853F"/>
            </a:solidFill>
          </a:ln>
        </p:spPr>
        <p:txBody>
          <a:bodyPr rtlCol="0" anchor="ctr"/>
          <a:lstStyle/>
          <a:p>
            <a:endParaRPr lang="fr-FR"/>
          </a:p>
        </p:txBody>
      </p:sp>
      <p:sp>
        <p:nvSpPr>
          <p:cNvPr id="924" name="Shape 924"/>
          <p:cNvSpPr/>
          <p:nvPr/>
        </p:nvSpPr>
        <p:spPr>
          <a:xfrm>
            <a:off x="2964353" y="4550000"/>
            <a:ext cx="2013760" cy="1"/>
          </a:xfrm>
          <a:prstGeom prst="line">
            <a:avLst/>
          </a:prstGeom>
          <a:noFill/>
          <a:ln w="22225">
            <a:solidFill>
              <a:srgbClr val="A9853F"/>
            </a:solidFill>
          </a:ln>
        </p:spPr>
        <p:txBody>
          <a:bodyPr rtlCol="0" anchor="ctr"/>
          <a:lstStyle/>
          <a:p>
            <a:endParaRPr lang="fr-FR"/>
          </a:p>
        </p:txBody>
      </p:sp>
      <p:sp>
        <p:nvSpPr>
          <p:cNvPr id="925" name="Shape 925"/>
          <p:cNvSpPr/>
          <p:nvPr/>
        </p:nvSpPr>
        <p:spPr>
          <a:xfrm>
            <a:off x="2964353" y="4550000"/>
            <a:ext cx="1006880" cy="706032"/>
          </a:xfrm>
          <a:prstGeom prst="line">
            <a:avLst/>
          </a:prstGeom>
          <a:noFill/>
          <a:ln w="12700">
            <a:solidFill>
              <a:srgbClr val="A9853F"/>
            </a:solidFill>
          </a:ln>
        </p:spPr>
        <p:txBody>
          <a:bodyPr rtlCol="0" anchor="ctr"/>
          <a:lstStyle/>
          <a:p>
            <a:endParaRPr lang="fr-FR"/>
          </a:p>
        </p:txBody>
      </p:sp>
      <p:sp>
        <p:nvSpPr>
          <p:cNvPr id="926" name="Shape 926"/>
          <p:cNvSpPr/>
          <p:nvPr/>
        </p:nvSpPr>
        <p:spPr>
          <a:xfrm flipH="1">
            <a:off x="3971234" y="4550000"/>
            <a:ext cx="1006880" cy="706032"/>
          </a:xfrm>
          <a:prstGeom prst="line">
            <a:avLst/>
          </a:prstGeom>
          <a:noFill/>
          <a:ln w="12700">
            <a:solidFill>
              <a:srgbClr val="A9853F"/>
            </a:solidFill>
          </a:ln>
        </p:spPr>
        <p:txBody>
          <a:bodyPr rtlCol="0" anchor="ctr"/>
          <a:lstStyle/>
          <a:p>
            <a:endParaRPr lang="fr-FR"/>
          </a:p>
        </p:txBody>
      </p:sp>
      <p:sp>
        <p:nvSpPr>
          <p:cNvPr id="927" name="Shape 927"/>
          <p:cNvSpPr/>
          <p:nvPr/>
        </p:nvSpPr>
        <p:spPr>
          <a:xfrm>
            <a:off x="3715202" y="2550000"/>
            <a:ext cx="512064" cy="512064"/>
          </a:xfrm>
          <a:prstGeom prst="ellipse">
            <a:avLst/>
          </a:prstGeom>
          <a:solidFill>
            <a:srgbClr val="001B00"/>
          </a:solidFill>
          <a:ln w="12700">
            <a:solidFill>
              <a:srgbClr val="A9853F"/>
            </a:solidFill>
          </a:ln>
        </p:spPr>
        <p:txBody>
          <a:bodyPr rtlCol="0" anchor="ctr"/>
          <a:lstStyle/>
          <a:p>
            <a:endParaRPr lang="fr-FR"/>
          </a:p>
        </p:txBody>
      </p:sp>
      <p:sp>
        <p:nvSpPr>
          <p:cNvPr id="928" name="Text 928"/>
          <p:cNvSpPr txBox="1"/>
          <p:nvPr/>
        </p:nvSpPr>
        <p:spPr>
          <a:xfrm>
            <a:off x="3715202" y="2550000"/>
            <a:ext cx="512064" cy="512064"/>
          </a:xfrm>
          <a:prstGeom prst="rect">
            <a:avLst/>
          </a:prstGeom>
          <a:noFill/>
          <a:ln>
            <a:noFill/>
          </a:ln>
        </p:spPr>
        <p:txBody>
          <a:bodyPr wrap="square" lIns="0" tIns="0" rIns="0" bIns="0" rtlCol="0" anchor="ctr">
            <a:normAutofit/>
          </a:bodyPr>
          <a:lstStyle/>
          <a:p>
            <a:pPr algn="ctr">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1</a:t>
            </a:r>
          </a:p>
        </p:txBody>
      </p:sp>
      <p:sp>
        <p:nvSpPr>
          <p:cNvPr id="929" name="Shape 929"/>
          <p:cNvSpPr/>
          <p:nvPr/>
        </p:nvSpPr>
        <p:spPr>
          <a:xfrm>
            <a:off x="2708321" y="4293968"/>
            <a:ext cx="512064" cy="512064"/>
          </a:xfrm>
          <a:prstGeom prst="ellipse">
            <a:avLst/>
          </a:prstGeom>
          <a:solidFill>
            <a:srgbClr val="001B00"/>
          </a:solidFill>
          <a:ln w="12700">
            <a:solidFill>
              <a:srgbClr val="A9853F"/>
            </a:solidFill>
          </a:ln>
        </p:spPr>
        <p:txBody>
          <a:bodyPr rtlCol="0" anchor="ctr"/>
          <a:lstStyle/>
          <a:p>
            <a:endParaRPr lang="fr-FR"/>
          </a:p>
        </p:txBody>
      </p:sp>
      <p:sp>
        <p:nvSpPr>
          <p:cNvPr id="930" name="Text 930"/>
          <p:cNvSpPr txBox="1"/>
          <p:nvPr/>
        </p:nvSpPr>
        <p:spPr>
          <a:xfrm>
            <a:off x="2708321" y="4293968"/>
            <a:ext cx="512064" cy="512064"/>
          </a:xfrm>
          <a:prstGeom prst="rect">
            <a:avLst/>
          </a:prstGeom>
          <a:noFill/>
          <a:ln>
            <a:noFill/>
          </a:ln>
        </p:spPr>
        <p:txBody>
          <a:bodyPr wrap="square" lIns="0" tIns="0" rIns="0" bIns="0" rtlCol="0" anchor="ctr">
            <a:normAutofit/>
          </a:bodyPr>
          <a:lstStyle/>
          <a:p>
            <a:pPr algn="ctr">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2</a:t>
            </a:r>
          </a:p>
        </p:txBody>
      </p:sp>
      <p:sp>
        <p:nvSpPr>
          <p:cNvPr id="931" name="Shape 931"/>
          <p:cNvSpPr/>
          <p:nvPr/>
        </p:nvSpPr>
        <p:spPr>
          <a:xfrm>
            <a:off x="4722082" y="4293968"/>
            <a:ext cx="512064" cy="512064"/>
          </a:xfrm>
          <a:prstGeom prst="ellipse">
            <a:avLst/>
          </a:prstGeom>
          <a:solidFill>
            <a:srgbClr val="001B00"/>
          </a:solidFill>
          <a:ln w="12700">
            <a:solidFill>
              <a:srgbClr val="A9853F"/>
            </a:solidFill>
          </a:ln>
        </p:spPr>
        <p:txBody>
          <a:bodyPr rtlCol="0" anchor="ctr"/>
          <a:lstStyle/>
          <a:p>
            <a:endParaRPr lang="fr-FR"/>
          </a:p>
        </p:txBody>
      </p:sp>
      <p:sp>
        <p:nvSpPr>
          <p:cNvPr id="932" name="Text 932"/>
          <p:cNvSpPr txBox="1"/>
          <p:nvPr/>
        </p:nvSpPr>
        <p:spPr>
          <a:xfrm>
            <a:off x="4722082" y="4293968"/>
            <a:ext cx="512064" cy="512064"/>
          </a:xfrm>
          <a:prstGeom prst="rect">
            <a:avLst/>
          </a:prstGeom>
          <a:noFill/>
          <a:ln>
            <a:noFill/>
          </a:ln>
        </p:spPr>
        <p:txBody>
          <a:bodyPr wrap="square" lIns="0" tIns="0" rIns="0" bIns="0" rtlCol="0" anchor="ctr">
            <a:normAutofit/>
          </a:bodyPr>
          <a:lstStyle/>
          <a:p>
            <a:pPr algn="ctr">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3</a:t>
            </a:r>
          </a:p>
        </p:txBody>
      </p:sp>
      <p:sp>
        <p:nvSpPr>
          <p:cNvPr id="933" name="Shape 933"/>
          <p:cNvSpPr/>
          <p:nvPr/>
        </p:nvSpPr>
        <p:spPr>
          <a:xfrm>
            <a:off x="3715202" y="5000000"/>
            <a:ext cx="512064" cy="512064"/>
          </a:xfrm>
          <a:prstGeom prst="ellipse">
            <a:avLst/>
          </a:prstGeom>
          <a:solidFill>
            <a:srgbClr val="001B00"/>
          </a:solidFill>
          <a:ln w="12700">
            <a:solidFill>
              <a:srgbClr val="A9853F"/>
            </a:solidFill>
          </a:ln>
        </p:spPr>
        <p:txBody>
          <a:bodyPr rtlCol="0" anchor="ctr"/>
          <a:lstStyle/>
          <a:p>
            <a:endParaRPr lang="fr-FR"/>
          </a:p>
        </p:txBody>
      </p:sp>
      <p:sp>
        <p:nvSpPr>
          <p:cNvPr id="934" name="Text 934"/>
          <p:cNvSpPr txBox="1"/>
          <p:nvPr/>
        </p:nvSpPr>
        <p:spPr>
          <a:xfrm>
            <a:off x="3715202" y="5000000"/>
            <a:ext cx="512064" cy="512064"/>
          </a:xfrm>
          <a:prstGeom prst="rect">
            <a:avLst/>
          </a:prstGeom>
          <a:noFill/>
          <a:ln>
            <a:noFill/>
          </a:ln>
        </p:spPr>
        <p:txBody>
          <a:bodyPr wrap="square" lIns="0" tIns="0" rIns="0" bIns="0" rtlCol="0" anchor="ctr">
            <a:normAutofit/>
          </a:bodyPr>
          <a:lstStyle/>
          <a:p>
            <a:pPr algn="ctr">
              <a:buNone/>
            </a:pPr>
            <a:r>
              <a:rPr lang="fr-FR" sz="1000" b="1" dirty="0">
                <a:solidFill>
                  <a:srgbClr val="FFFFFF"/>
                </a:solidFill>
                <a:latin typeface="Cormorant Garamond SemiBold" pitchFamily="2" charset="77"/>
                <a:ea typeface="Cormorant Garamond SemiBold" pitchFamily="2" charset="77"/>
                <a:cs typeface="Cormorant Garamond SemiBold" pitchFamily="2" charset="77"/>
              </a:rPr>
              <a:t>Vous</a:t>
            </a:r>
          </a:p>
        </p:txBody>
      </p:sp>
      <p:sp>
        <p:nvSpPr>
          <p:cNvPr id="935" name="Text 935"/>
          <p:cNvSpPr txBox="1"/>
          <p:nvPr/>
        </p:nvSpPr>
        <p:spPr>
          <a:xfrm>
            <a:off x="3071234" y="3657292"/>
            <a:ext cx="1800000" cy="460000"/>
          </a:xfrm>
          <a:prstGeom prst="rect">
            <a:avLst/>
          </a:prstGeom>
          <a:noFill/>
          <a:ln>
            <a:noFill/>
          </a:ln>
        </p:spPr>
        <p:txBody>
          <a:bodyPr wrap="square" lIns="0" tIns="0" rIns="0" bIns="0" rtlCol="0" anchor="ctr">
            <a:normAutofit/>
          </a:bodyPr>
          <a:lstStyle/>
          <a:p>
            <a:pPr algn="ctr">
              <a:buNone/>
            </a:pPr>
            <a:r>
              <a:rPr lang="fr-FR" sz="1300" b="1" i="1" dirty="0">
                <a:solidFill>
                  <a:srgbClr val="A9853F"/>
                </a:solidFill>
                <a:latin typeface="Cormorant Garamond SemiBold" pitchFamily="2" charset="77"/>
                <a:ea typeface="Cormorant Garamond SemiBold" pitchFamily="2" charset="77"/>
                <a:cs typeface="Cormorant Garamond SemiBold" pitchFamily="2" charset="77"/>
              </a:rPr>
              <a:t>Vos actifs, protégés</a:t>
            </a:r>
          </a:p>
        </p:txBody>
      </p:sp>
      <p:sp>
        <p:nvSpPr>
          <p:cNvPr id="920" name="Shape 920"/>
          <p:cNvSpPr/>
          <p:nvPr/>
        </p:nvSpPr>
        <p:spPr>
          <a:xfrm>
            <a:off x="2271234" y="1780000"/>
            <a:ext cx="3400000" cy="620000"/>
          </a:xfrm>
          <a:prstGeom prst="rect">
            <a:avLst/>
          </a:prstGeom>
          <a:solidFill>
            <a:srgbClr val="FCF9EF"/>
          </a:solidFill>
          <a:ln>
            <a:noFill/>
          </a:ln>
        </p:spPr>
        <p:txBody>
          <a:bodyPr rtlCol="0" anchor="ctr"/>
          <a:lstStyle/>
          <a:p>
            <a:endParaRPr lang="fr-FR"/>
          </a:p>
        </p:txBody>
      </p:sp>
      <p:sp>
        <p:nvSpPr>
          <p:cNvPr id="921" name="Text 921"/>
          <p:cNvSpPr txBox="1"/>
          <p:nvPr/>
        </p:nvSpPr>
        <p:spPr>
          <a:xfrm>
            <a:off x="2391234" y="1780000"/>
            <a:ext cx="3160000" cy="620000"/>
          </a:xfrm>
          <a:prstGeom prst="rect">
            <a:avLst/>
          </a:prstGeom>
          <a:noFill/>
          <a:ln>
            <a:noFill/>
          </a:ln>
        </p:spPr>
        <p:txBody>
          <a:bodyPr wrap="square" lIns="0" tIns="0" rIns="0" bIns="0" rtlCol="0" anchor="ctr">
            <a:normAutofit/>
          </a:bodyPr>
          <a:lstStyle/>
          <a:p>
            <a:pPr algn="ctr">
              <a:spcAft>
                <a:spcPts val="150"/>
              </a:spcAft>
              <a:buNone/>
            </a:pPr>
            <a:r>
              <a:rPr lang="fr-FR" sz="1050" dirty="0">
                <a:solidFill>
                  <a:srgbClr val="073527"/>
                </a:solidFill>
                <a:latin typeface="Jost Medium" pitchFamily="2" charset="77"/>
                <a:ea typeface="Jost Medium" pitchFamily="2" charset="77"/>
                <a:cs typeface="Jost Medium" pitchFamily="2" charset="77"/>
              </a:rPr>
              <a:t>Commissariat aux Assurances (CAA)</a:t>
            </a:r>
          </a:p>
          <a:p>
            <a:pPr algn="ctr">
              <a:buNone/>
            </a:pPr>
            <a:r>
              <a:rPr lang="fr-FR" sz="950" dirty="0">
                <a:solidFill>
                  <a:srgbClr val="073527"/>
                </a:solidFill>
                <a:latin typeface="Jost Light" pitchFamily="2" charset="77"/>
                <a:ea typeface="Jost Light" pitchFamily="2" charset="77"/>
                <a:cs typeface="Jost Light" pitchFamily="2" charset="77"/>
              </a:rPr>
              <a:t>Contrôle et valide la convention de dépôt entre l’assureur et la banque.</a:t>
            </a:r>
          </a:p>
        </p:txBody>
      </p:sp>
      <p:sp>
        <p:nvSpPr>
          <p:cNvPr id="936" name="Shape 936"/>
          <p:cNvSpPr/>
          <p:nvPr/>
        </p:nvSpPr>
        <p:spPr>
          <a:xfrm>
            <a:off x="947468" y="4956032"/>
            <a:ext cx="2150000" cy="600000"/>
          </a:xfrm>
          <a:prstGeom prst="rect">
            <a:avLst/>
          </a:prstGeom>
          <a:solidFill>
            <a:srgbClr val="FCF9EF"/>
          </a:solidFill>
          <a:ln>
            <a:noFill/>
          </a:ln>
        </p:spPr>
        <p:txBody>
          <a:bodyPr rtlCol="0" anchor="ctr"/>
          <a:lstStyle/>
          <a:p>
            <a:endParaRPr lang="fr-FR"/>
          </a:p>
        </p:txBody>
      </p:sp>
      <p:sp>
        <p:nvSpPr>
          <p:cNvPr id="937" name="Text 937"/>
          <p:cNvSpPr txBox="1"/>
          <p:nvPr/>
        </p:nvSpPr>
        <p:spPr>
          <a:xfrm>
            <a:off x="1047468" y="4956032"/>
            <a:ext cx="1950000" cy="600000"/>
          </a:xfrm>
          <a:prstGeom prst="rect">
            <a:avLst/>
          </a:prstGeom>
          <a:noFill/>
          <a:ln>
            <a:noFill/>
          </a:ln>
        </p:spPr>
        <p:txBody>
          <a:bodyPr wrap="square" lIns="0" tIns="0" rIns="0" bIns="0" rtlCol="0" anchor="ctr">
            <a:normAutofit/>
          </a:bodyPr>
          <a:lstStyle/>
          <a:p>
            <a:pPr algn="ctr">
              <a:spcAft>
                <a:spcPts val="150"/>
              </a:spcAft>
              <a:buNone/>
            </a:pPr>
            <a:r>
              <a:rPr lang="fr-FR" sz="1050" dirty="0">
                <a:solidFill>
                  <a:srgbClr val="073527"/>
                </a:solidFill>
                <a:latin typeface="Jost Medium" pitchFamily="2" charset="77"/>
                <a:ea typeface="Jost Medium" pitchFamily="2" charset="77"/>
                <a:cs typeface="Jost Medium" pitchFamily="2" charset="77"/>
              </a:rPr>
              <a:t>Compagnie d’assurance</a:t>
            </a:r>
          </a:p>
          <a:p>
            <a:pPr algn="ctr">
              <a:buNone/>
            </a:pPr>
            <a:r>
              <a:rPr lang="fr-FR" sz="950" dirty="0">
                <a:solidFill>
                  <a:srgbClr val="073527"/>
                </a:solidFill>
                <a:latin typeface="Jost Light" pitchFamily="2" charset="77"/>
                <a:ea typeface="Jost Light" pitchFamily="2" charset="77"/>
                <a:cs typeface="Jost Light" pitchFamily="2" charset="77"/>
              </a:rPr>
              <a:t>Gère le contrat, l’allocation et la relation client.</a:t>
            </a:r>
          </a:p>
        </p:txBody>
      </p:sp>
      <p:sp>
        <p:nvSpPr>
          <p:cNvPr id="938" name="Shape 938"/>
          <p:cNvSpPr/>
          <p:nvPr/>
        </p:nvSpPr>
        <p:spPr>
          <a:xfrm>
            <a:off x="4845000" y="4956032"/>
            <a:ext cx="2150000" cy="600000"/>
          </a:xfrm>
          <a:prstGeom prst="rect">
            <a:avLst/>
          </a:prstGeom>
          <a:solidFill>
            <a:srgbClr val="FCF9EF"/>
          </a:solidFill>
          <a:ln>
            <a:noFill/>
          </a:ln>
        </p:spPr>
        <p:txBody>
          <a:bodyPr rtlCol="0" anchor="ctr"/>
          <a:lstStyle/>
          <a:p>
            <a:endParaRPr lang="fr-FR"/>
          </a:p>
        </p:txBody>
      </p:sp>
      <p:sp>
        <p:nvSpPr>
          <p:cNvPr id="939" name="Text 939"/>
          <p:cNvSpPr txBox="1"/>
          <p:nvPr/>
        </p:nvSpPr>
        <p:spPr>
          <a:xfrm>
            <a:off x="4945000" y="4956032"/>
            <a:ext cx="1950000" cy="600000"/>
          </a:xfrm>
          <a:prstGeom prst="rect">
            <a:avLst/>
          </a:prstGeom>
          <a:noFill/>
          <a:ln>
            <a:noFill/>
          </a:ln>
        </p:spPr>
        <p:txBody>
          <a:bodyPr wrap="square" lIns="0" tIns="0" rIns="0" bIns="0" rtlCol="0" anchor="ctr">
            <a:normAutofit/>
          </a:bodyPr>
          <a:lstStyle/>
          <a:p>
            <a:pPr algn="ctr">
              <a:spcAft>
                <a:spcPts val="150"/>
              </a:spcAft>
              <a:buNone/>
            </a:pPr>
            <a:r>
              <a:rPr lang="fr-FR" sz="1050" dirty="0">
                <a:solidFill>
                  <a:srgbClr val="073527"/>
                </a:solidFill>
                <a:latin typeface="Jost Medium" pitchFamily="2" charset="77"/>
                <a:ea typeface="Jost Medium" pitchFamily="2" charset="77"/>
                <a:cs typeface="Jost Medium" pitchFamily="2" charset="77"/>
              </a:rPr>
              <a:t>Banque dépositaire</a:t>
            </a:r>
          </a:p>
          <a:p>
            <a:pPr algn="ctr">
              <a:buNone/>
            </a:pPr>
            <a:r>
              <a:rPr lang="fr-FR" sz="950" dirty="0">
                <a:solidFill>
                  <a:srgbClr val="073527"/>
                </a:solidFill>
                <a:latin typeface="Jost Light" pitchFamily="2" charset="77"/>
                <a:ea typeface="Jost Light" pitchFamily="2" charset="77"/>
                <a:cs typeface="Jost Light" pitchFamily="2" charset="77"/>
              </a:rPr>
              <a:t>Conserve les actifs, séparés de son propre bilan.</a:t>
            </a:r>
          </a:p>
        </p:txBody>
      </p:sp>
      <p:sp>
        <p:nvSpPr>
          <p:cNvPr id="940" name="Shape 940"/>
          <p:cNvSpPr/>
          <p:nvPr/>
        </p:nvSpPr>
        <p:spPr>
          <a:xfrm>
            <a:off x="3146234" y="5632064"/>
            <a:ext cx="1650000" cy="787936"/>
          </a:xfrm>
          <a:prstGeom prst="rect">
            <a:avLst/>
          </a:prstGeom>
          <a:solidFill>
            <a:srgbClr val="FCF9EF"/>
          </a:solidFill>
          <a:ln>
            <a:noFill/>
          </a:ln>
        </p:spPr>
        <p:txBody>
          <a:bodyPr rtlCol="0" anchor="ctr"/>
          <a:lstStyle/>
          <a:p>
            <a:endParaRPr lang="fr-FR"/>
          </a:p>
        </p:txBody>
      </p:sp>
      <p:sp>
        <p:nvSpPr>
          <p:cNvPr id="941" name="Text 941"/>
          <p:cNvSpPr txBox="1"/>
          <p:nvPr/>
        </p:nvSpPr>
        <p:spPr>
          <a:xfrm>
            <a:off x="3246234" y="5632064"/>
            <a:ext cx="1450000" cy="787936"/>
          </a:xfrm>
          <a:prstGeom prst="rect">
            <a:avLst/>
          </a:prstGeom>
          <a:noFill/>
          <a:ln>
            <a:noFill/>
          </a:ln>
        </p:spPr>
        <p:txBody>
          <a:bodyPr wrap="square" lIns="0" tIns="0" rIns="0" bIns="0" rtlCol="0" anchor="ctr">
            <a:normAutofit/>
          </a:bodyPr>
          <a:lstStyle/>
          <a:p>
            <a:pPr algn="ctr">
              <a:spcAft>
                <a:spcPts val="150"/>
              </a:spcAft>
              <a:buNone/>
            </a:pPr>
            <a:r>
              <a:rPr lang="fr-FR" sz="1050" dirty="0">
                <a:solidFill>
                  <a:srgbClr val="073527"/>
                </a:solidFill>
                <a:latin typeface="Jost Medium" pitchFamily="2" charset="77"/>
                <a:ea typeface="Jost Medium" pitchFamily="2" charset="77"/>
                <a:cs typeface="Jost Medium" pitchFamily="2" charset="77"/>
              </a:rPr>
              <a:t>Vous, le client</a:t>
            </a:r>
          </a:p>
          <a:p>
            <a:pPr algn="ctr">
              <a:buNone/>
            </a:pPr>
            <a:r>
              <a:rPr lang="fr-FR" sz="950" dirty="0">
                <a:solidFill>
                  <a:srgbClr val="073527"/>
                </a:solidFill>
                <a:latin typeface="Jost Light" pitchFamily="2" charset="77"/>
                <a:ea typeface="Jost Light" pitchFamily="2" charset="77"/>
                <a:cs typeface="Jost Light" pitchFamily="2" charset="77"/>
              </a:rPr>
              <a:t>Bénéficiaire final : vos avoirs vous restent acquis.</a:t>
            </a:r>
          </a:p>
        </p:txBody>
      </p:sp>
      <p:sp>
        <p:nvSpPr>
          <p:cNvPr id="909" name="Shape 909"/>
          <p:cNvSpPr/>
          <p:nvPr/>
        </p:nvSpPr>
        <p:spPr>
          <a:xfrm>
            <a:off x="7315200" y="1780000"/>
            <a:ext cx="4376800" cy="460000"/>
          </a:xfrm>
          <a:prstGeom prst="rect">
            <a:avLst/>
          </a:prstGeom>
          <a:solidFill>
            <a:srgbClr val="001B00"/>
          </a:solidFill>
          <a:ln>
            <a:noFill/>
          </a:ln>
        </p:spPr>
        <p:txBody>
          <a:bodyPr rtlCol="0" anchor="ctr"/>
          <a:lstStyle/>
          <a:p>
            <a:endParaRPr lang="fr-FR"/>
          </a:p>
        </p:txBody>
      </p:sp>
      <p:sp>
        <p:nvSpPr>
          <p:cNvPr id="910" name="Text 910"/>
          <p:cNvSpPr txBox="1"/>
          <p:nvPr/>
        </p:nvSpPr>
        <p:spPr>
          <a:xfrm>
            <a:off x="7315200" y="1780000"/>
            <a:ext cx="4376800"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Ce que cela vous apporte</a:t>
            </a:r>
          </a:p>
        </p:txBody>
      </p:sp>
      <p:sp>
        <p:nvSpPr>
          <p:cNvPr id="911" name="Shape 911"/>
          <p:cNvSpPr/>
          <p:nvPr/>
        </p:nvSpPr>
        <p:spPr>
          <a:xfrm>
            <a:off x="7315200" y="2240000"/>
            <a:ext cx="4376800" cy="3753176"/>
          </a:xfrm>
          <a:prstGeom prst="rect">
            <a:avLst/>
          </a:prstGeom>
          <a:solidFill>
            <a:srgbClr val="FCF9EF"/>
          </a:solidFill>
          <a:ln>
            <a:noFill/>
          </a:ln>
        </p:spPr>
        <p:txBody>
          <a:bodyPr rtlCol="0" anchor="ctr"/>
          <a:lstStyle/>
          <a:p>
            <a:endParaRPr lang="fr-FR"/>
          </a:p>
        </p:txBody>
      </p:sp>
      <p:sp>
        <p:nvSpPr>
          <p:cNvPr id="912" name="Shape 912"/>
          <p:cNvSpPr/>
          <p:nvPr/>
        </p:nvSpPr>
        <p:spPr>
          <a:xfrm>
            <a:off x="7575200" y="2550000"/>
            <a:ext cx="110000" cy="110000"/>
          </a:xfrm>
          <a:prstGeom prst="rect">
            <a:avLst/>
          </a:prstGeom>
          <a:solidFill>
            <a:srgbClr val="A9853F"/>
          </a:solidFill>
          <a:ln>
            <a:noFill/>
          </a:ln>
        </p:spPr>
        <p:txBody>
          <a:bodyPr rtlCol="0" anchor="ctr"/>
          <a:lstStyle/>
          <a:p>
            <a:endParaRPr lang="fr-FR"/>
          </a:p>
        </p:txBody>
      </p:sp>
      <p:sp>
        <p:nvSpPr>
          <p:cNvPr id="913" name="Text 913"/>
          <p:cNvSpPr txBox="1"/>
          <p:nvPr/>
        </p:nvSpPr>
        <p:spPr>
          <a:xfrm>
            <a:off x="7835200" y="2480000"/>
            <a:ext cx="3636800" cy="8625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Super privilège</a:t>
            </a:r>
          </a:p>
          <a:p>
            <a:pPr algn="just">
              <a:buNone/>
            </a:pPr>
            <a:r>
              <a:rPr lang="fr-FR" sz="950" dirty="0">
                <a:solidFill>
                  <a:srgbClr val="073527"/>
                </a:solidFill>
                <a:latin typeface="Jost Light" pitchFamily="2" charset="77"/>
                <a:ea typeface="Jost Light" pitchFamily="2" charset="77"/>
                <a:cs typeface="Jost Light" pitchFamily="2" charset="77"/>
              </a:rPr>
              <a:t>Créancier de premier rang en cas de défaillance de l’assureur, remboursé avant tous les autres.</a:t>
            </a:r>
          </a:p>
        </p:txBody>
      </p:sp>
      <p:sp>
        <p:nvSpPr>
          <p:cNvPr id="914" name="Shape 914"/>
          <p:cNvSpPr/>
          <p:nvPr/>
        </p:nvSpPr>
        <p:spPr>
          <a:xfrm>
            <a:off x="7575200" y="3492500"/>
            <a:ext cx="110000" cy="110000"/>
          </a:xfrm>
          <a:prstGeom prst="rect">
            <a:avLst/>
          </a:prstGeom>
          <a:solidFill>
            <a:srgbClr val="A9853F"/>
          </a:solidFill>
          <a:ln>
            <a:noFill/>
          </a:ln>
        </p:spPr>
        <p:txBody>
          <a:bodyPr rtlCol="0" anchor="ctr"/>
          <a:lstStyle/>
          <a:p>
            <a:endParaRPr lang="fr-FR"/>
          </a:p>
        </p:txBody>
      </p:sp>
      <p:sp>
        <p:nvSpPr>
          <p:cNvPr id="915" name="Text 915"/>
          <p:cNvSpPr txBox="1"/>
          <p:nvPr/>
        </p:nvSpPr>
        <p:spPr>
          <a:xfrm>
            <a:off x="7835200" y="3422500"/>
            <a:ext cx="3636800" cy="862500"/>
          </a:xfrm>
          <a:prstGeom prst="rect">
            <a:avLst/>
          </a:prstGeom>
          <a:noFill/>
          <a:ln>
            <a:noFill/>
          </a:ln>
        </p:spPr>
        <p:txBody>
          <a:bodyPr wrap="square" lIns="0" tIns="0" rIns="0" bIns="0" rtlCol="0" anchor="t">
            <a:normAutofit/>
          </a:bodyPr>
          <a:lstStyle/>
          <a:p>
            <a:pPr algn="just">
              <a:spcAft>
                <a:spcPts val="200"/>
              </a:spcAft>
              <a:buNone/>
            </a:pPr>
            <a:r>
              <a:rPr lang="fr-FR" sz="1050" dirty="0">
                <a:solidFill>
                  <a:srgbClr val="073527"/>
                </a:solidFill>
                <a:latin typeface="Jost Medium" pitchFamily="2" charset="77"/>
                <a:ea typeface="Jost Medium" pitchFamily="2" charset="77"/>
                <a:cs typeface="Jost Medium" pitchFamily="2" charset="77"/>
              </a:rPr>
              <a:t>Protection illimitée</a:t>
            </a:r>
          </a:p>
          <a:p>
            <a:pPr algn="just">
              <a:buNone/>
            </a:pPr>
            <a:r>
              <a:rPr lang="fr-FR" sz="950" dirty="0">
                <a:solidFill>
                  <a:srgbClr val="073527"/>
                </a:solidFill>
                <a:latin typeface="Jost Light" pitchFamily="2" charset="77"/>
                <a:ea typeface="Jost Light" pitchFamily="2" charset="77"/>
                <a:cs typeface="Jost Light" pitchFamily="2" charset="77"/>
              </a:rPr>
              <a:t>Votre capital est garanti sans limite, contre 70 000 EUR pour un contrat français.</a:t>
            </a:r>
          </a:p>
        </p:txBody>
      </p:sp>
      <p:sp>
        <p:nvSpPr>
          <p:cNvPr id="916" name="Shape 916"/>
          <p:cNvSpPr/>
          <p:nvPr/>
        </p:nvSpPr>
        <p:spPr>
          <a:xfrm>
            <a:off x="7575200" y="4435000"/>
            <a:ext cx="110000" cy="110000"/>
          </a:xfrm>
          <a:prstGeom prst="rect">
            <a:avLst/>
          </a:prstGeom>
          <a:solidFill>
            <a:srgbClr val="A9853F"/>
          </a:solidFill>
          <a:ln>
            <a:noFill/>
          </a:ln>
        </p:spPr>
        <p:txBody>
          <a:bodyPr rtlCol="0" anchor="ctr"/>
          <a:lstStyle/>
          <a:p>
            <a:endParaRPr lang="fr-FR"/>
          </a:p>
        </p:txBody>
      </p:sp>
      <p:sp>
        <p:nvSpPr>
          <p:cNvPr id="917" name="Text 917"/>
          <p:cNvSpPr txBox="1"/>
          <p:nvPr/>
        </p:nvSpPr>
        <p:spPr>
          <a:xfrm>
            <a:off x="7835200" y="4365000"/>
            <a:ext cx="3636800" cy="862500"/>
          </a:xfrm>
          <a:prstGeom prst="rect">
            <a:avLst/>
          </a:prstGeom>
          <a:noFill/>
          <a:ln>
            <a:noFill/>
          </a:ln>
        </p:spPr>
        <p:txBody>
          <a:bodyPr wrap="square" lIns="0" tIns="0" rIns="0" bIns="0" rtlCol="0" anchor="t">
            <a:normAutofit/>
          </a:bodyPr>
          <a:lstStyle/>
          <a:p>
            <a:pPr>
              <a:spcAft>
                <a:spcPts val="200"/>
              </a:spcAft>
            </a:pPr>
            <a:r>
              <a:rPr lang="fr-FR" sz="1050" dirty="0">
                <a:solidFill>
                  <a:srgbClr val="073527"/>
                </a:solidFill>
                <a:latin typeface="Jost Medium" pitchFamily="2" charset="77"/>
                <a:ea typeface="Jost Medium" pitchFamily="2" charset="77"/>
              </a:rPr>
              <a:t>Aucune application de la loi Sapin 2</a:t>
            </a:r>
          </a:p>
          <a:p>
            <a:pPr algn="just">
              <a:spcAft>
                <a:spcPts val="200"/>
              </a:spcAft>
            </a:pPr>
            <a:r>
              <a:rPr lang="fr-FR" sz="1000" dirty="0">
                <a:solidFill>
                  <a:srgbClr val="073527"/>
                </a:solidFill>
                <a:latin typeface="Jost Light" pitchFamily="2" charset="77"/>
                <a:ea typeface="Jost Light" pitchFamily="2" charset="77"/>
              </a:rPr>
              <a:t>Vos avoirs financiers restent votre propriété. Votre épargne n’appartient ni à l’assureur ni à l’État français.</a:t>
            </a:r>
          </a:p>
        </p:txBody>
      </p:sp>
      <p:sp>
        <p:nvSpPr>
          <p:cNvPr id="918" name="Shape 918"/>
          <p:cNvSpPr/>
          <p:nvPr/>
        </p:nvSpPr>
        <p:spPr>
          <a:xfrm>
            <a:off x="7575200" y="5377500"/>
            <a:ext cx="110000" cy="110000"/>
          </a:xfrm>
          <a:prstGeom prst="rect">
            <a:avLst/>
          </a:prstGeom>
          <a:solidFill>
            <a:srgbClr val="A9853F"/>
          </a:solidFill>
          <a:ln>
            <a:noFill/>
          </a:ln>
        </p:spPr>
        <p:txBody>
          <a:bodyPr rtlCol="0" anchor="ctr"/>
          <a:lstStyle/>
          <a:p>
            <a:endParaRPr lang="fr-FR"/>
          </a:p>
        </p:txBody>
      </p:sp>
      <p:sp>
        <p:nvSpPr>
          <p:cNvPr id="919" name="Text 919"/>
          <p:cNvSpPr txBox="1"/>
          <p:nvPr/>
        </p:nvSpPr>
        <p:spPr>
          <a:xfrm>
            <a:off x="7835200" y="5307500"/>
            <a:ext cx="3636800" cy="8625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Contrôle indépendant</a:t>
            </a:r>
          </a:p>
          <a:p>
            <a:pPr algn="l">
              <a:buNone/>
            </a:pPr>
            <a:r>
              <a:rPr lang="fr-FR" sz="950" dirty="0">
                <a:solidFill>
                  <a:srgbClr val="073527"/>
                </a:solidFill>
                <a:latin typeface="Jost Light" pitchFamily="2" charset="77"/>
                <a:ea typeface="Jost Light" pitchFamily="2" charset="77"/>
                <a:cs typeface="Jost Light" pitchFamily="2" charset="77"/>
              </a:rPr>
              <a:t>Le CAA supervise en continu la relation assureur, banque dépositaire.</a:t>
            </a:r>
          </a:p>
        </p:txBody>
      </p:sp>
    </p:spTree>
    <p:extLst>
      <p:ext uri="{BB962C8B-B14F-4D97-AF65-F5344CB8AC3E}">
        <p14:creationId xmlns:p14="http://schemas.microsoft.com/office/powerpoint/2010/main" val="977308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4532"/>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pPr lvl="0"/>
            <a:r>
              <a:rPr lang="fr-FR" sz="1200" dirty="0">
                <a:solidFill>
                  <a:srgbClr val="073527"/>
                </a:solidFill>
                <a:latin typeface="Jost Medium" pitchFamily="2" charset="77"/>
                <a:ea typeface="Jost Medium" pitchFamily="2" charset="77"/>
                <a:cs typeface="Futura Medium" panose="020B0602020204020303" pitchFamily="34" charset="-79"/>
              </a:rPr>
              <a:t>Deux cadres pour une même épargne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Assurance vie française ou luxembourgeoise ?</a:t>
            </a:r>
          </a:p>
        </p:txBody>
      </p:sp>
      <p:sp>
        <p:nvSpPr>
          <p:cNvPr id="2024" name="Text 2024"/>
          <p:cNvSpPr txBox="1"/>
          <p:nvPr/>
        </p:nvSpPr>
        <p:spPr>
          <a:xfrm>
            <a:off x="947468" y="1780000"/>
            <a:ext cx="3000000" cy="520000"/>
          </a:xfrm>
          <a:prstGeom prst="rect">
            <a:avLst/>
          </a:prstGeom>
          <a:noFill/>
          <a:ln>
            <a:noFill/>
          </a:ln>
        </p:spPr>
        <p:txBody>
          <a:bodyPr wrap="square" lIns="0" tIns="0" rIns="0" bIns="0" rtlCol="0" anchor="ctr">
            <a:normAutofit/>
          </a:bodyPr>
          <a:lstStyle/>
          <a:p>
            <a:pPr algn="l">
              <a:buNone/>
            </a:pPr>
            <a:r>
              <a:rPr lang="fr-FR" sz="1000" dirty="0">
                <a:solidFill>
                  <a:srgbClr val="6B6B6B"/>
                </a:solidFill>
                <a:latin typeface="Jost Medium" pitchFamily="2" charset="77"/>
                <a:ea typeface="Jost Medium" pitchFamily="2" charset="77"/>
                <a:cs typeface="Jost Medium" pitchFamily="2" charset="77"/>
              </a:rPr>
              <a:t>Critère</a:t>
            </a:r>
          </a:p>
        </p:txBody>
      </p:sp>
      <p:sp>
        <p:nvSpPr>
          <p:cNvPr id="2025" name="Shape 2025"/>
          <p:cNvSpPr/>
          <p:nvPr/>
        </p:nvSpPr>
        <p:spPr>
          <a:xfrm>
            <a:off x="3947468" y="1780000"/>
            <a:ext cx="3872266" cy="520000"/>
          </a:xfrm>
          <a:prstGeom prst="rect">
            <a:avLst/>
          </a:prstGeom>
          <a:solidFill>
            <a:srgbClr val="073527"/>
          </a:solidFill>
          <a:ln>
            <a:noFill/>
          </a:ln>
        </p:spPr>
        <p:txBody>
          <a:bodyPr rtlCol="0" anchor="ctr"/>
          <a:lstStyle/>
          <a:p>
            <a:endParaRPr lang="fr-FR"/>
          </a:p>
        </p:txBody>
      </p:sp>
      <p:sp>
        <p:nvSpPr>
          <p:cNvPr id="2026" name="Text 2026"/>
          <p:cNvSpPr txBox="1"/>
          <p:nvPr/>
        </p:nvSpPr>
        <p:spPr>
          <a:xfrm>
            <a:off x="3947468" y="1780000"/>
            <a:ext cx="3872266" cy="520000"/>
          </a:xfrm>
          <a:prstGeom prst="rect">
            <a:avLst/>
          </a:prstGeom>
          <a:noFill/>
          <a:ln>
            <a:noFill/>
          </a:ln>
        </p:spPr>
        <p:txBody>
          <a:bodyPr wrap="square" lIns="0" tIns="0" rIns="0" bIns="0" rtlCol="0" anchor="ctr">
            <a:normAutofit/>
          </a:bodyPr>
          <a:lstStyle/>
          <a:p>
            <a:pPr algn="ctr">
              <a:buNone/>
            </a:pPr>
            <a:r>
              <a:rPr lang="fr-FR" sz="1500" b="1" dirty="0">
                <a:solidFill>
                  <a:srgbClr val="FFFFFF"/>
                </a:solidFill>
                <a:latin typeface="Cormorant Garamond SemiBold" pitchFamily="2" charset="77"/>
                <a:ea typeface="Cormorant Garamond SemiBold" pitchFamily="2" charset="77"/>
                <a:cs typeface="Cormorant Garamond SemiBold" pitchFamily="2" charset="77"/>
              </a:rPr>
              <a:t>Assurance vie française</a:t>
            </a:r>
          </a:p>
        </p:txBody>
      </p:sp>
      <p:sp>
        <p:nvSpPr>
          <p:cNvPr id="2027" name="Shape 2027"/>
          <p:cNvSpPr/>
          <p:nvPr/>
        </p:nvSpPr>
        <p:spPr>
          <a:xfrm>
            <a:off x="7819734" y="1780000"/>
            <a:ext cx="3872266" cy="520000"/>
          </a:xfrm>
          <a:prstGeom prst="rect">
            <a:avLst/>
          </a:prstGeom>
          <a:solidFill>
            <a:srgbClr val="001B00"/>
          </a:solidFill>
          <a:ln>
            <a:noFill/>
          </a:ln>
        </p:spPr>
        <p:txBody>
          <a:bodyPr rtlCol="0" anchor="ctr"/>
          <a:lstStyle/>
          <a:p>
            <a:endParaRPr lang="fr-FR"/>
          </a:p>
        </p:txBody>
      </p:sp>
      <p:sp>
        <p:nvSpPr>
          <p:cNvPr id="2028" name="Text 2028"/>
          <p:cNvSpPr txBox="1"/>
          <p:nvPr/>
        </p:nvSpPr>
        <p:spPr>
          <a:xfrm>
            <a:off x="7819734" y="1780000"/>
            <a:ext cx="3872266" cy="520000"/>
          </a:xfrm>
          <a:prstGeom prst="rect">
            <a:avLst/>
          </a:prstGeom>
          <a:solidFill>
            <a:srgbClr val="AA853F"/>
          </a:solidFill>
          <a:ln>
            <a:noFill/>
          </a:ln>
        </p:spPr>
        <p:txBody>
          <a:bodyPr wrap="square" lIns="0" tIns="0" rIns="0" bIns="0" rtlCol="0" anchor="ctr">
            <a:normAutofit/>
          </a:bodyPr>
          <a:lstStyle/>
          <a:p>
            <a:pPr algn="ctr">
              <a:buNone/>
            </a:pPr>
            <a:r>
              <a:rPr lang="fr-FR" sz="1500" b="1" dirty="0">
                <a:solidFill>
                  <a:schemeClr val="bg1"/>
                </a:solidFill>
                <a:latin typeface="Cormorant Garamond SemiBold" pitchFamily="2" charset="77"/>
                <a:ea typeface="Cormorant Garamond SemiBold" pitchFamily="2" charset="77"/>
                <a:cs typeface="Cormorant Garamond SemiBold" pitchFamily="2" charset="77"/>
              </a:rPr>
              <a:t>Assurance vie luxembourgeoise</a:t>
            </a:r>
          </a:p>
        </p:txBody>
      </p:sp>
      <p:sp>
        <p:nvSpPr>
          <p:cNvPr id="2029" name="Shape 2029"/>
          <p:cNvSpPr/>
          <p:nvPr/>
        </p:nvSpPr>
        <p:spPr>
          <a:xfrm>
            <a:off x="7819734" y="2300000"/>
            <a:ext cx="3872266" cy="4120000"/>
          </a:xfrm>
          <a:prstGeom prst="rect">
            <a:avLst/>
          </a:prstGeom>
          <a:solidFill>
            <a:srgbClr val="FCF9EF"/>
          </a:solidFill>
          <a:ln>
            <a:noFill/>
          </a:ln>
        </p:spPr>
        <p:txBody>
          <a:bodyPr rtlCol="0" anchor="ctr"/>
          <a:lstStyle/>
          <a:p>
            <a:endParaRPr lang="fr-FR"/>
          </a:p>
        </p:txBody>
      </p:sp>
      <p:sp>
        <p:nvSpPr>
          <p:cNvPr id="2030" name="Text 2030"/>
          <p:cNvSpPr txBox="1"/>
          <p:nvPr/>
        </p:nvSpPr>
        <p:spPr>
          <a:xfrm>
            <a:off x="1007468" y="2300000"/>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Ticket d’entrée</a:t>
            </a:r>
          </a:p>
        </p:txBody>
      </p:sp>
      <p:sp>
        <p:nvSpPr>
          <p:cNvPr id="2031" name="Text 2031"/>
          <p:cNvSpPr txBox="1"/>
          <p:nvPr/>
        </p:nvSpPr>
        <p:spPr>
          <a:xfrm>
            <a:off x="4147468" y="2300000"/>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Dès 10 000 EUR chez LFDR</a:t>
            </a:r>
          </a:p>
        </p:txBody>
      </p:sp>
      <p:sp>
        <p:nvSpPr>
          <p:cNvPr id="2032" name="Text 2032"/>
          <p:cNvSpPr txBox="1"/>
          <p:nvPr/>
        </p:nvSpPr>
        <p:spPr>
          <a:xfrm>
            <a:off x="8019734" y="2300000"/>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Dès 100 000 EUR (250 000 € en FID / FAS)</a:t>
            </a:r>
          </a:p>
        </p:txBody>
      </p:sp>
      <p:sp>
        <p:nvSpPr>
          <p:cNvPr id="2033" name="Shape 2033"/>
          <p:cNvSpPr/>
          <p:nvPr/>
        </p:nvSpPr>
        <p:spPr>
          <a:xfrm>
            <a:off x="947468" y="2757777"/>
            <a:ext cx="10744532" cy="1"/>
          </a:xfrm>
          <a:prstGeom prst="line">
            <a:avLst/>
          </a:prstGeom>
          <a:noFill/>
          <a:ln w="6350">
            <a:solidFill>
              <a:srgbClr val="D9CBA8"/>
            </a:solidFill>
          </a:ln>
        </p:spPr>
        <p:txBody>
          <a:bodyPr rtlCol="0" anchor="ctr"/>
          <a:lstStyle/>
          <a:p>
            <a:endParaRPr lang="fr-FR"/>
          </a:p>
        </p:txBody>
      </p:sp>
      <p:sp>
        <p:nvSpPr>
          <p:cNvPr id="2034" name="Text 2034"/>
          <p:cNvSpPr txBox="1"/>
          <p:nvPr/>
        </p:nvSpPr>
        <p:spPr>
          <a:xfrm>
            <a:off x="1007468" y="2757777"/>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Protection des avoirs</a:t>
            </a:r>
          </a:p>
        </p:txBody>
      </p:sp>
      <p:sp>
        <p:nvSpPr>
          <p:cNvPr id="2035" name="Text 2035"/>
          <p:cNvSpPr txBox="1"/>
          <p:nvPr/>
        </p:nvSpPr>
        <p:spPr>
          <a:xfrm>
            <a:off x="4147468" y="2757777"/>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Garantie plafonnée à 70 000 EUR</a:t>
            </a:r>
          </a:p>
        </p:txBody>
      </p:sp>
      <p:sp>
        <p:nvSpPr>
          <p:cNvPr id="2036" name="Text 2036"/>
          <p:cNvSpPr txBox="1"/>
          <p:nvPr/>
        </p:nvSpPr>
        <p:spPr>
          <a:xfrm>
            <a:off x="8019734" y="2757777"/>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Super privilège : protection illimitée</a:t>
            </a:r>
          </a:p>
        </p:txBody>
      </p:sp>
      <p:sp>
        <p:nvSpPr>
          <p:cNvPr id="2037" name="Shape 2037"/>
          <p:cNvSpPr/>
          <p:nvPr/>
        </p:nvSpPr>
        <p:spPr>
          <a:xfrm>
            <a:off x="947468" y="3215555"/>
            <a:ext cx="10744532" cy="1"/>
          </a:xfrm>
          <a:prstGeom prst="line">
            <a:avLst/>
          </a:prstGeom>
          <a:noFill/>
          <a:ln w="6350">
            <a:solidFill>
              <a:srgbClr val="D9CBA8"/>
            </a:solidFill>
          </a:ln>
        </p:spPr>
        <p:txBody>
          <a:bodyPr rtlCol="0" anchor="ctr"/>
          <a:lstStyle/>
          <a:p>
            <a:endParaRPr lang="fr-FR"/>
          </a:p>
        </p:txBody>
      </p:sp>
      <p:sp>
        <p:nvSpPr>
          <p:cNvPr id="2038" name="Text 2038"/>
          <p:cNvSpPr txBox="1"/>
          <p:nvPr/>
        </p:nvSpPr>
        <p:spPr>
          <a:xfrm>
            <a:off x="1007468" y="3215555"/>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Conservation des actifs</a:t>
            </a:r>
          </a:p>
        </p:txBody>
      </p:sp>
      <p:sp>
        <p:nvSpPr>
          <p:cNvPr id="2039" name="Text 2039"/>
          <p:cNvSpPr txBox="1"/>
          <p:nvPr/>
        </p:nvSpPr>
        <p:spPr>
          <a:xfrm>
            <a:off x="4147468" y="3215555"/>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Au bilan de l’assureur</a:t>
            </a:r>
          </a:p>
        </p:txBody>
      </p:sp>
      <p:sp>
        <p:nvSpPr>
          <p:cNvPr id="2040" name="Text 2040"/>
          <p:cNvSpPr txBox="1"/>
          <p:nvPr/>
        </p:nvSpPr>
        <p:spPr>
          <a:xfrm>
            <a:off x="8019734" y="3215555"/>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Banque dépositaire, actifs ségrégués</a:t>
            </a:r>
          </a:p>
        </p:txBody>
      </p:sp>
      <p:sp>
        <p:nvSpPr>
          <p:cNvPr id="2041" name="Shape 2041"/>
          <p:cNvSpPr/>
          <p:nvPr/>
        </p:nvSpPr>
        <p:spPr>
          <a:xfrm>
            <a:off x="947468" y="3673333"/>
            <a:ext cx="10744532" cy="1"/>
          </a:xfrm>
          <a:prstGeom prst="line">
            <a:avLst/>
          </a:prstGeom>
          <a:noFill/>
          <a:ln w="6350">
            <a:solidFill>
              <a:srgbClr val="D9CBA8"/>
            </a:solidFill>
          </a:ln>
        </p:spPr>
        <p:txBody>
          <a:bodyPr rtlCol="0" anchor="ctr"/>
          <a:lstStyle/>
          <a:p>
            <a:endParaRPr lang="fr-FR"/>
          </a:p>
        </p:txBody>
      </p:sp>
      <p:sp>
        <p:nvSpPr>
          <p:cNvPr id="2042" name="Text 2042"/>
          <p:cNvSpPr txBox="1"/>
          <p:nvPr/>
        </p:nvSpPr>
        <p:spPr>
          <a:xfrm>
            <a:off x="1007468" y="3673333"/>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Univers d’investissement</a:t>
            </a:r>
          </a:p>
        </p:txBody>
      </p:sp>
      <p:sp>
        <p:nvSpPr>
          <p:cNvPr id="2043" name="Text 2043"/>
          <p:cNvSpPr txBox="1"/>
          <p:nvPr/>
        </p:nvSpPr>
        <p:spPr>
          <a:xfrm>
            <a:off x="4147468" y="3673333"/>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Fonds euros et UC référencées</a:t>
            </a:r>
          </a:p>
        </p:txBody>
      </p:sp>
      <p:sp>
        <p:nvSpPr>
          <p:cNvPr id="2044" name="Text 2044"/>
          <p:cNvSpPr txBox="1"/>
          <p:nvPr/>
        </p:nvSpPr>
        <p:spPr>
          <a:xfrm>
            <a:off x="8019734" y="3673333"/>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Fonds euros, Titres vifs, Obligations, ETF, OPC, Performance Absolue, PE, PS.</a:t>
            </a:r>
          </a:p>
        </p:txBody>
      </p:sp>
      <p:sp>
        <p:nvSpPr>
          <p:cNvPr id="2045" name="Shape 2045"/>
          <p:cNvSpPr/>
          <p:nvPr/>
        </p:nvSpPr>
        <p:spPr>
          <a:xfrm>
            <a:off x="947468" y="4131111"/>
            <a:ext cx="10744532" cy="1"/>
          </a:xfrm>
          <a:prstGeom prst="line">
            <a:avLst/>
          </a:prstGeom>
          <a:noFill/>
          <a:ln w="6350">
            <a:solidFill>
              <a:srgbClr val="D9CBA8"/>
            </a:solidFill>
          </a:ln>
        </p:spPr>
        <p:txBody>
          <a:bodyPr rtlCol="0" anchor="ctr"/>
          <a:lstStyle/>
          <a:p>
            <a:endParaRPr lang="fr-FR"/>
          </a:p>
        </p:txBody>
      </p:sp>
      <p:sp>
        <p:nvSpPr>
          <p:cNvPr id="2046" name="Text 2046"/>
          <p:cNvSpPr txBox="1"/>
          <p:nvPr/>
        </p:nvSpPr>
        <p:spPr>
          <a:xfrm>
            <a:off x="1007468" y="4131111"/>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Devises</a:t>
            </a:r>
          </a:p>
        </p:txBody>
      </p:sp>
      <p:sp>
        <p:nvSpPr>
          <p:cNvPr id="2047" name="Text 2047"/>
          <p:cNvSpPr txBox="1"/>
          <p:nvPr/>
        </p:nvSpPr>
        <p:spPr>
          <a:xfrm>
            <a:off x="4147468" y="4131111"/>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Euro</a:t>
            </a:r>
          </a:p>
        </p:txBody>
      </p:sp>
      <p:sp>
        <p:nvSpPr>
          <p:cNvPr id="2048" name="Text 2048"/>
          <p:cNvSpPr txBox="1"/>
          <p:nvPr/>
        </p:nvSpPr>
        <p:spPr>
          <a:xfrm>
            <a:off x="8019734" y="4131111"/>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Multidevises (USD, CHF, GBP…)</a:t>
            </a:r>
          </a:p>
        </p:txBody>
      </p:sp>
      <p:sp>
        <p:nvSpPr>
          <p:cNvPr id="2049" name="Shape 2049"/>
          <p:cNvSpPr/>
          <p:nvPr/>
        </p:nvSpPr>
        <p:spPr>
          <a:xfrm>
            <a:off x="947468" y="4588888"/>
            <a:ext cx="10744532" cy="1"/>
          </a:xfrm>
          <a:prstGeom prst="line">
            <a:avLst/>
          </a:prstGeom>
          <a:noFill/>
          <a:ln w="6350">
            <a:solidFill>
              <a:srgbClr val="D9CBA8"/>
            </a:solidFill>
          </a:ln>
        </p:spPr>
        <p:txBody>
          <a:bodyPr rtlCol="0" anchor="ctr"/>
          <a:lstStyle/>
          <a:p>
            <a:endParaRPr lang="fr-FR"/>
          </a:p>
        </p:txBody>
      </p:sp>
      <p:sp>
        <p:nvSpPr>
          <p:cNvPr id="2050" name="Text 2050"/>
          <p:cNvSpPr txBox="1"/>
          <p:nvPr/>
        </p:nvSpPr>
        <p:spPr>
          <a:xfrm>
            <a:off x="1007468" y="4588888"/>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Risque de gel des rachats (loi Sapin 2)</a:t>
            </a:r>
          </a:p>
        </p:txBody>
      </p:sp>
      <p:sp>
        <p:nvSpPr>
          <p:cNvPr id="2051" name="Text 2051"/>
          <p:cNvSpPr txBox="1"/>
          <p:nvPr/>
        </p:nvSpPr>
        <p:spPr>
          <a:xfrm>
            <a:off x="4147468" y="4588888"/>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OUI</a:t>
            </a:r>
          </a:p>
        </p:txBody>
      </p:sp>
      <p:sp>
        <p:nvSpPr>
          <p:cNvPr id="2052" name="Text 2052"/>
          <p:cNvSpPr txBox="1"/>
          <p:nvPr/>
        </p:nvSpPr>
        <p:spPr>
          <a:xfrm>
            <a:off x="8019734" y="4588888"/>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Non applicable aux assureurs luxembourgeois</a:t>
            </a:r>
          </a:p>
        </p:txBody>
      </p:sp>
      <p:sp>
        <p:nvSpPr>
          <p:cNvPr id="2053" name="Shape 2053"/>
          <p:cNvSpPr/>
          <p:nvPr/>
        </p:nvSpPr>
        <p:spPr>
          <a:xfrm>
            <a:off x="947468" y="5046666"/>
            <a:ext cx="10744532" cy="1"/>
          </a:xfrm>
          <a:prstGeom prst="line">
            <a:avLst/>
          </a:prstGeom>
          <a:noFill/>
          <a:ln w="6350">
            <a:solidFill>
              <a:srgbClr val="D9CBA8"/>
            </a:solidFill>
          </a:ln>
        </p:spPr>
        <p:txBody>
          <a:bodyPr rtlCol="0" anchor="ctr"/>
          <a:lstStyle/>
          <a:p>
            <a:endParaRPr lang="fr-FR"/>
          </a:p>
        </p:txBody>
      </p:sp>
      <p:sp>
        <p:nvSpPr>
          <p:cNvPr id="2054" name="Text 2054"/>
          <p:cNvSpPr txBox="1"/>
          <p:nvPr/>
        </p:nvSpPr>
        <p:spPr>
          <a:xfrm>
            <a:off x="1007468" y="5046666"/>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Mobilité internationale</a:t>
            </a:r>
          </a:p>
        </p:txBody>
      </p:sp>
      <p:sp>
        <p:nvSpPr>
          <p:cNvPr id="2055" name="Text 2055"/>
          <p:cNvSpPr txBox="1"/>
          <p:nvPr/>
        </p:nvSpPr>
        <p:spPr>
          <a:xfrm>
            <a:off x="4147468" y="5046666"/>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Pensée pour les résidents français</a:t>
            </a:r>
          </a:p>
        </p:txBody>
      </p:sp>
      <p:sp>
        <p:nvSpPr>
          <p:cNvPr id="2056" name="Text 2056"/>
          <p:cNvSpPr txBox="1"/>
          <p:nvPr/>
        </p:nvSpPr>
        <p:spPr>
          <a:xfrm>
            <a:off x="8019734" y="5046666"/>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Neutralité fiscale, le contrat suit le souscripteur</a:t>
            </a:r>
          </a:p>
        </p:txBody>
      </p:sp>
      <p:sp>
        <p:nvSpPr>
          <p:cNvPr id="2057" name="Shape 2057"/>
          <p:cNvSpPr/>
          <p:nvPr/>
        </p:nvSpPr>
        <p:spPr>
          <a:xfrm>
            <a:off x="947468" y="5504444"/>
            <a:ext cx="10744532" cy="1"/>
          </a:xfrm>
          <a:prstGeom prst="line">
            <a:avLst/>
          </a:prstGeom>
          <a:noFill/>
          <a:ln w="6350">
            <a:solidFill>
              <a:srgbClr val="D9CBA8"/>
            </a:solidFill>
          </a:ln>
        </p:spPr>
        <p:txBody>
          <a:bodyPr rtlCol="0" anchor="ctr"/>
          <a:lstStyle/>
          <a:p>
            <a:endParaRPr lang="fr-FR"/>
          </a:p>
        </p:txBody>
      </p:sp>
      <p:sp>
        <p:nvSpPr>
          <p:cNvPr id="2058" name="Text 2058"/>
          <p:cNvSpPr txBox="1"/>
          <p:nvPr/>
        </p:nvSpPr>
        <p:spPr>
          <a:xfrm>
            <a:off x="1007468" y="5504444"/>
            <a:ext cx="2880000" cy="457777"/>
          </a:xfrm>
          <a:prstGeom prst="rect">
            <a:avLst/>
          </a:prstGeom>
          <a:noFill/>
          <a:ln>
            <a:noFill/>
          </a:ln>
        </p:spPr>
        <p:txBody>
          <a:bodyPr wrap="square" lIns="0" tIns="0" rIns="0" bIns="0" rtlCol="0" anchor="ctr">
            <a:normAutofit/>
          </a:bodyPr>
          <a:lstStyle/>
          <a:p>
            <a:r>
              <a:rPr lang="fr-FR" sz="1000" dirty="0">
                <a:solidFill>
                  <a:srgbClr val="073527"/>
                </a:solidFill>
                <a:latin typeface="Jost Medium" pitchFamily="2" charset="77"/>
                <a:ea typeface="Jost Medium" pitchFamily="2" charset="77"/>
              </a:rPr>
              <a:t>Accédez à la gestion en parts institutionnelles</a:t>
            </a:r>
          </a:p>
        </p:txBody>
      </p:sp>
      <p:sp>
        <p:nvSpPr>
          <p:cNvPr id="2059" name="Text 2059"/>
          <p:cNvSpPr txBox="1"/>
          <p:nvPr/>
        </p:nvSpPr>
        <p:spPr>
          <a:xfrm>
            <a:off x="4147468" y="5504444"/>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NON</a:t>
            </a:r>
          </a:p>
        </p:txBody>
      </p:sp>
      <p:sp>
        <p:nvSpPr>
          <p:cNvPr id="2060" name="Text 2060"/>
          <p:cNvSpPr txBox="1"/>
          <p:nvPr/>
        </p:nvSpPr>
        <p:spPr>
          <a:xfrm>
            <a:off x="8019734" y="5504444"/>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OUI</a:t>
            </a:r>
          </a:p>
        </p:txBody>
      </p:sp>
      <p:sp>
        <p:nvSpPr>
          <p:cNvPr id="2061" name="Shape 2061"/>
          <p:cNvSpPr/>
          <p:nvPr/>
        </p:nvSpPr>
        <p:spPr>
          <a:xfrm>
            <a:off x="947468" y="5962222"/>
            <a:ext cx="10744532" cy="1"/>
          </a:xfrm>
          <a:prstGeom prst="line">
            <a:avLst/>
          </a:prstGeom>
          <a:noFill/>
          <a:ln w="6350">
            <a:solidFill>
              <a:srgbClr val="D9CBA8"/>
            </a:solidFill>
          </a:ln>
        </p:spPr>
        <p:txBody>
          <a:bodyPr rtlCol="0" anchor="ctr"/>
          <a:lstStyle/>
          <a:p>
            <a:endParaRPr lang="fr-FR"/>
          </a:p>
        </p:txBody>
      </p:sp>
      <p:sp>
        <p:nvSpPr>
          <p:cNvPr id="2062" name="Text 2062"/>
          <p:cNvSpPr txBox="1"/>
          <p:nvPr/>
        </p:nvSpPr>
        <p:spPr>
          <a:xfrm>
            <a:off x="1007468" y="5962222"/>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Frais de gestion chez LFDR</a:t>
            </a:r>
          </a:p>
        </p:txBody>
      </p:sp>
      <p:sp>
        <p:nvSpPr>
          <p:cNvPr id="2063" name="Text 2063"/>
          <p:cNvSpPr txBox="1"/>
          <p:nvPr/>
        </p:nvSpPr>
        <p:spPr>
          <a:xfrm>
            <a:off x="4147468" y="5962222"/>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Entre 0,5% et 0,6%</a:t>
            </a:r>
          </a:p>
        </p:txBody>
      </p:sp>
      <p:sp>
        <p:nvSpPr>
          <p:cNvPr id="2064" name="Text 2064"/>
          <p:cNvSpPr txBox="1"/>
          <p:nvPr/>
        </p:nvSpPr>
        <p:spPr>
          <a:xfrm>
            <a:off x="8019734" y="5962222"/>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Entre 0,5% et 0,8%</a:t>
            </a:r>
          </a:p>
        </p:txBody>
      </p:sp>
      <p:sp>
        <p:nvSpPr>
          <p:cNvPr id="2065" name="Shape 2065"/>
          <p:cNvSpPr/>
          <p:nvPr/>
        </p:nvSpPr>
        <p:spPr>
          <a:xfrm>
            <a:off x="947468" y="6420000"/>
            <a:ext cx="10744532" cy="1"/>
          </a:xfrm>
          <a:prstGeom prst="line">
            <a:avLst/>
          </a:prstGeom>
          <a:noFill/>
          <a:ln w="9525">
            <a:solidFill>
              <a:srgbClr val="A9853F"/>
            </a:solidFill>
          </a:ln>
        </p:spPr>
        <p:txBody>
          <a:bodyPr rtlCol="0" anchor="ctr"/>
          <a:lstStyle/>
          <a:p>
            <a:endParaRPr lang="fr-FR"/>
          </a:p>
        </p:txBody>
      </p:sp>
    </p:spTree>
    <p:extLst>
      <p:ext uri="{BB962C8B-B14F-4D97-AF65-F5344CB8AC3E}">
        <p14:creationId xmlns:p14="http://schemas.microsoft.com/office/powerpoint/2010/main" val="3109473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1" y="0"/>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8500000"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Emprunter en nantissant son portefeuille financier, sans vendre ses actifs</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8500000"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Qu’est-ce que le crédit Lombard ?</a:t>
            </a:r>
          </a:p>
        </p:txBody>
      </p:sp>
      <p:sp>
        <p:nvSpPr>
          <p:cNvPr id="201" name="Description 201"/>
          <p:cNvSpPr txBox="1"/>
          <p:nvPr/>
        </p:nvSpPr>
        <p:spPr>
          <a:xfrm>
            <a:off x="891320" y="1540451"/>
            <a:ext cx="10987860" cy="1550000"/>
          </a:xfrm>
          <a:prstGeom prst="rect">
            <a:avLst/>
          </a:prstGeom>
          <a:noFill/>
          <a:ln>
            <a:noFill/>
          </a:ln>
        </p:spPr>
        <p:txBody>
          <a:bodyPr wrap="square" lIns="0" tIns="0" rIns="0" bIns="0" rtlCol="0" anchor="t">
            <a:normAutofit/>
          </a:bodyPr>
          <a:lstStyle/>
          <a:p>
            <a:pPr algn="just">
              <a:buNone/>
            </a:pPr>
            <a:r>
              <a:rPr lang="fr-FR" sz="1100" dirty="0">
                <a:solidFill>
                  <a:srgbClr val="1A1A1A"/>
                </a:solidFill>
                <a:latin typeface="Jost Light" pitchFamily="2" charset="77"/>
                <a:ea typeface="Jost Light" pitchFamily="2" charset="77"/>
                <a:cs typeface="Jost Light" pitchFamily="2" charset="77"/>
              </a:rPr>
              <a:t>Le crédit lombard est un prêt bancaire garanti par le nantissement d’un portefeuille d’investissement au sein d’une enveloppe financière :</a:t>
            </a:r>
          </a:p>
          <a:p>
            <a:pPr algn="just">
              <a:buNone/>
            </a:pPr>
            <a:endParaRPr lang="fr-FR" sz="1100" dirty="0">
              <a:solidFill>
                <a:srgbClr val="1A1A1A"/>
              </a:solidFill>
              <a:latin typeface="Jost Light" pitchFamily="2" charset="77"/>
              <a:ea typeface="Jost Light" pitchFamily="2" charset="77"/>
              <a:cs typeface="Jost Light" pitchFamily="2" charset="77"/>
            </a:endParaRPr>
          </a:p>
          <a:p>
            <a:pPr marL="171450" indent="-171450" algn="just">
              <a:buFont typeface="Wingdings" pitchFamily="2" charset="2"/>
              <a:buChar char="§"/>
            </a:pPr>
            <a:r>
              <a:rPr lang="fr-FR" sz="1100" dirty="0">
                <a:solidFill>
                  <a:srgbClr val="1A1A1A"/>
                </a:solidFill>
                <a:latin typeface="Jost Light" pitchFamily="2" charset="77"/>
                <a:ea typeface="Jost Light" pitchFamily="2" charset="77"/>
                <a:cs typeface="Jost Light" pitchFamily="2" charset="77"/>
              </a:rPr>
              <a:t>Assurance vie Française ou Luxembourgeoise</a:t>
            </a:r>
          </a:p>
          <a:p>
            <a:pPr marL="171450" indent="-171450" algn="just">
              <a:buFont typeface="Wingdings" pitchFamily="2" charset="2"/>
              <a:buChar char="§"/>
            </a:pPr>
            <a:r>
              <a:rPr lang="fr-FR" sz="1100" dirty="0">
                <a:solidFill>
                  <a:srgbClr val="1A1A1A"/>
                </a:solidFill>
                <a:latin typeface="Jost Light" pitchFamily="2" charset="77"/>
                <a:ea typeface="Jost Light" pitchFamily="2" charset="77"/>
                <a:cs typeface="Jost Light" pitchFamily="2" charset="77"/>
              </a:rPr>
              <a:t>Compte titre ordinaire </a:t>
            </a:r>
          </a:p>
          <a:p>
            <a:pPr marL="171450" indent="-171450" algn="just">
              <a:buFont typeface="Wingdings" pitchFamily="2" charset="2"/>
              <a:buChar char="§"/>
            </a:pPr>
            <a:endParaRPr lang="fr-FR" sz="1100" dirty="0">
              <a:solidFill>
                <a:srgbClr val="1A1A1A"/>
              </a:solidFill>
              <a:latin typeface="Jost Light" pitchFamily="2" charset="77"/>
              <a:ea typeface="Jost Light" pitchFamily="2" charset="77"/>
              <a:cs typeface="Jost Light" pitchFamily="2" charset="77"/>
            </a:endParaRPr>
          </a:p>
          <a:p>
            <a:pPr algn="just">
              <a:buNone/>
            </a:pPr>
            <a:r>
              <a:rPr lang="fr-FR" sz="1100" dirty="0">
                <a:solidFill>
                  <a:srgbClr val="1A1A1A"/>
                </a:solidFill>
                <a:latin typeface="Jost Light" pitchFamily="2" charset="77"/>
                <a:ea typeface="Jost Light" pitchFamily="2" charset="77"/>
                <a:cs typeface="Jost Light" pitchFamily="2" charset="77"/>
              </a:rPr>
              <a:t>La banque obtient un droit sur les actifs en cas de défaut, mais n’en devient jamais propriétaire. L’emprunteur conserve son exposition aux marchés, continue de percevoir dividendes, coupons et intérêts, et garde l’espérance de valorisation de son portefeuille.</a:t>
            </a:r>
          </a:p>
        </p:txBody>
      </p:sp>
      <p:sp>
        <p:nvSpPr>
          <p:cNvPr id="202" name="Types Label 202"/>
          <p:cNvSpPr txBox="1"/>
          <p:nvPr/>
        </p:nvSpPr>
        <p:spPr>
          <a:xfrm>
            <a:off x="947468" y="3008000"/>
            <a:ext cx="5100000" cy="340000"/>
          </a:xfrm>
          <a:prstGeom prst="rect">
            <a:avLst/>
          </a:prstGeom>
          <a:noFill/>
          <a:ln>
            <a:noFill/>
          </a:ln>
        </p:spPr>
        <p:txBody>
          <a:bodyPr wrap="square" lIns="0" tIns="0" rIns="0" bIns="0" rtlCol="0" anchor="t">
            <a:normAutofit/>
          </a:bodyPr>
          <a:lstStyle/>
          <a:p>
            <a:pPr algn="l">
              <a:buNone/>
            </a:pPr>
            <a:r>
              <a:rPr lang="fr-FR" sz="1300" b="1" dirty="0">
                <a:solidFill>
                  <a:srgbClr val="A9853F"/>
                </a:solidFill>
                <a:latin typeface="Cormorant Garamond SemiBold" pitchFamily="2" charset="77"/>
                <a:ea typeface="Cormorant Garamond SemiBold" pitchFamily="2" charset="77"/>
                <a:cs typeface="Cormorant Garamond SemiBold" pitchFamily="2" charset="77"/>
              </a:rPr>
              <a:t>2 formes principales</a:t>
            </a:r>
          </a:p>
        </p:txBody>
      </p:sp>
      <p:sp>
        <p:nvSpPr>
          <p:cNvPr id="203" name="Types Body 203"/>
          <p:cNvSpPr txBox="1"/>
          <p:nvPr/>
        </p:nvSpPr>
        <p:spPr>
          <a:xfrm>
            <a:off x="891320" y="3348000"/>
            <a:ext cx="6086378" cy="1300000"/>
          </a:xfrm>
          <a:prstGeom prst="rect">
            <a:avLst/>
          </a:prstGeom>
          <a:noFill/>
          <a:ln>
            <a:noFill/>
          </a:ln>
        </p:spPr>
        <p:txBody>
          <a:bodyPr wrap="square" lIns="0" tIns="0" rIns="0" bIns="0" rtlCol="0" anchor="t">
            <a:normAutofit/>
          </a:bodyPr>
          <a:lstStyle/>
          <a:p>
            <a:pPr marL="171450" indent="-171450" algn="just">
              <a:spcAft>
                <a:spcPts val="300"/>
              </a:spcAft>
              <a:buFont typeface="Wingdings" pitchFamily="2" charset="2"/>
              <a:buChar char="§"/>
            </a:pPr>
            <a:r>
              <a:rPr lang="fr-FR" sz="1100" dirty="0">
                <a:solidFill>
                  <a:srgbClr val="1A1A1A"/>
                </a:solidFill>
                <a:latin typeface="Jost Light" pitchFamily="2" charset="77"/>
                <a:ea typeface="Jost Light" pitchFamily="2" charset="77"/>
              </a:rPr>
              <a:t>Prêt in fine : capital remboursé en une fois à l’échéance, intérêts payés périodiquement.</a:t>
            </a:r>
          </a:p>
          <a:p>
            <a:pPr marL="171450" indent="-171450" algn="just">
              <a:spcAft>
                <a:spcPts val="300"/>
              </a:spcAft>
              <a:buFont typeface="Wingdings" pitchFamily="2" charset="2"/>
              <a:buChar char="§"/>
            </a:pPr>
            <a:r>
              <a:rPr lang="fr-FR" sz="1100" dirty="0">
                <a:solidFill>
                  <a:srgbClr val="1A1A1A"/>
                </a:solidFill>
                <a:latin typeface="Jost Light" pitchFamily="2" charset="77"/>
                <a:ea typeface="Jost Light" pitchFamily="2" charset="77"/>
              </a:rPr>
              <a:t>Avance ferme : montant fixe débloqué en une fois, sur une durée déterminée.</a:t>
            </a:r>
          </a:p>
        </p:txBody>
      </p:sp>
      <p:sp>
        <p:nvSpPr>
          <p:cNvPr id="6" name="Shape 201">
            <a:extLst>
              <a:ext uri="{FF2B5EF4-FFF2-40B4-BE49-F238E27FC236}">
                <a16:creationId xmlns:a16="http://schemas.microsoft.com/office/drawing/2014/main" id="{B119CF08-AFD2-0E11-C9BB-9A71627AF4DE}"/>
              </a:ext>
            </a:extLst>
          </p:cNvPr>
          <p:cNvSpPr/>
          <p:nvPr/>
        </p:nvSpPr>
        <p:spPr>
          <a:xfrm>
            <a:off x="947468" y="4321803"/>
            <a:ext cx="4901107" cy="309099"/>
          </a:xfrm>
          <a:prstGeom prst="rect">
            <a:avLst/>
          </a:prstGeom>
          <a:solidFill>
            <a:srgbClr val="001B00"/>
          </a:solidFill>
          <a:ln>
            <a:noFill/>
          </a:ln>
        </p:spPr>
        <p:txBody>
          <a:bodyPr rtlCol="0" anchor="ctr"/>
          <a:lstStyle/>
          <a:p>
            <a:pPr algn="ctr"/>
            <a:endParaRPr lang="fr-FR"/>
          </a:p>
        </p:txBody>
      </p:sp>
      <p:sp>
        <p:nvSpPr>
          <p:cNvPr id="7" name="Avantages Header 202">
            <a:extLst>
              <a:ext uri="{FF2B5EF4-FFF2-40B4-BE49-F238E27FC236}">
                <a16:creationId xmlns:a16="http://schemas.microsoft.com/office/drawing/2014/main" id="{83744F5F-9748-21A4-84B8-C4C39336C3EA}"/>
              </a:ext>
            </a:extLst>
          </p:cNvPr>
          <p:cNvSpPr txBox="1"/>
          <p:nvPr/>
        </p:nvSpPr>
        <p:spPr>
          <a:xfrm>
            <a:off x="947468" y="4321803"/>
            <a:ext cx="4901107" cy="309099"/>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Jost Black" pitchFamily="2" charset="77"/>
                <a:ea typeface="Jost Black" pitchFamily="2" charset="77"/>
                <a:cs typeface="Cormorant Garamond SemiBold" pitchFamily="2" charset="77"/>
              </a:rPr>
              <a:t>Avantages</a:t>
            </a:r>
          </a:p>
        </p:txBody>
      </p:sp>
      <p:sp>
        <p:nvSpPr>
          <p:cNvPr id="8" name="Shape 203">
            <a:extLst>
              <a:ext uri="{FF2B5EF4-FFF2-40B4-BE49-F238E27FC236}">
                <a16:creationId xmlns:a16="http://schemas.microsoft.com/office/drawing/2014/main" id="{45975303-0619-D4F8-BBE4-6A908FEE65B1}"/>
              </a:ext>
            </a:extLst>
          </p:cNvPr>
          <p:cNvSpPr/>
          <p:nvPr/>
        </p:nvSpPr>
        <p:spPr>
          <a:xfrm>
            <a:off x="947468" y="4781803"/>
            <a:ext cx="4901107" cy="1713483"/>
          </a:xfrm>
          <a:prstGeom prst="rect">
            <a:avLst/>
          </a:prstGeom>
          <a:solidFill>
            <a:srgbClr val="FCF9EF"/>
          </a:solidFill>
          <a:ln>
            <a:noFill/>
          </a:ln>
        </p:spPr>
        <p:txBody>
          <a:bodyPr rtlCol="0" anchor="ctr"/>
          <a:lstStyle/>
          <a:p>
            <a:pPr algn="ctr"/>
            <a:endParaRPr lang="fr-FR"/>
          </a:p>
        </p:txBody>
      </p:sp>
      <p:sp>
        <p:nvSpPr>
          <p:cNvPr id="9" name="Avantages Body 204">
            <a:extLst>
              <a:ext uri="{FF2B5EF4-FFF2-40B4-BE49-F238E27FC236}">
                <a16:creationId xmlns:a16="http://schemas.microsoft.com/office/drawing/2014/main" id="{43456A15-FBF2-004E-B671-2CBFFE376C42}"/>
              </a:ext>
            </a:extLst>
          </p:cNvPr>
          <p:cNvSpPr txBox="1"/>
          <p:nvPr/>
        </p:nvSpPr>
        <p:spPr>
          <a:xfrm>
            <a:off x="1167468" y="4981803"/>
            <a:ext cx="4487374" cy="1444701"/>
          </a:xfrm>
          <a:prstGeom prst="rect">
            <a:avLst/>
          </a:prstGeom>
          <a:noFill/>
          <a:ln>
            <a:noFill/>
          </a:ln>
        </p:spPr>
        <p:txBody>
          <a:bodyPr wrap="square" lIns="0" tIns="0" rIns="0" bIns="0" rtlCol="0" anchor="t">
            <a:normAutofit/>
          </a:bodyPr>
          <a:lstStyle/>
          <a:p>
            <a:pPr marL="182880" indent="-182880" algn="l">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Liquidité sans vente : pas de cession, donc pas d’imposition des plus-values.</a:t>
            </a:r>
          </a:p>
          <a:p>
            <a:pPr marL="182880" indent="-182880" algn="l">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Maintien de l’exposition aux marchés : dividendes, coupons et valorisation continuent de courir.</a:t>
            </a:r>
          </a:p>
          <a:p>
            <a:pPr marL="182880" indent="-182880" algn="l">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Effet de levier : investir ou financer un projet à un coût potentiellement inférieur au rendement attendu.</a:t>
            </a:r>
          </a:p>
          <a:p>
            <a:pPr marL="182880" indent="-182880" algn="l">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Grande flexibilité d’usage et mise en place rapide, sans affecter le patrimoine immobilier.</a:t>
            </a:r>
          </a:p>
        </p:txBody>
      </p:sp>
      <p:sp>
        <p:nvSpPr>
          <p:cNvPr id="10" name="Shape 205">
            <a:extLst>
              <a:ext uri="{FF2B5EF4-FFF2-40B4-BE49-F238E27FC236}">
                <a16:creationId xmlns:a16="http://schemas.microsoft.com/office/drawing/2014/main" id="{A4830D65-FEF7-EBB8-2619-008F4A270386}"/>
              </a:ext>
            </a:extLst>
          </p:cNvPr>
          <p:cNvSpPr/>
          <p:nvPr/>
        </p:nvSpPr>
        <p:spPr>
          <a:xfrm>
            <a:off x="6479734" y="4321803"/>
            <a:ext cx="4901107" cy="309099"/>
          </a:xfrm>
          <a:prstGeom prst="rect">
            <a:avLst/>
          </a:prstGeom>
          <a:solidFill>
            <a:srgbClr val="001B00"/>
          </a:solidFill>
          <a:ln>
            <a:noFill/>
          </a:ln>
        </p:spPr>
        <p:txBody>
          <a:bodyPr rtlCol="0" anchor="ctr"/>
          <a:lstStyle/>
          <a:p>
            <a:pPr algn="ctr"/>
            <a:endParaRPr lang="fr-FR"/>
          </a:p>
        </p:txBody>
      </p:sp>
      <p:sp>
        <p:nvSpPr>
          <p:cNvPr id="11" name="Risques Header 206">
            <a:extLst>
              <a:ext uri="{FF2B5EF4-FFF2-40B4-BE49-F238E27FC236}">
                <a16:creationId xmlns:a16="http://schemas.microsoft.com/office/drawing/2014/main" id="{0DBA36B4-5B8B-8E9C-921B-1B9E9A9C655D}"/>
              </a:ext>
            </a:extLst>
          </p:cNvPr>
          <p:cNvSpPr txBox="1"/>
          <p:nvPr/>
        </p:nvSpPr>
        <p:spPr>
          <a:xfrm>
            <a:off x="6479734" y="4321803"/>
            <a:ext cx="4901107" cy="309099"/>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Jost Black" pitchFamily="2" charset="77"/>
                <a:ea typeface="Jost Black" pitchFamily="2" charset="77"/>
                <a:cs typeface="Cormorant Garamond SemiBold" pitchFamily="2" charset="77"/>
              </a:rPr>
              <a:t>Risques à maîtriser</a:t>
            </a:r>
          </a:p>
        </p:txBody>
      </p:sp>
      <p:sp>
        <p:nvSpPr>
          <p:cNvPr id="12" name="Shape 207">
            <a:extLst>
              <a:ext uri="{FF2B5EF4-FFF2-40B4-BE49-F238E27FC236}">
                <a16:creationId xmlns:a16="http://schemas.microsoft.com/office/drawing/2014/main" id="{B40C5758-0A84-996B-7F6D-513B3882F7D1}"/>
              </a:ext>
            </a:extLst>
          </p:cNvPr>
          <p:cNvSpPr/>
          <p:nvPr/>
        </p:nvSpPr>
        <p:spPr>
          <a:xfrm>
            <a:off x="6479734" y="4781803"/>
            <a:ext cx="4901107" cy="1713483"/>
          </a:xfrm>
          <a:prstGeom prst="rect">
            <a:avLst/>
          </a:prstGeom>
          <a:solidFill>
            <a:srgbClr val="FCF9EF"/>
          </a:solidFill>
          <a:ln>
            <a:noFill/>
          </a:ln>
        </p:spPr>
        <p:txBody>
          <a:bodyPr rtlCol="0" anchor="ctr"/>
          <a:lstStyle/>
          <a:p>
            <a:pPr algn="ctr"/>
            <a:endParaRPr lang="fr-FR"/>
          </a:p>
        </p:txBody>
      </p:sp>
      <p:sp>
        <p:nvSpPr>
          <p:cNvPr id="13" name="Risques Body 208">
            <a:extLst>
              <a:ext uri="{FF2B5EF4-FFF2-40B4-BE49-F238E27FC236}">
                <a16:creationId xmlns:a16="http://schemas.microsoft.com/office/drawing/2014/main" id="{25A5FCCA-DA35-7DDE-2DBF-260BDAEE4F2C}"/>
              </a:ext>
            </a:extLst>
          </p:cNvPr>
          <p:cNvSpPr txBox="1"/>
          <p:nvPr/>
        </p:nvSpPr>
        <p:spPr>
          <a:xfrm>
            <a:off x="6699734" y="4981803"/>
            <a:ext cx="4487374" cy="1444701"/>
          </a:xfrm>
          <a:prstGeom prst="rect">
            <a:avLst/>
          </a:prstGeom>
          <a:noFill/>
          <a:ln>
            <a:noFill/>
          </a:ln>
        </p:spPr>
        <p:txBody>
          <a:bodyPr wrap="square" lIns="0" tIns="0" rIns="0" bIns="0" rtlCol="0" anchor="t">
            <a:normAutofit/>
          </a:bodyPr>
          <a:lstStyle/>
          <a:p>
            <a:pPr marL="182880" indent="-182880" algn="l">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Risque de marché : une baisse du portefeuille nanti peut déclencher un appel de marge.</a:t>
            </a:r>
          </a:p>
          <a:p>
            <a:pPr marL="182880" indent="-182880" algn="l">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Risque de taux : le coût du crédit, souvent indexé sur l’Euribor, peut évoluer à la hausse.</a:t>
            </a:r>
          </a:p>
          <a:p>
            <a:pPr marL="182880" indent="-182880" algn="l">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Vente forcée possible si le ratio de couverture minimum n’est plus respecté.</a:t>
            </a:r>
          </a:p>
        </p:txBody>
      </p:sp>
    </p:spTree>
    <p:extLst>
      <p:ext uri="{BB962C8B-B14F-4D97-AF65-F5344CB8AC3E}">
        <p14:creationId xmlns:p14="http://schemas.microsoft.com/office/powerpoint/2010/main" val="3643822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10" name="Image 9">
            <a:extLst>
              <a:ext uri="{FF2B5EF4-FFF2-40B4-BE49-F238E27FC236}">
                <a16:creationId xmlns:a16="http://schemas.microsoft.com/office/drawing/2014/main" id="{A45A41AC-531B-14F2-4922-DFED30C5F2CD}"/>
              </a:ext>
            </a:extLst>
          </p:cNvPr>
          <p:cNvPicPr>
            <a:picLocks noChangeAspect="1"/>
          </p:cNvPicPr>
          <p:nvPr/>
        </p:nvPicPr>
        <p:blipFill>
          <a:blip r:embed="rId2">
            <a:alphaModFix amt="5000"/>
          </a:blip>
          <a:srcRect l="6207" b="6232"/>
          <a:stretch>
            <a:fillRect/>
          </a:stretch>
        </p:blipFill>
        <p:spPr>
          <a:xfrm>
            <a:off x="1" y="0"/>
            <a:ext cx="12191999" cy="6859822"/>
          </a:xfrm>
          <a:prstGeom prst="rect">
            <a:avLst/>
          </a:prstGeom>
        </p:spPr>
      </p:pic>
      <p:cxnSp>
        <p:nvCxnSpPr>
          <p:cNvPr id="7" name="Connecteur droit 6">
            <a:extLst>
              <a:ext uri="{FF2B5EF4-FFF2-40B4-BE49-F238E27FC236}">
                <a16:creationId xmlns:a16="http://schemas.microsoft.com/office/drawing/2014/main" id="{1400D783-AE24-1C17-845A-D69CD9A1C408}"/>
              </a:ext>
            </a:extLst>
          </p:cNvPr>
          <p:cNvCxnSpPr>
            <a:cxnSpLocks/>
          </p:cNvCxnSpPr>
          <p:nvPr/>
        </p:nvCxnSpPr>
        <p:spPr>
          <a:xfrm>
            <a:off x="1993923" y="1735348"/>
            <a:ext cx="8771624" cy="0"/>
          </a:xfrm>
          <a:prstGeom prst="line">
            <a:avLst/>
          </a:prstGeom>
          <a:ln>
            <a:solidFill>
              <a:srgbClr val="AA853F"/>
            </a:solidFill>
          </a:ln>
        </p:spPr>
        <p:style>
          <a:lnRef idx="1">
            <a:schemeClr val="accent1"/>
          </a:lnRef>
          <a:fillRef idx="0">
            <a:schemeClr val="accent1"/>
          </a:fillRef>
          <a:effectRef idx="0">
            <a:schemeClr val="accent1"/>
          </a:effectRef>
          <a:fontRef idx="minor">
            <a:schemeClr val="tx1"/>
          </a:fontRef>
        </p:style>
      </p:cxnSp>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8000000"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Mise en place du crédit Lombard</a:t>
            </a:r>
          </a:p>
        </p:txBody>
      </p:sp>
      <p:sp>
        <p:nvSpPr>
          <p:cNvPr id="201" name="Badge 201"/>
          <p:cNvSpPr/>
          <p:nvPr/>
        </p:nvSpPr>
        <p:spPr>
          <a:xfrm>
            <a:off x="1743923" y="1485348"/>
            <a:ext cx="500000" cy="500000"/>
          </a:xfrm>
          <a:prstGeom prst="ellipse">
            <a:avLst/>
          </a:prstGeom>
          <a:solidFill>
            <a:srgbClr val="A9853F"/>
          </a:solidFill>
          <a:ln>
            <a:noFill/>
          </a:ln>
        </p:spPr>
        <p:txBody>
          <a:bodyPr anchor="ctr"/>
          <a:lstStyle/>
          <a:p>
            <a:pPr algn="ctr"/>
            <a:r>
              <a:rPr lang="fr-FR" sz="1400" b="1" dirty="0">
                <a:solidFill>
                  <a:srgbClr val="FFFFFF"/>
                </a:solidFill>
                <a:latin typeface="Jost Black" pitchFamily="2" charset="77"/>
                <a:ea typeface="Jost Black" pitchFamily="2" charset="77"/>
                <a:cs typeface="Cormorant Garamond SemiBold" pitchFamily="2" charset="77"/>
              </a:rPr>
              <a:t>1</a:t>
            </a:r>
          </a:p>
        </p:txBody>
      </p:sp>
      <p:sp>
        <p:nvSpPr>
          <p:cNvPr id="202" name="Shape 202"/>
          <p:cNvSpPr/>
          <p:nvPr/>
        </p:nvSpPr>
        <p:spPr>
          <a:xfrm>
            <a:off x="1007470" y="2135348"/>
            <a:ext cx="1912906" cy="729000"/>
          </a:xfrm>
          <a:prstGeom prst="rect">
            <a:avLst/>
          </a:prstGeom>
          <a:solidFill>
            <a:srgbClr val="FCF9EF"/>
          </a:solidFill>
          <a:ln>
            <a:noFill/>
          </a:ln>
        </p:spPr>
        <p:txBody>
          <a:bodyPr rtlCol="0" anchor="ctr"/>
          <a:lstStyle/>
          <a:p>
            <a:pPr algn="ctr"/>
            <a:endParaRPr lang="fr-FR"/>
          </a:p>
        </p:txBody>
      </p:sp>
      <p:sp>
        <p:nvSpPr>
          <p:cNvPr id="203" name="Step Body 203"/>
          <p:cNvSpPr txBox="1"/>
          <p:nvPr/>
        </p:nvSpPr>
        <p:spPr>
          <a:xfrm>
            <a:off x="1107470" y="2265348"/>
            <a:ext cx="1712906" cy="711986"/>
          </a:xfrm>
          <a:prstGeom prst="rect">
            <a:avLst/>
          </a:prstGeom>
          <a:noFill/>
          <a:ln>
            <a:noFill/>
          </a:ln>
        </p:spPr>
        <p:txBody>
          <a:bodyPr wrap="square" lIns="0" tIns="0" rIns="0" bIns="0" rtlCol="0" anchor="t">
            <a:normAutofit/>
          </a:bodyPr>
          <a:lstStyle/>
          <a:p>
            <a:pPr algn="ctr">
              <a:spcAft>
                <a:spcPts val="250"/>
              </a:spcAft>
              <a:buNone/>
            </a:pPr>
            <a:r>
              <a:rPr lang="fr-FR" sz="1000" b="1" dirty="0">
                <a:solidFill>
                  <a:srgbClr val="001B00"/>
                </a:solidFill>
                <a:latin typeface="Jost Medium" pitchFamily="2" charset="77"/>
                <a:ea typeface="Jost Medium" pitchFamily="2" charset="77"/>
                <a:cs typeface="Jost Medium" pitchFamily="2" charset="77"/>
              </a:rPr>
              <a:t>Centraliser les avoirs</a:t>
            </a:r>
          </a:p>
          <a:p>
            <a:pPr algn="ctr">
              <a:buNone/>
            </a:pPr>
            <a:r>
              <a:rPr lang="fr-FR" sz="850" dirty="0">
                <a:solidFill>
                  <a:srgbClr val="073527"/>
                </a:solidFill>
                <a:latin typeface="Jost Light" pitchFamily="2" charset="77"/>
                <a:ea typeface="Jost Light" pitchFamily="2" charset="77"/>
                <a:cs typeface="Jost Light" pitchFamily="2" charset="77"/>
              </a:rPr>
              <a:t>Récupérer et centraliser l’ensemble des avoirs financiers disponible.</a:t>
            </a:r>
          </a:p>
        </p:txBody>
      </p:sp>
      <p:sp>
        <p:nvSpPr>
          <p:cNvPr id="205" name="Badge 205"/>
          <p:cNvSpPr/>
          <p:nvPr/>
        </p:nvSpPr>
        <p:spPr>
          <a:xfrm>
            <a:off x="3936829" y="1485348"/>
            <a:ext cx="500000" cy="500000"/>
          </a:xfrm>
          <a:prstGeom prst="ellipse">
            <a:avLst/>
          </a:prstGeom>
          <a:solidFill>
            <a:srgbClr val="A9853F"/>
          </a:solidFill>
          <a:ln>
            <a:noFill/>
          </a:ln>
        </p:spPr>
        <p:txBody>
          <a:bodyPr anchor="ctr"/>
          <a:lstStyle/>
          <a:p>
            <a:pPr algn="ctr"/>
            <a:r>
              <a:rPr lang="fr-FR" sz="1400" b="1" dirty="0">
                <a:solidFill>
                  <a:srgbClr val="FFFFFF"/>
                </a:solidFill>
                <a:latin typeface="Jost Black" pitchFamily="2" charset="77"/>
                <a:ea typeface="Jost Black" pitchFamily="2" charset="77"/>
                <a:cs typeface="Cormorant Garamond SemiBold" pitchFamily="2" charset="77"/>
              </a:rPr>
              <a:t>2</a:t>
            </a:r>
          </a:p>
        </p:txBody>
      </p:sp>
      <p:sp>
        <p:nvSpPr>
          <p:cNvPr id="206" name="Shape 206"/>
          <p:cNvSpPr/>
          <p:nvPr/>
        </p:nvSpPr>
        <p:spPr>
          <a:xfrm>
            <a:off x="3200376" y="2135348"/>
            <a:ext cx="1912906" cy="729000"/>
          </a:xfrm>
          <a:prstGeom prst="rect">
            <a:avLst/>
          </a:prstGeom>
          <a:solidFill>
            <a:srgbClr val="FCF9EF"/>
          </a:solidFill>
          <a:ln>
            <a:noFill/>
          </a:ln>
        </p:spPr>
        <p:txBody>
          <a:bodyPr rtlCol="0" anchor="ctr"/>
          <a:lstStyle/>
          <a:p>
            <a:pPr algn="ctr"/>
            <a:endParaRPr lang="fr-FR"/>
          </a:p>
        </p:txBody>
      </p:sp>
      <p:sp>
        <p:nvSpPr>
          <p:cNvPr id="207" name="Step Body 207"/>
          <p:cNvSpPr txBox="1"/>
          <p:nvPr/>
        </p:nvSpPr>
        <p:spPr>
          <a:xfrm>
            <a:off x="3300376" y="2265348"/>
            <a:ext cx="1712906" cy="711986"/>
          </a:xfrm>
          <a:prstGeom prst="rect">
            <a:avLst/>
          </a:prstGeom>
          <a:noFill/>
          <a:ln>
            <a:noFill/>
          </a:ln>
        </p:spPr>
        <p:txBody>
          <a:bodyPr wrap="square" lIns="0" tIns="0" rIns="0" bIns="0" rtlCol="0" anchor="t">
            <a:normAutofit/>
          </a:bodyPr>
          <a:lstStyle/>
          <a:p>
            <a:pPr algn="ctr">
              <a:spcAft>
                <a:spcPts val="250"/>
              </a:spcAft>
              <a:buNone/>
            </a:pPr>
            <a:r>
              <a:rPr lang="fr-FR" sz="1000" b="1" dirty="0">
                <a:solidFill>
                  <a:srgbClr val="001B00"/>
                </a:solidFill>
                <a:latin typeface="Jost Medium" pitchFamily="2" charset="77"/>
                <a:ea typeface="Jost Medium" pitchFamily="2" charset="77"/>
                <a:cs typeface="Jost Medium" pitchFamily="2" charset="77"/>
              </a:rPr>
              <a:t>Créer l’enveloppe</a:t>
            </a:r>
          </a:p>
          <a:p>
            <a:pPr algn="ctr">
              <a:buNone/>
            </a:pPr>
            <a:r>
              <a:rPr lang="fr-FR" sz="850" dirty="0">
                <a:solidFill>
                  <a:srgbClr val="073527"/>
                </a:solidFill>
                <a:latin typeface="Jost Light" pitchFamily="2" charset="77"/>
                <a:ea typeface="Jost Light" pitchFamily="2" charset="77"/>
                <a:cs typeface="Jost Light" pitchFamily="2" charset="77"/>
              </a:rPr>
              <a:t>Mise en place de l’enveloppe dédiée qui accueillera le portefeuille à nantir.</a:t>
            </a:r>
          </a:p>
        </p:txBody>
      </p:sp>
      <p:sp>
        <p:nvSpPr>
          <p:cNvPr id="209" name="Badge 209"/>
          <p:cNvSpPr/>
          <p:nvPr/>
        </p:nvSpPr>
        <p:spPr>
          <a:xfrm>
            <a:off x="6129735" y="1485348"/>
            <a:ext cx="500000" cy="500000"/>
          </a:xfrm>
          <a:prstGeom prst="ellipse">
            <a:avLst/>
          </a:prstGeom>
          <a:solidFill>
            <a:srgbClr val="A9853F"/>
          </a:solidFill>
          <a:ln>
            <a:noFill/>
          </a:ln>
        </p:spPr>
        <p:txBody>
          <a:bodyPr anchor="ctr"/>
          <a:lstStyle/>
          <a:p>
            <a:pPr algn="ctr"/>
            <a:r>
              <a:rPr lang="fr-FR" sz="1400" b="1" dirty="0">
                <a:solidFill>
                  <a:srgbClr val="FFFFFF"/>
                </a:solidFill>
                <a:latin typeface="Jost Black" pitchFamily="2" charset="77"/>
                <a:ea typeface="Jost Black" pitchFamily="2" charset="77"/>
                <a:cs typeface="Cormorant Garamond SemiBold" pitchFamily="2" charset="77"/>
              </a:rPr>
              <a:t>3</a:t>
            </a:r>
          </a:p>
        </p:txBody>
      </p:sp>
      <p:sp>
        <p:nvSpPr>
          <p:cNvPr id="210" name="Shape 210"/>
          <p:cNvSpPr/>
          <p:nvPr/>
        </p:nvSpPr>
        <p:spPr>
          <a:xfrm>
            <a:off x="5393282" y="2135348"/>
            <a:ext cx="1912906" cy="729000"/>
          </a:xfrm>
          <a:prstGeom prst="rect">
            <a:avLst/>
          </a:prstGeom>
          <a:solidFill>
            <a:srgbClr val="FCF9EF"/>
          </a:solidFill>
          <a:ln>
            <a:noFill/>
          </a:ln>
        </p:spPr>
        <p:txBody>
          <a:bodyPr rtlCol="0" anchor="ctr"/>
          <a:lstStyle/>
          <a:p>
            <a:pPr algn="ctr"/>
            <a:endParaRPr lang="fr-FR"/>
          </a:p>
        </p:txBody>
      </p:sp>
      <p:sp>
        <p:nvSpPr>
          <p:cNvPr id="211" name="Step Body 211"/>
          <p:cNvSpPr txBox="1"/>
          <p:nvPr/>
        </p:nvSpPr>
        <p:spPr>
          <a:xfrm>
            <a:off x="5493282" y="2265348"/>
            <a:ext cx="1712906" cy="711986"/>
          </a:xfrm>
          <a:prstGeom prst="rect">
            <a:avLst/>
          </a:prstGeom>
          <a:noFill/>
          <a:ln>
            <a:noFill/>
          </a:ln>
        </p:spPr>
        <p:txBody>
          <a:bodyPr wrap="square" lIns="0" tIns="0" rIns="0" bIns="0" rtlCol="0" anchor="t">
            <a:normAutofit/>
          </a:bodyPr>
          <a:lstStyle/>
          <a:p>
            <a:pPr algn="ctr">
              <a:spcAft>
                <a:spcPts val="250"/>
              </a:spcAft>
              <a:buNone/>
            </a:pPr>
            <a:r>
              <a:rPr lang="fr-FR" sz="1000" b="1" dirty="0">
                <a:solidFill>
                  <a:srgbClr val="001B00"/>
                </a:solidFill>
                <a:latin typeface="Jost Medium" pitchFamily="2" charset="77"/>
                <a:ea typeface="Jost Medium" pitchFamily="2" charset="77"/>
                <a:cs typeface="Jost Medium" pitchFamily="2" charset="77"/>
              </a:rPr>
              <a:t>Allouer selon la LTV</a:t>
            </a:r>
          </a:p>
          <a:p>
            <a:pPr algn="ctr">
              <a:buNone/>
            </a:pPr>
            <a:r>
              <a:rPr lang="fr-FR" sz="850" dirty="0">
                <a:solidFill>
                  <a:srgbClr val="073527"/>
                </a:solidFill>
                <a:latin typeface="Jost Light" pitchFamily="2" charset="77"/>
                <a:ea typeface="Jost Light" pitchFamily="2" charset="77"/>
                <a:cs typeface="Jost Light" pitchFamily="2" charset="77"/>
              </a:rPr>
              <a:t>Construction de l’allocation du portefeuille en fonction de la quotité (LTV) visée.</a:t>
            </a:r>
          </a:p>
        </p:txBody>
      </p:sp>
      <p:sp>
        <p:nvSpPr>
          <p:cNvPr id="213" name="Badge 213"/>
          <p:cNvSpPr/>
          <p:nvPr/>
        </p:nvSpPr>
        <p:spPr>
          <a:xfrm>
            <a:off x="8322641" y="1485348"/>
            <a:ext cx="500000" cy="500000"/>
          </a:xfrm>
          <a:prstGeom prst="ellipse">
            <a:avLst/>
          </a:prstGeom>
          <a:solidFill>
            <a:srgbClr val="A9853F"/>
          </a:solidFill>
          <a:ln>
            <a:noFill/>
          </a:ln>
        </p:spPr>
        <p:txBody>
          <a:bodyPr anchor="ctr"/>
          <a:lstStyle/>
          <a:p>
            <a:pPr algn="ctr"/>
            <a:r>
              <a:rPr lang="fr-FR" sz="1400" b="1" dirty="0">
                <a:solidFill>
                  <a:srgbClr val="FFFFFF"/>
                </a:solidFill>
                <a:latin typeface="Jost Black" pitchFamily="2" charset="77"/>
                <a:ea typeface="Jost Black" pitchFamily="2" charset="77"/>
                <a:cs typeface="Cormorant Garamond SemiBold" pitchFamily="2" charset="77"/>
              </a:rPr>
              <a:t>4</a:t>
            </a:r>
          </a:p>
        </p:txBody>
      </p:sp>
      <p:sp>
        <p:nvSpPr>
          <p:cNvPr id="214" name="Shape 214"/>
          <p:cNvSpPr/>
          <p:nvPr/>
        </p:nvSpPr>
        <p:spPr>
          <a:xfrm>
            <a:off x="7586188" y="2135348"/>
            <a:ext cx="1912906" cy="729000"/>
          </a:xfrm>
          <a:prstGeom prst="rect">
            <a:avLst/>
          </a:prstGeom>
          <a:solidFill>
            <a:srgbClr val="FCF9EF"/>
          </a:solidFill>
          <a:ln>
            <a:noFill/>
          </a:ln>
        </p:spPr>
        <p:txBody>
          <a:bodyPr rtlCol="0" anchor="ctr"/>
          <a:lstStyle/>
          <a:p>
            <a:pPr algn="ctr"/>
            <a:endParaRPr lang="fr-FR"/>
          </a:p>
        </p:txBody>
      </p:sp>
      <p:sp>
        <p:nvSpPr>
          <p:cNvPr id="215" name="Step Body 215"/>
          <p:cNvSpPr txBox="1"/>
          <p:nvPr/>
        </p:nvSpPr>
        <p:spPr>
          <a:xfrm>
            <a:off x="7686188" y="2265348"/>
            <a:ext cx="1712906" cy="711986"/>
          </a:xfrm>
          <a:prstGeom prst="rect">
            <a:avLst/>
          </a:prstGeom>
          <a:noFill/>
          <a:ln>
            <a:noFill/>
          </a:ln>
        </p:spPr>
        <p:txBody>
          <a:bodyPr wrap="square" lIns="0" tIns="0" rIns="0" bIns="0" rtlCol="0" anchor="t">
            <a:normAutofit/>
          </a:bodyPr>
          <a:lstStyle/>
          <a:p>
            <a:pPr algn="ctr">
              <a:spcAft>
                <a:spcPts val="250"/>
              </a:spcAft>
              <a:buNone/>
            </a:pPr>
            <a:r>
              <a:rPr lang="fr-FR" sz="1000" b="1" dirty="0">
                <a:solidFill>
                  <a:srgbClr val="001B00"/>
                </a:solidFill>
                <a:latin typeface="Jost Medium" pitchFamily="2" charset="77"/>
                <a:ea typeface="Jost Medium" pitchFamily="2" charset="77"/>
                <a:cs typeface="Jost Medium" pitchFamily="2" charset="77"/>
              </a:rPr>
              <a:t>Mettre en place le Lombard</a:t>
            </a:r>
          </a:p>
          <a:p>
            <a:pPr algn="ctr">
              <a:buNone/>
            </a:pPr>
            <a:r>
              <a:rPr lang="fr-FR" sz="850" dirty="0">
                <a:solidFill>
                  <a:srgbClr val="073527"/>
                </a:solidFill>
                <a:latin typeface="Jost Light" pitchFamily="2" charset="77"/>
                <a:ea typeface="Jost Light" pitchFamily="2" charset="77"/>
                <a:cs typeface="Jost Light" pitchFamily="2" charset="77"/>
              </a:rPr>
              <a:t>Mise en place du crédit Lombard auprès de l’établissement bancaire.</a:t>
            </a:r>
          </a:p>
        </p:txBody>
      </p:sp>
      <p:sp>
        <p:nvSpPr>
          <p:cNvPr id="217" name="Badge 217"/>
          <p:cNvSpPr/>
          <p:nvPr/>
        </p:nvSpPr>
        <p:spPr>
          <a:xfrm>
            <a:off x="10515547" y="1485348"/>
            <a:ext cx="500000" cy="500000"/>
          </a:xfrm>
          <a:prstGeom prst="ellipse">
            <a:avLst/>
          </a:prstGeom>
          <a:solidFill>
            <a:srgbClr val="A9853F"/>
          </a:solidFill>
          <a:ln>
            <a:noFill/>
          </a:ln>
        </p:spPr>
        <p:txBody>
          <a:bodyPr anchor="ctr"/>
          <a:lstStyle/>
          <a:p>
            <a:pPr algn="ctr"/>
            <a:r>
              <a:rPr lang="fr-FR" sz="1400" b="1" dirty="0">
                <a:solidFill>
                  <a:srgbClr val="FFFFFF"/>
                </a:solidFill>
                <a:latin typeface="Jost Black" pitchFamily="2" charset="77"/>
                <a:ea typeface="Jost Black" pitchFamily="2" charset="77"/>
                <a:cs typeface="Cormorant Garamond SemiBold" pitchFamily="2" charset="77"/>
              </a:rPr>
              <a:t>5</a:t>
            </a:r>
          </a:p>
        </p:txBody>
      </p:sp>
      <p:sp>
        <p:nvSpPr>
          <p:cNvPr id="218" name="Shape 218"/>
          <p:cNvSpPr/>
          <p:nvPr/>
        </p:nvSpPr>
        <p:spPr>
          <a:xfrm>
            <a:off x="9779094" y="2135348"/>
            <a:ext cx="1912906" cy="729000"/>
          </a:xfrm>
          <a:prstGeom prst="rect">
            <a:avLst/>
          </a:prstGeom>
          <a:solidFill>
            <a:srgbClr val="FCF9EF"/>
          </a:solidFill>
          <a:ln>
            <a:noFill/>
          </a:ln>
        </p:spPr>
        <p:txBody>
          <a:bodyPr rtlCol="0" anchor="ctr"/>
          <a:lstStyle/>
          <a:p>
            <a:pPr algn="ctr"/>
            <a:endParaRPr lang="fr-FR"/>
          </a:p>
        </p:txBody>
      </p:sp>
      <p:sp>
        <p:nvSpPr>
          <p:cNvPr id="219" name="Step Body 219"/>
          <p:cNvSpPr txBox="1"/>
          <p:nvPr/>
        </p:nvSpPr>
        <p:spPr>
          <a:xfrm>
            <a:off x="9879094" y="2265348"/>
            <a:ext cx="1712906" cy="711986"/>
          </a:xfrm>
          <a:prstGeom prst="rect">
            <a:avLst/>
          </a:prstGeom>
          <a:noFill/>
          <a:ln>
            <a:noFill/>
          </a:ln>
        </p:spPr>
        <p:txBody>
          <a:bodyPr wrap="square" lIns="0" tIns="0" rIns="0" bIns="0" rtlCol="0" anchor="t">
            <a:normAutofit/>
          </a:bodyPr>
          <a:lstStyle/>
          <a:p>
            <a:pPr algn="ctr">
              <a:spcAft>
                <a:spcPts val="250"/>
              </a:spcAft>
              <a:buNone/>
            </a:pPr>
            <a:r>
              <a:rPr lang="fr-FR" sz="1000" b="1" dirty="0">
                <a:solidFill>
                  <a:srgbClr val="001B00"/>
                </a:solidFill>
                <a:latin typeface="Jost Medium" pitchFamily="2" charset="77"/>
                <a:ea typeface="Jost Medium" pitchFamily="2" charset="77"/>
                <a:cs typeface="Jost Medium" pitchFamily="2" charset="77"/>
              </a:rPr>
              <a:t>Déployer et réinvestir</a:t>
            </a:r>
          </a:p>
          <a:p>
            <a:pPr algn="ctr">
              <a:buNone/>
            </a:pPr>
            <a:r>
              <a:rPr lang="fr-FR" sz="850" dirty="0">
                <a:solidFill>
                  <a:srgbClr val="073527"/>
                </a:solidFill>
                <a:latin typeface="Jost Light" pitchFamily="2" charset="77"/>
                <a:ea typeface="Jost Light" pitchFamily="2" charset="77"/>
                <a:cs typeface="Jost Light" pitchFamily="2" charset="77"/>
              </a:rPr>
              <a:t>Déploiement des fonds empruntés et réinvestissement selon la stratégie patrimoniale.</a:t>
            </a:r>
          </a:p>
        </p:txBody>
      </p:sp>
      <p:sp>
        <p:nvSpPr>
          <p:cNvPr id="4" name="Text 9">
            <a:extLst>
              <a:ext uri="{FF2B5EF4-FFF2-40B4-BE49-F238E27FC236}">
                <a16:creationId xmlns:a16="http://schemas.microsoft.com/office/drawing/2014/main" id="{95645DC0-A3F8-39C0-9886-07262957B4F6}"/>
              </a:ext>
            </a:extLst>
          </p:cNvPr>
          <p:cNvSpPr/>
          <p:nvPr/>
        </p:nvSpPr>
        <p:spPr>
          <a:xfrm>
            <a:off x="947468" y="949911"/>
            <a:ext cx="8500000"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LFDR : chef d’orchestre d’une structuration pérenne</a:t>
            </a:r>
          </a:p>
        </p:txBody>
      </p:sp>
      <p:graphicFrame>
        <p:nvGraphicFramePr>
          <p:cNvPr id="6" name="Chart 1">
            <a:extLst>
              <a:ext uri="{FF2B5EF4-FFF2-40B4-BE49-F238E27FC236}">
                <a16:creationId xmlns:a16="http://schemas.microsoft.com/office/drawing/2014/main" id="{00000000-0008-0000-0200-000002000000}"/>
              </a:ext>
            </a:extLst>
          </p:cNvPr>
          <p:cNvGraphicFramePr>
            <a:graphicFrameLocks/>
          </p:cNvGraphicFramePr>
          <p:nvPr/>
        </p:nvGraphicFramePr>
        <p:xfrm>
          <a:off x="810463" y="3107334"/>
          <a:ext cx="8588631" cy="3531336"/>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218">
            <a:extLst>
              <a:ext uri="{FF2B5EF4-FFF2-40B4-BE49-F238E27FC236}">
                <a16:creationId xmlns:a16="http://schemas.microsoft.com/office/drawing/2014/main" id="{77A76878-8383-5374-9C7F-0494C73CCCCA}"/>
              </a:ext>
            </a:extLst>
          </p:cNvPr>
          <p:cNvSpPr/>
          <p:nvPr/>
        </p:nvSpPr>
        <p:spPr>
          <a:xfrm>
            <a:off x="9656104" y="3392470"/>
            <a:ext cx="2142428" cy="2310229"/>
          </a:xfrm>
          <a:prstGeom prst="rect">
            <a:avLst/>
          </a:prstGeom>
          <a:solidFill>
            <a:srgbClr val="FCF9EF"/>
          </a:solidFill>
          <a:ln>
            <a:noFill/>
          </a:ln>
        </p:spPr>
        <p:txBody>
          <a:bodyPr rtlCol="0" anchor="ctr"/>
          <a:lstStyle/>
          <a:p>
            <a:pPr marL="171450" lvl="0" indent="-171450">
              <a:buFont typeface="Wingdings" pitchFamily="2" charset="2"/>
              <a:buChar char="§"/>
            </a:pPr>
            <a:r>
              <a:rPr lang="fr-FR" sz="900" dirty="0">
                <a:latin typeface="Jost ExtraLight" pitchFamily="2" charset="77"/>
                <a:ea typeface="Jost ExtraLight" pitchFamily="2" charset="77"/>
                <a:cs typeface="Cormorant Garamond" pitchFamily="2" charset="77"/>
              </a:rPr>
              <a:t>Simulation à 20 ans sur un capital initial de 500K EUR, rendement annuel moyen de 8.4% et volatilité de marché intégrée (tirage aléatoire des rendements). LTV de 60%, emprunt à 3.0%, capital entièrement réinvesti dans l’enveloppe.</a:t>
            </a:r>
          </a:p>
          <a:p>
            <a:pPr marL="171450" lvl="0" indent="-171450">
              <a:buFont typeface="Wingdings" pitchFamily="2" charset="2"/>
              <a:buChar char="§"/>
            </a:pPr>
            <a:endParaRPr lang="fr-FR" sz="900" dirty="0">
              <a:latin typeface="Jost ExtraLight" pitchFamily="2" charset="77"/>
              <a:ea typeface="Jost ExtraLight" pitchFamily="2" charset="77"/>
              <a:cs typeface="Cormorant Garamond" pitchFamily="2" charset="77"/>
            </a:endParaRPr>
          </a:p>
          <a:p>
            <a:pPr marL="171450" lvl="0" indent="-171450">
              <a:buFont typeface="Wingdings" pitchFamily="2" charset="2"/>
              <a:buChar char="§"/>
            </a:pPr>
            <a:r>
              <a:rPr lang="fr-FR" sz="900" dirty="0">
                <a:latin typeface="Jost ExtraLight" pitchFamily="2" charset="77"/>
                <a:ea typeface="Jost ExtraLight" pitchFamily="2" charset="77"/>
                <a:cs typeface="Cormorant Garamond" pitchFamily="2" charset="77"/>
              </a:rPr>
              <a:t>Écart théorique après 20 ans : 670K EUR.</a:t>
            </a:r>
          </a:p>
          <a:p>
            <a:pPr marL="171450" lvl="0" indent="-171450">
              <a:buFont typeface="Wingdings" pitchFamily="2" charset="2"/>
              <a:buChar char="§"/>
            </a:pPr>
            <a:endParaRPr lang="fr-FR" sz="900" dirty="0">
              <a:latin typeface="Jost ExtraLight" pitchFamily="2" charset="77"/>
              <a:ea typeface="Jost ExtraLight" pitchFamily="2" charset="77"/>
              <a:cs typeface="Cormorant Garamond" pitchFamily="2" charset="77"/>
            </a:endParaRPr>
          </a:p>
          <a:p>
            <a:pPr marL="171450" lvl="0" indent="-171450">
              <a:buFont typeface="Wingdings" pitchFamily="2" charset="2"/>
              <a:buChar char="§"/>
            </a:pPr>
            <a:r>
              <a:rPr lang="fr-FR" sz="900" dirty="0">
                <a:latin typeface="Jost ExtraLight" pitchFamily="2" charset="77"/>
                <a:ea typeface="Jost ExtraLight" pitchFamily="2" charset="77"/>
                <a:cs typeface="Cormorant Garamond" pitchFamily="2" charset="77"/>
              </a:rPr>
              <a:t>Stratégie réservée aux clients disposant d'un horizon long et d'une tolérance au risque adaptée.</a:t>
            </a:r>
          </a:p>
        </p:txBody>
      </p:sp>
      <p:sp>
        <p:nvSpPr>
          <p:cNvPr id="9" name="ZoneTexte 8">
            <a:extLst>
              <a:ext uri="{FF2B5EF4-FFF2-40B4-BE49-F238E27FC236}">
                <a16:creationId xmlns:a16="http://schemas.microsoft.com/office/drawing/2014/main" id="{535209BA-4C88-0032-5F7B-C757C35696E5}"/>
              </a:ext>
            </a:extLst>
          </p:cNvPr>
          <p:cNvSpPr txBox="1"/>
          <p:nvPr/>
        </p:nvSpPr>
        <p:spPr>
          <a:xfrm>
            <a:off x="9676292" y="5929285"/>
            <a:ext cx="2098927" cy="261610"/>
          </a:xfrm>
          <a:prstGeom prst="rect">
            <a:avLst/>
          </a:prstGeom>
          <a:noFill/>
        </p:spPr>
        <p:txBody>
          <a:bodyPr wrap="square" rtlCol="0">
            <a:spAutoFit/>
          </a:bodyPr>
          <a:lstStyle/>
          <a:p>
            <a:pPr algn="ctr"/>
            <a:r>
              <a:rPr lang="fr-FR" sz="1100" i="1" dirty="0">
                <a:latin typeface="Cormorant Garamond" pitchFamily="2" charset="77"/>
                <a:ea typeface="Cormorant Garamond" pitchFamily="2" charset="77"/>
                <a:cs typeface="Cormorant Garamond" pitchFamily="2" charset="77"/>
              </a:rPr>
              <a:t>Délai moyen de mise en place : 3 mois</a:t>
            </a:r>
          </a:p>
        </p:txBody>
      </p:sp>
    </p:spTree>
    <p:extLst>
      <p:ext uri="{BB962C8B-B14F-4D97-AF65-F5344CB8AC3E}">
        <p14:creationId xmlns:p14="http://schemas.microsoft.com/office/powerpoint/2010/main" val="4244914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9600000"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Plan d’Épargne en Actions</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96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Le PEA </a:t>
            </a:r>
            <a:r>
              <a:rPr lang="fr-FR" sz="2000" b="1" dirty="0">
                <a:solidFill>
                  <a:srgbClr val="A9853F"/>
                </a:solidFill>
                <a:latin typeface="Cormorant Garamond SemiBold" pitchFamily="2" charset="77"/>
                <a:ea typeface="Cormorant Garamond SemiBold" pitchFamily="2" charset="77"/>
                <a:cs typeface="Cormorant Garamond SemiBold" pitchFamily="2" charset="77"/>
              </a:rPr>
              <a:t>: </a:t>
            </a:r>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investir en actions européennes en franchise d’impôt</a:t>
            </a:r>
          </a:p>
        </p:txBody>
      </p:sp>
      <p:sp>
        <p:nvSpPr>
          <p:cNvPr id="201" name="Shape 201"/>
          <p:cNvSpPr/>
          <p:nvPr/>
        </p:nvSpPr>
        <p:spPr>
          <a:xfrm>
            <a:off x="947467" y="1917376"/>
            <a:ext cx="3448177" cy="820000"/>
          </a:xfrm>
          <a:prstGeom prst="rect">
            <a:avLst/>
          </a:prstGeom>
          <a:solidFill>
            <a:srgbClr val="FCF9EF"/>
          </a:solidFill>
          <a:ln>
            <a:noFill/>
          </a:ln>
        </p:spPr>
        <p:txBody>
          <a:bodyPr rtlCol="0" anchor="ctr"/>
          <a:lstStyle/>
          <a:p>
            <a:pPr algn="ctr"/>
            <a:endParaRPr lang="fr-FR"/>
          </a:p>
        </p:txBody>
      </p:sp>
      <p:sp>
        <p:nvSpPr>
          <p:cNvPr id="202" name="Stat 0 202"/>
          <p:cNvSpPr txBox="1"/>
          <p:nvPr/>
        </p:nvSpPr>
        <p:spPr>
          <a:xfrm>
            <a:off x="965114" y="1914903"/>
            <a:ext cx="3430530" cy="820000"/>
          </a:xfrm>
          <a:prstGeom prst="rect">
            <a:avLst/>
          </a:prstGeom>
          <a:solidFill>
            <a:srgbClr val="001B00"/>
          </a:solidFill>
          <a:ln>
            <a:noFill/>
          </a:ln>
        </p:spPr>
        <p:txBody>
          <a:bodyPr wrap="square" lIns="0" tIns="0" rIns="0" bIns="0" rtlCol="0" anchor="ctr">
            <a:normAutofit/>
          </a:bodyPr>
          <a:lstStyle/>
          <a:p>
            <a:pPr algn="ctr"/>
            <a:r>
              <a:rPr lang="fr-FR" sz="900" dirty="0">
                <a:solidFill>
                  <a:schemeClr val="bg1"/>
                </a:solidFill>
                <a:latin typeface="Jost Light" pitchFamily="2" charset="77"/>
                <a:ea typeface="Jost Light" pitchFamily="2" charset="77"/>
                <a:cs typeface="Jost Medium" pitchFamily="2" charset="77"/>
              </a:rPr>
              <a:t>Plafond de versements</a:t>
            </a:r>
          </a:p>
          <a:p>
            <a:pPr algn="ctr"/>
            <a:r>
              <a:rPr lang="fr-FR" sz="1800" dirty="0">
                <a:solidFill>
                  <a:schemeClr val="bg1"/>
                </a:solidFill>
                <a:latin typeface="Cormorant Garamond Medium" pitchFamily="2" charset="77"/>
                <a:ea typeface="Cormorant Garamond Medium" pitchFamily="2" charset="77"/>
                <a:cs typeface="Cormorant Garamond Medium" pitchFamily="2" charset="77"/>
              </a:rPr>
              <a:t>150 000 EUR</a:t>
            </a:r>
          </a:p>
        </p:txBody>
      </p:sp>
      <p:sp>
        <p:nvSpPr>
          <p:cNvPr id="203" name="Shape 203"/>
          <p:cNvSpPr/>
          <p:nvPr/>
        </p:nvSpPr>
        <p:spPr>
          <a:xfrm>
            <a:off x="4595645" y="1914903"/>
            <a:ext cx="3448177" cy="820000"/>
          </a:xfrm>
          <a:prstGeom prst="rect">
            <a:avLst/>
          </a:prstGeom>
          <a:solidFill>
            <a:srgbClr val="001B00"/>
          </a:solidFill>
          <a:ln>
            <a:noFill/>
          </a:ln>
        </p:spPr>
        <p:txBody>
          <a:bodyPr rtlCol="0" anchor="ctr"/>
          <a:lstStyle/>
          <a:p>
            <a:pPr algn="ctr"/>
            <a:endParaRPr lang="fr-FR"/>
          </a:p>
        </p:txBody>
      </p:sp>
      <p:sp>
        <p:nvSpPr>
          <p:cNvPr id="204" name="Stat 1 204"/>
          <p:cNvSpPr txBox="1"/>
          <p:nvPr/>
        </p:nvSpPr>
        <p:spPr>
          <a:xfrm>
            <a:off x="4595645" y="1914903"/>
            <a:ext cx="3398178" cy="820000"/>
          </a:xfrm>
          <a:prstGeom prst="rect">
            <a:avLst/>
          </a:prstGeom>
          <a:noFill/>
          <a:ln>
            <a:noFill/>
          </a:ln>
        </p:spPr>
        <p:txBody>
          <a:bodyPr wrap="square" lIns="0" tIns="0" rIns="0" bIns="0" rtlCol="0" anchor="ctr">
            <a:normAutofit/>
          </a:bodyPr>
          <a:lstStyle/>
          <a:p>
            <a:pPr algn="ctr"/>
            <a:r>
              <a:rPr lang="fr-FR" sz="900" dirty="0">
                <a:solidFill>
                  <a:srgbClr val="FFFFFF"/>
                </a:solidFill>
                <a:latin typeface="Jost Medium" pitchFamily="2" charset="77"/>
                <a:ea typeface="Jost Medium" pitchFamily="2" charset="77"/>
                <a:cs typeface="Jost Medium" pitchFamily="2" charset="77"/>
              </a:rPr>
              <a:t>Fiscalité avant 5 ans</a:t>
            </a:r>
          </a:p>
          <a:p>
            <a:pPr algn="ctr"/>
            <a:r>
              <a:rPr lang="fr-FR" sz="1800" b="1" dirty="0">
                <a:solidFill>
                  <a:srgbClr val="FFFFFF"/>
                </a:solidFill>
                <a:latin typeface="Cormorant Garamond SemiBold" pitchFamily="2" charset="77"/>
                <a:ea typeface="Cormorant Garamond SemiBold" pitchFamily="2" charset="77"/>
                <a:cs typeface="Cormorant Garamond SemiBold" pitchFamily="2" charset="77"/>
              </a:rPr>
              <a:t>31,4%</a:t>
            </a:r>
          </a:p>
        </p:txBody>
      </p:sp>
      <p:sp>
        <p:nvSpPr>
          <p:cNvPr id="205" name="Shape 205"/>
          <p:cNvSpPr/>
          <p:nvPr/>
        </p:nvSpPr>
        <p:spPr>
          <a:xfrm>
            <a:off x="8243822" y="1914903"/>
            <a:ext cx="3398177" cy="820000"/>
          </a:xfrm>
          <a:prstGeom prst="rect">
            <a:avLst/>
          </a:prstGeom>
          <a:solidFill>
            <a:srgbClr val="001B00"/>
          </a:solidFill>
          <a:ln>
            <a:noFill/>
          </a:ln>
        </p:spPr>
        <p:txBody>
          <a:bodyPr rtlCol="0" anchor="ctr"/>
          <a:lstStyle/>
          <a:p>
            <a:pPr algn="ctr"/>
            <a:endParaRPr lang="fr-FR"/>
          </a:p>
        </p:txBody>
      </p:sp>
      <p:sp>
        <p:nvSpPr>
          <p:cNvPr id="206" name="Stat 2 206"/>
          <p:cNvSpPr txBox="1"/>
          <p:nvPr/>
        </p:nvSpPr>
        <p:spPr>
          <a:xfrm>
            <a:off x="8293822" y="1914903"/>
            <a:ext cx="3348177" cy="820000"/>
          </a:xfrm>
          <a:prstGeom prst="rect">
            <a:avLst/>
          </a:prstGeom>
          <a:noFill/>
          <a:ln>
            <a:noFill/>
          </a:ln>
        </p:spPr>
        <p:txBody>
          <a:bodyPr wrap="square" lIns="0" tIns="0" rIns="0" bIns="0" rtlCol="0" anchor="ctr">
            <a:normAutofit/>
          </a:bodyPr>
          <a:lstStyle/>
          <a:p>
            <a:pPr algn="ctr"/>
            <a:r>
              <a:rPr lang="fr-FR" sz="900" dirty="0">
                <a:solidFill>
                  <a:srgbClr val="FFFFFF"/>
                </a:solidFill>
                <a:latin typeface="Jost Medium" pitchFamily="2" charset="77"/>
                <a:ea typeface="Jost Medium" pitchFamily="2" charset="77"/>
                <a:cs typeface="Jost Medium" pitchFamily="2" charset="77"/>
              </a:rPr>
              <a:t>Fiscalité après 5 ans</a:t>
            </a:r>
          </a:p>
          <a:p>
            <a:pPr algn="ctr"/>
            <a:r>
              <a:rPr lang="fr-FR" sz="1800" b="1" dirty="0">
                <a:solidFill>
                  <a:srgbClr val="FFFFFF"/>
                </a:solidFill>
                <a:latin typeface="Cormorant Garamond SemiBold" pitchFamily="2" charset="77"/>
                <a:ea typeface="Cormorant Garamond SemiBold" pitchFamily="2" charset="77"/>
                <a:cs typeface="Cormorant Garamond SemiBold" pitchFamily="2" charset="77"/>
              </a:rPr>
              <a:t>18.6% – Pas d’imposition IR</a:t>
            </a:r>
          </a:p>
        </p:txBody>
      </p:sp>
      <p:sp>
        <p:nvSpPr>
          <p:cNvPr id="207" name="Shape 207"/>
          <p:cNvSpPr/>
          <p:nvPr/>
        </p:nvSpPr>
        <p:spPr>
          <a:xfrm>
            <a:off x="947471" y="3172761"/>
            <a:ext cx="3448178" cy="360000"/>
          </a:xfrm>
          <a:prstGeom prst="rect">
            <a:avLst/>
          </a:prstGeom>
          <a:solidFill>
            <a:srgbClr val="001B00"/>
          </a:solidFill>
          <a:ln>
            <a:noFill/>
          </a:ln>
        </p:spPr>
        <p:txBody>
          <a:bodyPr rtlCol="0" anchor="ctr"/>
          <a:lstStyle/>
          <a:p>
            <a:pPr algn="ctr"/>
            <a:r>
              <a:rPr lang="fr-FR" sz="1100" dirty="0">
                <a:solidFill>
                  <a:schemeClr val="bg1"/>
                </a:solidFill>
                <a:latin typeface="Cormorant Garamond Light" pitchFamily="2" charset="77"/>
                <a:ea typeface="Cormorant Garamond Light" pitchFamily="2" charset="77"/>
                <a:cs typeface="Cormorant Garamond Light" pitchFamily="2" charset="77"/>
              </a:rPr>
              <a:t>Éligibilité des supports</a:t>
            </a:r>
          </a:p>
        </p:txBody>
      </p:sp>
      <p:sp>
        <p:nvSpPr>
          <p:cNvPr id="208" name="Col1 Header 208"/>
          <p:cNvSpPr txBox="1"/>
          <p:nvPr/>
        </p:nvSpPr>
        <p:spPr>
          <a:xfrm>
            <a:off x="3947621" y="3161147"/>
            <a:ext cx="5212266" cy="360000"/>
          </a:xfrm>
          <a:prstGeom prst="rect">
            <a:avLst/>
          </a:prstGeom>
          <a:noFill/>
          <a:ln>
            <a:noFill/>
          </a:ln>
        </p:spPr>
        <p:txBody>
          <a:bodyPr wrap="square" lIns="0" tIns="0" rIns="0" bIns="0" rtlCol="0" anchor="ctr">
            <a:normAutofit/>
          </a:bodyPr>
          <a:lstStyle/>
          <a:p>
            <a:pPr algn="ctr">
              <a:buNone/>
            </a:pPr>
            <a:r>
              <a:rPr lang="fr-FR" sz="1100" b="1" dirty="0">
                <a:solidFill>
                  <a:srgbClr val="FFFFFF"/>
                </a:solidFill>
                <a:latin typeface="Cormorant Garamond SemiBold" pitchFamily="2" charset="77"/>
                <a:ea typeface="Cormorant Garamond SemiBold" pitchFamily="2" charset="77"/>
                <a:cs typeface="Cormorant Garamond SemiBold" pitchFamily="2" charset="77"/>
              </a:rPr>
              <a:t>Actifs éligibles</a:t>
            </a:r>
          </a:p>
        </p:txBody>
      </p:sp>
      <p:sp>
        <p:nvSpPr>
          <p:cNvPr id="209" name="Shape 209"/>
          <p:cNvSpPr/>
          <p:nvPr/>
        </p:nvSpPr>
        <p:spPr>
          <a:xfrm>
            <a:off x="947467" y="3532761"/>
            <a:ext cx="3448180" cy="970000"/>
          </a:xfrm>
          <a:prstGeom prst="rect">
            <a:avLst/>
          </a:prstGeom>
          <a:solidFill>
            <a:srgbClr val="FCF9EF"/>
          </a:solidFill>
          <a:ln>
            <a:noFill/>
          </a:ln>
        </p:spPr>
        <p:txBody>
          <a:bodyPr rtlCol="0" anchor="ctr"/>
          <a:lstStyle/>
          <a:p>
            <a:pPr algn="ctr"/>
            <a:endParaRPr lang="fr-FR"/>
          </a:p>
        </p:txBody>
      </p:sp>
      <p:sp>
        <p:nvSpPr>
          <p:cNvPr id="210" name="Col1 Body 210"/>
          <p:cNvSpPr txBox="1"/>
          <p:nvPr/>
        </p:nvSpPr>
        <p:spPr>
          <a:xfrm>
            <a:off x="1070131" y="3672761"/>
            <a:ext cx="3325516" cy="940000"/>
          </a:xfrm>
          <a:prstGeom prst="rect">
            <a:avLst/>
          </a:prstGeom>
          <a:noFill/>
          <a:ln>
            <a:noFill/>
          </a:ln>
        </p:spPr>
        <p:txBody>
          <a:bodyPr wrap="square" lIns="0" tIns="0" rIns="0" bIns="0" rtlCol="0" anchor="t">
            <a:normAutofit/>
          </a:bodyPr>
          <a:lstStyle/>
          <a:p>
            <a:pPr marL="182880" indent="-182880" algn="l">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Actions européennes, cotées ou non cotées.</a:t>
            </a:r>
          </a:p>
          <a:p>
            <a:pPr marL="182880" indent="-182880" algn="l">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Fonds dont l’actif est composé d’au moins 75% d’actions européennes.</a:t>
            </a:r>
          </a:p>
          <a:p>
            <a:pPr marL="182880" indent="-182880" algn="l">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ETF mixtes et monde si éligibles PEA.</a:t>
            </a:r>
          </a:p>
          <a:p>
            <a:pPr marL="182880" indent="-182880" algn="l">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PEA-PME : 225 000 EUR complémentaires dédiés aux PME/ETI.</a:t>
            </a:r>
          </a:p>
        </p:txBody>
      </p:sp>
      <p:sp>
        <p:nvSpPr>
          <p:cNvPr id="211" name="Shape 211"/>
          <p:cNvSpPr/>
          <p:nvPr/>
        </p:nvSpPr>
        <p:spPr>
          <a:xfrm>
            <a:off x="4595649" y="3182761"/>
            <a:ext cx="3448178" cy="360000"/>
          </a:xfrm>
          <a:prstGeom prst="rect">
            <a:avLst/>
          </a:prstGeom>
          <a:solidFill>
            <a:srgbClr val="001B00"/>
          </a:solidFill>
          <a:ln>
            <a:noFill/>
          </a:ln>
        </p:spPr>
        <p:txBody>
          <a:bodyPr rtlCol="0" anchor="ctr"/>
          <a:lstStyle/>
          <a:p>
            <a:pPr algn="ctr"/>
            <a:endParaRPr lang="fr-FR"/>
          </a:p>
        </p:txBody>
      </p:sp>
      <p:sp>
        <p:nvSpPr>
          <p:cNvPr id="212" name="Col2 Header 212"/>
          <p:cNvSpPr txBox="1"/>
          <p:nvPr/>
        </p:nvSpPr>
        <p:spPr>
          <a:xfrm>
            <a:off x="4595649" y="3182761"/>
            <a:ext cx="3448178" cy="360000"/>
          </a:xfrm>
          <a:prstGeom prst="rect">
            <a:avLst/>
          </a:prstGeom>
          <a:noFill/>
          <a:ln>
            <a:noFill/>
          </a:ln>
        </p:spPr>
        <p:txBody>
          <a:bodyPr wrap="square" lIns="0" tIns="0" rIns="0" bIns="0" rtlCol="0" anchor="ctr">
            <a:normAutofit/>
          </a:bodyPr>
          <a:lstStyle/>
          <a:p>
            <a:pPr algn="ctr">
              <a:buNone/>
            </a:pPr>
            <a:r>
              <a:rPr lang="fr-FR" sz="1100" b="1" dirty="0">
                <a:solidFill>
                  <a:srgbClr val="FFFFFF"/>
                </a:solidFill>
                <a:latin typeface="Cormorant Garamond SemiBold" pitchFamily="2" charset="77"/>
                <a:ea typeface="Cormorant Garamond SemiBold" pitchFamily="2" charset="77"/>
                <a:cs typeface="Cormorant Garamond SemiBold" pitchFamily="2" charset="77"/>
              </a:rPr>
              <a:t>Points clés</a:t>
            </a:r>
          </a:p>
        </p:txBody>
      </p:sp>
      <p:sp>
        <p:nvSpPr>
          <p:cNvPr id="213" name="Shape 213"/>
          <p:cNvSpPr/>
          <p:nvPr/>
        </p:nvSpPr>
        <p:spPr>
          <a:xfrm>
            <a:off x="4595647" y="3542761"/>
            <a:ext cx="3448179" cy="970000"/>
          </a:xfrm>
          <a:prstGeom prst="rect">
            <a:avLst/>
          </a:prstGeom>
          <a:solidFill>
            <a:srgbClr val="FCF9EF"/>
          </a:solidFill>
          <a:ln>
            <a:noFill/>
          </a:ln>
        </p:spPr>
        <p:txBody>
          <a:bodyPr rtlCol="0" anchor="ctr"/>
          <a:lstStyle/>
          <a:p>
            <a:pPr algn="ctr"/>
            <a:endParaRPr lang="fr-FR"/>
          </a:p>
        </p:txBody>
      </p:sp>
      <p:sp>
        <p:nvSpPr>
          <p:cNvPr id="214" name="Col2 Body 214"/>
          <p:cNvSpPr txBox="1"/>
          <p:nvPr/>
        </p:nvSpPr>
        <p:spPr>
          <a:xfrm>
            <a:off x="4770997" y="3672761"/>
            <a:ext cx="3072829" cy="940000"/>
          </a:xfrm>
          <a:prstGeom prst="rect">
            <a:avLst/>
          </a:prstGeom>
          <a:noFill/>
          <a:ln>
            <a:noFill/>
          </a:ln>
        </p:spPr>
        <p:txBody>
          <a:bodyPr wrap="square" lIns="0" tIns="0" rIns="0" bIns="0" rtlCol="0" anchor="t">
            <a:normAutofit/>
          </a:bodyPr>
          <a:lstStyle/>
          <a:p>
            <a:pPr marL="182880" indent="-182880" algn="l">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Exonération totale d’IR après 5 ans : seuls les PS restent dus.</a:t>
            </a:r>
          </a:p>
          <a:p>
            <a:pPr marL="182880" indent="-182880" algn="l">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Aucune fiscalité tant qu’aucun retrait n’est effectué.</a:t>
            </a:r>
          </a:p>
          <a:p>
            <a:pPr marL="182880" indent="-182880" algn="l">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Un retrait avant 5 ans entraîne la clôture du PEA.</a:t>
            </a:r>
          </a:p>
          <a:p>
            <a:pPr marL="182880" indent="-182880" algn="l">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Cumul possible à 300 000 EUR pour un couple.</a:t>
            </a:r>
          </a:p>
        </p:txBody>
      </p:sp>
      <p:sp>
        <p:nvSpPr>
          <p:cNvPr id="215" name="Shape 215"/>
          <p:cNvSpPr/>
          <p:nvPr/>
        </p:nvSpPr>
        <p:spPr>
          <a:xfrm>
            <a:off x="8243827" y="3181058"/>
            <a:ext cx="3398177" cy="371138"/>
          </a:xfrm>
          <a:prstGeom prst="rect">
            <a:avLst/>
          </a:prstGeom>
          <a:solidFill>
            <a:srgbClr val="7A2E1F"/>
          </a:solidFill>
          <a:ln>
            <a:noFill/>
          </a:ln>
        </p:spPr>
        <p:txBody>
          <a:bodyPr rtlCol="0" anchor="ctr"/>
          <a:lstStyle/>
          <a:p>
            <a:pPr algn="ctr"/>
            <a:endParaRPr lang="fr-FR"/>
          </a:p>
        </p:txBody>
      </p:sp>
      <p:sp>
        <p:nvSpPr>
          <p:cNvPr id="216" name="Incon Header 216"/>
          <p:cNvSpPr txBox="1"/>
          <p:nvPr/>
        </p:nvSpPr>
        <p:spPr>
          <a:xfrm>
            <a:off x="8243827" y="3181058"/>
            <a:ext cx="3398177" cy="349524"/>
          </a:xfrm>
          <a:prstGeom prst="rect">
            <a:avLst/>
          </a:prstGeom>
          <a:solidFill>
            <a:srgbClr val="001B00"/>
          </a:solidFill>
          <a:ln>
            <a:noFill/>
          </a:ln>
        </p:spPr>
        <p:txBody>
          <a:bodyPr wrap="square" lIns="0" tIns="0" rIns="0" bIns="0" rtlCol="0" anchor="ctr">
            <a:normAutofit/>
          </a:bodyPr>
          <a:lstStyle/>
          <a:p>
            <a:pPr algn="ctr">
              <a:buNone/>
            </a:pPr>
            <a:r>
              <a:rPr lang="fr-FR" sz="1100" b="1" dirty="0">
                <a:solidFill>
                  <a:srgbClr val="FFFFFF"/>
                </a:solidFill>
                <a:latin typeface="Cormorant Garamond SemiBold" pitchFamily="2" charset="77"/>
                <a:ea typeface="Cormorant Garamond SemiBold" pitchFamily="2" charset="77"/>
                <a:cs typeface="Cormorant Garamond SemiBold" pitchFamily="2" charset="77"/>
              </a:rPr>
              <a:t>Inconvénients du PEA</a:t>
            </a:r>
          </a:p>
        </p:txBody>
      </p:sp>
      <p:sp>
        <p:nvSpPr>
          <p:cNvPr id="217" name="Shape 217"/>
          <p:cNvSpPr/>
          <p:nvPr/>
        </p:nvSpPr>
        <p:spPr>
          <a:xfrm>
            <a:off x="8243826" y="3569444"/>
            <a:ext cx="3398178" cy="940000"/>
          </a:xfrm>
          <a:prstGeom prst="rect">
            <a:avLst/>
          </a:prstGeom>
          <a:solidFill>
            <a:srgbClr val="FCF9EF"/>
          </a:solidFill>
          <a:ln>
            <a:noFill/>
          </a:ln>
        </p:spPr>
        <p:txBody>
          <a:bodyPr rtlCol="0" anchor="ctr"/>
          <a:lstStyle/>
          <a:p>
            <a:pPr algn="ctr"/>
            <a:endParaRPr lang="fr-FR"/>
          </a:p>
        </p:txBody>
      </p:sp>
      <p:sp>
        <p:nvSpPr>
          <p:cNvPr id="218" name="Incon Left 218"/>
          <p:cNvSpPr txBox="1"/>
          <p:nvPr/>
        </p:nvSpPr>
        <p:spPr>
          <a:xfrm>
            <a:off x="8303784" y="3678712"/>
            <a:ext cx="3338215" cy="819999"/>
          </a:xfrm>
          <a:prstGeom prst="rect">
            <a:avLst/>
          </a:prstGeom>
          <a:noFill/>
          <a:ln>
            <a:noFill/>
          </a:ln>
        </p:spPr>
        <p:txBody>
          <a:bodyPr wrap="square" lIns="0" tIns="0" rIns="0" bIns="0" rtlCol="0" anchor="t">
            <a:normAutofit/>
          </a:bodyPr>
          <a:lstStyle/>
          <a:p>
            <a:pPr marL="182880" indent="-182880">
              <a:spcAft>
                <a:spcPts val="20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Univers d’investissement limité aux actions européennes.</a:t>
            </a:r>
          </a:p>
          <a:p>
            <a:pPr marL="182880" indent="-182880">
              <a:spcAft>
                <a:spcPts val="20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Pas de crédit lombard possible sur cette enveloppe.</a:t>
            </a:r>
          </a:p>
          <a:p>
            <a:pPr marL="182880" indent="-182880">
              <a:spcAft>
                <a:spcPts val="20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Enveloppe sans avantage de transmission directe.</a:t>
            </a:r>
          </a:p>
          <a:p>
            <a:pPr marL="182880" indent="-182880">
              <a:spcAft>
                <a:spcPts val="20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Exclusion de tout produit structuré ou instrument dérivé au sein d’un PEA.</a:t>
            </a:r>
          </a:p>
          <a:p>
            <a:pPr marL="182880" indent="-182880">
              <a:spcAft>
                <a:spcPts val="200"/>
              </a:spcAft>
              <a:buFont typeface="Arial" pitchFamily="34" charset="0"/>
              <a:buChar char="▪"/>
            </a:pPr>
            <a:endParaRPr lang="fr-FR" sz="850" dirty="0">
              <a:solidFill>
                <a:srgbClr val="073527"/>
              </a:solidFill>
              <a:latin typeface="Jost Light" pitchFamily="2" charset="77"/>
              <a:ea typeface="Jost Light" pitchFamily="2" charset="77"/>
              <a:cs typeface="Jost Light" pitchFamily="2" charset="77"/>
            </a:endParaRPr>
          </a:p>
        </p:txBody>
      </p:sp>
      <p:sp>
        <p:nvSpPr>
          <p:cNvPr id="221" name="Bar Label 221"/>
          <p:cNvSpPr txBox="1"/>
          <p:nvPr/>
        </p:nvSpPr>
        <p:spPr>
          <a:xfrm>
            <a:off x="982760" y="5334570"/>
            <a:ext cx="3600000" cy="280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Medium" pitchFamily="2" charset="77"/>
                <a:ea typeface="Jost Medium" pitchFamily="2" charset="77"/>
                <a:cs typeface="Jost Medium" pitchFamily="2" charset="77"/>
              </a:rPr>
              <a:t>Dans un PEA (net, après 20 ans)</a:t>
            </a:r>
          </a:p>
        </p:txBody>
      </p:sp>
      <p:sp>
        <p:nvSpPr>
          <p:cNvPr id="222" name="Shape 222"/>
          <p:cNvSpPr/>
          <p:nvPr/>
        </p:nvSpPr>
        <p:spPr>
          <a:xfrm>
            <a:off x="4682760" y="5334570"/>
            <a:ext cx="2943529" cy="280000"/>
          </a:xfrm>
          <a:prstGeom prst="rect">
            <a:avLst/>
          </a:prstGeom>
          <a:solidFill>
            <a:srgbClr val="001B00"/>
          </a:solidFill>
          <a:ln>
            <a:noFill/>
          </a:ln>
        </p:spPr>
        <p:txBody>
          <a:bodyPr rtlCol="0" anchor="ctr"/>
          <a:lstStyle/>
          <a:p>
            <a:pPr algn="ctr"/>
            <a:endParaRPr lang="fr-FR"/>
          </a:p>
        </p:txBody>
      </p:sp>
      <p:sp>
        <p:nvSpPr>
          <p:cNvPr id="223" name="Bar Value 223"/>
          <p:cNvSpPr txBox="1"/>
          <p:nvPr/>
        </p:nvSpPr>
        <p:spPr>
          <a:xfrm>
            <a:off x="7726289" y="5334570"/>
            <a:ext cx="900000" cy="280000"/>
          </a:xfrm>
          <a:prstGeom prst="rect">
            <a:avLst/>
          </a:prstGeom>
          <a:noFill/>
          <a:ln>
            <a:noFill/>
          </a:ln>
        </p:spPr>
        <p:txBody>
          <a:bodyPr wrap="square" lIns="0" tIns="0" rIns="0" bIns="0" rtlCol="0" anchor="ctr">
            <a:normAutofit/>
          </a:bodyPr>
          <a:lstStyle/>
          <a:p>
            <a:pPr algn="l">
              <a:buNone/>
            </a:pPr>
            <a:r>
              <a:rPr lang="fr-FR" sz="800" dirty="0">
                <a:solidFill>
                  <a:srgbClr val="001B00"/>
                </a:solidFill>
                <a:latin typeface="Jost Light" pitchFamily="2" charset="77"/>
                <a:ea typeface="Jost Light" pitchFamily="2" charset="77"/>
                <a:cs typeface="Cormorant Garamond SemiBold" pitchFamily="2" charset="77"/>
              </a:rPr>
              <a:t>334 000 EUR</a:t>
            </a:r>
          </a:p>
        </p:txBody>
      </p:sp>
      <p:sp>
        <p:nvSpPr>
          <p:cNvPr id="224" name="Bar Label 224"/>
          <p:cNvSpPr txBox="1"/>
          <p:nvPr/>
        </p:nvSpPr>
        <p:spPr>
          <a:xfrm>
            <a:off x="982760" y="5654570"/>
            <a:ext cx="3600000" cy="280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Medium" pitchFamily="2" charset="77"/>
                <a:ea typeface="Jost Medium" pitchFamily="2" charset="77"/>
                <a:cs typeface="Jost Medium" pitchFamily="2" charset="77"/>
              </a:rPr>
              <a:t>Hors PEA (net, après 20 ans)</a:t>
            </a:r>
          </a:p>
        </p:txBody>
      </p:sp>
      <p:sp>
        <p:nvSpPr>
          <p:cNvPr id="225" name="Shape 225"/>
          <p:cNvSpPr/>
          <p:nvPr/>
        </p:nvSpPr>
        <p:spPr>
          <a:xfrm>
            <a:off x="4682760" y="5654570"/>
            <a:ext cx="2250000" cy="280000"/>
          </a:xfrm>
          <a:prstGeom prst="rect">
            <a:avLst/>
          </a:prstGeom>
          <a:solidFill>
            <a:srgbClr val="A9853F"/>
          </a:solidFill>
          <a:ln>
            <a:noFill/>
          </a:ln>
        </p:spPr>
        <p:txBody>
          <a:bodyPr rtlCol="0" anchor="ctr"/>
          <a:lstStyle/>
          <a:p>
            <a:pPr algn="ctr"/>
            <a:endParaRPr lang="fr-FR"/>
          </a:p>
        </p:txBody>
      </p:sp>
      <p:sp>
        <p:nvSpPr>
          <p:cNvPr id="226" name="Bar Value 226"/>
          <p:cNvSpPr txBox="1"/>
          <p:nvPr/>
        </p:nvSpPr>
        <p:spPr>
          <a:xfrm>
            <a:off x="7032760" y="5654570"/>
            <a:ext cx="900000" cy="280000"/>
          </a:xfrm>
          <a:prstGeom prst="rect">
            <a:avLst/>
          </a:prstGeom>
          <a:noFill/>
          <a:ln>
            <a:noFill/>
          </a:ln>
        </p:spPr>
        <p:txBody>
          <a:bodyPr wrap="square" lIns="0" tIns="0" rIns="0" bIns="0" rtlCol="0" anchor="ctr">
            <a:normAutofit/>
          </a:bodyPr>
          <a:lstStyle/>
          <a:p>
            <a:pPr algn="l">
              <a:buNone/>
            </a:pPr>
            <a:r>
              <a:rPr lang="fr-FR" sz="800" dirty="0">
                <a:solidFill>
                  <a:srgbClr val="001B00"/>
                </a:solidFill>
                <a:latin typeface="Jost Light" pitchFamily="2" charset="77"/>
                <a:ea typeface="Jost Light" pitchFamily="2" charset="77"/>
                <a:cs typeface="Cormorant Garamond SemiBold" pitchFamily="2" charset="77"/>
              </a:rPr>
              <a:t>255 000 EUR</a:t>
            </a:r>
          </a:p>
        </p:txBody>
      </p:sp>
      <p:sp>
        <p:nvSpPr>
          <p:cNvPr id="227" name="Footnote 227"/>
          <p:cNvSpPr txBox="1"/>
          <p:nvPr/>
        </p:nvSpPr>
        <p:spPr>
          <a:xfrm>
            <a:off x="947468" y="6560000"/>
            <a:ext cx="10744532" cy="340000"/>
          </a:xfrm>
          <a:prstGeom prst="rect">
            <a:avLst/>
          </a:prstGeom>
          <a:noFill/>
          <a:ln>
            <a:noFill/>
          </a:ln>
        </p:spPr>
        <p:txBody>
          <a:bodyPr wrap="square" lIns="0" tIns="0" rIns="0" bIns="0" rtlCol="0" anchor="t">
            <a:normAutofit/>
          </a:bodyPr>
          <a:lstStyle/>
          <a:p>
            <a:pPr algn="ctr">
              <a:buNone/>
            </a:pPr>
            <a:r>
              <a:rPr lang="fr-FR" sz="700" i="1" dirty="0">
                <a:solidFill>
                  <a:srgbClr val="6B6B6B"/>
                </a:solidFill>
                <a:latin typeface="Jost Light" pitchFamily="2" charset="77"/>
                <a:ea typeface="Jost Light" pitchFamily="2" charset="77"/>
                <a:cs typeface="Jost Light" pitchFamily="2" charset="77"/>
              </a:rPr>
              <a:t>Simulation illustrative : 100k EUR investis, rendement brut supposé de 7%/an sur 20 ans. PEA : imposition uniquement aux PS (18,6%) à la sortie. CTO : PFU de 31,4% appliqué chaque année sur les gains, réduisant le taux de croissance net. </a:t>
            </a:r>
          </a:p>
          <a:p>
            <a:pPr algn="ctr">
              <a:buNone/>
            </a:pPr>
            <a:r>
              <a:rPr lang="fr-FR" sz="700" i="1" dirty="0">
                <a:solidFill>
                  <a:srgbClr val="6B6B6B"/>
                </a:solidFill>
                <a:latin typeface="Jost Light" pitchFamily="2" charset="77"/>
                <a:ea typeface="Jost Light" pitchFamily="2" charset="77"/>
                <a:cs typeface="Jost Light" pitchFamily="2" charset="77"/>
              </a:rPr>
              <a:t>Plafonds et taux en vigueur en 2026. Fiscalité présentée à titre informatif, susceptible d’évolution.</a:t>
            </a:r>
          </a:p>
        </p:txBody>
      </p:sp>
      <p:sp>
        <p:nvSpPr>
          <p:cNvPr id="8" name="Dyn Subtitle 221">
            <a:extLst>
              <a:ext uri="{FF2B5EF4-FFF2-40B4-BE49-F238E27FC236}">
                <a16:creationId xmlns:a16="http://schemas.microsoft.com/office/drawing/2014/main" id="{71CD1BE5-601D-B81B-AC69-231D8DE55087}"/>
              </a:ext>
            </a:extLst>
          </p:cNvPr>
          <p:cNvSpPr txBox="1"/>
          <p:nvPr/>
        </p:nvSpPr>
        <p:spPr>
          <a:xfrm>
            <a:off x="965114" y="5018190"/>
            <a:ext cx="10744532" cy="260000"/>
          </a:xfrm>
          <a:prstGeom prst="rect">
            <a:avLst/>
          </a:prstGeom>
          <a:noFill/>
          <a:ln>
            <a:noFill/>
          </a:ln>
        </p:spPr>
        <p:txBody>
          <a:bodyPr wrap="square" lIns="0" tIns="0" rIns="0" bIns="0" rtlCol="0" anchor="t">
            <a:normAutofit/>
          </a:bodyPr>
          <a:lstStyle/>
          <a:p>
            <a:pPr algn="l">
              <a:buNone/>
            </a:pPr>
            <a:r>
              <a:rPr lang="fr-FR" sz="850" i="1" dirty="0">
                <a:solidFill>
                  <a:srgbClr val="073527"/>
                </a:solidFill>
                <a:latin typeface="Jost Light" pitchFamily="2" charset="77"/>
                <a:ea typeface="Jost Light" pitchFamily="2" charset="77"/>
                <a:cs typeface="Jost Light" pitchFamily="2" charset="77"/>
              </a:rPr>
              <a:t>Simulation : 100 000 EUR investis pendant 20 ans, fiscalité appliquée chaque année</a:t>
            </a:r>
          </a:p>
        </p:txBody>
      </p:sp>
    </p:spTree>
    <p:extLst>
      <p:ext uri="{BB962C8B-B14F-4D97-AF65-F5344CB8AC3E}">
        <p14:creationId xmlns:p14="http://schemas.microsoft.com/office/powerpoint/2010/main" val="3527237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9600000"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Compte-Titres Ordinaire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96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Le CTO : l’enveloppe la plus large, sans avantage fiscal</a:t>
            </a:r>
          </a:p>
        </p:txBody>
      </p:sp>
      <p:sp>
        <p:nvSpPr>
          <p:cNvPr id="201" name="Shape 201"/>
          <p:cNvSpPr/>
          <p:nvPr/>
        </p:nvSpPr>
        <p:spPr>
          <a:xfrm>
            <a:off x="947738" y="1909523"/>
            <a:ext cx="3419475" cy="798752"/>
          </a:xfrm>
          <a:prstGeom prst="rect">
            <a:avLst/>
          </a:prstGeom>
          <a:solidFill>
            <a:srgbClr val="001B00"/>
          </a:solidFill>
          <a:ln>
            <a:noFill/>
          </a:ln>
        </p:spPr>
        <p:txBody>
          <a:bodyPr rtlCol="0" anchor="ctr"/>
          <a:lstStyle/>
          <a:p>
            <a:pPr algn="ctr"/>
            <a:endParaRPr lang="fr-FR"/>
          </a:p>
        </p:txBody>
      </p:sp>
      <p:sp>
        <p:nvSpPr>
          <p:cNvPr id="202" name="Stat 0 202"/>
          <p:cNvSpPr txBox="1"/>
          <p:nvPr/>
        </p:nvSpPr>
        <p:spPr>
          <a:xfrm>
            <a:off x="997467" y="1939522"/>
            <a:ext cx="3348177" cy="768751"/>
          </a:xfrm>
          <a:prstGeom prst="rect">
            <a:avLst/>
          </a:prstGeom>
          <a:noFill/>
          <a:ln>
            <a:noFill/>
          </a:ln>
        </p:spPr>
        <p:txBody>
          <a:bodyPr wrap="square" lIns="0" tIns="0" rIns="0" bIns="0" rtlCol="0" anchor="ctr">
            <a:normAutofit/>
          </a:bodyPr>
          <a:lstStyle/>
          <a:p>
            <a:pPr algn="ctr"/>
            <a:r>
              <a:rPr lang="fr-FR" sz="900" dirty="0">
                <a:solidFill>
                  <a:srgbClr val="FFFFFF"/>
                </a:solidFill>
                <a:latin typeface="Jost Medium" pitchFamily="2" charset="77"/>
                <a:ea typeface="Jost Medium" pitchFamily="2" charset="77"/>
                <a:cs typeface="Jost Medium" pitchFamily="2" charset="77"/>
              </a:rPr>
              <a:t>Plafond de versements</a:t>
            </a:r>
          </a:p>
          <a:p>
            <a:pPr algn="ctr"/>
            <a:r>
              <a:rPr lang="fr-FR" sz="1800" b="1" dirty="0">
                <a:solidFill>
                  <a:srgbClr val="FFFFFF"/>
                </a:solidFill>
                <a:latin typeface="Cormorant Garamond SemiBold" pitchFamily="2" charset="77"/>
                <a:ea typeface="Cormorant Garamond SemiBold" pitchFamily="2" charset="77"/>
                <a:cs typeface="Cormorant Garamond SemiBold" pitchFamily="2" charset="77"/>
              </a:rPr>
              <a:t>Aucun</a:t>
            </a:r>
          </a:p>
        </p:txBody>
      </p:sp>
      <p:sp>
        <p:nvSpPr>
          <p:cNvPr id="203" name="Shape 203"/>
          <p:cNvSpPr/>
          <p:nvPr/>
        </p:nvSpPr>
        <p:spPr>
          <a:xfrm>
            <a:off x="4595645" y="1909523"/>
            <a:ext cx="3448177" cy="798752"/>
          </a:xfrm>
          <a:prstGeom prst="rect">
            <a:avLst/>
          </a:prstGeom>
          <a:solidFill>
            <a:srgbClr val="001B00"/>
          </a:solidFill>
          <a:ln>
            <a:noFill/>
          </a:ln>
        </p:spPr>
        <p:txBody>
          <a:bodyPr rtlCol="0" anchor="ctr"/>
          <a:lstStyle/>
          <a:p>
            <a:pPr algn="ctr"/>
            <a:endParaRPr lang="fr-FR"/>
          </a:p>
        </p:txBody>
      </p:sp>
      <p:sp>
        <p:nvSpPr>
          <p:cNvPr id="204" name="Stat 1 204"/>
          <p:cNvSpPr txBox="1"/>
          <p:nvPr/>
        </p:nvSpPr>
        <p:spPr>
          <a:xfrm>
            <a:off x="4645607" y="1919523"/>
            <a:ext cx="3348177" cy="788751"/>
          </a:xfrm>
          <a:prstGeom prst="rect">
            <a:avLst/>
          </a:prstGeom>
          <a:noFill/>
          <a:ln>
            <a:noFill/>
          </a:ln>
        </p:spPr>
        <p:txBody>
          <a:bodyPr wrap="square" lIns="0" tIns="0" rIns="0" bIns="0" rtlCol="0" anchor="ctr">
            <a:normAutofit/>
          </a:bodyPr>
          <a:lstStyle/>
          <a:p>
            <a:pPr algn="ctr"/>
            <a:r>
              <a:rPr lang="fr-FR" sz="900" dirty="0">
                <a:solidFill>
                  <a:srgbClr val="FFFFFF"/>
                </a:solidFill>
                <a:latin typeface="Jost Medium" pitchFamily="2" charset="77"/>
                <a:ea typeface="Jost Medium" pitchFamily="2" charset="77"/>
                <a:cs typeface="Jost Medium" pitchFamily="2" charset="77"/>
              </a:rPr>
              <a:t>Fiscalité (PFU par défaut)</a:t>
            </a:r>
          </a:p>
          <a:p>
            <a:pPr algn="ctr"/>
            <a:r>
              <a:rPr lang="fr-FR" sz="1800" b="1" dirty="0">
                <a:solidFill>
                  <a:srgbClr val="FFFFFF"/>
                </a:solidFill>
                <a:latin typeface="Cormorant Garamond SemiBold" pitchFamily="2" charset="77"/>
                <a:ea typeface="Cormorant Garamond SemiBold" pitchFamily="2" charset="77"/>
                <a:cs typeface="Cormorant Garamond SemiBold" pitchFamily="2" charset="77"/>
              </a:rPr>
              <a:t>31,4%</a:t>
            </a:r>
          </a:p>
        </p:txBody>
      </p:sp>
      <p:sp>
        <p:nvSpPr>
          <p:cNvPr id="205" name="Shape 205"/>
          <p:cNvSpPr/>
          <p:nvPr/>
        </p:nvSpPr>
        <p:spPr>
          <a:xfrm>
            <a:off x="8243822" y="1909523"/>
            <a:ext cx="3448177" cy="798752"/>
          </a:xfrm>
          <a:prstGeom prst="rect">
            <a:avLst/>
          </a:prstGeom>
          <a:solidFill>
            <a:srgbClr val="001B00"/>
          </a:solidFill>
          <a:ln>
            <a:noFill/>
          </a:ln>
        </p:spPr>
        <p:txBody>
          <a:bodyPr rtlCol="0" anchor="ctr"/>
          <a:lstStyle/>
          <a:p>
            <a:pPr algn="ctr"/>
            <a:endParaRPr lang="fr-FR"/>
          </a:p>
        </p:txBody>
      </p:sp>
      <p:sp>
        <p:nvSpPr>
          <p:cNvPr id="206" name="Stat 2 206"/>
          <p:cNvSpPr txBox="1"/>
          <p:nvPr/>
        </p:nvSpPr>
        <p:spPr>
          <a:xfrm>
            <a:off x="8297670" y="1924746"/>
            <a:ext cx="3348177" cy="783529"/>
          </a:xfrm>
          <a:prstGeom prst="rect">
            <a:avLst/>
          </a:prstGeom>
          <a:noFill/>
          <a:ln>
            <a:noFill/>
          </a:ln>
        </p:spPr>
        <p:txBody>
          <a:bodyPr wrap="square" lIns="0" tIns="0" rIns="0" bIns="0" rtlCol="0" anchor="ctr">
            <a:normAutofit/>
          </a:bodyPr>
          <a:lstStyle/>
          <a:p>
            <a:pPr algn="ctr"/>
            <a:r>
              <a:rPr lang="fr-FR" sz="900" dirty="0">
                <a:solidFill>
                  <a:srgbClr val="FFFFFF"/>
                </a:solidFill>
                <a:latin typeface="Jost Medium" pitchFamily="2" charset="77"/>
                <a:ea typeface="Jost Medium" pitchFamily="2" charset="77"/>
                <a:cs typeface="Jost Medium" pitchFamily="2" charset="77"/>
              </a:rPr>
              <a:t>Option barème progressif</a:t>
            </a:r>
          </a:p>
          <a:p>
            <a:pPr algn="ctr"/>
            <a:r>
              <a:rPr lang="fr-FR" sz="1800" b="1" dirty="0">
                <a:solidFill>
                  <a:srgbClr val="FFFFFF"/>
                </a:solidFill>
                <a:latin typeface="Cormorant Garamond SemiBold" pitchFamily="2" charset="77"/>
                <a:ea typeface="Cormorant Garamond SemiBold" pitchFamily="2" charset="77"/>
                <a:cs typeface="Cormorant Garamond SemiBold" pitchFamily="2" charset="77"/>
              </a:rPr>
              <a:t>Sur choix</a:t>
            </a:r>
          </a:p>
        </p:txBody>
      </p:sp>
      <p:sp>
        <p:nvSpPr>
          <p:cNvPr id="207" name="Shape 207"/>
          <p:cNvSpPr/>
          <p:nvPr/>
        </p:nvSpPr>
        <p:spPr>
          <a:xfrm>
            <a:off x="947468" y="3176588"/>
            <a:ext cx="3448177" cy="320000"/>
          </a:xfrm>
          <a:prstGeom prst="rect">
            <a:avLst/>
          </a:prstGeom>
          <a:solidFill>
            <a:srgbClr val="001B00"/>
          </a:solidFill>
          <a:ln>
            <a:noFill/>
          </a:ln>
        </p:spPr>
        <p:txBody>
          <a:bodyPr rtlCol="0" anchor="ctr"/>
          <a:lstStyle/>
          <a:p>
            <a:pPr algn="ctr"/>
            <a:endParaRPr lang="fr-FR"/>
          </a:p>
        </p:txBody>
      </p:sp>
      <p:sp>
        <p:nvSpPr>
          <p:cNvPr id="208" name="Col1 Header 208"/>
          <p:cNvSpPr txBox="1"/>
          <p:nvPr/>
        </p:nvSpPr>
        <p:spPr>
          <a:xfrm>
            <a:off x="947468" y="3176588"/>
            <a:ext cx="3448177" cy="320000"/>
          </a:xfrm>
          <a:prstGeom prst="rect">
            <a:avLst/>
          </a:prstGeom>
          <a:noFill/>
          <a:ln>
            <a:noFill/>
          </a:ln>
        </p:spPr>
        <p:txBody>
          <a:bodyPr wrap="square" lIns="0" tIns="0" rIns="0" bIns="0" rtlCol="0" anchor="ctr">
            <a:normAutofit/>
          </a:bodyPr>
          <a:lstStyle/>
          <a:p>
            <a:pPr algn="ctr">
              <a:buNone/>
            </a:pPr>
            <a:r>
              <a:rPr lang="fr-FR" sz="1100" b="1" dirty="0">
                <a:solidFill>
                  <a:srgbClr val="FFFFFF"/>
                </a:solidFill>
                <a:latin typeface="Cormorant Garamond SemiBold" pitchFamily="2" charset="77"/>
                <a:ea typeface="Cormorant Garamond SemiBold" pitchFamily="2" charset="77"/>
                <a:cs typeface="Cormorant Garamond SemiBold" pitchFamily="2" charset="77"/>
              </a:rPr>
              <a:t>Actifs éligibles</a:t>
            </a:r>
          </a:p>
        </p:txBody>
      </p:sp>
      <p:sp>
        <p:nvSpPr>
          <p:cNvPr id="209" name="Shape 209"/>
          <p:cNvSpPr/>
          <p:nvPr/>
        </p:nvSpPr>
        <p:spPr>
          <a:xfrm>
            <a:off x="947468" y="3496588"/>
            <a:ext cx="3448177" cy="1020000"/>
          </a:xfrm>
          <a:prstGeom prst="rect">
            <a:avLst/>
          </a:prstGeom>
          <a:solidFill>
            <a:srgbClr val="FCF9EF"/>
          </a:solidFill>
          <a:ln>
            <a:noFill/>
          </a:ln>
        </p:spPr>
        <p:txBody>
          <a:bodyPr rtlCol="0" anchor="ctr"/>
          <a:lstStyle/>
          <a:p>
            <a:pPr algn="ctr"/>
            <a:endParaRPr lang="fr-FR"/>
          </a:p>
        </p:txBody>
      </p:sp>
      <p:sp>
        <p:nvSpPr>
          <p:cNvPr id="210" name="Col1 Body 210"/>
          <p:cNvSpPr txBox="1"/>
          <p:nvPr/>
        </p:nvSpPr>
        <p:spPr>
          <a:xfrm>
            <a:off x="1097468" y="3606588"/>
            <a:ext cx="3248177" cy="860000"/>
          </a:xfrm>
          <a:prstGeom prst="rect">
            <a:avLst/>
          </a:prstGeom>
          <a:noFill/>
          <a:ln>
            <a:noFill/>
          </a:ln>
        </p:spPr>
        <p:txBody>
          <a:bodyPr wrap="square" lIns="0" tIns="0" rIns="0" bIns="0" rtlCol="0" anchor="t">
            <a:normAutofit/>
          </a:bodyPr>
          <a:lstStyle/>
          <a:p>
            <a:pPr marL="182880" indent="-182880" algn="just">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Actions et obligations françaises et internationales, sans restriction géographique.</a:t>
            </a:r>
          </a:p>
          <a:p>
            <a:pPr marL="182880" indent="-182880" algn="just">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ETF, fonds, produits structurés, instruments dérivés.</a:t>
            </a:r>
          </a:p>
          <a:p>
            <a:pPr marL="182880" indent="-182880" algn="just">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Titres non cotés sous conditions.</a:t>
            </a:r>
          </a:p>
          <a:p>
            <a:pPr marL="182880" indent="-182880" algn="just">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Ouverture possible par une société/holding patrimoniale.</a:t>
            </a:r>
          </a:p>
        </p:txBody>
      </p:sp>
      <p:sp>
        <p:nvSpPr>
          <p:cNvPr id="211" name="Shape 211"/>
          <p:cNvSpPr/>
          <p:nvPr/>
        </p:nvSpPr>
        <p:spPr>
          <a:xfrm>
            <a:off x="4595608" y="3176588"/>
            <a:ext cx="3448177" cy="320000"/>
          </a:xfrm>
          <a:prstGeom prst="rect">
            <a:avLst/>
          </a:prstGeom>
          <a:solidFill>
            <a:srgbClr val="001B00"/>
          </a:solidFill>
          <a:ln>
            <a:noFill/>
          </a:ln>
        </p:spPr>
        <p:txBody>
          <a:bodyPr rtlCol="0" anchor="ctr"/>
          <a:lstStyle/>
          <a:p>
            <a:pPr algn="ctr"/>
            <a:endParaRPr lang="fr-FR"/>
          </a:p>
        </p:txBody>
      </p:sp>
      <p:sp>
        <p:nvSpPr>
          <p:cNvPr id="212" name="Col2 Header 212"/>
          <p:cNvSpPr txBox="1"/>
          <p:nvPr/>
        </p:nvSpPr>
        <p:spPr>
          <a:xfrm>
            <a:off x="4555682" y="3186588"/>
            <a:ext cx="3448177" cy="320000"/>
          </a:xfrm>
          <a:prstGeom prst="rect">
            <a:avLst/>
          </a:prstGeom>
          <a:noFill/>
          <a:ln>
            <a:noFill/>
          </a:ln>
        </p:spPr>
        <p:txBody>
          <a:bodyPr wrap="square" lIns="0" tIns="0" rIns="0" bIns="0" rtlCol="0" anchor="ctr">
            <a:normAutofit/>
          </a:bodyPr>
          <a:lstStyle/>
          <a:p>
            <a:pPr algn="ctr">
              <a:buNone/>
            </a:pPr>
            <a:r>
              <a:rPr lang="fr-FR" sz="1100" b="1" dirty="0">
                <a:solidFill>
                  <a:srgbClr val="FFFFFF"/>
                </a:solidFill>
                <a:latin typeface="Cormorant Garamond SemiBold" pitchFamily="2" charset="77"/>
                <a:ea typeface="Cormorant Garamond SemiBold" pitchFamily="2" charset="77"/>
                <a:cs typeface="Cormorant Garamond SemiBold" pitchFamily="2" charset="77"/>
              </a:rPr>
              <a:t>Points clés</a:t>
            </a:r>
          </a:p>
        </p:txBody>
      </p:sp>
      <p:sp>
        <p:nvSpPr>
          <p:cNvPr id="213" name="Shape 213"/>
          <p:cNvSpPr/>
          <p:nvPr/>
        </p:nvSpPr>
        <p:spPr>
          <a:xfrm>
            <a:off x="4595608" y="3506499"/>
            <a:ext cx="3448177" cy="1020000"/>
          </a:xfrm>
          <a:prstGeom prst="rect">
            <a:avLst/>
          </a:prstGeom>
          <a:solidFill>
            <a:srgbClr val="FCF9EF"/>
          </a:solidFill>
          <a:ln>
            <a:noFill/>
          </a:ln>
        </p:spPr>
        <p:txBody>
          <a:bodyPr rtlCol="0" anchor="ctr"/>
          <a:lstStyle/>
          <a:p>
            <a:pPr algn="ctr"/>
            <a:endParaRPr lang="fr-FR"/>
          </a:p>
        </p:txBody>
      </p:sp>
      <p:sp>
        <p:nvSpPr>
          <p:cNvPr id="214" name="Col2 Body 214"/>
          <p:cNvSpPr txBox="1"/>
          <p:nvPr/>
        </p:nvSpPr>
        <p:spPr>
          <a:xfrm>
            <a:off x="4680681" y="3586588"/>
            <a:ext cx="3198178" cy="870000"/>
          </a:xfrm>
          <a:prstGeom prst="rect">
            <a:avLst/>
          </a:prstGeom>
          <a:noFill/>
          <a:ln>
            <a:noFill/>
          </a:ln>
        </p:spPr>
        <p:txBody>
          <a:bodyPr wrap="square" lIns="0" tIns="0" rIns="0" bIns="0" rtlCol="0" anchor="t">
            <a:normAutofit lnSpcReduction="10000"/>
          </a:bodyPr>
          <a:lstStyle/>
          <a:p>
            <a:pPr marL="182880" indent="-182880" algn="just">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Fiscalité de droit commun : dividendes et plus-values imposés chaque année, sans report.</a:t>
            </a:r>
          </a:p>
          <a:p>
            <a:pPr marL="182880" indent="-182880" algn="just">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PFU de 31,4% par défaut, ou option pour le barème progressif.</a:t>
            </a:r>
          </a:p>
          <a:p>
            <a:pPr marL="182880" indent="-182880" algn="just">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L’enveloppe la plus flexible en termes d’investissement.</a:t>
            </a:r>
          </a:p>
          <a:p>
            <a:pPr marL="182880" indent="-182880" algn="just">
              <a:spcAft>
                <a:spcPts val="2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Possibilité de faire un crédit lombard à partir de 500 000 EUR de dépôt sur CTO.</a:t>
            </a:r>
          </a:p>
        </p:txBody>
      </p:sp>
      <p:sp>
        <p:nvSpPr>
          <p:cNvPr id="217" name="Shape 217"/>
          <p:cNvSpPr/>
          <p:nvPr/>
        </p:nvSpPr>
        <p:spPr>
          <a:xfrm>
            <a:off x="8226290" y="3513182"/>
            <a:ext cx="3465709" cy="1003405"/>
          </a:xfrm>
          <a:prstGeom prst="rect">
            <a:avLst/>
          </a:prstGeom>
          <a:solidFill>
            <a:srgbClr val="FCF9EF"/>
          </a:solidFill>
          <a:ln>
            <a:noFill/>
          </a:ln>
        </p:spPr>
        <p:txBody>
          <a:bodyPr rtlCol="0" anchor="ctr"/>
          <a:lstStyle/>
          <a:p>
            <a:pPr algn="ctr"/>
            <a:endParaRPr lang="fr-FR"/>
          </a:p>
        </p:txBody>
      </p:sp>
      <p:sp>
        <p:nvSpPr>
          <p:cNvPr id="218" name="Incon Left 218"/>
          <p:cNvSpPr txBox="1"/>
          <p:nvPr/>
        </p:nvSpPr>
        <p:spPr>
          <a:xfrm>
            <a:off x="8243748" y="3574885"/>
            <a:ext cx="3448251" cy="822752"/>
          </a:xfrm>
          <a:prstGeom prst="rect">
            <a:avLst/>
          </a:prstGeom>
          <a:noFill/>
          <a:ln>
            <a:noFill/>
          </a:ln>
        </p:spPr>
        <p:txBody>
          <a:bodyPr wrap="square" lIns="0" tIns="0" rIns="0" bIns="0" rtlCol="0" anchor="t">
            <a:normAutofit/>
          </a:bodyPr>
          <a:lstStyle/>
          <a:p>
            <a:pPr marL="182880" indent="-182880" algn="l">
              <a:spcAft>
                <a:spcPts val="1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Fiscalité immédiate chaque année : aucun différé d’imposition, contrairement à l’assurance-vie ou au PEA.</a:t>
            </a:r>
          </a:p>
          <a:p>
            <a:pPr marL="182880" indent="-182880" algn="l">
              <a:spcAft>
                <a:spcPts val="18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Si volonté de profiter de la diversification de l’enveloppe, niveau de risque souvent plus élevé.</a:t>
            </a:r>
          </a:p>
        </p:txBody>
      </p:sp>
      <p:sp>
        <p:nvSpPr>
          <p:cNvPr id="220" name="Dyn Title 220"/>
          <p:cNvSpPr txBox="1"/>
          <p:nvPr/>
        </p:nvSpPr>
        <p:spPr>
          <a:xfrm>
            <a:off x="947467" y="4843338"/>
            <a:ext cx="10744532" cy="280000"/>
          </a:xfrm>
          <a:prstGeom prst="rect">
            <a:avLst/>
          </a:prstGeom>
          <a:noFill/>
          <a:ln>
            <a:noFill/>
          </a:ln>
        </p:spPr>
        <p:txBody>
          <a:bodyPr wrap="square" lIns="0" tIns="0" rIns="0" bIns="0" rtlCol="0" anchor="t">
            <a:normAutofit/>
          </a:bodyPr>
          <a:lstStyle/>
          <a:p>
            <a:pPr algn="l">
              <a:buNone/>
            </a:pPr>
            <a:r>
              <a:rPr lang="fr-FR" sz="1200" b="1" dirty="0">
                <a:solidFill>
                  <a:srgbClr val="A9853F"/>
                </a:solidFill>
                <a:latin typeface="Cormorant Garamond SemiBold" pitchFamily="2" charset="77"/>
                <a:ea typeface="Cormorant Garamond SemiBold" pitchFamily="2" charset="77"/>
                <a:cs typeface="Cormorant Garamond SemiBold" pitchFamily="2" charset="77"/>
              </a:rPr>
              <a:t>La diversification mondiale peut absorber la fiscalité</a:t>
            </a:r>
          </a:p>
        </p:txBody>
      </p:sp>
      <p:sp>
        <p:nvSpPr>
          <p:cNvPr id="221" name="Dyn Subtitle 221"/>
          <p:cNvSpPr txBox="1"/>
          <p:nvPr/>
        </p:nvSpPr>
        <p:spPr>
          <a:xfrm>
            <a:off x="947197" y="5223338"/>
            <a:ext cx="10744532" cy="260000"/>
          </a:xfrm>
          <a:prstGeom prst="rect">
            <a:avLst/>
          </a:prstGeom>
          <a:noFill/>
          <a:ln>
            <a:noFill/>
          </a:ln>
        </p:spPr>
        <p:txBody>
          <a:bodyPr wrap="square" lIns="0" tIns="0" rIns="0" bIns="0" rtlCol="0" anchor="t">
            <a:normAutofit/>
          </a:bodyPr>
          <a:lstStyle/>
          <a:p>
            <a:pPr algn="l">
              <a:buNone/>
            </a:pPr>
            <a:r>
              <a:rPr lang="fr-FR" sz="900" i="1" dirty="0">
                <a:solidFill>
                  <a:srgbClr val="073527"/>
                </a:solidFill>
                <a:latin typeface="Jost Light" pitchFamily="2" charset="77"/>
                <a:ea typeface="Jost Light" pitchFamily="2" charset="77"/>
                <a:cs typeface="Jost Light" pitchFamily="2" charset="77"/>
              </a:rPr>
              <a:t>Simulation : 100 000 EUR investis pendant 20 ans, fiscalité appliquée chaque année</a:t>
            </a:r>
          </a:p>
        </p:txBody>
      </p:sp>
      <p:sp>
        <p:nvSpPr>
          <p:cNvPr id="222" name="Bar Label 222"/>
          <p:cNvSpPr txBox="1"/>
          <p:nvPr/>
        </p:nvSpPr>
        <p:spPr>
          <a:xfrm>
            <a:off x="947197" y="5563338"/>
            <a:ext cx="4200000" cy="300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Medium" pitchFamily="2" charset="77"/>
                <a:ea typeface="Jost Medium" pitchFamily="2" charset="77"/>
                <a:cs typeface="Jost Medium" pitchFamily="2" charset="77"/>
              </a:rPr>
              <a:t>CTO monde, accès US (brut ~9%/an, net de PFU)</a:t>
            </a:r>
          </a:p>
        </p:txBody>
      </p:sp>
      <p:sp>
        <p:nvSpPr>
          <p:cNvPr id="223" name="Shape 223"/>
          <p:cNvSpPr/>
          <p:nvPr/>
        </p:nvSpPr>
        <p:spPr>
          <a:xfrm>
            <a:off x="5247197" y="5563338"/>
            <a:ext cx="2978823" cy="300000"/>
          </a:xfrm>
          <a:prstGeom prst="rect">
            <a:avLst/>
          </a:prstGeom>
          <a:solidFill>
            <a:srgbClr val="001B00"/>
          </a:solidFill>
          <a:ln>
            <a:noFill/>
          </a:ln>
        </p:spPr>
        <p:txBody>
          <a:bodyPr rtlCol="0" anchor="ctr"/>
          <a:lstStyle/>
          <a:p>
            <a:pPr algn="ctr"/>
            <a:endParaRPr lang="fr-FR"/>
          </a:p>
        </p:txBody>
      </p:sp>
      <p:sp>
        <p:nvSpPr>
          <p:cNvPr id="224" name="Bar Value 224"/>
          <p:cNvSpPr txBox="1"/>
          <p:nvPr/>
        </p:nvSpPr>
        <p:spPr>
          <a:xfrm>
            <a:off x="8326020" y="5563338"/>
            <a:ext cx="900000" cy="300000"/>
          </a:xfrm>
          <a:prstGeom prst="rect">
            <a:avLst/>
          </a:prstGeom>
          <a:noFill/>
          <a:ln>
            <a:noFill/>
          </a:ln>
        </p:spPr>
        <p:txBody>
          <a:bodyPr wrap="square" lIns="0" tIns="0" rIns="0" bIns="0" rtlCol="0" anchor="ctr">
            <a:normAutofit/>
          </a:bodyPr>
          <a:lstStyle/>
          <a:p>
            <a:pPr algn="l">
              <a:buNone/>
            </a:pPr>
            <a:r>
              <a:rPr lang="fr-FR" sz="1000" b="1" dirty="0">
                <a:solidFill>
                  <a:srgbClr val="001B00"/>
                </a:solidFill>
                <a:latin typeface="Cormorant Garamond SemiBold" pitchFamily="2" charset="77"/>
                <a:ea typeface="Cormorant Garamond SemiBold" pitchFamily="2" charset="77"/>
                <a:cs typeface="Cormorant Garamond SemiBold" pitchFamily="2" charset="77"/>
              </a:rPr>
              <a:t>338 000 EUR</a:t>
            </a:r>
          </a:p>
        </p:txBody>
      </p:sp>
      <p:sp>
        <p:nvSpPr>
          <p:cNvPr id="225" name="Bar Label 225"/>
          <p:cNvSpPr txBox="1"/>
          <p:nvPr/>
        </p:nvSpPr>
        <p:spPr>
          <a:xfrm>
            <a:off x="947197" y="5923338"/>
            <a:ext cx="4200000" cy="300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Medium" pitchFamily="2" charset="77"/>
                <a:ea typeface="Jost Medium" pitchFamily="2" charset="77"/>
                <a:cs typeface="Jost Medium" pitchFamily="2" charset="77"/>
              </a:rPr>
              <a:t>PEA Europe seule (brut ~6%/an, net de PS)</a:t>
            </a:r>
          </a:p>
        </p:txBody>
      </p:sp>
      <p:sp>
        <p:nvSpPr>
          <p:cNvPr id="226" name="Shape 226"/>
          <p:cNvSpPr/>
          <p:nvPr/>
        </p:nvSpPr>
        <p:spPr>
          <a:xfrm>
            <a:off x="5247197" y="5923338"/>
            <a:ext cx="2467058" cy="300000"/>
          </a:xfrm>
          <a:prstGeom prst="rect">
            <a:avLst/>
          </a:prstGeom>
          <a:solidFill>
            <a:srgbClr val="A9853F"/>
          </a:solidFill>
          <a:ln>
            <a:noFill/>
          </a:ln>
        </p:spPr>
        <p:txBody>
          <a:bodyPr rtlCol="0" anchor="ctr"/>
          <a:lstStyle/>
          <a:p>
            <a:pPr algn="ctr"/>
            <a:endParaRPr lang="fr-FR"/>
          </a:p>
        </p:txBody>
      </p:sp>
      <p:sp>
        <p:nvSpPr>
          <p:cNvPr id="227" name="Bar Value 227"/>
          <p:cNvSpPr txBox="1"/>
          <p:nvPr/>
        </p:nvSpPr>
        <p:spPr>
          <a:xfrm>
            <a:off x="7814255" y="5923338"/>
            <a:ext cx="900000" cy="300000"/>
          </a:xfrm>
          <a:prstGeom prst="rect">
            <a:avLst/>
          </a:prstGeom>
          <a:noFill/>
          <a:ln>
            <a:noFill/>
          </a:ln>
        </p:spPr>
        <p:txBody>
          <a:bodyPr wrap="square" lIns="0" tIns="0" rIns="0" bIns="0" rtlCol="0" anchor="ctr">
            <a:normAutofit/>
          </a:bodyPr>
          <a:lstStyle/>
          <a:p>
            <a:pPr algn="l">
              <a:buNone/>
            </a:pPr>
            <a:r>
              <a:rPr lang="fr-FR" sz="1000" b="1" dirty="0">
                <a:solidFill>
                  <a:srgbClr val="001B00"/>
                </a:solidFill>
                <a:latin typeface="Cormorant Garamond SemiBold" pitchFamily="2" charset="77"/>
                <a:ea typeface="Cormorant Garamond SemiBold" pitchFamily="2" charset="77"/>
                <a:cs typeface="Cormorant Garamond SemiBold" pitchFamily="2" charset="77"/>
              </a:rPr>
              <a:t>280 000 EUR</a:t>
            </a:r>
          </a:p>
        </p:txBody>
      </p:sp>
      <p:sp>
        <p:nvSpPr>
          <p:cNvPr id="228" name="Footnote 228"/>
          <p:cNvSpPr txBox="1"/>
          <p:nvPr/>
        </p:nvSpPr>
        <p:spPr>
          <a:xfrm>
            <a:off x="947468" y="6560000"/>
            <a:ext cx="10744532" cy="320000"/>
          </a:xfrm>
          <a:prstGeom prst="rect">
            <a:avLst/>
          </a:prstGeom>
          <a:noFill/>
          <a:ln>
            <a:noFill/>
          </a:ln>
        </p:spPr>
        <p:txBody>
          <a:bodyPr wrap="square" lIns="0" tIns="0" rIns="0" bIns="0" rtlCol="0" anchor="t">
            <a:normAutofit/>
          </a:bodyPr>
          <a:lstStyle/>
          <a:p>
            <a:pPr algn="ctr">
              <a:buNone/>
            </a:pPr>
            <a:r>
              <a:rPr lang="fr-FR" sz="700" i="1" dirty="0">
                <a:solidFill>
                  <a:srgbClr val="6B6B6B"/>
                </a:solidFill>
                <a:latin typeface="Jost Light" pitchFamily="2" charset="77"/>
                <a:ea typeface="Jost Light" pitchFamily="2" charset="77"/>
                <a:cs typeface="Jost Light" pitchFamily="2" charset="77"/>
              </a:rPr>
              <a:t>Simulation illustrative. Rendements bruts indicatifs de long terme (S&amp;P 500/MSCI World ~9% ; MSCI Europe/Stoxx 600 ~5,5-6%). PFU 31,4 % appliqué en continu (CTO) ; PS 18,6% à la sortie (PEA). Performances passées non garanties, risque de perte en capital.</a:t>
            </a:r>
          </a:p>
        </p:txBody>
      </p:sp>
      <p:sp>
        <p:nvSpPr>
          <p:cNvPr id="6" name="Shape 211">
            <a:extLst>
              <a:ext uri="{FF2B5EF4-FFF2-40B4-BE49-F238E27FC236}">
                <a16:creationId xmlns:a16="http://schemas.microsoft.com/office/drawing/2014/main" id="{30D0A3CB-86D3-710F-F445-D31175971178}"/>
              </a:ext>
            </a:extLst>
          </p:cNvPr>
          <p:cNvSpPr/>
          <p:nvPr/>
        </p:nvSpPr>
        <p:spPr>
          <a:xfrm>
            <a:off x="8243822" y="3176588"/>
            <a:ext cx="3448177" cy="320000"/>
          </a:xfrm>
          <a:prstGeom prst="rect">
            <a:avLst/>
          </a:prstGeom>
          <a:solidFill>
            <a:srgbClr val="001B00"/>
          </a:solidFill>
          <a:ln>
            <a:noFill/>
          </a:ln>
        </p:spPr>
        <p:txBody>
          <a:bodyPr rtlCol="0" anchor="ctr"/>
          <a:lstStyle/>
          <a:p>
            <a:pPr algn="ctr"/>
            <a:endParaRPr lang="fr-FR"/>
          </a:p>
        </p:txBody>
      </p:sp>
      <p:sp>
        <p:nvSpPr>
          <p:cNvPr id="216" name="Incon Header 216"/>
          <p:cNvSpPr txBox="1"/>
          <p:nvPr/>
        </p:nvSpPr>
        <p:spPr>
          <a:xfrm>
            <a:off x="8243822" y="3194885"/>
            <a:ext cx="3448177" cy="300000"/>
          </a:xfrm>
          <a:prstGeom prst="rect">
            <a:avLst/>
          </a:prstGeom>
          <a:noFill/>
          <a:ln>
            <a:noFill/>
          </a:ln>
        </p:spPr>
        <p:txBody>
          <a:bodyPr wrap="square" lIns="0" tIns="0" rIns="0" bIns="0" rtlCol="0" anchor="ctr">
            <a:normAutofit/>
          </a:bodyPr>
          <a:lstStyle/>
          <a:p>
            <a:pPr algn="ctr">
              <a:buNone/>
            </a:pPr>
            <a:r>
              <a:rPr lang="fr-FR" sz="1050" b="1" dirty="0">
                <a:solidFill>
                  <a:srgbClr val="FFFFFF"/>
                </a:solidFill>
                <a:latin typeface="Cormorant Garamond SemiBold" pitchFamily="2" charset="77"/>
                <a:ea typeface="Cormorant Garamond SemiBold" pitchFamily="2" charset="77"/>
                <a:cs typeface="Cormorant Garamond SemiBold" pitchFamily="2" charset="77"/>
              </a:rPr>
              <a:t>Inconvénients du CTO</a:t>
            </a:r>
          </a:p>
        </p:txBody>
      </p:sp>
    </p:spTree>
    <p:extLst>
      <p:ext uri="{BB962C8B-B14F-4D97-AF65-F5344CB8AC3E}">
        <p14:creationId xmlns:p14="http://schemas.microsoft.com/office/powerpoint/2010/main" val="2003363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9800000"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Compte-titres logé dans une holding patrimoniale ou société d’exploitation, soumise à l’IS</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98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Le CTO détenu par une société</a:t>
            </a:r>
          </a:p>
        </p:txBody>
      </p:sp>
      <p:sp>
        <p:nvSpPr>
          <p:cNvPr id="201" name="Shape 201"/>
          <p:cNvSpPr/>
          <p:nvPr/>
        </p:nvSpPr>
        <p:spPr>
          <a:xfrm>
            <a:off x="947468" y="1613670"/>
            <a:ext cx="3448177" cy="850000"/>
          </a:xfrm>
          <a:prstGeom prst="rect">
            <a:avLst/>
          </a:prstGeom>
          <a:solidFill>
            <a:srgbClr val="001B00"/>
          </a:solidFill>
          <a:ln>
            <a:noFill/>
          </a:ln>
        </p:spPr>
        <p:txBody>
          <a:bodyPr rtlCol="0" anchor="ctr"/>
          <a:lstStyle/>
          <a:p>
            <a:pPr algn="ctr"/>
            <a:endParaRPr lang="fr-FR"/>
          </a:p>
        </p:txBody>
      </p:sp>
      <p:sp>
        <p:nvSpPr>
          <p:cNvPr id="202" name="Stat 0 202"/>
          <p:cNvSpPr txBox="1"/>
          <p:nvPr/>
        </p:nvSpPr>
        <p:spPr>
          <a:xfrm>
            <a:off x="997468" y="1613670"/>
            <a:ext cx="3348177" cy="850000"/>
          </a:xfrm>
          <a:prstGeom prst="rect">
            <a:avLst/>
          </a:prstGeom>
          <a:noFill/>
          <a:ln>
            <a:noFill/>
          </a:ln>
        </p:spPr>
        <p:txBody>
          <a:bodyPr wrap="square" lIns="0" tIns="0" rIns="0" bIns="0" rtlCol="0" anchor="ctr">
            <a:normAutofit/>
          </a:bodyPr>
          <a:lstStyle/>
          <a:p>
            <a:pPr algn="ctr"/>
            <a:r>
              <a:rPr lang="fr-FR" sz="900" dirty="0">
                <a:solidFill>
                  <a:srgbClr val="FFFFFF"/>
                </a:solidFill>
                <a:latin typeface="Jost Medium" pitchFamily="2" charset="77"/>
                <a:ea typeface="Jost Medium" pitchFamily="2" charset="77"/>
                <a:cs typeface="Jost Medium" pitchFamily="2" charset="77"/>
              </a:rPr>
              <a:t>Taux d’IS réduit (PME)</a:t>
            </a:r>
          </a:p>
          <a:p>
            <a:pPr algn="ctr"/>
            <a:r>
              <a:rPr lang="fr-FR" sz="1650" b="1" dirty="0">
                <a:solidFill>
                  <a:srgbClr val="FFFFFF"/>
                </a:solidFill>
                <a:latin typeface="Cormorant Garamond SemiBold" pitchFamily="2" charset="77"/>
                <a:ea typeface="Cormorant Garamond SemiBold" pitchFamily="2" charset="77"/>
                <a:cs typeface="Cormorant Garamond SemiBold" pitchFamily="2" charset="77"/>
              </a:rPr>
              <a:t>15% jusqu’à 42 500 EUR</a:t>
            </a:r>
          </a:p>
        </p:txBody>
      </p:sp>
      <p:sp>
        <p:nvSpPr>
          <p:cNvPr id="203" name="Shape 203"/>
          <p:cNvSpPr/>
          <p:nvPr/>
        </p:nvSpPr>
        <p:spPr>
          <a:xfrm>
            <a:off x="4595645" y="1613670"/>
            <a:ext cx="3448177" cy="850000"/>
          </a:xfrm>
          <a:prstGeom prst="rect">
            <a:avLst/>
          </a:prstGeom>
          <a:solidFill>
            <a:srgbClr val="001B00"/>
          </a:solidFill>
          <a:ln>
            <a:noFill/>
          </a:ln>
        </p:spPr>
        <p:txBody>
          <a:bodyPr rtlCol="0" anchor="ctr"/>
          <a:lstStyle/>
          <a:p>
            <a:pPr algn="ctr"/>
            <a:endParaRPr lang="fr-FR"/>
          </a:p>
        </p:txBody>
      </p:sp>
      <p:sp>
        <p:nvSpPr>
          <p:cNvPr id="204" name="Stat 1 204"/>
          <p:cNvSpPr txBox="1"/>
          <p:nvPr/>
        </p:nvSpPr>
        <p:spPr>
          <a:xfrm>
            <a:off x="4645645" y="1613670"/>
            <a:ext cx="3348177" cy="850000"/>
          </a:xfrm>
          <a:prstGeom prst="rect">
            <a:avLst/>
          </a:prstGeom>
          <a:noFill/>
          <a:ln>
            <a:noFill/>
          </a:ln>
        </p:spPr>
        <p:txBody>
          <a:bodyPr wrap="square" lIns="0" tIns="0" rIns="0" bIns="0" rtlCol="0" anchor="ctr">
            <a:normAutofit/>
          </a:bodyPr>
          <a:lstStyle/>
          <a:p>
            <a:pPr algn="ctr"/>
            <a:r>
              <a:rPr lang="fr-FR" sz="900" dirty="0">
                <a:solidFill>
                  <a:srgbClr val="FFFFFF"/>
                </a:solidFill>
                <a:latin typeface="Jost Medium" pitchFamily="2" charset="77"/>
                <a:ea typeface="Jost Medium" pitchFamily="2" charset="77"/>
                <a:cs typeface="Jost Medium" pitchFamily="2" charset="77"/>
              </a:rPr>
              <a:t>Taux d’IS normal</a:t>
            </a:r>
          </a:p>
          <a:p>
            <a:pPr algn="ctr"/>
            <a:r>
              <a:rPr lang="fr-FR" sz="1650" b="1" dirty="0">
                <a:solidFill>
                  <a:srgbClr val="FFFFFF"/>
                </a:solidFill>
                <a:latin typeface="Cormorant Garamond SemiBold" pitchFamily="2" charset="77"/>
                <a:ea typeface="Cormorant Garamond SemiBold" pitchFamily="2" charset="77"/>
                <a:cs typeface="Cormorant Garamond SemiBold" pitchFamily="2" charset="77"/>
              </a:rPr>
              <a:t>25% au-delà</a:t>
            </a:r>
          </a:p>
        </p:txBody>
      </p:sp>
      <p:sp>
        <p:nvSpPr>
          <p:cNvPr id="205" name="Shape 205"/>
          <p:cNvSpPr/>
          <p:nvPr/>
        </p:nvSpPr>
        <p:spPr>
          <a:xfrm>
            <a:off x="8243822" y="1613670"/>
            <a:ext cx="3448177" cy="850000"/>
          </a:xfrm>
          <a:prstGeom prst="rect">
            <a:avLst/>
          </a:prstGeom>
          <a:solidFill>
            <a:srgbClr val="001B00"/>
          </a:solidFill>
          <a:ln>
            <a:noFill/>
          </a:ln>
        </p:spPr>
        <p:txBody>
          <a:bodyPr rtlCol="0" anchor="ctr"/>
          <a:lstStyle/>
          <a:p>
            <a:pPr algn="ctr"/>
            <a:endParaRPr lang="fr-FR"/>
          </a:p>
        </p:txBody>
      </p:sp>
      <p:sp>
        <p:nvSpPr>
          <p:cNvPr id="206" name="Stat 2 206"/>
          <p:cNvSpPr txBox="1"/>
          <p:nvPr/>
        </p:nvSpPr>
        <p:spPr>
          <a:xfrm>
            <a:off x="8293822" y="1613670"/>
            <a:ext cx="3348177" cy="850000"/>
          </a:xfrm>
          <a:prstGeom prst="rect">
            <a:avLst/>
          </a:prstGeom>
          <a:noFill/>
          <a:ln>
            <a:noFill/>
          </a:ln>
        </p:spPr>
        <p:txBody>
          <a:bodyPr wrap="square" lIns="0" tIns="0" rIns="0" bIns="0" rtlCol="0" anchor="ctr">
            <a:normAutofit/>
          </a:bodyPr>
          <a:lstStyle/>
          <a:p>
            <a:pPr algn="ctr"/>
            <a:r>
              <a:rPr lang="fr-FR" sz="900" dirty="0">
                <a:solidFill>
                  <a:srgbClr val="FFFFFF"/>
                </a:solidFill>
                <a:latin typeface="Jost Medium" pitchFamily="2" charset="77"/>
                <a:ea typeface="Jost Medium" pitchFamily="2" charset="77"/>
                <a:cs typeface="Jost Medium" pitchFamily="2" charset="77"/>
              </a:rPr>
              <a:t>Régime mère-fille si applicable</a:t>
            </a:r>
          </a:p>
          <a:p>
            <a:pPr algn="ctr"/>
            <a:r>
              <a:rPr lang="fr-FR" sz="1650" b="1" dirty="0">
                <a:solidFill>
                  <a:srgbClr val="FFFFFF"/>
                </a:solidFill>
                <a:latin typeface="Cormorant Garamond SemiBold" pitchFamily="2" charset="77"/>
                <a:ea typeface="Cormorant Garamond SemiBold" pitchFamily="2" charset="77"/>
                <a:cs typeface="Cormorant Garamond SemiBold" pitchFamily="2" charset="77"/>
              </a:rPr>
              <a:t>1,25% effectif</a:t>
            </a:r>
          </a:p>
        </p:txBody>
      </p:sp>
      <p:sp>
        <p:nvSpPr>
          <p:cNvPr id="207" name="Shape 207"/>
          <p:cNvSpPr/>
          <p:nvPr/>
        </p:nvSpPr>
        <p:spPr>
          <a:xfrm>
            <a:off x="947468" y="2643670"/>
            <a:ext cx="5212266" cy="360000"/>
          </a:xfrm>
          <a:prstGeom prst="rect">
            <a:avLst/>
          </a:prstGeom>
          <a:solidFill>
            <a:srgbClr val="001B00"/>
          </a:solidFill>
          <a:ln>
            <a:noFill/>
          </a:ln>
        </p:spPr>
        <p:txBody>
          <a:bodyPr rtlCol="0" anchor="ctr"/>
          <a:lstStyle/>
          <a:p>
            <a:pPr algn="ctr"/>
            <a:endParaRPr lang="fr-FR"/>
          </a:p>
        </p:txBody>
      </p:sp>
      <p:sp>
        <p:nvSpPr>
          <p:cNvPr id="208" name="Col1 Header 208"/>
          <p:cNvSpPr txBox="1"/>
          <p:nvPr/>
        </p:nvSpPr>
        <p:spPr>
          <a:xfrm>
            <a:off x="947468" y="2643670"/>
            <a:ext cx="5212266" cy="360000"/>
          </a:xfrm>
          <a:prstGeom prst="rect">
            <a:avLst/>
          </a:prstGeom>
          <a:noFill/>
          <a:ln>
            <a:noFill/>
          </a:ln>
        </p:spPr>
        <p:txBody>
          <a:bodyPr wrap="square" lIns="0" tIns="0" rIns="0" bIns="0" rtlCol="0" anchor="ctr">
            <a:normAutofit/>
          </a:bodyPr>
          <a:lstStyle/>
          <a:p>
            <a:pPr algn="ctr">
              <a:buNone/>
            </a:pPr>
            <a:r>
              <a:rPr lang="fr-FR" sz="1100" b="1" dirty="0">
                <a:solidFill>
                  <a:srgbClr val="FFFFFF"/>
                </a:solidFill>
                <a:latin typeface="Cormorant Garamond SemiBold" pitchFamily="2" charset="77"/>
                <a:ea typeface="Cormorant Garamond SemiBold" pitchFamily="2" charset="77"/>
                <a:cs typeface="Cormorant Garamond SemiBold" pitchFamily="2" charset="77"/>
              </a:rPr>
              <a:t>Comment fonctionne l’imposition</a:t>
            </a:r>
          </a:p>
        </p:txBody>
      </p:sp>
      <p:sp>
        <p:nvSpPr>
          <p:cNvPr id="209" name="Shape 209"/>
          <p:cNvSpPr/>
          <p:nvPr/>
        </p:nvSpPr>
        <p:spPr>
          <a:xfrm>
            <a:off x="947468" y="3110000"/>
            <a:ext cx="5212266" cy="903670"/>
          </a:xfrm>
          <a:prstGeom prst="rect">
            <a:avLst/>
          </a:prstGeom>
          <a:solidFill>
            <a:srgbClr val="FCF9EF"/>
          </a:solidFill>
          <a:ln>
            <a:noFill/>
          </a:ln>
        </p:spPr>
        <p:txBody>
          <a:bodyPr rtlCol="0" anchor="ctr"/>
          <a:lstStyle/>
          <a:p>
            <a:pPr algn="ctr"/>
            <a:endParaRPr lang="fr-FR"/>
          </a:p>
        </p:txBody>
      </p:sp>
      <p:sp>
        <p:nvSpPr>
          <p:cNvPr id="210" name="Col1 Body 210"/>
          <p:cNvSpPr txBox="1"/>
          <p:nvPr/>
        </p:nvSpPr>
        <p:spPr>
          <a:xfrm>
            <a:off x="1147468" y="3133670"/>
            <a:ext cx="4812266" cy="740000"/>
          </a:xfrm>
          <a:prstGeom prst="rect">
            <a:avLst/>
          </a:prstGeom>
          <a:noFill/>
          <a:ln>
            <a:noFill/>
          </a:ln>
        </p:spPr>
        <p:txBody>
          <a:bodyPr wrap="square" lIns="0" tIns="0" rIns="0" bIns="0" rtlCol="0" anchor="t">
            <a:normAutofit/>
          </a:bodyPr>
          <a:lstStyle/>
          <a:p>
            <a:pPr marL="182880" indent="-182880" algn="just">
              <a:spcAft>
                <a:spcPts val="25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Dividendes et plus-values entrent dans le résultat imposable, taxé à l’IS (15% puis 25%).</a:t>
            </a:r>
          </a:p>
          <a:p>
            <a:pPr marL="182880" indent="-182880" algn="just">
              <a:spcAft>
                <a:spcPts val="25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Aucun PFU ni barème progressif : ces options sont réservées aux personnes physiques.</a:t>
            </a:r>
          </a:p>
          <a:p>
            <a:pPr marL="182880" indent="-182880" algn="just">
              <a:spcAft>
                <a:spcPts val="25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Régime mère-fille : exonération de 95% des dividendes reçus, seule une quote-part de 5% reste taxée.</a:t>
            </a:r>
          </a:p>
          <a:p>
            <a:pPr marL="182880" indent="-182880" algn="just">
              <a:spcAft>
                <a:spcPts val="25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La trésorerie générée peut être réinvestie dans la société sans taxation intermédiaire.</a:t>
            </a:r>
          </a:p>
        </p:txBody>
      </p:sp>
      <p:sp>
        <p:nvSpPr>
          <p:cNvPr id="211" name="Shape 211"/>
          <p:cNvSpPr/>
          <p:nvPr/>
        </p:nvSpPr>
        <p:spPr>
          <a:xfrm>
            <a:off x="6479734" y="2643670"/>
            <a:ext cx="5212266" cy="360000"/>
          </a:xfrm>
          <a:prstGeom prst="rect">
            <a:avLst/>
          </a:prstGeom>
          <a:solidFill>
            <a:srgbClr val="001B00"/>
          </a:solidFill>
          <a:ln>
            <a:noFill/>
          </a:ln>
        </p:spPr>
        <p:txBody>
          <a:bodyPr rtlCol="0" anchor="ctr"/>
          <a:lstStyle/>
          <a:p>
            <a:pPr algn="ctr"/>
            <a:endParaRPr lang="fr-FR"/>
          </a:p>
        </p:txBody>
      </p:sp>
      <p:sp>
        <p:nvSpPr>
          <p:cNvPr id="212" name="Col2 Header 212"/>
          <p:cNvSpPr txBox="1"/>
          <p:nvPr/>
        </p:nvSpPr>
        <p:spPr>
          <a:xfrm>
            <a:off x="6479734" y="2643670"/>
            <a:ext cx="5212266" cy="360000"/>
          </a:xfrm>
          <a:prstGeom prst="rect">
            <a:avLst/>
          </a:prstGeom>
          <a:noFill/>
          <a:ln>
            <a:noFill/>
          </a:ln>
        </p:spPr>
        <p:txBody>
          <a:bodyPr wrap="square" lIns="0" tIns="0" rIns="0" bIns="0" rtlCol="0" anchor="ctr">
            <a:normAutofit/>
          </a:bodyPr>
          <a:lstStyle/>
          <a:p>
            <a:pPr algn="ctr">
              <a:buNone/>
            </a:pPr>
            <a:r>
              <a:rPr lang="fr-FR" sz="1100" b="1" dirty="0">
                <a:solidFill>
                  <a:srgbClr val="FFFFFF"/>
                </a:solidFill>
                <a:latin typeface="Cormorant Garamond SemiBold" pitchFamily="2" charset="77"/>
                <a:ea typeface="Cormorant Garamond SemiBold" pitchFamily="2" charset="77"/>
                <a:cs typeface="Cormorant Garamond SemiBold" pitchFamily="2" charset="77"/>
              </a:rPr>
              <a:t>Les inconvénients d’investir en société</a:t>
            </a:r>
          </a:p>
        </p:txBody>
      </p:sp>
      <p:sp>
        <p:nvSpPr>
          <p:cNvPr id="213" name="Shape 213"/>
          <p:cNvSpPr/>
          <p:nvPr/>
        </p:nvSpPr>
        <p:spPr>
          <a:xfrm>
            <a:off x="6479734" y="3110000"/>
            <a:ext cx="5212266" cy="903670"/>
          </a:xfrm>
          <a:prstGeom prst="rect">
            <a:avLst/>
          </a:prstGeom>
          <a:solidFill>
            <a:srgbClr val="FCF9EF"/>
          </a:solidFill>
          <a:ln>
            <a:noFill/>
          </a:ln>
        </p:spPr>
        <p:txBody>
          <a:bodyPr rtlCol="0" anchor="ctr"/>
          <a:lstStyle/>
          <a:p>
            <a:pPr algn="ctr"/>
            <a:endParaRPr lang="fr-FR"/>
          </a:p>
        </p:txBody>
      </p:sp>
      <p:sp>
        <p:nvSpPr>
          <p:cNvPr id="214" name="Col2 Body 214"/>
          <p:cNvSpPr txBox="1"/>
          <p:nvPr/>
        </p:nvSpPr>
        <p:spPr>
          <a:xfrm>
            <a:off x="6679734" y="3133670"/>
            <a:ext cx="4812266" cy="740000"/>
          </a:xfrm>
          <a:prstGeom prst="rect">
            <a:avLst/>
          </a:prstGeom>
          <a:noFill/>
          <a:ln>
            <a:noFill/>
          </a:ln>
        </p:spPr>
        <p:txBody>
          <a:bodyPr wrap="square" lIns="0" tIns="0" rIns="0" bIns="0" rtlCol="0" anchor="t">
            <a:normAutofit/>
          </a:bodyPr>
          <a:lstStyle/>
          <a:p>
            <a:pPr marL="182880" indent="-182880" algn="just">
              <a:spcAft>
                <a:spcPts val="25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Double imposition potentielle : IS dans la société, puis fiscalité des dividendes lors de la distribution à l’associé.</a:t>
            </a:r>
          </a:p>
          <a:p>
            <a:pPr marL="182880" indent="-182880" algn="just">
              <a:spcAft>
                <a:spcPts val="25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Nécessite une structure sociétaire : frais de constitution, comptabilité, formalisme juridique.</a:t>
            </a:r>
          </a:p>
          <a:p>
            <a:pPr marL="182880" indent="-182880" algn="just">
              <a:spcAft>
                <a:spcPts val="250"/>
              </a:spcAft>
              <a:buFont typeface="Arial" pitchFamily="34" charset="0"/>
              <a:buChar char="▪"/>
            </a:pPr>
            <a:r>
              <a:rPr lang="fr-FR" sz="850" dirty="0">
                <a:solidFill>
                  <a:srgbClr val="073527"/>
                </a:solidFill>
                <a:latin typeface="Jost Light" pitchFamily="2" charset="77"/>
                <a:ea typeface="Jost Light" pitchFamily="2" charset="77"/>
                <a:cs typeface="Jost Light" pitchFamily="2" charset="77"/>
              </a:rPr>
              <a:t>Pas d’accès immédiat aux liquidités : il faut distribuer un dividende pour percevoir les fonds personnellement.</a:t>
            </a:r>
          </a:p>
        </p:txBody>
      </p:sp>
      <p:sp>
        <p:nvSpPr>
          <p:cNvPr id="215" name="Cap Title 215"/>
          <p:cNvSpPr txBox="1"/>
          <p:nvPr/>
        </p:nvSpPr>
        <p:spPr>
          <a:xfrm>
            <a:off x="947468" y="4244331"/>
            <a:ext cx="10744532" cy="300000"/>
          </a:xfrm>
          <a:prstGeom prst="rect">
            <a:avLst/>
          </a:prstGeom>
          <a:noFill/>
          <a:ln>
            <a:noFill/>
          </a:ln>
        </p:spPr>
        <p:txBody>
          <a:bodyPr wrap="square" lIns="0" tIns="0" rIns="0" bIns="0" rtlCol="0" anchor="t">
            <a:normAutofit/>
          </a:bodyPr>
          <a:lstStyle/>
          <a:p>
            <a:pPr algn="l">
              <a:buNone/>
            </a:pPr>
            <a:r>
              <a:rPr lang="fr-FR" sz="1200" b="1" dirty="0">
                <a:solidFill>
                  <a:srgbClr val="A9853F"/>
                </a:solidFill>
                <a:latin typeface="Cormorant Garamond SemiBold" pitchFamily="2" charset="77"/>
                <a:ea typeface="Cormorant Garamond SemiBold" pitchFamily="2" charset="77"/>
                <a:cs typeface="Cormorant Garamond SemiBold" pitchFamily="2" charset="77"/>
              </a:rPr>
              <a:t>L’effet capitalisant &amp; distributif : dynamiser l’enveloppe avec des produits à formule</a:t>
            </a:r>
          </a:p>
        </p:txBody>
      </p:sp>
      <p:sp>
        <p:nvSpPr>
          <p:cNvPr id="216" name="Cap Intro 216"/>
          <p:cNvSpPr txBox="1"/>
          <p:nvPr/>
        </p:nvSpPr>
        <p:spPr>
          <a:xfrm>
            <a:off x="947468" y="4584359"/>
            <a:ext cx="10744532" cy="369339"/>
          </a:xfrm>
          <a:prstGeom prst="rect">
            <a:avLst/>
          </a:prstGeom>
          <a:noFill/>
          <a:ln>
            <a:noFill/>
          </a:ln>
        </p:spPr>
        <p:txBody>
          <a:bodyPr wrap="square" lIns="0" tIns="0" rIns="0" bIns="0" rtlCol="0" anchor="t">
            <a:normAutofit/>
          </a:bodyPr>
          <a:lstStyle/>
          <a:p>
            <a:pPr algn="l">
              <a:buNone/>
            </a:pPr>
            <a:r>
              <a:rPr lang="fr-FR" sz="950" dirty="0">
                <a:solidFill>
                  <a:srgbClr val="1A1A1A"/>
                </a:solidFill>
                <a:latin typeface="Jost Light" pitchFamily="2" charset="77"/>
                <a:ea typeface="Jost Light" pitchFamily="2" charset="77"/>
                <a:cs typeface="Jost Light" pitchFamily="2" charset="77"/>
              </a:rPr>
              <a:t>Sans distribution immédiate, les gains réinvestis dans la société profitent pleinement de l’effet de capitalisation. Les produits structurés à formule de rendement permettent de dynamiser cette poche du compte-titres, avec un niveau de risque choisi et maîtrisé.</a:t>
            </a:r>
          </a:p>
        </p:txBody>
      </p:sp>
      <p:sp>
        <p:nvSpPr>
          <p:cNvPr id="217" name="Shape 217"/>
          <p:cNvSpPr/>
          <p:nvPr/>
        </p:nvSpPr>
        <p:spPr>
          <a:xfrm>
            <a:off x="947468" y="5066202"/>
            <a:ext cx="3434844" cy="420000"/>
          </a:xfrm>
          <a:prstGeom prst="rect">
            <a:avLst/>
          </a:prstGeom>
          <a:solidFill>
            <a:srgbClr val="001B00"/>
          </a:solidFill>
          <a:ln>
            <a:noFill/>
          </a:ln>
        </p:spPr>
        <p:txBody>
          <a:bodyPr rtlCol="0" anchor="ctr"/>
          <a:lstStyle/>
          <a:p>
            <a:pPr algn="ctr"/>
            <a:endParaRPr lang="fr-FR"/>
          </a:p>
        </p:txBody>
      </p:sp>
      <p:sp>
        <p:nvSpPr>
          <p:cNvPr id="218" name="Product Header 218"/>
          <p:cNvSpPr txBox="1"/>
          <p:nvPr/>
        </p:nvSpPr>
        <p:spPr>
          <a:xfrm>
            <a:off x="1047468" y="5066202"/>
            <a:ext cx="3234844" cy="420000"/>
          </a:xfrm>
          <a:prstGeom prst="rect">
            <a:avLst/>
          </a:prstGeom>
          <a:noFill/>
          <a:ln>
            <a:noFill/>
          </a:ln>
        </p:spPr>
        <p:txBody>
          <a:bodyPr wrap="square" lIns="0" tIns="0" rIns="0" bIns="0" rtlCol="0" anchor="ctr">
            <a:normAutofit/>
          </a:bodyPr>
          <a:lstStyle/>
          <a:p>
            <a:pPr algn="ctr">
              <a:buNone/>
            </a:pPr>
            <a:r>
              <a:rPr lang="fr-FR" sz="1000" b="1" dirty="0">
                <a:solidFill>
                  <a:srgbClr val="FFFFFF"/>
                </a:solidFill>
                <a:latin typeface="Jost Medium" pitchFamily="2" charset="77"/>
                <a:ea typeface="Jost Medium" pitchFamily="2" charset="77"/>
                <a:cs typeface="Jost Medium" pitchFamily="2" charset="77"/>
              </a:rPr>
              <a:t>Capital protégé</a:t>
            </a:r>
          </a:p>
        </p:txBody>
      </p:sp>
      <p:sp>
        <p:nvSpPr>
          <p:cNvPr id="219" name="Shape 219"/>
          <p:cNvSpPr/>
          <p:nvPr/>
        </p:nvSpPr>
        <p:spPr>
          <a:xfrm>
            <a:off x="947468" y="5550000"/>
            <a:ext cx="3434844" cy="950000"/>
          </a:xfrm>
          <a:prstGeom prst="rect">
            <a:avLst/>
          </a:prstGeom>
          <a:solidFill>
            <a:srgbClr val="FCF9EF"/>
          </a:solidFill>
          <a:ln>
            <a:noFill/>
          </a:ln>
        </p:spPr>
        <p:txBody>
          <a:bodyPr rtlCol="0" anchor="ctr"/>
          <a:lstStyle/>
          <a:p>
            <a:pPr algn="ctr"/>
            <a:endParaRPr lang="fr-FR"/>
          </a:p>
        </p:txBody>
      </p:sp>
      <p:sp>
        <p:nvSpPr>
          <p:cNvPr id="220" name="Product Body 220"/>
          <p:cNvSpPr txBox="1"/>
          <p:nvPr/>
        </p:nvSpPr>
        <p:spPr>
          <a:xfrm>
            <a:off x="1097468" y="5616202"/>
            <a:ext cx="3134844" cy="400000"/>
          </a:xfrm>
          <a:prstGeom prst="rect">
            <a:avLst/>
          </a:prstGeom>
          <a:noFill/>
          <a:ln>
            <a:noFill/>
          </a:ln>
        </p:spPr>
        <p:txBody>
          <a:bodyPr wrap="square" lIns="0" tIns="0" rIns="0" bIns="0" rtlCol="0" anchor="t">
            <a:normAutofit/>
          </a:bodyPr>
          <a:lstStyle/>
          <a:p>
            <a:pPr algn="l">
              <a:spcAft>
                <a:spcPts val="200"/>
              </a:spcAft>
              <a:buNone/>
            </a:pPr>
            <a:r>
              <a:rPr lang="fr-FR" sz="1050" b="1" dirty="0">
                <a:solidFill>
                  <a:srgbClr val="001B00"/>
                </a:solidFill>
                <a:latin typeface="Cormorant Garamond SemiBold" pitchFamily="2" charset="77"/>
                <a:ea typeface="Cormorant Garamond SemiBold" pitchFamily="2" charset="77"/>
                <a:cs typeface="Cormorant Garamond SemiBold" pitchFamily="2" charset="77"/>
              </a:rPr>
              <a:t>Objectif : 5%/an</a:t>
            </a:r>
          </a:p>
          <a:p>
            <a:pPr algn="l">
              <a:spcAft>
                <a:spcPts val="250"/>
              </a:spcAft>
              <a:buNone/>
            </a:pPr>
            <a:r>
              <a:rPr lang="fr-FR" sz="850" dirty="0">
                <a:solidFill>
                  <a:srgbClr val="073527"/>
                </a:solidFill>
                <a:latin typeface="Jost Light" pitchFamily="2" charset="77"/>
                <a:ea typeface="Jost Light" pitchFamily="2" charset="77"/>
                <a:cs typeface="Jost Light" pitchFamily="2" charset="77"/>
              </a:rPr>
              <a:t>Capital protégé à l’échéance, coupon conditionné à votre barrière.</a:t>
            </a:r>
          </a:p>
        </p:txBody>
      </p:sp>
      <p:sp>
        <p:nvSpPr>
          <p:cNvPr id="221" name="Shape 221"/>
          <p:cNvSpPr/>
          <p:nvPr/>
        </p:nvSpPr>
        <p:spPr>
          <a:xfrm>
            <a:off x="1097468" y="6096202"/>
            <a:ext cx="3134844" cy="260000"/>
          </a:xfrm>
          <a:prstGeom prst="rect">
            <a:avLst/>
          </a:prstGeom>
          <a:solidFill>
            <a:srgbClr val="E7DCC7"/>
          </a:solidFill>
          <a:ln>
            <a:noFill/>
          </a:ln>
        </p:spPr>
        <p:txBody>
          <a:bodyPr rtlCol="0" anchor="ctr"/>
          <a:lstStyle/>
          <a:p>
            <a:pPr algn="ctr"/>
            <a:endParaRPr lang="fr-FR"/>
          </a:p>
        </p:txBody>
      </p:sp>
      <p:sp>
        <p:nvSpPr>
          <p:cNvPr id="222" name="Risk Badge 222"/>
          <p:cNvSpPr txBox="1"/>
          <p:nvPr/>
        </p:nvSpPr>
        <p:spPr>
          <a:xfrm>
            <a:off x="1097468" y="6096202"/>
            <a:ext cx="3134844" cy="260000"/>
          </a:xfrm>
          <a:prstGeom prst="rect">
            <a:avLst/>
          </a:prstGeom>
          <a:noFill/>
          <a:ln>
            <a:noFill/>
          </a:ln>
        </p:spPr>
        <p:txBody>
          <a:bodyPr wrap="square" lIns="0" tIns="0" rIns="0" bIns="0" rtlCol="0" anchor="ctr">
            <a:normAutofit/>
          </a:bodyPr>
          <a:lstStyle/>
          <a:p>
            <a:pPr algn="ctr">
              <a:buNone/>
            </a:pPr>
            <a:r>
              <a:rPr lang="fr-FR" sz="850" b="1" dirty="0">
                <a:solidFill>
                  <a:srgbClr val="FFFFFF"/>
                </a:solidFill>
                <a:latin typeface="Jost Medium" pitchFamily="2" charset="77"/>
                <a:ea typeface="Jost Medium" pitchFamily="2" charset="77"/>
                <a:cs typeface="Jost Medium" pitchFamily="2" charset="77"/>
              </a:rPr>
              <a:t>SRRI 3 — Faible</a:t>
            </a:r>
          </a:p>
        </p:txBody>
      </p:sp>
      <p:sp>
        <p:nvSpPr>
          <p:cNvPr id="223" name="Shape 223"/>
          <p:cNvSpPr/>
          <p:nvPr/>
        </p:nvSpPr>
        <p:spPr>
          <a:xfrm>
            <a:off x="4602312" y="5066202"/>
            <a:ext cx="3434844" cy="420000"/>
          </a:xfrm>
          <a:prstGeom prst="rect">
            <a:avLst/>
          </a:prstGeom>
          <a:solidFill>
            <a:srgbClr val="001B00"/>
          </a:solidFill>
          <a:ln>
            <a:noFill/>
          </a:ln>
        </p:spPr>
        <p:txBody>
          <a:bodyPr rtlCol="0" anchor="ctr"/>
          <a:lstStyle/>
          <a:p>
            <a:pPr algn="ctr"/>
            <a:endParaRPr lang="fr-FR"/>
          </a:p>
        </p:txBody>
      </p:sp>
      <p:sp>
        <p:nvSpPr>
          <p:cNvPr id="224" name="Product Header 224"/>
          <p:cNvSpPr txBox="1"/>
          <p:nvPr/>
        </p:nvSpPr>
        <p:spPr>
          <a:xfrm>
            <a:off x="4702312" y="5066202"/>
            <a:ext cx="3234844" cy="420000"/>
          </a:xfrm>
          <a:prstGeom prst="rect">
            <a:avLst/>
          </a:prstGeom>
          <a:noFill/>
          <a:ln>
            <a:noFill/>
          </a:ln>
        </p:spPr>
        <p:txBody>
          <a:bodyPr wrap="square" lIns="0" tIns="0" rIns="0" bIns="0" rtlCol="0" anchor="ctr">
            <a:normAutofit/>
          </a:bodyPr>
          <a:lstStyle/>
          <a:p>
            <a:pPr algn="ctr">
              <a:buNone/>
            </a:pPr>
            <a:r>
              <a:rPr lang="fr-FR" sz="1000" b="1" dirty="0">
                <a:solidFill>
                  <a:srgbClr val="FFFFFF"/>
                </a:solidFill>
                <a:latin typeface="Jost Medium" pitchFamily="2" charset="77"/>
                <a:ea typeface="Jost Medium" pitchFamily="2" charset="77"/>
                <a:cs typeface="Jost Medium" pitchFamily="2" charset="77"/>
              </a:rPr>
              <a:t>Coupon conditionnel avec barrière défensive</a:t>
            </a:r>
          </a:p>
        </p:txBody>
      </p:sp>
      <p:sp>
        <p:nvSpPr>
          <p:cNvPr id="225" name="Shape 225"/>
          <p:cNvSpPr/>
          <p:nvPr/>
        </p:nvSpPr>
        <p:spPr>
          <a:xfrm>
            <a:off x="4602312" y="5550000"/>
            <a:ext cx="3434844" cy="950000"/>
          </a:xfrm>
          <a:prstGeom prst="rect">
            <a:avLst/>
          </a:prstGeom>
          <a:solidFill>
            <a:srgbClr val="FCF9EF"/>
          </a:solidFill>
          <a:ln>
            <a:noFill/>
          </a:ln>
        </p:spPr>
        <p:txBody>
          <a:bodyPr rtlCol="0" anchor="ctr"/>
          <a:lstStyle/>
          <a:p>
            <a:pPr algn="ctr"/>
            <a:endParaRPr lang="fr-FR"/>
          </a:p>
        </p:txBody>
      </p:sp>
      <p:sp>
        <p:nvSpPr>
          <p:cNvPr id="226" name="Product Body 226"/>
          <p:cNvSpPr txBox="1"/>
          <p:nvPr/>
        </p:nvSpPr>
        <p:spPr>
          <a:xfrm>
            <a:off x="4752312" y="5616202"/>
            <a:ext cx="3134844" cy="400000"/>
          </a:xfrm>
          <a:prstGeom prst="rect">
            <a:avLst/>
          </a:prstGeom>
          <a:noFill/>
          <a:ln>
            <a:noFill/>
          </a:ln>
        </p:spPr>
        <p:txBody>
          <a:bodyPr wrap="square" lIns="0" tIns="0" rIns="0" bIns="0" rtlCol="0" anchor="t">
            <a:normAutofit/>
          </a:bodyPr>
          <a:lstStyle/>
          <a:p>
            <a:pPr algn="l">
              <a:spcAft>
                <a:spcPts val="200"/>
              </a:spcAft>
              <a:buNone/>
            </a:pPr>
            <a:r>
              <a:rPr lang="fr-FR" sz="1050" b="1" dirty="0">
                <a:solidFill>
                  <a:srgbClr val="001B00"/>
                </a:solidFill>
                <a:latin typeface="Cormorant Garamond SemiBold" pitchFamily="2" charset="77"/>
                <a:ea typeface="Cormorant Garamond SemiBold" pitchFamily="2" charset="77"/>
                <a:cs typeface="Cormorant Garamond SemiBold" pitchFamily="2" charset="77"/>
              </a:rPr>
              <a:t>Objectif : 6 à 10%/an</a:t>
            </a:r>
          </a:p>
          <a:p>
            <a:pPr algn="l">
              <a:spcAft>
                <a:spcPts val="250"/>
              </a:spcAft>
              <a:buNone/>
            </a:pPr>
            <a:r>
              <a:rPr lang="fr-FR" sz="850" dirty="0">
                <a:solidFill>
                  <a:srgbClr val="073527"/>
                </a:solidFill>
                <a:latin typeface="Jost Light" pitchFamily="2" charset="77"/>
                <a:ea typeface="Jost Light" pitchFamily="2" charset="77"/>
                <a:cs typeface="Jost Light" pitchFamily="2" charset="77"/>
              </a:rPr>
              <a:t>Protection du capital jusqu’à une barrière (ex. -40%)</a:t>
            </a:r>
          </a:p>
        </p:txBody>
      </p:sp>
      <p:sp>
        <p:nvSpPr>
          <p:cNvPr id="227" name="Shape 227"/>
          <p:cNvSpPr/>
          <p:nvPr/>
        </p:nvSpPr>
        <p:spPr>
          <a:xfrm>
            <a:off x="4752312" y="6096202"/>
            <a:ext cx="3134844" cy="260000"/>
          </a:xfrm>
          <a:prstGeom prst="rect">
            <a:avLst/>
          </a:prstGeom>
          <a:solidFill>
            <a:srgbClr val="A9853F"/>
          </a:solidFill>
          <a:ln>
            <a:noFill/>
          </a:ln>
        </p:spPr>
        <p:txBody>
          <a:bodyPr rtlCol="0" anchor="ctr"/>
          <a:lstStyle/>
          <a:p>
            <a:pPr algn="ctr"/>
            <a:endParaRPr lang="fr-FR"/>
          </a:p>
        </p:txBody>
      </p:sp>
      <p:sp>
        <p:nvSpPr>
          <p:cNvPr id="228" name="Risk Badge 228"/>
          <p:cNvSpPr txBox="1"/>
          <p:nvPr/>
        </p:nvSpPr>
        <p:spPr>
          <a:xfrm>
            <a:off x="4752312" y="6096202"/>
            <a:ext cx="3134844" cy="260000"/>
          </a:xfrm>
          <a:prstGeom prst="rect">
            <a:avLst/>
          </a:prstGeom>
          <a:solidFill>
            <a:srgbClr val="E6C989"/>
          </a:solidFill>
          <a:ln>
            <a:noFill/>
          </a:ln>
        </p:spPr>
        <p:txBody>
          <a:bodyPr wrap="square" lIns="0" tIns="0" rIns="0" bIns="0" rtlCol="0" anchor="ctr">
            <a:normAutofit/>
          </a:bodyPr>
          <a:lstStyle/>
          <a:p>
            <a:pPr algn="ctr">
              <a:buNone/>
            </a:pPr>
            <a:r>
              <a:rPr lang="fr-FR" sz="850" b="1" dirty="0">
                <a:solidFill>
                  <a:srgbClr val="FFFFFF"/>
                </a:solidFill>
                <a:latin typeface="Jost Medium" pitchFamily="2" charset="77"/>
                <a:ea typeface="Jost Medium" pitchFamily="2" charset="77"/>
                <a:cs typeface="Jost Medium" pitchFamily="2" charset="77"/>
              </a:rPr>
              <a:t>SRRI 4-5 — Modéré</a:t>
            </a:r>
          </a:p>
        </p:txBody>
      </p:sp>
      <p:sp>
        <p:nvSpPr>
          <p:cNvPr id="229" name="Shape 229"/>
          <p:cNvSpPr/>
          <p:nvPr/>
        </p:nvSpPr>
        <p:spPr>
          <a:xfrm>
            <a:off x="8257156" y="5066202"/>
            <a:ext cx="3434844" cy="420000"/>
          </a:xfrm>
          <a:prstGeom prst="rect">
            <a:avLst/>
          </a:prstGeom>
          <a:solidFill>
            <a:srgbClr val="001B00"/>
          </a:solidFill>
          <a:ln>
            <a:noFill/>
          </a:ln>
        </p:spPr>
        <p:txBody>
          <a:bodyPr rtlCol="0" anchor="ctr"/>
          <a:lstStyle/>
          <a:p>
            <a:pPr algn="ctr"/>
            <a:endParaRPr lang="fr-FR"/>
          </a:p>
        </p:txBody>
      </p:sp>
      <p:sp>
        <p:nvSpPr>
          <p:cNvPr id="231" name="Shape 231"/>
          <p:cNvSpPr/>
          <p:nvPr/>
        </p:nvSpPr>
        <p:spPr>
          <a:xfrm>
            <a:off x="8257156" y="5550000"/>
            <a:ext cx="3434844" cy="950000"/>
          </a:xfrm>
          <a:prstGeom prst="rect">
            <a:avLst/>
          </a:prstGeom>
          <a:solidFill>
            <a:srgbClr val="FCF9EF"/>
          </a:solidFill>
          <a:ln>
            <a:noFill/>
          </a:ln>
        </p:spPr>
        <p:txBody>
          <a:bodyPr rtlCol="0" anchor="ctr"/>
          <a:lstStyle/>
          <a:p>
            <a:pPr algn="ctr"/>
            <a:endParaRPr lang="fr-FR"/>
          </a:p>
        </p:txBody>
      </p:sp>
      <p:sp>
        <p:nvSpPr>
          <p:cNvPr id="232" name="Product Body 232"/>
          <p:cNvSpPr txBox="1"/>
          <p:nvPr/>
        </p:nvSpPr>
        <p:spPr>
          <a:xfrm>
            <a:off x="8407156" y="5616202"/>
            <a:ext cx="3134844" cy="400000"/>
          </a:xfrm>
          <a:prstGeom prst="rect">
            <a:avLst/>
          </a:prstGeom>
          <a:noFill/>
          <a:ln>
            <a:noFill/>
          </a:ln>
        </p:spPr>
        <p:txBody>
          <a:bodyPr wrap="square" lIns="0" tIns="0" rIns="0" bIns="0" rtlCol="0" anchor="t">
            <a:normAutofit/>
          </a:bodyPr>
          <a:lstStyle/>
          <a:p>
            <a:pPr algn="l">
              <a:spcAft>
                <a:spcPts val="200"/>
              </a:spcAft>
              <a:buNone/>
            </a:pPr>
            <a:r>
              <a:rPr lang="fr-FR" sz="1050" b="1" dirty="0">
                <a:solidFill>
                  <a:srgbClr val="001B00"/>
                </a:solidFill>
                <a:latin typeface="Cormorant Garamond SemiBold" pitchFamily="2" charset="77"/>
                <a:ea typeface="Cormorant Garamond SemiBold" pitchFamily="2" charset="77"/>
                <a:cs typeface="Cormorant Garamond SemiBold" pitchFamily="2" charset="77"/>
              </a:rPr>
              <a:t>Objectif : 11 à 15%/an</a:t>
            </a:r>
          </a:p>
          <a:p>
            <a:pPr>
              <a:spcAft>
                <a:spcPts val="250"/>
              </a:spcAft>
            </a:pPr>
            <a:r>
              <a:rPr lang="fr-FR" sz="850" dirty="0">
                <a:solidFill>
                  <a:srgbClr val="073527"/>
                </a:solidFill>
                <a:latin typeface="Jost Light" pitchFamily="2" charset="77"/>
                <a:ea typeface="Jost Light" pitchFamily="2" charset="77"/>
                <a:cs typeface="Jost Light" pitchFamily="2" charset="77"/>
              </a:rPr>
              <a:t>Protection du capital jusqu’à une barrière (ex. -20%)</a:t>
            </a:r>
          </a:p>
        </p:txBody>
      </p:sp>
      <p:sp>
        <p:nvSpPr>
          <p:cNvPr id="233" name="Shape 233"/>
          <p:cNvSpPr/>
          <p:nvPr/>
        </p:nvSpPr>
        <p:spPr>
          <a:xfrm>
            <a:off x="8407156" y="6096202"/>
            <a:ext cx="3134844" cy="260000"/>
          </a:xfrm>
          <a:prstGeom prst="rect">
            <a:avLst/>
          </a:prstGeom>
          <a:solidFill>
            <a:srgbClr val="7A2E1F"/>
          </a:solidFill>
          <a:ln>
            <a:noFill/>
          </a:ln>
        </p:spPr>
        <p:txBody>
          <a:bodyPr rtlCol="0" anchor="ctr"/>
          <a:lstStyle/>
          <a:p>
            <a:pPr algn="ctr"/>
            <a:endParaRPr lang="fr-FR"/>
          </a:p>
        </p:txBody>
      </p:sp>
      <p:sp>
        <p:nvSpPr>
          <p:cNvPr id="234" name="Risk Badge 234"/>
          <p:cNvSpPr txBox="1"/>
          <p:nvPr/>
        </p:nvSpPr>
        <p:spPr>
          <a:xfrm>
            <a:off x="8407156" y="6096202"/>
            <a:ext cx="3134844" cy="260000"/>
          </a:xfrm>
          <a:prstGeom prst="rect">
            <a:avLst/>
          </a:prstGeom>
          <a:solidFill>
            <a:srgbClr val="AA853F"/>
          </a:solidFill>
          <a:ln>
            <a:noFill/>
          </a:ln>
        </p:spPr>
        <p:txBody>
          <a:bodyPr wrap="square" lIns="0" tIns="0" rIns="0" bIns="0" rtlCol="0" anchor="ctr">
            <a:normAutofit/>
          </a:bodyPr>
          <a:lstStyle/>
          <a:p>
            <a:pPr algn="ctr">
              <a:buNone/>
            </a:pPr>
            <a:r>
              <a:rPr lang="fr-FR" sz="850" b="1" dirty="0">
                <a:solidFill>
                  <a:srgbClr val="FFFFFF"/>
                </a:solidFill>
                <a:latin typeface="Jost Medium" pitchFamily="2" charset="77"/>
                <a:ea typeface="Jost Medium" pitchFamily="2" charset="77"/>
                <a:cs typeface="Jost Medium" pitchFamily="2" charset="77"/>
              </a:rPr>
              <a:t>SRRI 6 — Élevé</a:t>
            </a:r>
          </a:p>
        </p:txBody>
      </p:sp>
      <p:sp>
        <p:nvSpPr>
          <p:cNvPr id="6" name="Product Header 224">
            <a:extLst>
              <a:ext uri="{FF2B5EF4-FFF2-40B4-BE49-F238E27FC236}">
                <a16:creationId xmlns:a16="http://schemas.microsoft.com/office/drawing/2014/main" id="{7660A988-4F5F-23EB-9344-15FFBAA02DA6}"/>
              </a:ext>
            </a:extLst>
          </p:cNvPr>
          <p:cNvSpPr txBox="1"/>
          <p:nvPr/>
        </p:nvSpPr>
        <p:spPr>
          <a:xfrm>
            <a:off x="8407155" y="5070000"/>
            <a:ext cx="3234844" cy="420000"/>
          </a:xfrm>
          <a:prstGeom prst="rect">
            <a:avLst/>
          </a:prstGeom>
          <a:noFill/>
          <a:ln>
            <a:noFill/>
          </a:ln>
        </p:spPr>
        <p:txBody>
          <a:bodyPr wrap="square" lIns="0" tIns="0" rIns="0" bIns="0" rtlCol="0" anchor="ctr">
            <a:normAutofit/>
          </a:bodyPr>
          <a:lstStyle/>
          <a:p>
            <a:pPr algn="ctr">
              <a:buNone/>
            </a:pPr>
            <a:r>
              <a:rPr lang="fr-FR" sz="1000" b="1" dirty="0">
                <a:solidFill>
                  <a:srgbClr val="FFFFFF"/>
                </a:solidFill>
                <a:latin typeface="Jost Medium" pitchFamily="2" charset="77"/>
                <a:ea typeface="Jost Medium" pitchFamily="2" charset="77"/>
                <a:cs typeface="Jost Medium" pitchFamily="2" charset="77"/>
              </a:rPr>
              <a:t>Coupon conditionnel avec barrière offensive</a:t>
            </a:r>
          </a:p>
        </p:txBody>
      </p:sp>
    </p:spTree>
    <p:extLst>
      <p:ext uri="{BB962C8B-B14F-4D97-AF65-F5344CB8AC3E}">
        <p14:creationId xmlns:p14="http://schemas.microsoft.com/office/powerpoint/2010/main" val="1961992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6267" y="-1822"/>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98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Capitaliser, percevoir des revenus, transmettre : trois usages, pour une seule enveloppe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9800000" cy="371138"/>
          </a:xfrm>
          <a:prstGeom prst="rect">
            <a:avLst/>
          </a:prstGeom>
          <a:noFill/>
          <a:ln/>
        </p:spPr>
        <p:txBody>
          <a:bodyPr wrap="square" lIns="0" tIns="0" rIns="0" bIns="0" rtlCol="0" anchor="t">
            <a:normAutofit/>
          </a:bodyPr>
          <a:lstStyle/>
          <a:p>
            <a:r>
              <a:rPr lang="fr-FR" sz="2000" b="1" dirty="0">
                <a:solidFill>
                  <a:srgbClr val="A9853F"/>
                </a:solidFill>
                <a:latin typeface="Cormorant Garamond SemiBold" pitchFamily="2" charset="77"/>
                <a:ea typeface="Cormorant Garamond SemiBold" pitchFamily="2" charset="77"/>
                <a:cs typeface="Cormorant Garamond SemiBold" pitchFamily="2" charset="77"/>
              </a:rPr>
              <a:t>L’assurance vie française : le pilier de votre épargne </a:t>
            </a:r>
          </a:p>
        </p:txBody>
      </p:sp>
      <p:sp>
        <p:nvSpPr>
          <p:cNvPr id="211" name="Shape 211"/>
          <p:cNvSpPr/>
          <p:nvPr/>
        </p:nvSpPr>
        <p:spPr>
          <a:xfrm>
            <a:off x="1011872" y="6045507"/>
            <a:ext cx="10744532" cy="427644"/>
          </a:xfrm>
          <a:prstGeom prst="rect">
            <a:avLst/>
          </a:prstGeom>
          <a:solidFill>
            <a:srgbClr val="A9853F"/>
          </a:solidFill>
          <a:ln>
            <a:noFill/>
          </a:ln>
        </p:spPr>
        <p:txBody>
          <a:bodyPr rtlCol="0" anchor="ctr"/>
          <a:lstStyle/>
          <a:p>
            <a:pPr algn="ctr"/>
            <a:endParaRPr lang="fr-FR"/>
          </a:p>
        </p:txBody>
      </p:sp>
      <p:sp>
        <p:nvSpPr>
          <p:cNvPr id="212" name="Banner 212"/>
          <p:cNvSpPr txBox="1"/>
          <p:nvPr/>
        </p:nvSpPr>
        <p:spPr>
          <a:xfrm>
            <a:off x="1231872" y="6020507"/>
            <a:ext cx="10304532" cy="477644"/>
          </a:xfrm>
          <a:prstGeom prst="rect">
            <a:avLst/>
          </a:prstGeom>
          <a:noFill/>
          <a:ln>
            <a:noFill/>
          </a:ln>
        </p:spPr>
        <p:txBody>
          <a:bodyPr wrap="square" lIns="0" tIns="0" rIns="0" bIns="0" rtlCol="0" anchor="ctr">
            <a:normAutofit/>
          </a:bodyPr>
          <a:lstStyle/>
          <a:p>
            <a:pPr algn="ctr">
              <a:buNone/>
            </a:pPr>
            <a:r>
              <a:rPr lang="fr-FR" sz="950" b="1" dirty="0">
                <a:solidFill>
                  <a:srgbClr val="FFFFFF"/>
                </a:solidFill>
                <a:latin typeface="Jost Medium" pitchFamily="2" charset="77"/>
                <a:ea typeface="Jost Medium" pitchFamily="2" charset="77"/>
                <a:cs typeface="Jost Medium" pitchFamily="2" charset="77"/>
              </a:rPr>
              <a:t>En 2026, l’assurance-vie est la seule grande enveloppe à échapper à la hausse de la CSG : ses prélèvements sociaux restent figés à 17,2%, quand le CTO et le PEA grimpent à 18,6% (LFSS 2026).</a:t>
            </a:r>
          </a:p>
        </p:txBody>
      </p:sp>
      <p:sp>
        <p:nvSpPr>
          <p:cNvPr id="213" name="Hub Title 213"/>
          <p:cNvSpPr txBox="1"/>
          <p:nvPr/>
        </p:nvSpPr>
        <p:spPr>
          <a:xfrm>
            <a:off x="947468" y="1430462"/>
            <a:ext cx="10851064" cy="300000"/>
          </a:xfrm>
          <a:prstGeom prst="rect">
            <a:avLst/>
          </a:prstGeom>
          <a:noFill/>
          <a:ln>
            <a:noFill/>
          </a:ln>
        </p:spPr>
        <p:txBody>
          <a:bodyPr wrap="square" lIns="0" tIns="0" rIns="0" bIns="0" rtlCol="0" anchor="t">
            <a:normAutofit/>
          </a:bodyPr>
          <a:lstStyle/>
          <a:p>
            <a:pPr>
              <a:buNone/>
            </a:pPr>
            <a:r>
              <a:rPr lang="fr-FR" sz="1150" b="1" dirty="0">
                <a:solidFill>
                  <a:srgbClr val="A9853F"/>
                </a:solidFill>
                <a:latin typeface="Cormorant Garamond SemiBold" pitchFamily="2" charset="77"/>
                <a:ea typeface="Cormorant Garamond SemiBold" pitchFamily="2" charset="77"/>
                <a:cs typeface="Cormorant Garamond SemiBold" pitchFamily="2" charset="77"/>
              </a:rPr>
              <a:t>L’enveloppe qui répond à l’ensemble de vos objectifs patrimoniaux :</a:t>
            </a:r>
          </a:p>
        </p:txBody>
      </p:sp>
      <p:sp>
        <p:nvSpPr>
          <p:cNvPr id="215" name="Shape 215"/>
          <p:cNvSpPr/>
          <p:nvPr/>
        </p:nvSpPr>
        <p:spPr>
          <a:xfrm>
            <a:off x="5419306" y="1682224"/>
            <a:ext cx="1750000" cy="375336"/>
          </a:xfrm>
          <a:prstGeom prst="rect">
            <a:avLst/>
          </a:prstGeom>
          <a:solidFill>
            <a:srgbClr val="FCF9EF"/>
          </a:solidFill>
          <a:ln>
            <a:noFill/>
          </a:ln>
        </p:spPr>
        <p:txBody>
          <a:bodyPr rtlCol="0" anchor="ctr"/>
          <a:lstStyle/>
          <a:p>
            <a:pPr algn="ctr"/>
            <a:endParaRPr lang="fr-FR"/>
          </a:p>
        </p:txBody>
      </p:sp>
      <p:sp>
        <p:nvSpPr>
          <p:cNvPr id="218" name="Shape 218"/>
          <p:cNvSpPr/>
          <p:nvPr/>
        </p:nvSpPr>
        <p:spPr>
          <a:xfrm>
            <a:off x="8078883" y="2046050"/>
            <a:ext cx="1750000" cy="460000"/>
          </a:xfrm>
          <a:prstGeom prst="rect">
            <a:avLst/>
          </a:prstGeom>
          <a:solidFill>
            <a:srgbClr val="FCF9EF"/>
          </a:solidFill>
          <a:ln>
            <a:noFill/>
          </a:ln>
        </p:spPr>
        <p:txBody>
          <a:bodyPr rtlCol="0" anchor="ctr"/>
          <a:lstStyle/>
          <a:p>
            <a:pPr algn="ctr"/>
            <a:endParaRPr lang="fr-FR"/>
          </a:p>
        </p:txBody>
      </p:sp>
      <p:sp>
        <p:nvSpPr>
          <p:cNvPr id="219" name="Objective Box 219"/>
          <p:cNvSpPr txBox="1"/>
          <p:nvPr/>
        </p:nvSpPr>
        <p:spPr>
          <a:xfrm>
            <a:off x="8138883" y="2096050"/>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Percevoir des revenus</a:t>
            </a:r>
          </a:p>
          <a:p>
            <a:pPr algn="ctr">
              <a:buNone/>
            </a:pPr>
            <a:r>
              <a:rPr lang="fr-FR" sz="750" dirty="0">
                <a:solidFill>
                  <a:srgbClr val="073527"/>
                </a:solidFill>
                <a:latin typeface="Jost Light" pitchFamily="2" charset="77"/>
                <a:ea typeface="Jost Light" pitchFamily="2" charset="77"/>
                <a:cs typeface="Jost Light" pitchFamily="2" charset="77"/>
              </a:rPr>
              <a:t>Rachats programmés / ou distribution</a:t>
            </a:r>
          </a:p>
        </p:txBody>
      </p:sp>
      <p:sp>
        <p:nvSpPr>
          <p:cNvPr id="221" name="Shape 221"/>
          <p:cNvSpPr/>
          <p:nvPr/>
        </p:nvSpPr>
        <p:spPr>
          <a:xfrm>
            <a:off x="8078883" y="2766048"/>
            <a:ext cx="1750000" cy="460000"/>
          </a:xfrm>
          <a:prstGeom prst="rect">
            <a:avLst/>
          </a:prstGeom>
          <a:solidFill>
            <a:srgbClr val="FCF9EF"/>
          </a:solidFill>
          <a:ln>
            <a:noFill/>
          </a:ln>
        </p:spPr>
        <p:txBody>
          <a:bodyPr rtlCol="0" anchor="ctr"/>
          <a:lstStyle/>
          <a:p>
            <a:pPr algn="ctr"/>
            <a:endParaRPr lang="fr-FR"/>
          </a:p>
        </p:txBody>
      </p:sp>
      <p:sp>
        <p:nvSpPr>
          <p:cNvPr id="222" name="Objective Box 222"/>
          <p:cNvSpPr txBox="1"/>
          <p:nvPr/>
        </p:nvSpPr>
        <p:spPr>
          <a:xfrm>
            <a:off x="5474390" y="1686453"/>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Savoir se diversifier</a:t>
            </a:r>
          </a:p>
          <a:p>
            <a:pPr algn="ctr">
              <a:buNone/>
            </a:pPr>
            <a:r>
              <a:rPr lang="fr-FR" sz="750" dirty="0">
                <a:solidFill>
                  <a:srgbClr val="073527"/>
                </a:solidFill>
                <a:latin typeface="Jost Light" pitchFamily="2" charset="77"/>
                <a:ea typeface="Jost Light" pitchFamily="2" charset="77"/>
                <a:cs typeface="Jost Light" pitchFamily="2" charset="77"/>
              </a:rPr>
              <a:t>ETF, OPC, PE, Fond Mixtes</a:t>
            </a:r>
          </a:p>
        </p:txBody>
      </p:sp>
      <p:sp>
        <p:nvSpPr>
          <p:cNvPr id="224" name="Shape 224"/>
          <p:cNvSpPr/>
          <p:nvPr/>
        </p:nvSpPr>
        <p:spPr>
          <a:xfrm>
            <a:off x="5384734" y="5483054"/>
            <a:ext cx="1750000" cy="460000"/>
          </a:xfrm>
          <a:prstGeom prst="rect">
            <a:avLst/>
          </a:prstGeom>
          <a:solidFill>
            <a:srgbClr val="FCF9EF"/>
          </a:solidFill>
          <a:ln>
            <a:noFill/>
          </a:ln>
        </p:spPr>
        <p:txBody>
          <a:bodyPr rtlCol="0" anchor="ctr"/>
          <a:lstStyle/>
          <a:p>
            <a:pPr algn="ctr"/>
            <a:endParaRPr lang="fr-FR"/>
          </a:p>
        </p:txBody>
      </p:sp>
      <p:sp>
        <p:nvSpPr>
          <p:cNvPr id="225" name="Objective Box 225"/>
          <p:cNvSpPr txBox="1"/>
          <p:nvPr/>
        </p:nvSpPr>
        <p:spPr>
          <a:xfrm>
            <a:off x="5504734" y="5533054"/>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Transmettre</a:t>
            </a:r>
          </a:p>
          <a:p>
            <a:pPr algn="ctr">
              <a:buNone/>
            </a:pPr>
            <a:r>
              <a:rPr lang="fr-FR" sz="750" dirty="0">
                <a:solidFill>
                  <a:srgbClr val="073527"/>
                </a:solidFill>
                <a:latin typeface="Jost Light" pitchFamily="2" charset="77"/>
                <a:ea typeface="Jost Light" pitchFamily="2" charset="77"/>
                <a:cs typeface="Jost Light" pitchFamily="2" charset="77"/>
              </a:rPr>
              <a:t>Hors succession</a:t>
            </a:r>
          </a:p>
        </p:txBody>
      </p:sp>
      <p:sp>
        <p:nvSpPr>
          <p:cNvPr id="227" name="Shape 227"/>
          <p:cNvSpPr/>
          <p:nvPr/>
        </p:nvSpPr>
        <p:spPr>
          <a:xfrm>
            <a:off x="2363117" y="2766048"/>
            <a:ext cx="1750000" cy="460000"/>
          </a:xfrm>
          <a:prstGeom prst="rect">
            <a:avLst/>
          </a:prstGeom>
          <a:solidFill>
            <a:srgbClr val="FCF9EF"/>
          </a:solidFill>
          <a:ln>
            <a:noFill/>
          </a:ln>
        </p:spPr>
        <p:txBody>
          <a:bodyPr rtlCol="0" anchor="ctr"/>
          <a:lstStyle/>
          <a:p>
            <a:pPr algn="ctr"/>
            <a:endParaRPr lang="fr-FR"/>
          </a:p>
        </p:txBody>
      </p:sp>
      <p:sp>
        <p:nvSpPr>
          <p:cNvPr id="228" name="Objective Box 228"/>
          <p:cNvSpPr txBox="1"/>
          <p:nvPr/>
        </p:nvSpPr>
        <p:spPr>
          <a:xfrm>
            <a:off x="2423117" y="2816048"/>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Protéger son capital</a:t>
            </a:r>
          </a:p>
          <a:p>
            <a:pPr algn="ctr">
              <a:buNone/>
            </a:pPr>
            <a:r>
              <a:rPr lang="fr-FR" sz="750" dirty="0">
                <a:solidFill>
                  <a:srgbClr val="073527"/>
                </a:solidFill>
                <a:latin typeface="Jost Light" pitchFamily="2" charset="77"/>
                <a:ea typeface="Jost Light" pitchFamily="2" charset="77"/>
                <a:cs typeface="Jost Light" pitchFamily="2" charset="77"/>
              </a:rPr>
              <a:t>Fonds euro garanti</a:t>
            </a:r>
          </a:p>
        </p:txBody>
      </p:sp>
      <p:sp>
        <p:nvSpPr>
          <p:cNvPr id="230" name="Shape 230"/>
          <p:cNvSpPr/>
          <p:nvPr/>
        </p:nvSpPr>
        <p:spPr>
          <a:xfrm>
            <a:off x="2363117" y="2046049"/>
            <a:ext cx="1750000" cy="460000"/>
          </a:xfrm>
          <a:prstGeom prst="rect">
            <a:avLst/>
          </a:prstGeom>
          <a:solidFill>
            <a:srgbClr val="FCF9EF"/>
          </a:solidFill>
          <a:ln>
            <a:noFill/>
          </a:ln>
        </p:spPr>
        <p:txBody>
          <a:bodyPr rtlCol="0" anchor="ctr"/>
          <a:lstStyle/>
          <a:p>
            <a:pPr algn="ctr"/>
            <a:endParaRPr lang="fr-FR"/>
          </a:p>
        </p:txBody>
      </p:sp>
      <p:sp>
        <p:nvSpPr>
          <p:cNvPr id="231" name="Objective Box 231"/>
          <p:cNvSpPr txBox="1"/>
          <p:nvPr/>
        </p:nvSpPr>
        <p:spPr>
          <a:xfrm>
            <a:off x="2423117" y="2096049"/>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Optimiser sa fiscalité</a:t>
            </a:r>
          </a:p>
          <a:p>
            <a:pPr algn="ctr">
              <a:buNone/>
            </a:pPr>
            <a:r>
              <a:rPr lang="fr-FR" sz="750" dirty="0">
                <a:solidFill>
                  <a:srgbClr val="073527"/>
                </a:solidFill>
                <a:latin typeface="Jost Light" pitchFamily="2" charset="77"/>
                <a:ea typeface="Jost Light" pitchFamily="2" charset="77"/>
                <a:cs typeface="Jost Light" pitchFamily="2" charset="77"/>
              </a:rPr>
              <a:t>Après 8 ans</a:t>
            </a:r>
          </a:p>
        </p:txBody>
      </p:sp>
      <p:sp>
        <p:nvSpPr>
          <p:cNvPr id="233" name="Shape 233"/>
          <p:cNvSpPr/>
          <p:nvPr/>
        </p:nvSpPr>
        <p:spPr>
          <a:xfrm>
            <a:off x="10418265" y="1911049"/>
            <a:ext cx="1050001" cy="1450000"/>
          </a:xfrm>
          <a:prstGeom prst="rect">
            <a:avLst/>
          </a:prstGeom>
          <a:solidFill>
            <a:srgbClr val="A9853F"/>
          </a:solidFill>
          <a:ln>
            <a:noFill/>
          </a:ln>
        </p:spPr>
        <p:txBody>
          <a:bodyPr rtlCol="0" anchor="ctr"/>
          <a:lstStyle/>
          <a:p>
            <a:pPr algn="ctr"/>
            <a:endParaRPr lang="fr-FR"/>
          </a:p>
        </p:txBody>
      </p:sp>
      <p:sp>
        <p:nvSpPr>
          <p:cNvPr id="232" name="Hub Center"/>
          <p:cNvSpPr/>
          <p:nvPr/>
        </p:nvSpPr>
        <p:spPr>
          <a:xfrm>
            <a:off x="5734737" y="2254497"/>
            <a:ext cx="1123864" cy="1037950"/>
          </a:xfrm>
          <a:prstGeom prst="ellipse">
            <a:avLst/>
          </a:prstGeom>
          <a:solidFill>
            <a:srgbClr val="001B00"/>
          </a:solidFill>
          <a:ln w="25400">
            <a:noFill/>
          </a:ln>
        </p:spPr>
        <p:txBody>
          <a:bodyPr wrap="square" lIns="0" tIns="0" rIns="0" bIns="0" anchor="ctr"/>
          <a:lstStyle/>
          <a:p>
            <a:pPr algn="ctr"/>
            <a:r>
              <a:rPr lang="fr-FR" sz="900" b="1" dirty="0">
                <a:solidFill>
                  <a:srgbClr val="FFFFFF"/>
                </a:solidFill>
                <a:latin typeface="Jost Black" pitchFamily="2" charset="77"/>
                <a:ea typeface="Jost Black" pitchFamily="2" charset="77"/>
                <a:cs typeface="Cormorant Garamond SemiBold" pitchFamily="2" charset="77"/>
              </a:rPr>
              <a:t>Assurance-vie</a:t>
            </a:r>
          </a:p>
        </p:txBody>
      </p:sp>
      <p:sp>
        <p:nvSpPr>
          <p:cNvPr id="234" name="Liquidity Badge 234"/>
          <p:cNvSpPr txBox="1"/>
          <p:nvPr/>
        </p:nvSpPr>
        <p:spPr>
          <a:xfrm>
            <a:off x="10508266" y="2011049"/>
            <a:ext cx="870000" cy="1250000"/>
          </a:xfrm>
          <a:prstGeom prst="rect">
            <a:avLst/>
          </a:prstGeom>
          <a:noFill/>
          <a:ln>
            <a:noFill/>
          </a:ln>
        </p:spPr>
        <p:txBody>
          <a:bodyPr wrap="square" lIns="0" tIns="0" rIns="0" bIns="0" rtlCol="0" anchor="ctr">
            <a:normAutofit/>
          </a:bodyPr>
          <a:lstStyle/>
          <a:p>
            <a:pPr algn="ctr">
              <a:spcAft>
                <a:spcPts val="100"/>
              </a:spcAft>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100% </a:t>
            </a:r>
            <a:r>
              <a:rPr lang="fr-FR" sz="1000" b="1" dirty="0">
                <a:solidFill>
                  <a:srgbClr val="FFFFFF"/>
                </a:solidFill>
                <a:latin typeface="Jost Medium" pitchFamily="2" charset="77"/>
                <a:ea typeface="Jost Medium" pitchFamily="2" charset="77"/>
                <a:cs typeface="Jost Medium" pitchFamily="2" charset="77"/>
              </a:rPr>
              <a:t>liquide</a:t>
            </a:r>
          </a:p>
          <a:p>
            <a:pPr algn="ctr">
              <a:buNone/>
            </a:pPr>
            <a:endParaRPr lang="fr-FR" sz="700" dirty="0">
              <a:solidFill>
                <a:srgbClr val="FFFFFF"/>
              </a:solidFill>
              <a:latin typeface="Jost Light" pitchFamily="2" charset="77"/>
              <a:ea typeface="Jost Light" pitchFamily="2" charset="77"/>
              <a:cs typeface="Jost Light" pitchFamily="2" charset="77"/>
            </a:endParaRPr>
          </a:p>
          <a:p>
            <a:pPr algn="ctr">
              <a:buNone/>
            </a:pPr>
            <a:r>
              <a:rPr lang="fr-FR" sz="700" dirty="0">
                <a:solidFill>
                  <a:srgbClr val="FFFFFF"/>
                </a:solidFill>
                <a:latin typeface="Jost Light" pitchFamily="2" charset="77"/>
                <a:ea typeface="Jost Light" pitchFamily="2" charset="77"/>
                <a:cs typeface="Jost Light" pitchFamily="2" charset="77"/>
              </a:rPr>
              <a:t>Vos avoirs financiers disponibles à tout moment, rachat partiel ou total.</a:t>
            </a:r>
          </a:p>
        </p:txBody>
      </p:sp>
      <p:sp>
        <p:nvSpPr>
          <p:cNvPr id="235" name="Footnote 235"/>
          <p:cNvSpPr txBox="1"/>
          <p:nvPr/>
        </p:nvSpPr>
        <p:spPr>
          <a:xfrm>
            <a:off x="947468" y="6560000"/>
            <a:ext cx="10744532" cy="260000"/>
          </a:xfrm>
          <a:prstGeom prst="rect">
            <a:avLst/>
          </a:prstGeom>
          <a:noFill/>
          <a:ln>
            <a:noFill/>
          </a:ln>
        </p:spPr>
        <p:txBody>
          <a:bodyPr wrap="square" lIns="0" tIns="0" rIns="0" bIns="0" rtlCol="0" anchor="t">
            <a:normAutofit/>
          </a:bodyPr>
          <a:lstStyle/>
          <a:p>
            <a:pPr algn="ctr">
              <a:buNone/>
            </a:pPr>
            <a:r>
              <a:rPr lang="fr-FR" sz="750" i="1" dirty="0">
                <a:solidFill>
                  <a:srgbClr val="6B6B6B"/>
                </a:solidFill>
                <a:latin typeface="Jost Light" pitchFamily="2" charset="77"/>
                <a:ea typeface="Jost Light" pitchFamily="2" charset="77"/>
                <a:cs typeface="Jost Light" pitchFamily="2" charset="77"/>
              </a:rPr>
              <a:t>Taux et abattements en vigueur en 2026. Fiscalité présentée à titre informatif, susceptible d’évolution.</a:t>
            </a:r>
          </a:p>
        </p:txBody>
      </p:sp>
      <p:cxnSp>
        <p:nvCxnSpPr>
          <p:cNvPr id="6" name="Timeline Line">
            <a:extLst>
              <a:ext uri="{FF2B5EF4-FFF2-40B4-BE49-F238E27FC236}">
                <a16:creationId xmlns:a16="http://schemas.microsoft.com/office/drawing/2014/main" id="{49BBD349-9109-C2D4-39AB-6F20A4239512}"/>
              </a:ext>
            </a:extLst>
          </p:cNvPr>
          <p:cNvCxnSpPr/>
          <p:nvPr/>
        </p:nvCxnSpPr>
        <p:spPr>
          <a:xfrm>
            <a:off x="2651556" y="4184864"/>
            <a:ext cx="7336355" cy="0"/>
          </a:xfrm>
          <a:prstGeom prst="line">
            <a:avLst/>
          </a:prstGeom>
          <a:ln w="19050">
            <a:solidFill>
              <a:srgbClr val="A9853F"/>
            </a:solidFill>
          </a:ln>
        </p:spPr>
      </p:cxnSp>
      <p:sp>
        <p:nvSpPr>
          <p:cNvPr id="7" name="Node 202">
            <a:extLst>
              <a:ext uri="{FF2B5EF4-FFF2-40B4-BE49-F238E27FC236}">
                <a16:creationId xmlns:a16="http://schemas.microsoft.com/office/drawing/2014/main" id="{DF470D1F-1968-04B4-E3D9-9D8B69516CFC}"/>
              </a:ext>
            </a:extLst>
          </p:cNvPr>
          <p:cNvSpPr/>
          <p:nvPr/>
        </p:nvSpPr>
        <p:spPr>
          <a:xfrm>
            <a:off x="2421556" y="3954864"/>
            <a:ext cx="460000" cy="460000"/>
          </a:xfrm>
          <a:prstGeom prst="ellipse">
            <a:avLst/>
          </a:prstGeom>
          <a:solidFill>
            <a:srgbClr val="001B00"/>
          </a:solidFill>
          <a:ln w="19050">
            <a:solidFill>
              <a:srgbClr val="FCF9EF"/>
            </a:solidFill>
          </a:ln>
        </p:spPr>
        <p:txBody>
          <a:bodyPr anchor="ctr"/>
          <a:lstStyle/>
          <a:p>
            <a:pPr algn="ctr"/>
            <a:r>
              <a:rPr lang="fr-FR" sz="1400" b="1" dirty="0">
                <a:solidFill>
                  <a:srgbClr val="FFFFFF"/>
                </a:solidFill>
                <a:latin typeface="Cormorant Garamond SemiBold" pitchFamily="2" charset="77"/>
                <a:ea typeface="Cormorant Garamond SemiBold" pitchFamily="2" charset="77"/>
                <a:cs typeface="Cormorant Garamond SemiBold" pitchFamily="2" charset="77"/>
              </a:rPr>
              <a:t>1</a:t>
            </a:r>
          </a:p>
        </p:txBody>
      </p:sp>
      <p:sp>
        <p:nvSpPr>
          <p:cNvPr id="8" name="Shape 203">
            <a:extLst>
              <a:ext uri="{FF2B5EF4-FFF2-40B4-BE49-F238E27FC236}">
                <a16:creationId xmlns:a16="http://schemas.microsoft.com/office/drawing/2014/main" id="{26A31527-E29F-EF0F-44D5-299083366E4A}"/>
              </a:ext>
            </a:extLst>
          </p:cNvPr>
          <p:cNvSpPr/>
          <p:nvPr/>
        </p:nvSpPr>
        <p:spPr>
          <a:xfrm>
            <a:off x="947468" y="4544864"/>
            <a:ext cx="3408177" cy="816049"/>
          </a:xfrm>
          <a:prstGeom prst="rect">
            <a:avLst/>
          </a:prstGeom>
          <a:solidFill>
            <a:srgbClr val="FCF9EF"/>
          </a:solidFill>
          <a:ln>
            <a:noFill/>
          </a:ln>
        </p:spPr>
        <p:txBody>
          <a:bodyPr rtlCol="0" anchor="ctr"/>
          <a:lstStyle/>
          <a:p>
            <a:pPr algn="ctr"/>
            <a:endParaRPr lang="fr-FR"/>
          </a:p>
        </p:txBody>
      </p:sp>
      <p:sp>
        <p:nvSpPr>
          <p:cNvPr id="9" name="Milestone Body 204">
            <a:extLst>
              <a:ext uri="{FF2B5EF4-FFF2-40B4-BE49-F238E27FC236}">
                <a16:creationId xmlns:a16="http://schemas.microsoft.com/office/drawing/2014/main" id="{847A992E-D2A7-E38F-47C1-92BABAEF711A}"/>
              </a:ext>
            </a:extLst>
          </p:cNvPr>
          <p:cNvSpPr txBox="1"/>
          <p:nvPr/>
        </p:nvSpPr>
        <p:spPr>
          <a:xfrm>
            <a:off x="1067468" y="4654864"/>
            <a:ext cx="3168177" cy="830000"/>
          </a:xfrm>
          <a:prstGeom prst="rect">
            <a:avLst/>
          </a:prstGeom>
          <a:noFill/>
          <a:ln>
            <a:noFill/>
          </a:ln>
        </p:spPr>
        <p:txBody>
          <a:bodyPr wrap="square" lIns="0" tIns="0" rIns="0" bIns="0" rtlCol="0" anchor="t">
            <a:normAutofit/>
          </a:bodyPr>
          <a:lstStyle/>
          <a:p>
            <a:pPr algn="ctr">
              <a:spcAft>
                <a:spcPts val="180"/>
              </a:spcAft>
              <a:buNone/>
            </a:pPr>
            <a:r>
              <a:rPr lang="fr-FR" sz="850" b="1" dirty="0">
                <a:solidFill>
                  <a:srgbClr val="A9853F"/>
                </a:solidFill>
                <a:latin typeface="Jost Medium" pitchFamily="2" charset="77"/>
                <a:ea typeface="Jost Medium" pitchFamily="2" charset="77"/>
                <a:cs typeface="Jost Medium" pitchFamily="2" charset="77"/>
              </a:rPr>
              <a:t>Dès l’ouverture</a:t>
            </a:r>
          </a:p>
          <a:p>
            <a:pPr algn="ctr">
              <a:spcAft>
                <a:spcPts val="180"/>
              </a:spcAft>
              <a:buNone/>
            </a:pPr>
            <a:r>
              <a:rPr lang="fr-FR" sz="1150" b="1" dirty="0">
                <a:solidFill>
                  <a:srgbClr val="001B00"/>
                </a:solidFill>
                <a:latin typeface="Cormorant Garamond SemiBold" pitchFamily="2" charset="77"/>
                <a:ea typeface="Cormorant Garamond SemiBold" pitchFamily="2" charset="77"/>
                <a:cs typeface="Cormorant Garamond SemiBold" pitchFamily="2" charset="77"/>
              </a:rPr>
              <a:t>PFU de 30%</a:t>
            </a:r>
          </a:p>
          <a:p>
            <a:pPr algn="ctr">
              <a:buNone/>
            </a:pPr>
            <a:r>
              <a:rPr lang="fr-FR" sz="780" dirty="0">
                <a:solidFill>
                  <a:srgbClr val="073527"/>
                </a:solidFill>
                <a:latin typeface="Jost Light" pitchFamily="2" charset="77"/>
                <a:ea typeface="Jost Light" pitchFamily="2" charset="77"/>
                <a:cs typeface="Jost Light" pitchFamily="2" charset="77"/>
              </a:rPr>
              <a:t>12,8% IR + 17,2% PS, sur la totalité des gains retirés.</a:t>
            </a:r>
          </a:p>
        </p:txBody>
      </p:sp>
      <p:sp>
        <p:nvSpPr>
          <p:cNvPr id="10" name="Node 205">
            <a:extLst>
              <a:ext uri="{FF2B5EF4-FFF2-40B4-BE49-F238E27FC236}">
                <a16:creationId xmlns:a16="http://schemas.microsoft.com/office/drawing/2014/main" id="{F95DAAB3-4CE8-B266-5F5B-6E34CF579949}"/>
              </a:ext>
            </a:extLst>
          </p:cNvPr>
          <p:cNvSpPr/>
          <p:nvPr/>
        </p:nvSpPr>
        <p:spPr>
          <a:xfrm>
            <a:off x="6089733" y="3954864"/>
            <a:ext cx="460000" cy="460000"/>
          </a:xfrm>
          <a:prstGeom prst="ellipse">
            <a:avLst/>
          </a:prstGeom>
          <a:solidFill>
            <a:srgbClr val="001B00"/>
          </a:solidFill>
          <a:ln w="19050">
            <a:solidFill>
              <a:srgbClr val="FCF9EF"/>
            </a:solidFill>
          </a:ln>
        </p:spPr>
        <p:txBody>
          <a:bodyPr anchor="ctr"/>
          <a:lstStyle/>
          <a:p>
            <a:pPr algn="ctr"/>
            <a:r>
              <a:rPr lang="fr-FR" sz="1400" b="1" dirty="0">
                <a:solidFill>
                  <a:srgbClr val="FFFFFF"/>
                </a:solidFill>
                <a:latin typeface="Cormorant Garamond SemiBold" pitchFamily="2" charset="77"/>
                <a:ea typeface="Cormorant Garamond SemiBold" pitchFamily="2" charset="77"/>
                <a:cs typeface="Cormorant Garamond SemiBold" pitchFamily="2" charset="77"/>
              </a:rPr>
              <a:t>2</a:t>
            </a:r>
          </a:p>
        </p:txBody>
      </p:sp>
      <p:sp>
        <p:nvSpPr>
          <p:cNvPr id="11" name="Shape 206">
            <a:extLst>
              <a:ext uri="{FF2B5EF4-FFF2-40B4-BE49-F238E27FC236}">
                <a16:creationId xmlns:a16="http://schemas.microsoft.com/office/drawing/2014/main" id="{374CA6B5-874B-1ADD-D21C-E45467E123AA}"/>
              </a:ext>
            </a:extLst>
          </p:cNvPr>
          <p:cNvSpPr/>
          <p:nvPr/>
        </p:nvSpPr>
        <p:spPr>
          <a:xfrm>
            <a:off x="4615645" y="4544864"/>
            <a:ext cx="3408177" cy="816047"/>
          </a:xfrm>
          <a:prstGeom prst="rect">
            <a:avLst/>
          </a:prstGeom>
          <a:solidFill>
            <a:srgbClr val="FCF9EF"/>
          </a:solidFill>
          <a:ln>
            <a:noFill/>
          </a:ln>
        </p:spPr>
        <p:txBody>
          <a:bodyPr rtlCol="0" anchor="ctr"/>
          <a:lstStyle/>
          <a:p>
            <a:pPr algn="ctr"/>
            <a:endParaRPr lang="fr-FR"/>
          </a:p>
        </p:txBody>
      </p:sp>
      <p:sp>
        <p:nvSpPr>
          <p:cNvPr id="12" name="Milestone Body 207">
            <a:extLst>
              <a:ext uri="{FF2B5EF4-FFF2-40B4-BE49-F238E27FC236}">
                <a16:creationId xmlns:a16="http://schemas.microsoft.com/office/drawing/2014/main" id="{9CC6C361-3D70-7FF6-EB97-168F95AF81A4}"/>
              </a:ext>
            </a:extLst>
          </p:cNvPr>
          <p:cNvSpPr txBox="1"/>
          <p:nvPr/>
        </p:nvSpPr>
        <p:spPr>
          <a:xfrm>
            <a:off x="4735645" y="4654864"/>
            <a:ext cx="3168177" cy="830000"/>
          </a:xfrm>
          <a:prstGeom prst="rect">
            <a:avLst/>
          </a:prstGeom>
          <a:noFill/>
          <a:ln>
            <a:noFill/>
          </a:ln>
        </p:spPr>
        <p:txBody>
          <a:bodyPr wrap="square" lIns="0" tIns="0" rIns="0" bIns="0" rtlCol="0" anchor="t">
            <a:normAutofit/>
          </a:bodyPr>
          <a:lstStyle/>
          <a:p>
            <a:pPr algn="ctr">
              <a:spcAft>
                <a:spcPts val="180"/>
              </a:spcAft>
              <a:buNone/>
            </a:pPr>
            <a:r>
              <a:rPr lang="fr-FR" sz="850" b="1" dirty="0">
                <a:solidFill>
                  <a:srgbClr val="A9853F"/>
                </a:solidFill>
                <a:latin typeface="Jost Medium" pitchFamily="2" charset="77"/>
                <a:ea typeface="Jost Medium" pitchFamily="2" charset="77"/>
                <a:cs typeface="Jost Medium" pitchFamily="2" charset="77"/>
              </a:rPr>
              <a:t>Après 8 ans</a:t>
            </a:r>
          </a:p>
          <a:p>
            <a:pPr algn="ctr">
              <a:spcAft>
                <a:spcPts val="180"/>
              </a:spcAft>
              <a:buNone/>
            </a:pPr>
            <a:r>
              <a:rPr lang="fr-FR" sz="1150" b="1" dirty="0">
                <a:solidFill>
                  <a:srgbClr val="001B00"/>
                </a:solidFill>
                <a:latin typeface="Cormorant Garamond SemiBold" pitchFamily="2" charset="77"/>
                <a:ea typeface="Cormorant Garamond SemiBold" pitchFamily="2" charset="77"/>
                <a:cs typeface="Cormorant Garamond SemiBold" pitchFamily="2" charset="77"/>
              </a:rPr>
              <a:t>24,7% après abattement</a:t>
            </a:r>
          </a:p>
          <a:p>
            <a:pPr algn="ctr">
              <a:buNone/>
            </a:pPr>
            <a:r>
              <a:rPr lang="fr-FR" sz="780" dirty="0">
                <a:solidFill>
                  <a:srgbClr val="073527"/>
                </a:solidFill>
                <a:latin typeface="Jost Light" pitchFamily="2" charset="77"/>
                <a:ea typeface="Jost Light" pitchFamily="2" charset="77"/>
                <a:cs typeface="Jost Light" pitchFamily="2" charset="77"/>
              </a:rPr>
              <a:t>Abattement annuel de 4 600 EUR (9 200 EUR pour un couple) </a:t>
            </a:r>
          </a:p>
          <a:p>
            <a:pPr algn="ctr">
              <a:buNone/>
            </a:pPr>
            <a:r>
              <a:rPr lang="fr-FR" sz="780" dirty="0">
                <a:solidFill>
                  <a:srgbClr val="073527"/>
                </a:solidFill>
                <a:latin typeface="Jost Light" pitchFamily="2" charset="77"/>
                <a:ea typeface="Jost Light" pitchFamily="2" charset="77"/>
                <a:cs typeface="Jost Light" pitchFamily="2" charset="77"/>
              </a:rPr>
              <a:t>puis 7,5% IR + 17,2% PS.</a:t>
            </a:r>
          </a:p>
        </p:txBody>
      </p:sp>
      <p:sp>
        <p:nvSpPr>
          <p:cNvPr id="13" name="Node 208">
            <a:extLst>
              <a:ext uri="{FF2B5EF4-FFF2-40B4-BE49-F238E27FC236}">
                <a16:creationId xmlns:a16="http://schemas.microsoft.com/office/drawing/2014/main" id="{7FDCFAF9-7CE2-BE3A-44F7-2DA3127DF0EB}"/>
              </a:ext>
            </a:extLst>
          </p:cNvPr>
          <p:cNvSpPr/>
          <p:nvPr/>
        </p:nvSpPr>
        <p:spPr>
          <a:xfrm>
            <a:off x="9757910" y="3954864"/>
            <a:ext cx="460000" cy="460000"/>
          </a:xfrm>
          <a:prstGeom prst="ellipse">
            <a:avLst/>
          </a:prstGeom>
          <a:solidFill>
            <a:srgbClr val="001B00"/>
          </a:solidFill>
          <a:ln w="19050">
            <a:solidFill>
              <a:srgbClr val="FCF9EF"/>
            </a:solidFill>
          </a:ln>
        </p:spPr>
        <p:txBody>
          <a:bodyPr anchor="ctr"/>
          <a:lstStyle/>
          <a:p>
            <a:pPr algn="ctr"/>
            <a:r>
              <a:rPr lang="fr-FR" sz="1400" b="1" dirty="0">
                <a:solidFill>
                  <a:srgbClr val="FFFFFF"/>
                </a:solidFill>
                <a:latin typeface="Cormorant Garamond SemiBold" pitchFamily="2" charset="77"/>
                <a:ea typeface="Cormorant Garamond SemiBold" pitchFamily="2" charset="77"/>
                <a:cs typeface="Cormorant Garamond SemiBold" pitchFamily="2" charset="77"/>
              </a:rPr>
              <a:t>3</a:t>
            </a:r>
          </a:p>
        </p:txBody>
      </p:sp>
      <p:sp>
        <p:nvSpPr>
          <p:cNvPr id="14" name="Shape 209">
            <a:extLst>
              <a:ext uri="{FF2B5EF4-FFF2-40B4-BE49-F238E27FC236}">
                <a16:creationId xmlns:a16="http://schemas.microsoft.com/office/drawing/2014/main" id="{8013ED11-1466-E43C-7EFA-403119C62999}"/>
              </a:ext>
            </a:extLst>
          </p:cNvPr>
          <p:cNvSpPr/>
          <p:nvPr/>
        </p:nvSpPr>
        <p:spPr>
          <a:xfrm>
            <a:off x="8283822" y="4544864"/>
            <a:ext cx="3408177" cy="816047"/>
          </a:xfrm>
          <a:prstGeom prst="rect">
            <a:avLst/>
          </a:prstGeom>
          <a:solidFill>
            <a:srgbClr val="FCF9EF"/>
          </a:solidFill>
          <a:ln>
            <a:noFill/>
          </a:ln>
        </p:spPr>
        <p:txBody>
          <a:bodyPr rtlCol="0" anchor="ctr"/>
          <a:lstStyle/>
          <a:p>
            <a:pPr algn="ctr"/>
            <a:endParaRPr lang="fr-FR"/>
          </a:p>
        </p:txBody>
      </p:sp>
      <p:sp>
        <p:nvSpPr>
          <p:cNvPr id="15" name="Milestone Body 210">
            <a:extLst>
              <a:ext uri="{FF2B5EF4-FFF2-40B4-BE49-F238E27FC236}">
                <a16:creationId xmlns:a16="http://schemas.microsoft.com/office/drawing/2014/main" id="{8C6290C3-D05D-E87B-2DDC-FAA774541D7E}"/>
              </a:ext>
            </a:extLst>
          </p:cNvPr>
          <p:cNvSpPr txBox="1"/>
          <p:nvPr/>
        </p:nvSpPr>
        <p:spPr>
          <a:xfrm>
            <a:off x="8403822" y="4654864"/>
            <a:ext cx="3168177" cy="830000"/>
          </a:xfrm>
          <a:prstGeom prst="rect">
            <a:avLst/>
          </a:prstGeom>
          <a:noFill/>
          <a:ln>
            <a:noFill/>
          </a:ln>
        </p:spPr>
        <p:txBody>
          <a:bodyPr wrap="square" lIns="0" tIns="0" rIns="0" bIns="0" rtlCol="0" anchor="t">
            <a:normAutofit/>
          </a:bodyPr>
          <a:lstStyle/>
          <a:p>
            <a:pPr algn="ctr">
              <a:spcAft>
                <a:spcPts val="180"/>
              </a:spcAft>
              <a:buNone/>
            </a:pPr>
            <a:r>
              <a:rPr lang="fr-FR" sz="850" b="1" dirty="0">
                <a:solidFill>
                  <a:srgbClr val="A9853F"/>
                </a:solidFill>
                <a:latin typeface="Jost Medium" pitchFamily="2" charset="77"/>
                <a:ea typeface="Jost Medium" pitchFamily="2" charset="77"/>
                <a:cs typeface="Jost Medium" pitchFamily="2" charset="77"/>
              </a:rPr>
              <a:t>En cas de transmission</a:t>
            </a:r>
          </a:p>
          <a:p>
            <a:pPr algn="ctr">
              <a:spcAft>
                <a:spcPts val="180"/>
              </a:spcAft>
              <a:buNone/>
            </a:pPr>
            <a:r>
              <a:rPr lang="fr-FR" sz="1150" b="1" dirty="0">
                <a:solidFill>
                  <a:srgbClr val="001B00"/>
                </a:solidFill>
                <a:latin typeface="Cormorant Garamond SemiBold" pitchFamily="2" charset="77"/>
                <a:ea typeface="Cormorant Garamond SemiBold" pitchFamily="2" charset="77"/>
                <a:cs typeface="Cormorant Garamond SemiBold" pitchFamily="2" charset="77"/>
              </a:rPr>
              <a:t>Jusqu’à 152 500 EUR exonérés</a:t>
            </a:r>
          </a:p>
          <a:p>
            <a:pPr algn="ctr">
              <a:buNone/>
            </a:pPr>
            <a:r>
              <a:rPr lang="fr-FR" sz="780" dirty="0">
                <a:solidFill>
                  <a:srgbClr val="073527"/>
                </a:solidFill>
                <a:latin typeface="Jost Light" pitchFamily="2" charset="77"/>
                <a:ea typeface="Jost Light" pitchFamily="2" charset="77"/>
                <a:cs typeface="Jost Light" pitchFamily="2" charset="77"/>
              </a:rPr>
              <a:t>Par bénéficiaire, pour les versements effectués avant 70 ans.</a:t>
            </a:r>
          </a:p>
        </p:txBody>
      </p:sp>
      <p:sp>
        <p:nvSpPr>
          <p:cNvPr id="22" name="Objective Box 216">
            <a:extLst>
              <a:ext uri="{FF2B5EF4-FFF2-40B4-BE49-F238E27FC236}">
                <a16:creationId xmlns:a16="http://schemas.microsoft.com/office/drawing/2014/main" id="{2F6BBDD3-A0F6-9B51-EB36-FD10FDD3EA5A}"/>
              </a:ext>
            </a:extLst>
          </p:cNvPr>
          <p:cNvSpPr txBox="1"/>
          <p:nvPr/>
        </p:nvSpPr>
        <p:spPr>
          <a:xfrm>
            <a:off x="8166822" y="2833122"/>
            <a:ext cx="1630000" cy="360000"/>
          </a:xfrm>
          <a:prstGeom prst="rect">
            <a:avLst/>
          </a:prstGeom>
          <a:noFill/>
          <a:ln>
            <a:noFill/>
          </a:ln>
        </p:spPr>
        <p:txBody>
          <a:bodyPr wrap="square" lIns="0" tIns="0" rIns="0" bIns="0" rtlCol="0" anchor="ctr">
            <a:normAutofit/>
          </a:bodyPr>
          <a:lstStyle/>
          <a:p>
            <a:pPr algn="ctr">
              <a:spcAft>
                <a:spcPts val="100"/>
              </a:spcAft>
              <a:buNone/>
            </a:pPr>
            <a:r>
              <a:rPr lang="fr-FR" sz="950" b="1" dirty="0">
                <a:solidFill>
                  <a:srgbClr val="001B00"/>
                </a:solidFill>
                <a:latin typeface="Jost Medium" pitchFamily="2" charset="77"/>
                <a:ea typeface="Jost Medium" pitchFamily="2" charset="77"/>
                <a:cs typeface="Jost Medium" pitchFamily="2" charset="77"/>
              </a:rPr>
              <a:t>Capitaliser</a:t>
            </a:r>
          </a:p>
          <a:p>
            <a:pPr algn="ctr">
              <a:buNone/>
            </a:pPr>
            <a:r>
              <a:rPr lang="fr-FR" sz="750" dirty="0">
                <a:solidFill>
                  <a:srgbClr val="073527"/>
                </a:solidFill>
                <a:latin typeface="Jost Light" pitchFamily="2" charset="77"/>
                <a:ea typeface="Jost Light" pitchFamily="2" charset="77"/>
                <a:cs typeface="Jost Light" pitchFamily="2" charset="77"/>
              </a:rPr>
              <a:t>Fonds euro ou unités de compte</a:t>
            </a:r>
          </a:p>
        </p:txBody>
      </p:sp>
      <p:sp>
        <p:nvSpPr>
          <p:cNvPr id="16" name="Hub Title 213">
            <a:extLst>
              <a:ext uri="{FF2B5EF4-FFF2-40B4-BE49-F238E27FC236}">
                <a16:creationId xmlns:a16="http://schemas.microsoft.com/office/drawing/2014/main" id="{622BD0D9-461A-2F3D-6F66-31A5E5A5B198}"/>
              </a:ext>
            </a:extLst>
          </p:cNvPr>
          <p:cNvSpPr txBox="1"/>
          <p:nvPr/>
        </p:nvSpPr>
        <p:spPr>
          <a:xfrm>
            <a:off x="947194" y="3560268"/>
            <a:ext cx="10851064" cy="300000"/>
          </a:xfrm>
          <a:prstGeom prst="rect">
            <a:avLst/>
          </a:prstGeom>
          <a:noFill/>
          <a:ln>
            <a:noFill/>
          </a:ln>
        </p:spPr>
        <p:txBody>
          <a:bodyPr wrap="square" lIns="0" tIns="0" rIns="0" bIns="0" rtlCol="0" anchor="t">
            <a:normAutofit/>
          </a:bodyPr>
          <a:lstStyle/>
          <a:p>
            <a:pPr>
              <a:buNone/>
            </a:pPr>
            <a:r>
              <a:rPr lang="fr-FR" sz="1150" b="1" dirty="0">
                <a:solidFill>
                  <a:srgbClr val="A9853F"/>
                </a:solidFill>
                <a:latin typeface="Cormorant Garamond SemiBold" pitchFamily="2" charset="77"/>
                <a:ea typeface="Cormorant Garamond SemiBold" pitchFamily="2" charset="77"/>
                <a:cs typeface="Cormorant Garamond SemiBold" pitchFamily="2" charset="77"/>
              </a:rPr>
              <a:t>Rappel de la fiscalité applicable sur votre enveloppe d’assurance vie française :</a:t>
            </a:r>
          </a:p>
        </p:txBody>
      </p:sp>
    </p:spTree>
    <p:extLst>
      <p:ext uri="{BB962C8B-B14F-4D97-AF65-F5344CB8AC3E}">
        <p14:creationId xmlns:p14="http://schemas.microsoft.com/office/powerpoint/2010/main" val="3009454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20178"/>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Une enveloppe qui évolue avec vous : fiscalité, protection, performance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L’assurance vie </a:t>
            </a:r>
            <a:r>
              <a:rPr lang="fr-FR" sz="2000" b="1" dirty="0">
                <a:solidFill>
                  <a:srgbClr val="A9853F"/>
                </a:solidFill>
                <a:latin typeface="Cormorant Garamond SemiBold" pitchFamily="2" charset="77"/>
                <a:ea typeface="Cormorant Garamond SemiBold" pitchFamily="2" charset="77"/>
                <a:cs typeface="Cormorant Garamond SemiBold" pitchFamily="2" charset="77"/>
              </a:rPr>
              <a:t>luxembourgeoise : sécurité et liberté de gestion</a:t>
            </a:r>
          </a:p>
        </p:txBody>
      </p:sp>
      <p:sp>
        <p:nvSpPr>
          <p:cNvPr id="246" name="Shape 246"/>
          <p:cNvSpPr/>
          <p:nvPr/>
        </p:nvSpPr>
        <p:spPr>
          <a:xfrm>
            <a:off x="947468" y="1780000"/>
            <a:ext cx="3448177" cy="950000"/>
          </a:xfrm>
          <a:prstGeom prst="rect">
            <a:avLst/>
          </a:prstGeom>
          <a:solidFill>
            <a:srgbClr val="001B00"/>
          </a:solidFill>
          <a:ln>
            <a:noFill/>
          </a:ln>
        </p:spPr>
        <p:txBody>
          <a:bodyPr rtlCol="0" anchor="ctr"/>
          <a:lstStyle/>
          <a:p>
            <a:pPr algn="ctr"/>
            <a:endParaRPr lang="fr-FR"/>
          </a:p>
        </p:txBody>
      </p:sp>
      <p:sp>
        <p:nvSpPr>
          <p:cNvPr id="247" name="Stat 0 247"/>
          <p:cNvSpPr txBox="1"/>
          <p:nvPr/>
        </p:nvSpPr>
        <p:spPr>
          <a:xfrm>
            <a:off x="997468" y="1780000"/>
            <a:ext cx="3348177" cy="950000"/>
          </a:xfrm>
          <a:prstGeom prst="rect">
            <a:avLst/>
          </a:prstGeom>
          <a:noFill/>
          <a:ln>
            <a:noFill/>
          </a:ln>
        </p:spPr>
        <p:txBody>
          <a:bodyPr wrap="square" lIns="0" tIns="0" rIns="0" bIns="0" rtlCol="0" anchor="ctr">
            <a:normAutofit/>
          </a:bodyPr>
          <a:lstStyle/>
          <a:p>
            <a:pPr algn="ctr"/>
            <a:r>
              <a:rPr lang="fr-FR" sz="950" dirty="0">
                <a:solidFill>
                  <a:srgbClr val="FFFFFF"/>
                </a:solidFill>
                <a:latin typeface="Jost Medium" pitchFamily="2" charset="77"/>
                <a:ea typeface="Jost Medium" pitchFamily="2" charset="77"/>
                <a:cs typeface="Jost Medium" pitchFamily="2" charset="77"/>
              </a:rPr>
              <a:t>Ticket d’entrée usuel</a:t>
            </a:r>
          </a:p>
          <a:p>
            <a:pPr algn="ctr"/>
            <a:r>
              <a:rPr lang="fr-FR" sz="2000" b="1" dirty="0">
                <a:solidFill>
                  <a:srgbClr val="FFFFFF"/>
                </a:solidFill>
                <a:latin typeface="Cormorant Garamond SemiBold" pitchFamily="2" charset="77"/>
                <a:ea typeface="Cormorant Garamond SemiBold" pitchFamily="2" charset="77"/>
                <a:cs typeface="Cormorant Garamond SemiBold" pitchFamily="2" charset="77"/>
              </a:rPr>
              <a:t>250 000 EUR</a:t>
            </a:r>
          </a:p>
        </p:txBody>
      </p:sp>
      <p:sp>
        <p:nvSpPr>
          <p:cNvPr id="248" name="Shape 248"/>
          <p:cNvSpPr/>
          <p:nvPr/>
        </p:nvSpPr>
        <p:spPr>
          <a:xfrm>
            <a:off x="4595645" y="1780000"/>
            <a:ext cx="3448177" cy="950000"/>
          </a:xfrm>
          <a:prstGeom prst="rect">
            <a:avLst/>
          </a:prstGeom>
          <a:solidFill>
            <a:srgbClr val="001B00"/>
          </a:solidFill>
          <a:ln>
            <a:noFill/>
          </a:ln>
        </p:spPr>
        <p:txBody>
          <a:bodyPr rtlCol="0" anchor="ctr"/>
          <a:lstStyle/>
          <a:p>
            <a:pPr algn="ctr"/>
            <a:endParaRPr lang="fr-FR"/>
          </a:p>
        </p:txBody>
      </p:sp>
      <p:sp>
        <p:nvSpPr>
          <p:cNvPr id="249" name="Stat 1 249"/>
          <p:cNvSpPr txBox="1"/>
          <p:nvPr/>
        </p:nvSpPr>
        <p:spPr>
          <a:xfrm>
            <a:off x="4645645" y="1780000"/>
            <a:ext cx="3348177" cy="950000"/>
          </a:xfrm>
          <a:prstGeom prst="rect">
            <a:avLst/>
          </a:prstGeom>
          <a:noFill/>
          <a:ln>
            <a:noFill/>
          </a:ln>
        </p:spPr>
        <p:txBody>
          <a:bodyPr wrap="square" lIns="0" tIns="0" rIns="0" bIns="0" rtlCol="0" anchor="ctr">
            <a:normAutofit/>
          </a:bodyPr>
          <a:lstStyle/>
          <a:p>
            <a:pPr algn="ctr"/>
            <a:r>
              <a:rPr lang="fr-FR" sz="950" dirty="0">
                <a:solidFill>
                  <a:srgbClr val="FFFFFF"/>
                </a:solidFill>
                <a:latin typeface="Jost Medium" pitchFamily="2" charset="77"/>
                <a:ea typeface="Jost Medium" pitchFamily="2" charset="77"/>
                <a:cs typeface="Jost Medium" pitchFamily="2" charset="77"/>
              </a:rPr>
              <a:t>Protection du capital</a:t>
            </a:r>
          </a:p>
          <a:p>
            <a:pPr algn="ctr"/>
            <a:r>
              <a:rPr lang="fr-FR" sz="2000" b="1" dirty="0">
                <a:solidFill>
                  <a:srgbClr val="FFFFFF"/>
                </a:solidFill>
                <a:latin typeface="Cormorant Garamond SemiBold" pitchFamily="2" charset="77"/>
                <a:ea typeface="Cormorant Garamond SemiBold" pitchFamily="2" charset="77"/>
                <a:cs typeface="Cormorant Garamond SemiBold" pitchFamily="2" charset="77"/>
              </a:rPr>
              <a:t>Illimitée</a:t>
            </a:r>
          </a:p>
        </p:txBody>
      </p:sp>
      <p:sp>
        <p:nvSpPr>
          <p:cNvPr id="250" name="Shape 250"/>
          <p:cNvSpPr/>
          <p:nvPr/>
        </p:nvSpPr>
        <p:spPr>
          <a:xfrm>
            <a:off x="8243822" y="1780000"/>
            <a:ext cx="3448177" cy="950000"/>
          </a:xfrm>
          <a:prstGeom prst="rect">
            <a:avLst/>
          </a:prstGeom>
          <a:solidFill>
            <a:srgbClr val="001B00"/>
          </a:solidFill>
          <a:ln>
            <a:noFill/>
          </a:ln>
        </p:spPr>
        <p:txBody>
          <a:bodyPr rtlCol="0" anchor="ctr"/>
          <a:lstStyle/>
          <a:p>
            <a:pPr algn="ctr"/>
            <a:endParaRPr lang="fr-FR"/>
          </a:p>
        </p:txBody>
      </p:sp>
      <p:sp>
        <p:nvSpPr>
          <p:cNvPr id="251" name="Stat 2 251"/>
          <p:cNvSpPr txBox="1"/>
          <p:nvPr/>
        </p:nvSpPr>
        <p:spPr>
          <a:xfrm>
            <a:off x="8293822" y="1780000"/>
            <a:ext cx="3348177" cy="950000"/>
          </a:xfrm>
          <a:prstGeom prst="rect">
            <a:avLst/>
          </a:prstGeom>
          <a:noFill/>
          <a:ln>
            <a:noFill/>
          </a:ln>
        </p:spPr>
        <p:txBody>
          <a:bodyPr wrap="square" lIns="0" tIns="0" rIns="0" bIns="0" rtlCol="0" anchor="ctr">
            <a:normAutofit/>
          </a:bodyPr>
          <a:lstStyle/>
          <a:p>
            <a:pPr algn="ctr"/>
            <a:r>
              <a:rPr lang="fr-FR" sz="950" dirty="0">
                <a:solidFill>
                  <a:srgbClr val="FFFFFF"/>
                </a:solidFill>
                <a:latin typeface="Jost Medium" pitchFamily="2" charset="77"/>
                <a:ea typeface="Jost Medium" pitchFamily="2" charset="77"/>
                <a:cs typeface="Jost Medium" pitchFamily="2" charset="77"/>
              </a:rPr>
              <a:t>Fiscalité (pour un résident fiscal Français)</a:t>
            </a:r>
          </a:p>
          <a:p>
            <a:pPr algn="ctr"/>
            <a:r>
              <a:rPr lang="fr-FR" sz="2000" b="1" dirty="0">
                <a:solidFill>
                  <a:srgbClr val="FFFFFF"/>
                </a:solidFill>
                <a:latin typeface="Cormorant Garamond SemiBold" pitchFamily="2" charset="77"/>
                <a:ea typeface="Cormorant Garamond SemiBold" pitchFamily="2" charset="77"/>
                <a:cs typeface="Cormorant Garamond SemiBold" pitchFamily="2" charset="77"/>
              </a:rPr>
              <a:t>Identique à l’AV française</a:t>
            </a:r>
          </a:p>
        </p:txBody>
      </p:sp>
      <p:sp>
        <p:nvSpPr>
          <p:cNvPr id="252" name="Shape 252"/>
          <p:cNvSpPr/>
          <p:nvPr/>
        </p:nvSpPr>
        <p:spPr>
          <a:xfrm>
            <a:off x="947468" y="3428642"/>
            <a:ext cx="5212266" cy="460000"/>
          </a:xfrm>
          <a:prstGeom prst="rect">
            <a:avLst/>
          </a:prstGeom>
          <a:solidFill>
            <a:srgbClr val="001B00"/>
          </a:solidFill>
          <a:ln>
            <a:noFill/>
          </a:ln>
        </p:spPr>
        <p:txBody>
          <a:bodyPr rtlCol="0" anchor="ctr"/>
          <a:lstStyle/>
          <a:p>
            <a:pPr algn="ctr"/>
            <a:endParaRPr lang="fr-FR"/>
          </a:p>
        </p:txBody>
      </p:sp>
      <p:sp>
        <p:nvSpPr>
          <p:cNvPr id="253" name="Col1 Header 253"/>
          <p:cNvSpPr txBox="1"/>
          <p:nvPr/>
        </p:nvSpPr>
        <p:spPr>
          <a:xfrm>
            <a:off x="947468" y="3428642"/>
            <a:ext cx="5212266"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Ce qui la distingue</a:t>
            </a:r>
          </a:p>
        </p:txBody>
      </p:sp>
      <p:sp>
        <p:nvSpPr>
          <p:cNvPr id="254" name="Shape 254"/>
          <p:cNvSpPr/>
          <p:nvPr/>
        </p:nvSpPr>
        <p:spPr>
          <a:xfrm>
            <a:off x="947468" y="3888641"/>
            <a:ext cx="5212266" cy="1970687"/>
          </a:xfrm>
          <a:prstGeom prst="rect">
            <a:avLst/>
          </a:prstGeom>
          <a:solidFill>
            <a:srgbClr val="FCF9EF"/>
          </a:solidFill>
          <a:ln>
            <a:noFill/>
          </a:ln>
        </p:spPr>
        <p:txBody>
          <a:bodyPr rtlCol="0" anchor="ctr"/>
          <a:lstStyle/>
          <a:p>
            <a:pPr algn="ctr"/>
            <a:endParaRPr lang="fr-FR"/>
          </a:p>
        </p:txBody>
      </p:sp>
      <p:sp>
        <p:nvSpPr>
          <p:cNvPr id="255" name="Col1 Body 255"/>
          <p:cNvSpPr txBox="1"/>
          <p:nvPr/>
        </p:nvSpPr>
        <p:spPr>
          <a:xfrm>
            <a:off x="1167468" y="4088642"/>
            <a:ext cx="4772266" cy="1770686"/>
          </a:xfrm>
          <a:prstGeom prst="rect">
            <a:avLst/>
          </a:prstGeom>
          <a:noFill/>
          <a:ln>
            <a:noFill/>
          </a:ln>
        </p:spPr>
        <p:txBody>
          <a:bodyPr wrap="square" lIns="0" tIns="0" rIns="0" bIns="0" rtlCol="0" anchor="t">
            <a:noAutofit/>
          </a:bodyPr>
          <a:lstStyle/>
          <a:p>
            <a:pPr marL="182880" indent="-182880" algn="just">
              <a:spcAft>
                <a:spcPts val="4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Triangle de sécurité : actifs déposés chez un dépositaire bancaire, contrôlés par le commissariat aux assurances luxembourgeois.</a:t>
            </a:r>
          </a:p>
          <a:p>
            <a:pPr marL="182880" indent="-182880" algn="just">
              <a:spcAft>
                <a:spcPts val="4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Le Super privilège : le souscripteur est créancier de premier rang en cas de défaillance de l’assureur, avant même l’État.</a:t>
            </a:r>
          </a:p>
          <a:p>
            <a:pPr marL="182880" indent="-182880" algn="just">
              <a:spcAft>
                <a:spcPts val="4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Architecture ouverte (Titres vifs, Obligations, ETF, OPC, PS, PE) </a:t>
            </a:r>
          </a:p>
          <a:p>
            <a:pPr marL="182880" indent="-182880" algn="just">
              <a:spcAft>
                <a:spcPts val="4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Mobilité internationale : le contrat suit le souscripteur en cas d’expatriation au sein de l’UE.</a:t>
            </a:r>
          </a:p>
          <a:p>
            <a:pPr marL="182880" indent="-182880" algn="just">
              <a:spcAft>
                <a:spcPts val="4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Ce n’est pas un outil d’évasion fiscale. Un résident français conserve exactement la même fiscalité qu’avec </a:t>
            </a:r>
            <a:r>
              <a:rPr lang="fr-FR" sz="900" dirty="0">
                <a:solidFill>
                  <a:srgbClr val="073527"/>
                </a:solidFill>
                <a:latin typeface="Jost Light" pitchFamily="2" charset="77"/>
                <a:ea typeface="Jost Light" pitchFamily="2" charset="77"/>
              </a:rPr>
              <a:t>un contrat français</a:t>
            </a:r>
          </a:p>
          <a:p>
            <a:pPr marL="182880" indent="-182880" algn="just">
              <a:spcAft>
                <a:spcPts val="450"/>
              </a:spcAft>
              <a:buFont typeface="Arial" pitchFamily="34" charset="0"/>
              <a:buChar char="▪"/>
            </a:pPr>
            <a:r>
              <a:rPr lang="fr-FR" sz="900" dirty="0">
                <a:solidFill>
                  <a:srgbClr val="073527"/>
                </a:solidFill>
                <a:latin typeface="Jost Light" pitchFamily="2" charset="77"/>
                <a:ea typeface="Jost Light" pitchFamily="2" charset="77"/>
              </a:rPr>
              <a:t>Votre contrat peut être libellé dans différentes devises, selon vos besoins et vos objectifs.</a:t>
            </a:r>
          </a:p>
        </p:txBody>
      </p:sp>
      <p:sp>
        <p:nvSpPr>
          <p:cNvPr id="901" name="Shape 901"/>
          <p:cNvSpPr/>
          <p:nvPr/>
        </p:nvSpPr>
        <p:spPr>
          <a:xfrm>
            <a:off x="6479733" y="3448190"/>
            <a:ext cx="5212266" cy="1020000"/>
          </a:xfrm>
          <a:prstGeom prst="rect">
            <a:avLst/>
          </a:prstGeom>
          <a:solidFill>
            <a:srgbClr val="001B00"/>
          </a:solidFill>
          <a:ln>
            <a:noFill/>
          </a:ln>
        </p:spPr>
        <p:txBody>
          <a:bodyPr rtlCol="0" anchor="ctr"/>
          <a:lstStyle/>
          <a:p>
            <a:endParaRPr lang="fr-FR"/>
          </a:p>
        </p:txBody>
      </p:sp>
      <p:sp>
        <p:nvSpPr>
          <p:cNvPr id="902" name="Shape 902"/>
          <p:cNvSpPr/>
          <p:nvPr/>
        </p:nvSpPr>
        <p:spPr>
          <a:xfrm>
            <a:off x="6615703" y="3568190"/>
            <a:ext cx="780000" cy="780000"/>
          </a:xfrm>
          <a:prstGeom prst="rect">
            <a:avLst/>
          </a:prstGeom>
          <a:noFill/>
          <a:ln w="12700">
            <a:solidFill>
              <a:srgbClr val="A9853F"/>
            </a:solidFill>
          </a:ln>
        </p:spPr>
        <p:txBody>
          <a:bodyPr rtlCol="0" anchor="ctr"/>
          <a:lstStyle/>
          <a:p>
            <a:endParaRPr lang="fr-FR"/>
          </a:p>
        </p:txBody>
      </p:sp>
      <p:sp>
        <p:nvSpPr>
          <p:cNvPr id="903" name="Text 903"/>
          <p:cNvSpPr txBox="1"/>
          <p:nvPr/>
        </p:nvSpPr>
        <p:spPr>
          <a:xfrm>
            <a:off x="6615703" y="3557173"/>
            <a:ext cx="780000" cy="780000"/>
          </a:xfrm>
          <a:prstGeom prst="rect">
            <a:avLst/>
          </a:prstGeom>
          <a:noFill/>
          <a:ln>
            <a:noFill/>
          </a:ln>
        </p:spPr>
        <p:txBody>
          <a:bodyPr wrap="square" lIns="0" tIns="0" rIns="0" bIns="0" rtlCol="0" anchor="ctr">
            <a:normAutofit/>
          </a:bodyPr>
          <a:lstStyle/>
          <a:p>
            <a:pPr algn="ctr">
              <a:buNone/>
            </a:pPr>
            <a:r>
              <a:rPr lang="fr-FR" sz="2400" b="1" dirty="0">
                <a:solidFill>
                  <a:srgbClr val="A9853F"/>
                </a:solidFill>
                <a:latin typeface="Cormorant Garamond SemiBold" pitchFamily="2" charset="77"/>
                <a:ea typeface="Cormorant Garamond SemiBold" pitchFamily="2" charset="77"/>
                <a:cs typeface="Cormorant Garamond SemiBold" pitchFamily="2" charset="77"/>
              </a:rPr>
              <a:t>FID</a:t>
            </a:r>
          </a:p>
        </p:txBody>
      </p:sp>
      <p:sp>
        <p:nvSpPr>
          <p:cNvPr id="904" name="Text 904"/>
          <p:cNvSpPr txBox="1"/>
          <p:nvPr/>
        </p:nvSpPr>
        <p:spPr>
          <a:xfrm>
            <a:off x="7721025" y="3547661"/>
            <a:ext cx="3892266" cy="780000"/>
          </a:xfrm>
          <a:prstGeom prst="rect">
            <a:avLst/>
          </a:prstGeom>
          <a:noFill/>
          <a:ln>
            <a:noFill/>
          </a:ln>
        </p:spPr>
        <p:txBody>
          <a:bodyPr wrap="square" lIns="0" tIns="0" rIns="0" bIns="0" rtlCol="0" anchor="ctr">
            <a:normAutofit/>
          </a:bodyPr>
          <a:lstStyle/>
          <a:p>
            <a:pPr algn="l">
              <a:spcAft>
                <a:spcPts val="150"/>
              </a:spcAft>
              <a:buNone/>
            </a:pPr>
            <a:r>
              <a:rPr lang="fr-FR" sz="1400" b="1" dirty="0">
                <a:solidFill>
                  <a:srgbClr val="FFFFFF"/>
                </a:solidFill>
                <a:latin typeface="Cormorant Garamond SemiBold" pitchFamily="2" charset="77"/>
                <a:ea typeface="Cormorant Garamond SemiBold" pitchFamily="2" charset="77"/>
                <a:cs typeface="Cormorant Garamond SemiBold" pitchFamily="2" charset="77"/>
              </a:rPr>
              <a:t>Fonds Interne Dédié</a:t>
            </a:r>
          </a:p>
          <a:p>
            <a:pPr algn="l">
              <a:spcAft>
                <a:spcPts val="250"/>
              </a:spcAft>
              <a:buNone/>
            </a:pPr>
            <a:r>
              <a:rPr lang="fr-FR" sz="850" dirty="0">
                <a:solidFill>
                  <a:srgbClr val="A9853F"/>
                </a:solidFill>
                <a:latin typeface="Jost Medium" pitchFamily="2" charset="77"/>
                <a:ea typeface="Jost Medium" pitchFamily="2" charset="77"/>
                <a:cs typeface="Jost Medium" pitchFamily="2" charset="77"/>
              </a:rPr>
              <a:t>GESTION DÉLÉGUÉE</a:t>
            </a:r>
          </a:p>
          <a:p>
            <a:pPr algn="just">
              <a:buNone/>
            </a:pPr>
            <a:r>
              <a:rPr lang="fr-FR" sz="950" dirty="0">
                <a:solidFill>
                  <a:srgbClr val="FFFFFF"/>
                </a:solidFill>
                <a:latin typeface="Jost Light" pitchFamily="2" charset="77"/>
                <a:ea typeface="Jost Light" pitchFamily="2" charset="77"/>
                <a:cs typeface="Jost Light" pitchFamily="2" charset="77"/>
              </a:rPr>
              <a:t>Vos avoirs financiers piloté par une maison de gestion : allocation sur-mesure, en gérance continu par La Financière de Rochechouart.</a:t>
            </a:r>
          </a:p>
        </p:txBody>
      </p:sp>
      <p:sp>
        <p:nvSpPr>
          <p:cNvPr id="905" name="Shape 905"/>
          <p:cNvSpPr/>
          <p:nvPr/>
        </p:nvSpPr>
        <p:spPr>
          <a:xfrm>
            <a:off x="6479733" y="4839328"/>
            <a:ext cx="5212266" cy="1020000"/>
          </a:xfrm>
          <a:prstGeom prst="rect">
            <a:avLst/>
          </a:prstGeom>
          <a:solidFill>
            <a:srgbClr val="001B00"/>
          </a:solidFill>
          <a:ln>
            <a:noFill/>
          </a:ln>
        </p:spPr>
        <p:txBody>
          <a:bodyPr rtlCol="0" anchor="ctr"/>
          <a:lstStyle/>
          <a:p>
            <a:endParaRPr lang="fr-FR"/>
          </a:p>
        </p:txBody>
      </p:sp>
      <p:sp>
        <p:nvSpPr>
          <p:cNvPr id="906" name="Shape 906"/>
          <p:cNvSpPr/>
          <p:nvPr/>
        </p:nvSpPr>
        <p:spPr>
          <a:xfrm>
            <a:off x="6619733" y="4970897"/>
            <a:ext cx="780000" cy="780000"/>
          </a:xfrm>
          <a:prstGeom prst="rect">
            <a:avLst/>
          </a:prstGeom>
          <a:noFill/>
          <a:ln w="12700">
            <a:solidFill>
              <a:srgbClr val="A9853F"/>
            </a:solidFill>
          </a:ln>
        </p:spPr>
        <p:txBody>
          <a:bodyPr rtlCol="0" anchor="ctr"/>
          <a:lstStyle/>
          <a:p>
            <a:endParaRPr lang="fr-FR"/>
          </a:p>
        </p:txBody>
      </p:sp>
      <p:sp>
        <p:nvSpPr>
          <p:cNvPr id="907" name="Text 907"/>
          <p:cNvSpPr txBox="1"/>
          <p:nvPr/>
        </p:nvSpPr>
        <p:spPr>
          <a:xfrm>
            <a:off x="6599733" y="4959328"/>
            <a:ext cx="780000" cy="780000"/>
          </a:xfrm>
          <a:prstGeom prst="rect">
            <a:avLst/>
          </a:prstGeom>
          <a:noFill/>
          <a:ln>
            <a:noFill/>
          </a:ln>
        </p:spPr>
        <p:txBody>
          <a:bodyPr wrap="square" lIns="0" tIns="0" rIns="0" bIns="0" rtlCol="0" anchor="ctr">
            <a:normAutofit/>
          </a:bodyPr>
          <a:lstStyle/>
          <a:p>
            <a:pPr algn="ctr">
              <a:buNone/>
            </a:pPr>
            <a:r>
              <a:rPr lang="fr-FR" sz="2400" b="1" dirty="0">
                <a:solidFill>
                  <a:srgbClr val="A9853F"/>
                </a:solidFill>
                <a:latin typeface="Cormorant Garamond SemiBold" pitchFamily="2" charset="77"/>
                <a:ea typeface="Cormorant Garamond SemiBold" pitchFamily="2" charset="77"/>
                <a:cs typeface="Cormorant Garamond SemiBold" pitchFamily="2" charset="77"/>
              </a:rPr>
              <a:t>FAS</a:t>
            </a:r>
          </a:p>
        </p:txBody>
      </p:sp>
      <p:sp>
        <p:nvSpPr>
          <p:cNvPr id="908" name="Text 908"/>
          <p:cNvSpPr txBox="1"/>
          <p:nvPr/>
        </p:nvSpPr>
        <p:spPr>
          <a:xfrm>
            <a:off x="7599733" y="4959328"/>
            <a:ext cx="3892266" cy="780000"/>
          </a:xfrm>
          <a:prstGeom prst="rect">
            <a:avLst/>
          </a:prstGeom>
          <a:noFill/>
          <a:ln>
            <a:noFill/>
          </a:ln>
        </p:spPr>
        <p:txBody>
          <a:bodyPr wrap="square" lIns="0" tIns="0" rIns="0" bIns="0" rtlCol="0" anchor="ctr">
            <a:normAutofit/>
          </a:bodyPr>
          <a:lstStyle/>
          <a:p>
            <a:pPr algn="l">
              <a:spcAft>
                <a:spcPts val="150"/>
              </a:spcAft>
              <a:buNone/>
            </a:pPr>
            <a:r>
              <a:rPr lang="fr-FR" sz="1400" b="1" dirty="0">
                <a:solidFill>
                  <a:srgbClr val="FFFFFF"/>
                </a:solidFill>
                <a:latin typeface="Cormorant Garamond SemiBold" pitchFamily="2" charset="77"/>
                <a:ea typeface="Cormorant Garamond SemiBold" pitchFamily="2" charset="77"/>
                <a:cs typeface="Cormorant Garamond SemiBold" pitchFamily="2" charset="77"/>
              </a:rPr>
              <a:t>Fonds d’Assurance Spécialisé</a:t>
            </a:r>
          </a:p>
          <a:p>
            <a:pPr algn="l">
              <a:spcAft>
                <a:spcPts val="250"/>
              </a:spcAft>
              <a:buNone/>
            </a:pPr>
            <a:r>
              <a:rPr lang="fr-FR" sz="850" dirty="0">
                <a:solidFill>
                  <a:srgbClr val="A9853F"/>
                </a:solidFill>
                <a:latin typeface="Jost Medium" pitchFamily="2" charset="77"/>
                <a:ea typeface="Jost Medium" pitchFamily="2" charset="77"/>
                <a:cs typeface="Jost Medium" pitchFamily="2" charset="77"/>
              </a:rPr>
              <a:t>GESTION CONJOINTE - LIBRE</a:t>
            </a:r>
          </a:p>
          <a:p>
            <a:pPr algn="just">
              <a:buNone/>
            </a:pPr>
            <a:r>
              <a:rPr lang="fr-FR" sz="950" dirty="0">
                <a:solidFill>
                  <a:srgbClr val="FFFFFF"/>
                </a:solidFill>
                <a:latin typeface="Jost Light" pitchFamily="2" charset="77"/>
                <a:ea typeface="Jost Light" pitchFamily="2" charset="77"/>
                <a:cs typeface="Jost Light" pitchFamily="2" charset="77"/>
              </a:rPr>
              <a:t>Le souscripteur choisit lui-même ses supports : titres vifs, fonds, ETF, multidevises, en collaboration avec son Gérant Privé.</a:t>
            </a:r>
          </a:p>
        </p:txBody>
      </p:sp>
    </p:spTree>
    <p:extLst>
      <p:ext uri="{BB962C8B-B14F-4D97-AF65-F5344CB8AC3E}">
        <p14:creationId xmlns:p14="http://schemas.microsoft.com/office/powerpoint/2010/main" val="308350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20178"/>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Une porte d’entrée simple vers la sécurité luxembourgeoise, en gestion libre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L’assurance vie luxembourgeoise dès 100 </a:t>
            </a:r>
            <a:r>
              <a:rPr lang="fr-FR" sz="2000" b="1" dirty="0">
                <a:solidFill>
                  <a:srgbClr val="A9853F"/>
                </a:solidFill>
                <a:latin typeface="Cormorant Garamond SemiBold" pitchFamily="2" charset="77"/>
                <a:ea typeface="Cormorant Garamond SemiBold" pitchFamily="2" charset="77"/>
                <a:cs typeface="Cormorant Garamond SemiBold" pitchFamily="2" charset="77"/>
              </a:rPr>
              <a:t>000 </a:t>
            </a:r>
            <a:r>
              <a:rPr lang="fr-FR" sz="1600" b="1" dirty="0">
                <a:solidFill>
                  <a:srgbClr val="A9853F"/>
                </a:solidFill>
                <a:latin typeface="Cormorant Garamond SemiBold" pitchFamily="2" charset="77"/>
                <a:ea typeface="Cormorant Garamond SemiBold" pitchFamily="2" charset="77"/>
                <a:cs typeface="Cormorant Garamond SemiBold" pitchFamily="2" charset="77"/>
              </a:rPr>
              <a:t>EUR</a:t>
            </a:r>
            <a:endParaRPr lang="fr-FR" sz="2000" b="1" noProof="0" dirty="0">
              <a:solidFill>
                <a:srgbClr val="A9853F"/>
              </a:solidFill>
              <a:latin typeface="Cormorant Garamond SemiBold" pitchFamily="2" charset="77"/>
              <a:ea typeface="Cormorant Garamond SemiBold" pitchFamily="2" charset="77"/>
              <a:cs typeface="Cormorant Garamond SemiBold" pitchFamily="2" charset="77"/>
            </a:endParaRPr>
          </a:p>
        </p:txBody>
      </p:sp>
      <p:sp>
        <p:nvSpPr>
          <p:cNvPr id="2001" name="Shape 2001"/>
          <p:cNvSpPr/>
          <p:nvPr/>
        </p:nvSpPr>
        <p:spPr>
          <a:xfrm>
            <a:off x="947468" y="2198641"/>
            <a:ext cx="3900000" cy="3226666"/>
          </a:xfrm>
          <a:prstGeom prst="rect">
            <a:avLst/>
          </a:prstGeom>
          <a:solidFill>
            <a:srgbClr val="001A00"/>
          </a:solidFill>
          <a:ln>
            <a:noFill/>
          </a:ln>
        </p:spPr>
        <p:txBody>
          <a:bodyPr rtlCol="0" anchor="ctr"/>
          <a:lstStyle/>
          <a:p>
            <a:endParaRPr lang="fr-FR"/>
          </a:p>
        </p:txBody>
      </p:sp>
      <p:sp>
        <p:nvSpPr>
          <p:cNvPr id="2002" name="Text 2002"/>
          <p:cNvSpPr txBox="1"/>
          <p:nvPr/>
        </p:nvSpPr>
        <p:spPr>
          <a:xfrm>
            <a:off x="1327468" y="2698641"/>
            <a:ext cx="3140000" cy="300000"/>
          </a:xfrm>
          <a:prstGeom prst="rect">
            <a:avLst/>
          </a:prstGeom>
          <a:noFill/>
          <a:ln>
            <a:noFill/>
          </a:ln>
        </p:spPr>
        <p:txBody>
          <a:bodyPr wrap="square" lIns="0" tIns="0" rIns="0" bIns="0" rtlCol="0" anchor="t">
            <a:normAutofit/>
          </a:bodyPr>
          <a:lstStyle/>
          <a:p>
            <a:pPr algn="l">
              <a:buNone/>
            </a:pPr>
            <a:r>
              <a:rPr lang="fr-FR" sz="900" dirty="0">
                <a:solidFill>
                  <a:schemeClr val="bg1"/>
                </a:solidFill>
                <a:latin typeface="Jost Medium" pitchFamily="2" charset="77"/>
                <a:ea typeface="Jost Medium" pitchFamily="2" charset="77"/>
                <a:cs typeface="Jost Medium" pitchFamily="2" charset="77"/>
              </a:rPr>
              <a:t>TICKET D’ENTRÉE au sein de La Financière de Rochechouart.</a:t>
            </a:r>
          </a:p>
        </p:txBody>
      </p:sp>
      <p:sp>
        <p:nvSpPr>
          <p:cNvPr id="2003" name="Text 2003"/>
          <p:cNvSpPr txBox="1"/>
          <p:nvPr/>
        </p:nvSpPr>
        <p:spPr>
          <a:xfrm>
            <a:off x="1327468" y="3048641"/>
            <a:ext cx="3140000" cy="1000000"/>
          </a:xfrm>
          <a:prstGeom prst="rect">
            <a:avLst/>
          </a:prstGeom>
          <a:noFill/>
          <a:ln>
            <a:noFill/>
          </a:ln>
        </p:spPr>
        <p:txBody>
          <a:bodyPr wrap="square" lIns="0" tIns="0" rIns="0" bIns="0" rtlCol="0" anchor="ctr">
            <a:normAutofit/>
          </a:bodyPr>
          <a:lstStyle/>
          <a:p>
            <a:pPr algn="l">
              <a:buNone/>
            </a:pPr>
            <a:r>
              <a:rPr lang="fr-FR" sz="4800" b="1" dirty="0">
                <a:solidFill>
                  <a:srgbClr val="FFFFFF"/>
                </a:solidFill>
                <a:latin typeface="Cormorant Garamond SemiBold" pitchFamily="2" charset="77"/>
                <a:ea typeface="Cormorant Garamond SemiBold" pitchFamily="2" charset="77"/>
                <a:cs typeface="Cormorant Garamond SemiBold" pitchFamily="2" charset="77"/>
              </a:rPr>
              <a:t>100 000 </a:t>
            </a:r>
            <a:r>
              <a:rPr lang="fr-FR" sz="3200" b="1" dirty="0">
                <a:solidFill>
                  <a:srgbClr val="FFFFFF"/>
                </a:solidFill>
                <a:latin typeface="Cormorant Garamond SemiBold" pitchFamily="2" charset="77"/>
                <a:ea typeface="Cormorant Garamond SemiBold" pitchFamily="2" charset="77"/>
                <a:cs typeface="Cormorant Garamond SemiBold" pitchFamily="2" charset="77"/>
              </a:rPr>
              <a:t>EUR</a:t>
            </a:r>
            <a:endParaRPr lang="fr-FR" sz="4800" b="1" dirty="0">
              <a:solidFill>
                <a:srgbClr val="FFFFFF"/>
              </a:solidFill>
              <a:latin typeface="Cormorant Garamond SemiBold" pitchFamily="2" charset="77"/>
              <a:ea typeface="Cormorant Garamond SemiBold" pitchFamily="2" charset="77"/>
              <a:cs typeface="Cormorant Garamond SemiBold" pitchFamily="2" charset="77"/>
            </a:endParaRPr>
          </a:p>
        </p:txBody>
      </p:sp>
      <p:sp>
        <p:nvSpPr>
          <p:cNvPr id="2004" name="Shape 2004"/>
          <p:cNvSpPr/>
          <p:nvPr/>
        </p:nvSpPr>
        <p:spPr>
          <a:xfrm>
            <a:off x="1327468" y="4198641"/>
            <a:ext cx="700000" cy="1"/>
          </a:xfrm>
          <a:prstGeom prst="line">
            <a:avLst/>
          </a:prstGeom>
          <a:noFill/>
          <a:ln w="12700">
            <a:solidFill>
              <a:srgbClr val="A9853F"/>
            </a:solidFill>
          </a:ln>
        </p:spPr>
        <p:txBody>
          <a:bodyPr rtlCol="0" anchor="ctr"/>
          <a:lstStyle/>
          <a:p>
            <a:endParaRPr lang="fr-FR"/>
          </a:p>
        </p:txBody>
      </p:sp>
      <p:sp>
        <p:nvSpPr>
          <p:cNvPr id="2005" name="Text 2005"/>
          <p:cNvSpPr txBox="1"/>
          <p:nvPr/>
        </p:nvSpPr>
        <p:spPr>
          <a:xfrm>
            <a:off x="1267469" y="4518640"/>
            <a:ext cx="3520000" cy="1000000"/>
          </a:xfrm>
          <a:prstGeom prst="rect">
            <a:avLst/>
          </a:prstGeom>
          <a:noFill/>
          <a:ln>
            <a:noFill/>
          </a:ln>
        </p:spPr>
        <p:txBody>
          <a:bodyPr wrap="square" lIns="0" tIns="0" rIns="0" bIns="0" rtlCol="0" anchor="t">
            <a:normAutofit/>
          </a:bodyPr>
          <a:lstStyle/>
          <a:p>
            <a:pPr algn="l">
              <a:buNone/>
            </a:pPr>
            <a:r>
              <a:rPr lang="fr-FR" sz="1100" dirty="0">
                <a:solidFill>
                  <a:srgbClr val="FFFFFF"/>
                </a:solidFill>
                <a:latin typeface="Jost Light" pitchFamily="2" charset="77"/>
                <a:ea typeface="Jost Light" pitchFamily="2" charset="77"/>
                <a:cs typeface="Jost Light" pitchFamily="2" charset="77"/>
              </a:rPr>
              <a:t>Un contrat luxembourgeois accessible, en gestion déléguée ou conjointe.</a:t>
            </a:r>
          </a:p>
        </p:txBody>
      </p:sp>
      <p:sp>
        <p:nvSpPr>
          <p:cNvPr id="2012" name="Shape 2012"/>
          <p:cNvSpPr/>
          <p:nvPr/>
        </p:nvSpPr>
        <p:spPr>
          <a:xfrm>
            <a:off x="5147468" y="1780000"/>
            <a:ext cx="6544532" cy="1413333"/>
          </a:xfrm>
          <a:prstGeom prst="rect">
            <a:avLst/>
          </a:prstGeom>
          <a:solidFill>
            <a:srgbClr val="FCF9EF"/>
          </a:solidFill>
          <a:ln>
            <a:noFill/>
          </a:ln>
        </p:spPr>
        <p:txBody>
          <a:bodyPr rtlCol="0" anchor="ctr"/>
          <a:lstStyle/>
          <a:p>
            <a:endParaRPr lang="fr-FR"/>
          </a:p>
        </p:txBody>
      </p:sp>
      <p:sp>
        <p:nvSpPr>
          <p:cNvPr id="2013" name="Text 2013"/>
          <p:cNvSpPr txBox="1"/>
          <p:nvPr/>
        </p:nvSpPr>
        <p:spPr>
          <a:xfrm>
            <a:off x="5447468" y="1780000"/>
            <a:ext cx="900000" cy="1413333"/>
          </a:xfrm>
          <a:prstGeom prst="rect">
            <a:avLst/>
          </a:prstGeom>
          <a:noFill/>
          <a:ln>
            <a:noFill/>
          </a:ln>
        </p:spPr>
        <p:txBody>
          <a:bodyPr wrap="square" lIns="0" tIns="0" rIns="0" bIns="0" rtlCol="0" anchor="ctr">
            <a:normAutofit/>
          </a:bodyPr>
          <a:lstStyle/>
          <a:p>
            <a:pPr algn="l">
              <a:buNone/>
            </a:pPr>
            <a:r>
              <a:rPr lang="fr-FR" sz="3200" b="1" dirty="0">
                <a:solidFill>
                  <a:srgbClr val="A9853F"/>
                </a:solidFill>
                <a:latin typeface="Cormorant Garamond SemiBold" pitchFamily="2" charset="77"/>
                <a:ea typeface="Cormorant Garamond SemiBold" pitchFamily="2" charset="77"/>
                <a:cs typeface="Cormorant Garamond SemiBold" pitchFamily="2" charset="77"/>
              </a:rPr>
              <a:t>01</a:t>
            </a:r>
          </a:p>
        </p:txBody>
      </p:sp>
      <p:sp>
        <p:nvSpPr>
          <p:cNvPr id="2014" name="Shape 2014"/>
          <p:cNvSpPr/>
          <p:nvPr/>
        </p:nvSpPr>
        <p:spPr>
          <a:xfrm>
            <a:off x="6397468" y="2030000"/>
            <a:ext cx="1" cy="913333"/>
          </a:xfrm>
          <a:prstGeom prst="line">
            <a:avLst/>
          </a:prstGeom>
          <a:noFill/>
          <a:ln w="9525">
            <a:solidFill>
              <a:srgbClr val="A9853F"/>
            </a:solidFill>
          </a:ln>
        </p:spPr>
        <p:txBody>
          <a:bodyPr rtlCol="0" anchor="ctr"/>
          <a:lstStyle/>
          <a:p>
            <a:endParaRPr lang="fr-FR"/>
          </a:p>
        </p:txBody>
      </p:sp>
      <p:sp>
        <p:nvSpPr>
          <p:cNvPr id="2015" name="Text 2015"/>
          <p:cNvSpPr txBox="1"/>
          <p:nvPr/>
        </p:nvSpPr>
        <p:spPr>
          <a:xfrm>
            <a:off x="6625433" y="1780000"/>
            <a:ext cx="5044531" cy="1413333"/>
          </a:xfrm>
          <a:prstGeom prst="rect">
            <a:avLst/>
          </a:prstGeom>
          <a:noFill/>
          <a:ln>
            <a:noFill/>
          </a:ln>
        </p:spPr>
        <p:txBody>
          <a:bodyPr wrap="square" lIns="0" tIns="0" rIns="0" bIns="0" rtlCol="0" anchor="ctr">
            <a:normAutofit/>
          </a:bodyPr>
          <a:lstStyle/>
          <a:p>
            <a:pPr algn="l">
              <a:spcAft>
                <a:spcPts val="300"/>
              </a:spcAft>
              <a:buNone/>
            </a:pPr>
            <a:r>
              <a:rPr lang="fr-FR" sz="1200" dirty="0">
                <a:solidFill>
                  <a:srgbClr val="073527"/>
                </a:solidFill>
                <a:latin typeface="Jost Medium" pitchFamily="2" charset="77"/>
                <a:ea typeface="Jost Medium" pitchFamily="2" charset="77"/>
                <a:cs typeface="Jost Medium" pitchFamily="2" charset="77"/>
              </a:rPr>
              <a:t>Une gestion déléguée ou conjointe</a:t>
            </a:r>
          </a:p>
          <a:p>
            <a:pPr algn="just"/>
            <a:r>
              <a:rPr lang="fr-FR" sz="1100" dirty="0">
                <a:solidFill>
                  <a:srgbClr val="073527"/>
                </a:solidFill>
                <a:latin typeface="Jost Light" pitchFamily="2" charset="77"/>
                <a:ea typeface="Jost Light" pitchFamily="2" charset="77"/>
              </a:rPr>
              <a:t>Vous pouvez déléguer la gestion de votre contrat pour ne pas avoir à vous en occuper, ou sélectionner et arbitrer vos supports, avec l’accompagnement de votre conseiller et sous condition des supports disponibles.</a:t>
            </a:r>
          </a:p>
        </p:txBody>
      </p:sp>
      <p:sp>
        <p:nvSpPr>
          <p:cNvPr id="2016" name="Shape 2016"/>
          <p:cNvSpPr/>
          <p:nvPr/>
        </p:nvSpPr>
        <p:spPr>
          <a:xfrm>
            <a:off x="5147468" y="3393333"/>
            <a:ext cx="6544532" cy="1413333"/>
          </a:xfrm>
          <a:prstGeom prst="rect">
            <a:avLst/>
          </a:prstGeom>
          <a:solidFill>
            <a:srgbClr val="FCF9EF"/>
          </a:solidFill>
          <a:ln>
            <a:noFill/>
          </a:ln>
        </p:spPr>
        <p:txBody>
          <a:bodyPr rtlCol="0" anchor="ctr"/>
          <a:lstStyle/>
          <a:p>
            <a:endParaRPr lang="fr-FR"/>
          </a:p>
        </p:txBody>
      </p:sp>
      <p:sp>
        <p:nvSpPr>
          <p:cNvPr id="2017" name="Text 2017"/>
          <p:cNvSpPr txBox="1"/>
          <p:nvPr/>
        </p:nvSpPr>
        <p:spPr>
          <a:xfrm>
            <a:off x="5447468" y="3393333"/>
            <a:ext cx="900000" cy="1413333"/>
          </a:xfrm>
          <a:prstGeom prst="rect">
            <a:avLst/>
          </a:prstGeom>
          <a:noFill/>
          <a:ln>
            <a:noFill/>
          </a:ln>
        </p:spPr>
        <p:txBody>
          <a:bodyPr wrap="square" lIns="0" tIns="0" rIns="0" bIns="0" rtlCol="0" anchor="ctr">
            <a:normAutofit/>
          </a:bodyPr>
          <a:lstStyle/>
          <a:p>
            <a:pPr algn="l">
              <a:buNone/>
            </a:pPr>
            <a:r>
              <a:rPr lang="fr-FR" sz="3200" b="1" dirty="0">
                <a:solidFill>
                  <a:srgbClr val="A9853F"/>
                </a:solidFill>
                <a:latin typeface="Cormorant Garamond SemiBold" pitchFamily="2" charset="77"/>
                <a:ea typeface="Cormorant Garamond SemiBold" pitchFamily="2" charset="77"/>
                <a:cs typeface="Cormorant Garamond SemiBold" pitchFamily="2" charset="77"/>
              </a:rPr>
              <a:t>02</a:t>
            </a:r>
          </a:p>
        </p:txBody>
      </p:sp>
      <p:sp>
        <p:nvSpPr>
          <p:cNvPr id="2018" name="Shape 2018"/>
          <p:cNvSpPr/>
          <p:nvPr/>
        </p:nvSpPr>
        <p:spPr>
          <a:xfrm>
            <a:off x="6397468" y="3643333"/>
            <a:ext cx="1" cy="913333"/>
          </a:xfrm>
          <a:prstGeom prst="line">
            <a:avLst/>
          </a:prstGeom>
          <a:noFill/>
          <a:ln w="9525">
            <a:solidFill>
              <a:srgbClr val="A9853F"/>
            </a:solidFill>
          </a:ln>
        </p:spPr>
        <p:txBody>
          <a:bodyPr rtlCol="0" anchor="ctr"/>
          <a:lstStyle/>
          <a:p>
            <a:endParaRPr lang="fr-FR"/>
          </a:p>
        </p:txBody>
      </p:sp>
      <p:sp>
        <p:nvSpPr>
          <p:cNvPr id="2019" name="Text 2019"/>
          <p:cNvSpPr txBox="1"/>
          <p:nvPr/>
        </p:nvSpPr>
        <p:spPr>
          <a:xfrm>
            <a:off x="6625433" y="3393333"/>
            <a:ext cx="5044525" cy="1413333"/>
          </a:xfrm>
          <a:prstGeom prst="rect">
            <a:avLst/>
          </a:prstGeom>
          <a:noFill/>
          <a:ln>
            <a:noFill/>
          </a:ln>
        </p:spPr>
        <p:txBody>
          <a:bodyPr wrap="square" lIns="0" tIns="0" rIns="0" bIns="0" rtlCol="0" anchor="ctr">
            <a:normAutofit/>
          </a:bodyPr>
          <a:lstStyle/>
          <a:p>
            <a:pPr lvl="0">
              <a:spcAft>
                <a:spcPts val="300"/>
              </a:spcAft>
            </a:pPr>
            <a:r>
              <a:rPr lang="fr-FR" sz="1200" dirty="0">
                <a:solidFill>
                  <a:srgbClr val="073527"/>
                </a:solidFill>
                <a:latin typeface="Jost Medium" pitchFamily="2" charset="77"/>
                <a:ea typeface="Jost Medium" pitchFamily="2" charset="77"/>
              </a:rPr>
              <a:t>Ouvrez-vous aux opportunités du contrat Luxembourgeois</a:t>
            </a:r>
          </a:p>
          <a:p>
            <a:pPr algn="just"/>
            <a:r>
              <a:rPr lang="fr-FR" sz="1100" dirty="0">
                <a:solidFill>
                  <a:srgbClr val="073527"/>
                </a:solidFill>
                <a:latin typeface="Jost Light" pitchFamily="2" charset="77"/>
                <a:ea typeface="Jost Light" pitchFamily="2" charset="77"/>
              </a:rPr>
              <a:t>Une enveloppe en architecture ouverte, régulièrement enrichie de nouveaux supports et solutions, pour vous permettre de faire évoluer votre stratégie au fil du temps. Elle s’adapte à vos objectifs, à votre situation et aux opportunités de demain, pour vous accompagner durablement tout au long de votre vie.</a:t>
            </a:r>
          </a:p>
        </p:txBody>
      </p:sp>
      <p:sp>
        <p:nvSpPr>
          <p:cNvPr id="2020" name="Shape 2020"/>
          <p:cNvSpPr/>
          <p:nvPr/>
        </p:nvSpPr>
        <p:spPr>
          <a:xfrm>
            <a:off x="5147468" y="5006666"/>
            <a:ext cx="6544532" cy="1413333"/>
          </a:xfrm>
          <a:prstGeom prst="rect">
            <a:avLst/>
          </a:prstGeom>
          <a:solidFill>
            <a:srgbClr val="FCF9EF"/>
          </a:solidFill>
          <a:ln>
            <a:noFill/>
          </a:ln>
        </p:spPr>
        <p:txBody>
          <a:bodyPr rtlCol="0" anchor="ctr"/>
          <a:lstStyle/>
          <a:p>
            <a:endParaRPr lang="fr-FR"/>
          </a:p>
        </p:txBody>
      </p:sp>
      <p:sp>
        <p:nvSpPr>
          <p:cNvPr id="2021" name="Text 2021"/>
          <p:cNvSpPr txBox="1"/>
          <p:nvPr/>
        </p:nvSpPr>
        <p:spPr>
          <a:xfrm>
            <a:off x="5447468" y="5006666"/>
            <a:ext cx="900000" cy="1413333"/>
          </a:xfrm>
          <a:prstGeom prst="rect">
            <a:avLst/>
          </a:prstGeom>
          <a:noFill/>
          <a:ln>
            <a:noFill/>
          </a:ln>
        </p:spPr>
        <p:txBody>
          <a:bodyPr wrap="square" lIns="0" tIns="0" rIns="0" bIns="0" rtlCol="0" anchor="ctr">
            <a:normAutofit/>
          </a:bodyPr>
          <a:lstStyle/>
          <a:p>
            <a:pPr algn="l">
              <a:buNone/>
            </a:pPr>
            <a:r>
              <a:rPr lang="fr-FR" sz="3200" b="1" dirty="0">
                <a:solidFill>
                  <a:srgbClr val="A9853F"/>
                </a:solidFill>
                <a:latin typeface="Cormorant Garamond SemiBold" pitchFamily="2" charset="77"/>
                <a:ea typeface="Cormorant Garamond SemiBold" pitchFamily="2" charset="77"/>
                <a:cs typeface="Cormorant Garamond SemiBold" pitchFamily="2" charset="77"/>
              </a:rPr>
              <a:t>03</a:t>
            </a:r>
          </a:p>
        </p:txBody>
      </p:sp>
      <p:sp>
        <p:nvSpPr>
          <p:cNvPr id="2022" name="Shape 2022"/>
          <p:cNvSpPr/>
          <p:nvPr/>
        </p:nvSpPr>
        <p:spPr>
          <a:xfrm>
            <a:off x="6397468" y="5256666"/>
            <a:ext cx="1" cy="913333"/>
          </a:xfrm>
          <a:prstGeom prst="line">
            <a:avLst/>
          </a:prstGeom>
          <a:noFill/>
          <a:ln w="9525">
            <a:solidFill>
              <a:srgbClr val="A9853F"/>
            </a:solidFill>
          </a:ln>
        </p:spPr>
        <p:txBody>
          <a:bodyPr rtlCol="0" anchor="ctr"/>
          <a:lstStyle/>
          <a:p>
            <a:endParaRPr lang="fr-FR"/>
          </a:p>
        </p:txBody>
      </p:sp>
      <p:sp>
        <p:nvSpPr>
          <p:cNvPr id="2023" name="Text 2023"/>
          <p:cNvSpPr txBox="1"/>
          <p:nvPr/>
        </p:nvSpPr>
        <p:spPr>
          <a:xfrm>
            <a:off x="6625433" y="5006666"/>
            <a:ext cx="5044523" cy="1413333"/>
          </a:xfrm>
          <a:prstGeom prst="rect">
            <a:avLst/>
          </a:prstGeom>
          <a:noFill/>
          <a:ln>
            <a:noFill/>
          </a:ln>
        </p:spPr>
        <p:txBody>
          <a:bodyPr wrap="square" lIns="0" tIns="0" rIns="0" bIns="0" rtlCol="0" anchor="ctr">
            <a:normAutofit/>
          </a:bodyPr>
          <a:lstStyle/>
          <a:p>
            <a:pPr algn="l">
              <a:spcAft>
                <a:spcPts val="300"/>
              </a:spcAft>
              <a:buNone/>
            </a:pPr>
            <a:r>
              <a:rPr lang="fr-FR" sz="1200" dirty="0">
                <a:solidFill>
                  <a:srgbClr val="073527"/>
                </a:solidFill>
                <a:latin typeface="Jost Medium" pitchFamily="2" charset="77"/>
                <a:ea typeface="Jost Medium" pitchFamily="2" charset="77"/>
                <a:cs typeface="Jost Medium" pitchFamily="2" charset="77"/>
              </a:rPr>
              <a:t>La sécurité luxembourgeoise</a:t>
            </a:r>
          </a:p>
          <a:p>
            <a:pPr algn="just"/>
            <a:r>
              <a:rPr lang="fr-FR" sz="1100" dirty="0">
                <a:solidFill>
                  <a:srgbClr val="073527"/>
                </a:solidFill>
                <a:latin typeface="Jost Light" pitchFamily="2" charset="77"/>
                <a:ea typeface="Jost Light" pitchFamily="2" charset="77"/>
              </a:rPr>
              <a:t>Le triangle de sécurité et le super privilège vous sont accessibles : des dispositifs conçus pour apporter davantage de sécurité et de souplesse à votre épargne.</a:t>
            </a:r>
          </a:p>
        </p:txBody>
      </p:sp>
    </p:spTree>
    <p:extLst>
      <p:ext uri="{BB962C8B-B14F-4D97-AF65-F5344CB8AC3E}">
        <p14:creationId xmlns:p14="http://schemas.microsoft.com/office/powerpoint/2010/main" val="4199614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3">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Une protection réglementaire unique en Europe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Le triangle de sécurité luxembourgeois</a:t>
            </a:r>
          </a:p>
        </p:txBody>
      </p:sp>
      <p:sp>
        <p:nvSpPr>
          <p:cNvPr id="922" name="Shape 922"/>
          <p:cNvSpPr/>
          <p:nvPr/>
        </p:nvSpPr>
        <p:spPr>
          <a:xfrm flipH="1">
            <a:off x="2964353" y="2806032"/>
            <a:ext cx="1006880" cy="1743968"/>
          </a:xfrm>
          <a:prstGeom prst="line">
            <a:avLst/>
          </a:prstGeom>
          <a:noFill/>
          <a:ln w="22225">
            <a:solidFill>
              <a:srgbClr val="A9853F"/>
            </a:solidFill>
          </a:ln>
        </p:spPr>
        <p:txBody>
          <a:bodyPr rtlCol="0" anchor="ctr"/>
          <a:lstStyle/>
          <a:p>
            <a:endParaRPr lang="fr-FR"/>
          </a:p>
        </p:txBody>
      </p:sp>
      <p:sp>
        <p:nvSpPr>
          <p:cNvPr id="923" name="Shape 923"/>
          <p:cNvSpPr/>
          <p:nvPr/>
        </p:nvSpPr>
        <p:spPr>
          <a:xfrm>
            <a:off x="3971234" y="2806032"/>
            <a:ext cx="1006880" cy="1743968"/>
          </a:xfrm>
          <a:prstGeom prst="line">
            <a:avLst/>
          </a:prstGeom>
          <a:noFill/>
          <a:ln w="22225">
            <a:solidFill>
              <a:srgbClr val="A9853F"/>
            </a:solidFill>
          </a:ln>
        </p:spPr>
        <p:txBody>
          <a:bodyPr rtlCol="0" anchor="ctr"/>
          <a:lstStyle/>
          <a:p>
            <a:endParaRPr lang="fr-FR"/>
          </a:p>
        </p:txBody>
      </p:sp>
      <p:sp>
        <p:nvSpPr>
          <p:cNvPr id="924" name="Shape 924"/>
          <p:cNvSpPr/>
          <p:nvPr/>
        </p:nvSpPr>
        <p:spPr>
          <a:xfrm>
            <a:off x="2964353" y="4550000"/>
            <a:ext cx="2013760" cy="1"/>
          </a:xfrm>
          <a:prstGeom prst="line">
            <a:avLst/>
          </a:prstGeom>
          <a:noFill/>
          <a:ln w="22225">
            <a:solidFill>
              <a:srgbClr val="A9853F"/>
            </a:solidFill>
          </a:ln>
        </p:spPr>
        <p:txBody>
          <a:bodyPr rtlCol="0" anchor="ctr"/>
          <a:lstStyle/>
          <a:p>
            <a:endParaRPr lang="fr-FR"/>
          </a:p>
        </p:txBody>
      </p:sp>
      <p:sp>
        <p:nvSpPr>
          <p:cNvPr id="925" name="Shape 925"/>
          <p:cNvSpPr/>
          <p:nvPr/>
        </p:nvSpPr>
        <p:spPr>
          <a:xfrm>
            <a:off x="2964353" y="4550000"/>
            <a:ext cx="1006880" cy="706032"/>
          </a:xfrm>
          <a:prstGeom prst="line">
            <a:avLst/>
          </a:prstGeom>
          <a:noFill/>
          <a:ln w="12700">
            <a:solidFill>
              <a:srgbClr val="A9853F"/>
            </a:solidFill>
          </a:ln>
        </p:spPr>
        <p:txBody>
          <a:bodyPr rtlCol="0" anchor="ctr"/>
          <a:lstStyle/>
          <a:p>
            <a:endParaRPr lang="fr-FR"/>
          </a:p>
        </p:txBody>
      </p:sp>
      <p:sp>
        <p:nvSpPr>
          <p:cNvPr id="926" name="Shape 926"/>
          <p:cNvSpPr/>
          <p:nvPr/>
        </p:nvSpPr>
        <p:spPr>
          <a:xfrm flipH="1">
            <a:off x="3971234" y="4550000"/>
            <a:ext cx="1006880" cy="706032"/>
          </a:xfrm>
          <a:prstGeom prst="line">
            <a:avLst/>
          </a:prstGeom>
          <a:noFill/>
          <a:ln w="12700">
            <a:solidFill>
              <a:srgbClr val="A9853F"/>
            </a:solidFill>
          </a:ln>
        </p:spPr>
        <p:txBody>
          <a:bodyPr rtlCol="0" anchor="ctr"/>
          <a:lstStyle/>
          <a:p>
            <a:endParaRPr lang="fr-FR"/>
          </a:p>
        </p:txBody>
      </p:sp>
      <p:sp>
        <p:nvSpPr>
          <p:cNvPr id="927" name="Shape 927"/>
          <p:cNvSpPr/>
          <p:nvPr/>
        </p:nvSpPr>
        <p:spPr>
          <a:xfrm>
            <a:off x="3715202" y="2550000"/>
            <a:ext cx="512064" cy="512064"/>
          </a:xfrm>
          <a:prstGeom prst="ellipse">
            <a:avLst/>
          </a:prstGeom>
          <a:solidFill>
            <a:srgbClr val="001B00"/>
          </a:solidFill>
          <a:ln w="12700">
            <a:solidFill>
              <a:srgbClr val="A9853F"/>
            </a:solidFill>
          </a:ln>
        </p:spPr>
        <p:txBody>
          <a:bodyPr rtlCol="0" anchor="ctr"/>
          <a:lstStyle/>
          <a:p>
            <a:endParaRPr lang="fr-FR"/>
          </a:p>
        </p:txBody>
      </p:sp>
      <p:sp>
        <p:nvSpPr>
          <p:cNvPr id="928" name="Text 928"/>
          <p:cNvSpPr txBox="1"/>
          <p:nvPr/>
        </p:nvSpPr>
        <p:spPr>
          <a:xfrm>
            <a:off x="3715202" y="2550000"/>
            <a:ext cx="512064" cy="512064"/>
          </a:xfrm>
          <a:prstGeom prst="rect">
            <a:avLst/>
          </a:prstGeom>
          <a:noFill/>
          <a:ln>
            <a:noFill/>
          </a:ln>
        </p:spPr>
        <p:txBody>
          <a:bodyPr wrap="square" lIns="0" tIns="0" rIns="0" bIns="0" rtlCol="0" anchor="ctr">
            <a:normAutofit/>
          </a:bodyPr>
          <a:lstStyle/>
          <a:p>
            <a:pPr algn="ctr">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1</a:t>
            </a:r>
          </a:p>
        </p:txBody>
      </p:sp>
      <p:sp>
        <p:nvSpPr>
          <p:cNvPr id="929" name="Shape 929"/>
          <p:cNvSpPr/>
          <p:nvPr/>
        </p:nvSpPr>
        <p:spPr>
          <a:xfrm>
            <a:off x="2708321" y="4293968"/>
            <a:ext cx="512064" cy="512064"/>
          </a:xfrm>
          <a:prstGeom prst="ellipse">
            <a:avLst/>
          </a:prstGeom>
          <a:solidFill>
            <a:srgbClr val="001B00"/>
          </a:solidFill>
          <a:ln w="12700">
            <a:solidFill>
              <a:srgbClr val="A9853F"/>
            </a:solidFill>
          </a:ln>
        </p:spPr>
        <p:txBody>
          <a:bodyPr rtlCol="0" anchor="ctr"/>
          <a:lstStyle/>
          <a:p>
            <a:endParaRPr lang="fr-FR"/>
          </a:p>
        </p:txBody>
      </p:sp>
      <p:sp>
        <p:nvSpPr>
          <p:cNvPr id="930" name="Text 930"/>
          <p:cNvSpPr txBox="1"/>
          <p:nvPr/>
        </p:nvSpPr>
        <p:spPr>
          <a:xfrm>
            <a:off x="2708321" y="4293968"/>
            <a:ext cx="512064" cy="512064"/>
          </a:xfrm>
          <a:prstGeom prst="rect">
            <a:avLst/>
          </a:prstGeom>
          <a:noFill/>
          <a:ln>
            <a:noFill/>
          </a:ln>
        </p:spPr>
        <p:txBody>
          <a:bodyPr wrap="square" lIns="0" tIns="0" rIns="0" bIns="0" rtlCol="0" anchor="ctr">
            <a:normAutofit/>
          </a:bodyPr>
          <a:lstStyle/>
          <a:p>
            <a:pPr algn="ctr">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2</a:t>
            </a:r>
          </a:p>
        </p:txBody>
      </p:sp>
      <p:sp>
        <p:nvSpPr>
          <p:cNvPr id="931" name="Shape 931"/>
          <p:cNvSpPr/>
          <p:nvPr/>
        </p:nvSpPr>
        <p:spPr>
          <a:xfrm>
            <a:off x="4722082" y="4293968"/>
            <a:ext cx="512064" cy="512064"/>
          </a:xfrm>
          <a:prstGeom prst="ellipse">
            <a:avLst/>
          </a:prstGeom>
          <a:solidFill>
            <a:srgbClr val="001B00"/>
          </a:solidFill>
          <a:ln w="12700">
            <a:solidFill>
              <a:srgbClr val="A9853F"/>
            </a:solidFill>
          </a:ln>
        </p:spPr>
        <p:txBody>
          <a:bodyPr rtlCol="0" anchor="ctr"/>
          <a:lstStyle/>
          <a:p>
            <a:endParaRPr lang="fr-FR"/>
          </a:p>
        </p:txBody>
      </p:sp>
      <p:sp>
        <p:nvSpPr>
          <p:cNvPr id="932" name="Text 932"/>
          <p:cNvSpPr txBox="1"/>
          <p:nvPr/>
        </p:nvSpPr>
        <p:spPr>
          <a:xfrm>
            <a:off x="4722082" y="4293968"/>
            <a:ext cx="512064" cy="512064"/>
          </a:xfrm>
          <a:prstGeom prst="rect">
            <a:avLst/>
          </a:prstGeom>
          <a:noFill/>
          <a:ln>
            <a:noFill/>
          </a:ln>
        </p:spPr>
        <p:txBody>
          <a:bodyPr wrap="square" lIns="0" tIns="0" rIns="0" bIns="0" rtlCol="0" anchor="ctr">
            <a:normAutofit/>
          </a:bodyPr>
          <a:lstStyle/>
          <a:p>
            <a:pPr algn="ctr">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3</a:t>
            </a:r>
          </a:p>
        </p:txBody>
      </p:sp>
      <p:sp>
        <p:nvSpPr>
          <p:cNvPr id="933" name="Shape 933"/>
          <p:cNvSpPr/>
          <p:nvPr/>
        </p:nvSpPr>
        <p:spPr>
          <a:xfrm>
            <a:off x="3715202" y="5000000"/>
            <a:ext cx="512064" cy="512064"/>
          </a:xfrm>
          <a:prstGeom prst="ellipse">
            <a:avLst/>
          </a:prstGeom>
          <a:solidFill>
            <a:srgbClr val="001B00"/>
          </a:solidFill>
          <a:ln w="12700">
            <a:solidFill>
              <a:srgbClr val="A9853F"/>
            </a:solidFill>
          </a:ln>
        </p:spPr>
        <p:txBody>
          <a:bodyPr rtlCol="0" anchor="ctr"/>
          <a:lstStyle/>
          <a:p>
            <a:endParaRPr lang="fr-FR"/>
          </a:p>
        </p:txBody>
      </p:sp>
      <p:sp>
        <p:nvSpPr>
          <p:cNvPr id="934" name="Text 934"/>
          <p:cNvSpPr txBox="1"/>
          <p:nvPr/>
        </p:nvSpPr>
        <p:spPr>
          <a:xfrm>
            <a:off x="3715202" y="5000000"/>
            <a:ext cx="512064" cy="512064"/>
          </a:xfrm>
          <a:prstGeom prst="rect">
            <a:avLst/>
          </a:prstGeom>
          <a:noFill/>
          <a:ln>
            <a:noFill/>
          </a:ln>
        </p:spPr>
        <p:txBody>
          <a:bodyPr wrap="square" lIns="0" tIns="0" rIns="0" bIns="0" rtlCol="0" anchor="ctr">
            <a:normAutofit/>
          </a:bodyPr>
          <a:lstStyle/>
          <a:p>
            <a:pPr algn="ctr">
              <a:buNone/>
            </a:pPr>
            <a:r>
              <a:rPr lang="fr-FR" sz="1000" b="1" dirty="0">
                <a:solidFill>
                  <a:srgbClr val="FFFFFF"/>
                </a:solidFill>
                <a:latin typeface="Cormorant Garamond SemiBold" pitchFamily="2" charset="77"/>
                <a:ea typeface="Cormorant Garamond SemiBold" pitchFamily="2" charset="77"/>
                <a:cs typeface="Cormorant Garamond SemiBold" pitchFamily="2" charset="77"/>
              </a:rPr>
              <a:t>Vous</a:t>
            </a:r>
          </a:p>
        </p:txBody>
      </p:sp>
      <p:sp>
        <p:nvSpPr>
          <p:cNvPr id="935" name="Text 935"/>
          <p:cNvSpPr txBox="1"/>
          <p:nvPr/>
        </p:nvSpPr>
        <p:spPr>
          <a:xfrm>
            <a:off x="3071234" y="3657292"/>
            <a:ext cx="1800000" cy="460000"/>
          </a:xfrm>
          <a:prstGeom prst="rect">
            <a:avLst/>
          </a:prstGeom>
          <a:noFill/>
          <a:ln>
            <a:noFill/>
          </a:ln>
        </p:spPr>
        <p:txBody>
          <a:bodyPr wrap="square" lIns="0" tIns="0" rIns="0" bIns="0" rtlCol="0" anchor="ctr">
            <a:normAutofit/>
          </a:bodyPr>
          <a:lstStyle/>
          <a:p>
            <a:pPr algn="ctr">
              <a:buNone/>
            </a:pPr>
            <a:r>
              <a:rPr lang="fr-FR" sz="1300" b="1" i="1" dirty="0">
                <a:solidFill>
                  <a:srgbClr val="A9853F"/>
                </a:solidFill>
                <a:latin typeface="Cormorant Garamond SemiBold" pitchFamily="2" charset="77"/>
                <a:ea typeface="Cormorant Garamond SemiBold" pitchFamily="2" charset="77"/>
                <a:cs typeface="Cormorant Garamond SemiBold" pitchFamily="2" charset="77"/>
              </a:rPr>
              <a:t>Vos actifs, protégés</a:t>
            </a:r>
          </a:p>
        </p:txBody>
      </p:sp>
      <p:sp>
        <p:nvSpPr>
          <p:cNvPr id="920" name="Shape 920"/>
          <p:cNvSpPr/>
          <p:nvPr/>
        </p:nvSpPr>
        <p:spPr>
          <a:xfrm>
            <a:off x="2271234" y="1780000"/>
            <a:ext cx="3400000" cy="620000"/>
          </a:xfrm>
          <a:prstGeom prst="rect">
            <a:avLst/>
          </a:prstGeom>
          <a:solidFill>
            <a:srgbClr val="FCF9EF"/>
          </a:solidFill>
          <a:ln>
            <a:noFill/>
          </a:ln>
        </p:spPr>
        <p:txBody>
          <a:bodyPr rtlCol="0" anchor="ctr"/>
          <a:lstStyle/>
          <a:p>
            <a:endParaRPr lang="fr-FR"/>
          </a:p>
        </p:txBody>
      </p:sp>
      <p:sp>
        <p:nvSpPr>
          <p:cNvPr id="921" name="Text 921"/>
          <p:cNvSpPr txBox="1"/>
          <p:nvPr/>
        </p:nvSpPr>
        <p:spPr>
          <a:xfrm>
            <a:off x="2391234" y="1780000"/>
            <a:ext cx="3160000" cy="620000"/>
          </a:xfrm>
          <a:prstGeom prst="rect">
            <a:avLst/>
          </a:prstGeom>
          <a:noFill/>
          <a:ln>
            <a:noFill/>
          </a:ln>
        </p:spPr>
        <p:txBody>
          <a:bodyPr wrap="square" lIns="0" tIns="0" rIns="0" bIns="0" rtlCol="0" anchor="ctr">
            <a:normAutofit/>
          </a:bodyPr>
          <a:lstStyle/>
          <a:p>
            <a:pPr algn="ctr">
              <a:spcAft>
                <a:spcPts val="150"/>
              </a:spcAft>
              <a:buNone/>
            </a:pPr>
            <a:r>
              <a:rPr lang="fr-FR" sz="1050" dirty="0">
                <a:solidFill>
                  <a:srgbClr val="073527"/>
                </a:solidFill>
                <a:latin typeface="Jost Medium" pitchFamily="2" charset="77"/>
                <a:ea typeface="Jost Medium" pitchFamily="2" charset="77"/>
                <a:cs typeface="Jost Medium" pitchFamily="2" charset="77"/>
              </a:rPr>
              <a:t>Commissariat aux Assurances (CAA)</a:t>
            </a:r>
          </a:p>
          <a:p>
            <a:pPr algn="ctr">
              <a:buNone/>
            </a:pPr>
            <a:r>
              <a:rPr lang="fr-FR" sz="950" dirty="0">
                <a:solidFill>
                  <a:srgbClr val="073527"/>
                </a:solidFill>
                <a:latin typeface="Jost Light" pitchFamily="2" charset="77"/>
                <a:ea typeface="Jost Light" pitchFamily="2" charset="77"/>
                <a:cs typeface="Jost Light" pitchFamily="2" charset="77"/>
              </a:rPr>
              <a:t>Contrôle et valide la convention de dépôt entre l’assureur et la banque.</a:t>
            </a:r>
          </a:p>
        </p:txBody>
      </p:sp>
      <p:sp>
        <p:nvSpPr>
          <p:cNvPr id="936" name="Shape 936"/>
          <p:cNvSpPr/>
          <p:nvPr/>
        </p:nvSpPr>
        <p:spPr>
          <a:xfrm>
            <a:off x="947468" y="4956032"/>
            <a:ext cx="2150000" cy="600000"/>
          </a:xfrm>
          <a:prstGeom prst="rect">
            <a:avLst/>
          </a:prstGeom>
          <a:solidFill>
            <a:srgbClr val="FCF9EF"/>
          </a:solidFill>
          <a:ln>
            <a:noFill/>
          </a:ln>
        </p:spPr>
        <p:txBody>
          <a:bodyPr rtlCol="0" anchor="ctr"/>
          <a:lstStyle/>
          <a:p>
            <a:endParaRPr lang="fr-FR"/>
          </a:p>
        </p:txBody>
      </p:sp>
      <p:sp>
        <p:nvSpPr>
          <p:cNvPr id="937" name="Text 937"/>
          <p:cNvSpPr txBox="1"/>
          <p:nvPr/>
        </p:nvSpPr>
        <p:spPr>
          <a:xfrm>
            <a:off x="1047468" y="4956032"/>
            <a:ext cx="1950000" cy="600000"/>
          </a:xfrm>
          <a:prstGeom prst="rect">
            <a:avLst/>
          </a:prstGeom>
          <a:noFill/>
          <a:ln>
            <a:noFill/>
          </a:ln>
        </p:spPr>
        <p:txBody>
          <a:bodyPr wrap="square" lIns="0" tIns="0" rIns="0" bIns="0" rtlCol="0" anchor="ctr">
            <a:normAutofit/>
          </a:bodyPr>
          <a:lstStyle/>
          <a:p>
            <a:pPr algn="ctr">
              <a:spcAft>
                <a:spcPts val="150"/>
              </a:spcAft>
              <a:buNone/>
            </a:pPr>
            <a:r>
              <a:rPr lang="fr-FR" sz="1050" dirty="0">
                <a:solidFill>
                  <a:srgbClr val="073527"/>
                </a:solidFill>
                <a:latin typeface="Jost Medium" pitchFamily="2" charset="77"/>
                <a:ea typeface="Jost Medium" pitchFamily="2" charset="77"/>
                <a:cs typeface="Jost Medium" pitchFamily="2" charset="77"/>
              </a:rPr>
              <a:t>Compagnie d’assurance</a:t>
            </a:r>
          </a:p>
          <a:p>
            <a:pPr algn="ctr">
              <a:buNone/>
            </a:pPr>
            <a:r>
              <a:rPr lang="fr-FR" sz="950" dirty="0">
                <a:solidFill>
                  <a:srgbClr val="073527"/>
                </a:solidFill>
                <a:latin typeface="Jost Light" pitchFamily="2" charset="77"/>
                <a:ea typeface="Jost Light" pitchFamily="2" charset="77"/>
                <a:cs typeface="Jost Light" pitchFamily="2" charset="77"/>
              </a:rPr>
              <a:t>Gère le contrat, l’allocation et la relation client.</a:t>
            </a:r>
          </a:p>
        </p:txBody>
      </p:sp>
      <p:sp>
        <p:nvSpPr>
          <p:cNvPr id="938" name="Shape 938"/>
          <p:cNvSpPr/>
          <p:nvPr/>
        </p:nvSpPr>
        <p:spPr>
          <a:xfrm>
            <a:off x="4845000" y="4956032"/>
            <a:ext cx="2150000" cy="600000"/>
          </a:xfrm>
          <a:prstGeom prst="rect">
            <a:avLst/>
          </a:prstGeom>
          <a:solidFill>
            <a:srgbClr val="FCF9EF"/>
          </a:solidFill>
          <a:ln>
            <a:noFill/>
          </a:ln>
        </p:spPr>
        <p:txBody>
          <a:bodyPr rtlCol="0" anchor="ctr"/>
          <a:lstStyle/>
          <a:p>
            <a:endParaRPr lang="fr-FR"/>
          </a:p>
        </p:txBody>
      </p:sp>
      <p:sp>
        <p:nvSpPr>
          <p:cNvPr id="939" name="Text 939"/>
          <p:cNvSpPr txBox="1"/>
          <p:nvPr/>
        </p:nvSpPr>
        <p:spPr>
          <a:xfrm>
            <a:off x="4945000" y="4956032"/>
            <a:ext cx="1950000" cy="600000"/>
          </a:xfrm>
          <a:prstGeom prst="rect">
            <a:avLst/>
          </a:prstGeom>
          <a:noFill/>
          <a:ln>
            <a:noFill/>
          </a:ln>
        </p:spPr>
        <p:txBody>
          <a:bodyPr wrap="square" lIns="0" tIns="0" rIns="0" bIns="0" rtlCol="0" anchor="ctr">
            <a:normAutofit/>
          </a:bodyPr>
          <a:lstStyle/>
          <a:p>
            <a:pPr algn="ctr">
              <a:spcAft>
                <a:spcPts val="150"/>
              </a:spcAft>
              <a:buNone/>
            </a:pPr>
            <a:r>
              <a:rPr lang="fr-FR" sz="1050" dirty="0">
                <a:solidFill>
                  <a:srgbClr val="073527"/>
                </a:solidFill>
                <a:latin typeface="Jost Medium" pitchFamily="2" charset="77"/>
                <a:ea typeface="Jost Medium" pitchFamily="2" charset="77"/>
                <a:cs typeface="Jost Medium" pitchFamily="2" charset="77"/>
              </a:rPr>
              <a:t>Banque dépositaire</a:t>
            </a:r>
          </a:p>
          <a:p>
            <a:pPr algn="ctr">
              <a:buNone/>
            </a:pPr>
            <a:r>
              <a:rPr lang="fr-FR" sz="950" dirty="0">
                <a:solidFill>
                  <a:srgbClr val="073527"/>
                </a:solidFill>
                <a:latin typeface="Jost Light" pitchFamily="2" charset="77"/>
                <a:ea typeface="Jost Light" pitchFamily="2" charset="77"/>
                <a:cs typeface="Jost Light" pitchFamily="2" charset="77"/>
              </a:rPr>
              <a:t>Conserve les actifs, séparés de son propre bilan.</a:t>
            </a:r>
          </a:p>
        </p:txBody>
      </p:sp>
      <p:sp>
        <p:nvSpPr>
          <p:cNvPr id="940" name="Shape 940"/>
          <p:cNvSpPr/>
          <p:nvPr/>
        </p:nvSpPr>
        <p:spPr>
          <a:xfrm>
            <a:off x="3146234" y="5632064"/>
            <a:ext cx="1650000" cy="787936"/>
          </a:xfrm>
          <a:prstGeom prst="rect">
            <a:avLst/>
          </a:prstGeom>
          <a:solidFill>
            <a:srgbClr val="FCF9EF"/>
          </a:solidFill>
          <a:ln>
            <a:noFill/>
          </a:ln>
        </p:spPr>
        <p:txBody>
          <a:bodyPr rtlCol="0" anchor="ctr"/>
          <a:lstStyle/>
          <a:p>
            <a:endParaRPr lang="fr-FR"/>
          </a:p>
        </p:txBody>
      </p:sp>
      <p:sp>
        <p:nvSpPr>
          <p:cNvPr id="941" name="Text 941"/>
          <p:cNvSpPr txBox="1"/>
          <p:nvPr/>
        </p:nvSpPr>
        <p:spPr>
          <a:xfrm>
            <a:off x="3246234" y="5632064"/>
            <a:ext cx="1450000" cy="787936"/>
          </a:xfrm>
          <a:prstGeom prst="rect">
            <a:avLst/>
          </a:prstGeom>
          <a:noFill/>
          <a:ln>
            <a:noFill/>
          </a:ln>
        </p:spPr>
        <p:txBody>
          <a:bodyPr wrap="square" lIns="0" tIns="0" rIns="0" bIns="0" rtlCol="0" anchor="ctr">
            <a:normAutofit/>
          </a:bodyPr>
          <a:lstStyle/>
          <a:p>
            <a:pPr algn="ctr">
              <a:spcAft>
                <a:spcPts val="150"/>
              </a:spcAft>
              <a:buNone/>
            </a:pPr>
            <a:r>
              <a:rPr lang="fr-FR" sz="1050" dirty="0">
                <a:solidFill>
                  <a:srgbClr val="073527"/>
                </a:solidFill>
                <a:latin typeface="Jost Medium" pitchFamily="2" charset="77"/>
                <a:ea typeface="Jost Medium" pitchFamily="2" charset="77"/>
                <a:cs typeface="Jost Medium" pitchFamily="2" charset="77"/>
              </a:rPr>
              <a:t>Vous, le client</a:t>
            </a:r>
          </a:p>
          <a:p>
            <a:pPr algn="ctr">
              <a:buNone/>
            </a:pPr>
            <a:r>
              <a:rPr lang="fr-FR" sz="950" dirty="0">
                <a:solidFill>
                  <a:srgbClr val="073527"/>
                </a:solidFill>
                <a:latin typeface="Jost Light" pitchFamily="2" charset="77"/>
                <a:ea typeface="Jost Light" pitchFamily="2" charset="77"/>
                <a:cs typeface="Jost Light" pitchFamily="2" charset="77"/>
              </a:rPr>
              <a:t>Bénéficiaire final : vos avoirs vous restent acquis.</a:t>
            </a:r>
          </a:p>
        </p:txBody>
      </p:sp>
      <p:sp>
        <p:nvSpPr>
          <p:cNvPr id="909" name="Shape 909"/>
          <p:cNvSpPr/>
          <p:nvPr/>
        </p:nvSpPr>
        <p:spPr>
          <a:xfrm>
            <a:off x="7315200" y="1780000"/>
            <a:ext cx="4376800" cy="460000"/>
          </a:xfrm>
          <a:prstGeom prst="rect">
            <a:avLst/>
          </a:prstGeom>
          <a:solidFill>
            <a:srgbClr val="001B00"/>
          </a:solidFill>
          <a:ln>
            <a:noFill/>
          </a:ln>
        </p:spPr>
        <p:txBody>
          <a:bodyPr rtlCol="0" anchor="ctr"/>
          <a:lstStyle/>
          <a:p>
            <a:endParaRPr lang="fr-FR"/>
          </a:p>
        </p:txBody>
      </p:sp>
      <p:sp>
        <p:nvSpPr>
          <p:cNvPr id="910" name="Text 910"/>
          <p:cNvSpPr txBox="1"/>
          <p:nvPr/>
        </p:nvSpPr>
        <p:spPr>
          <a:xfrm>
            <a:off x="7315200" y="1780000"/>
            <a:ext cx="4376800"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Ce que cela vous apporte</a:t>
            </a:r>
          </a:p>
        </p:txBody>
      </p:sp>
      <p:sp>
        <p:nvSpPr>
          <p:cNvPr id="911" name="Shape 911"/>
          <p:cNvSpPr/>
          <p:nvPr/>
        </p:nvSpPr>
        <p:spPr>
          <a:xfrm>
            <a:off x="7315200" y="2240000"/>
            <a:ext cx="4376800" cy="3753176"/>
          </a:xfrm>
          <a:prstGeom prst="rect">
            <a:avLst/>
          </a:prstGeom>
          <a:solidFill>
            <a:srgbClr val="FCF9EF"/>
          </a:solidFill>
          <a:ln>
            <a:noFill/>
          </a:ln>
        </p:spPr>
        <p:txBody>
          <a:bodyPr rtlCol="0" anchor="ctr"/>
          <a:lstStyle/>
          <a:p>
            <a:endParaRPr lang="fr-FR"/>
          </a:p>
        </p:txBody>
      </p:sp>
      <p:sp>
        <p:nvSpPr>
          <p:cNvPr id="912" name="Shape 912"/>
          <p:cNvSpPr/>
          <p:nvPr/>
        </p:nvSpPr>
        <p:spPr>
          <a:xfrm>
            <a:off x="7575200" y="2550000"/>
            <a:ext cx="110000" cy="110000"/>
          </a:xfrm>
          <a:prstGeom prst="rect">
            <a:avLst/>
          </a:prstGeom>
          <a:solidFill>
            <a:srgbClr val="A9853F"/>
          </a:solidFill>
          <a:ln>
            <a:noFill/>
          </a:ln>
        </p:spPr>
        <p:txBody>
          <a:bodyPr rtlCol="0" anchor="ctr"/>
          <a:lstStyle/>
          <a:p>
            <a:endParaRPr lang="fr-FR"/>
          </a:p>
        </p:txBody>
      </p:sp>
      <p:sp>
        <p:nvSpPr>
          <p:cNvPr id="913" name="Text 913"/>
          <p:cNvSpPr txBox="1"/>
          <p:nvPr/>
        </p:nvSpPr>
        <p:spPr>
          <a:xfrm>
            <a:off x="7835200" y="2480000"/>
            <a:ext cx="3636800" cy="8625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Super privilège</a:t>
            </a:r>
          </a:p>
          <a:p>
            <a:pPr algn="just">
              <a:buNone/>
            </a:pPr>
            <a:r>
              <a:rPr lang="fr-FR" sz="950" dirty="0">
                <a:solidFill>
                  <a:srgbClr val="073527"/>
                </a:solidFill>
                <a:latin typeface="Jost Light" pitchFamily="2" charset="77"/>
                <a:ea typeface="Jost Light" pitchFamily="2" charset="77"/>
                <a:cs typeface="Jost Light" pitchFamily="2" charset="77"/>
              </a:rPr>
              <a:t>Créancier de premier rang en cas de défaillance de l’assureur, remboursé avant tous les autres.</a:t>
            </a:r>
          </a:p>
        </p:txBody>
      </p:sp>
      <p:sp>
        <p:nvSpPr>
          <p:cNvPr id="914" name="Shape 914"/>
          <p:cNvSpPr/>
          <p:nvPr/>
        </p:nvSpPr>
        <p:spPr>
          <a:xfrm>
            <a:off x="7575200" y="3492500"/>
            <a:ext cx="110000" cy="110000"/>
          </a:xfrm>
          <a:prstGeom prst="rect">
            <a:avLst/>
          </a:prstGeom>
          <a:solidFill>
            <a:srgbClr val="A9853F"/>
          </a:solidFill>
          <a:ln>
            <a:noFill/>
          </a:ln>
        </p:spPr>
        <p:txBody>
          <a:bodyPr rtlCol="0" anchor="ctr"/>
          <a:lstStyle/>
          <a:p>
            <a:endParaRPr lang="fr-FR"/>
          </a:p>
        </p:txBody>
      </p:sp>
      <p:sp>
        <p:nvSpPr>
          <p:cNvPr id="915" name="Text 915"/>
          <p:cNvSpPr txBox="1"/>
          <p:nvPr/>
        </p:nvSpPr>
        <p:spPr>
          <a:xfrm>
            <a:off x="7835200" y="3422500"/>
            <a:ext cx="3636800" cy="862500"/>
          </a:xfrm>
          <a:prstGeom prst="rect">
            <a:avLst/>
          </a:prstGeom>
          <a:noFill/>
          <a:ln>
            <a:noFill/>
          </a:ln>
        </p:spPr>
        <p:txBody>
          <a:bodyPr wrap="square" lIns="0" tIns="0" rIns="0" bIns="0" rtlCol="0" anchor="t">
            <a:normAutofit/>
          </a:bodyPr>
          <a:lstStyle/>
          <a:p>
            <a:pPr algn="just">
              <a:spcAft>
                <a:spcPts val="200"/>
              </a:spcAft>
              <a:buNone/>
            </a:pPr>
            <a:r>
              <a:rPr lang="fr-FR" sz="1050" dirty="0">
                <a:solidFill>
                  <a:srgbClr val="073527"/>
                </a:solidFill>
                <a:latin typeface="Jost Medium" pitchFamily="2" charset="77"/>
                <a:ea typeface="Jost Medium" pitchFamily="2" charset="77"/>
                <a:cs typeface="Jost Medium" pitchFamily="2" charset="77"/>
              </a:rPr>
              <a:t>Protection illimitée</a:t>
            </a:r>
          </a:p>
          <a:p>
            <a:pPr algn="just">
              <a:buNone/>
            </a:pPr>
            <a:r>
              <a:rPr lang="fr-FR" sz="950" dirty="0">
                <a:solidFill>
                  <a:srgbClr val="073527"/>
                </a:solidFill>
                <a:latin typeface="Jost Light" pitchFamily="2" charset="77"/>
                <a:ea typeface="Jost Light" pitchFamily="2" charset="77"/>
                <a:cs typeface="Jost Light" pitchFamily="2" charset="77"/>
              </a:rPr>
              <a:t>Votre capital est garanti sans limite, contre 70 000 EUR pour un contrat français.</a:t>
            </a:r>
          </a:p>
        </p:txBody>
      </p:sp>
      <p:sp>
        <p:nvSpPr>
          <p:cNvPr id="916" name="Shape 916"/>
          <p:cNvSpPr/>
          <p:nvPr/>
        </p:nvSpPr>
        <p:spPr>
          <a:xfrm>
            <a:off x="7575200" y="4435000"/>
            <a:ext cx="110000" cy="110000"/>
          </a:xfrm>
          <a:prstGeom prst="rect">
            <a:avLst/>
          </a:prstGeom>
          <a:solidFill>
            <a:srgbClr val="A9853F"/>
          </a:solidFill>
          <a:ln>
            <a:noFill/>
          </a:ln>
        </p:spPr>
        <p:txBody>
          <a:bodyPr rtlCol="0" anchor="ctr"/>
          <a:lstStyle/>
          <a:p>
            <a:endParaRPr lang="fr-FR"/>
          </a:p>
        </p:txBody>
      </p:sp>
      <p:sp>
        <p:nvSpPr>
          <p:cNvPr id="917" name="Text 917"/>
          <p:cNvSpPr txBox="1"/>
          <p:nvPr/>
        </p:nvSpPr>
        <p:spPr>
          <a:xfrm>
            <a:off x="7835200" y="4365000"/>
            <a:ext cx="3636800" cy="862500"/>
          </a:xfrm>
          <a:prstGeom prst="rect">
            <a:avLst/>
          </a:prstGeom>
          <a:noFill/>
          <a:ln>
            <a:noFill/>
          </a:ln>
        </p:spPr>
        <p:txBody>
          <a:bodyPr wrap="square" lIns="0" tIns="0" rIns="0" bIns="0" rtlCol="0" anchor="t">
            <a:normAutofit/>
          </a:bodyPr>
          <a:lstStyle/>
          <a:p>
            <a:pPr>
              <a:spcAft>
                <a:spcPts val="200"/>
              </a:spcAft>
            </a:pPr>
            <a:r>
              <a:rPr lang="fr-FR" sz="1050" dirty="0">
                <a:solidFill>
                  <a:srgbClr val="073527"/>
                </a:solidFill>
                <a:latin typeface="Jost Medium" pitchFamily="2" charset="77"/>
                <a:ea typeface="Jost Medium" pitchFamily="2" charset="77"/>
              </a:rPr>
              <a:t>Aucune application de la loi Sapin 2</a:t>
            </a:r>
          </a:p>
          <a:p>
            <a:pPr algn="just">
              <a:spcAft>
                <a:spcPts val="200"/>
              </a:spcAft>
            </a:pPr>
            <a:r>
              <a:rPr lang="fr-FR" sz="1000" dirty="0">
                <a:solidFill>
                  <a:srgbClr val="073527"/>
                </a:solidFill>
                <a:latin typeface="Jost Light" pitchFamily="2" charset="77"/>
                <a:ea typeface="Jost Light" pitchFamily="2" charset="77"/>
              </a:rPr>
              <a:t>Vos avoirs financiers restent votre propriété. Votre épargne n’appartient ni à l’assureur ni à l’État français.</a:t>
            </a:r>
          </a:p>
        </p:txBody>
      </p:sp>
      <p:sp>
        <p:nvSpPr>
          <p:cNvPr id="918" name="Shape 918"/>
          <p:cNvSpPr/>
          <p:nvPr/>
        </p:nvSpPr>
        <p:spPr>
          <a:xfrm>
            <a:off x="7575200" y="5377500"/>
            <a:ext cx="110000" cy="110000"/>
          </a:xfrm>
          <a:prstGeom prst="rect">
            <a:avLst/>
          </a:prstGeom>
          <a:solidFill>
            <a:srgbClr val="A9853F"/>
          </a:solidFill>
          <a:ln>
            <a:noFill/>
          </a:ln>
        </p:spPr>
        <p:txBody>
          <a:bodyPr rtlCol="0" anchor="ctr"/>
          <a:lstStyle/>
          <a:p>
            <a:endParaRPr lang="fr-FR"/>
          </a:p>
        </p:txBody>
      </p:sp>
      <p:sp>
        <p:nvSpPr>
          <p:cNvPr id="919" name="Text 919"/>
          <p:cNvSpPr txBox="1"/>
          <p:nvPr/>
        </p:nvSpPr>
        <p:spPr>
          <a:xfrm>
            <a:off x="7835200" y="5307500"/>
            <a:ext cx="3636800" cy="8625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Contrôle indépendant</a:t>
            </a:r>
          </a:p>
          <a:p>
            <a:pPr algn="l">
              <a:buNone/>
            </a:pPr>
            <a:r>
              <a:rPr lang="fr-FR" sz="950" dirty="0">
                <a:solidFill>
                  <a:srgbClr val="073527"/>
                </a:solidFill>
                <a:latin typeface="Jost Light" pitchFamily="2" charset="77"/>
                <a:ea typeface="Jost Light" pitchFamily="2" charset="77"/>
                <a:cs typeface="Jost Light" pitchFamily="2" charset="77"/>
              </a:rPr>
              <a:t>Le CAA supervise en continu la relation assureur, banque dépositaire.</a:t>
            </a:r>
          </a:p>
        </p:txBody>
      </p:sp>
    </p:spTree>
    <p:extLst>
      <p:ext uri="{BB962C8B-B14F-4D97-AF65-F5344CB8AC3E}">
        <p14:creationId xmlns:p14="http://schemas.microsoft.com/office/powerpoint/2010/main" val="2821859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4532"/>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pPr lvl="0"/>
            <a:r>
              <a:rPr lang="fr-FR" sz="1200" dirty="0">
                <a:solidFill>
                  <a:srgbClr val="073527"/>
                </a:solidFill>
                <a:latin typeface="Jost Medium" pitchFamily="2" charset="77"/>
                <a:ea typeface="Jost Medium" pitchFamily="2" charset="77"/>
                <a:cs typeface="Futura Medium" panose="020B0602020204020303" pitchFamily="34" charset="-79"/>
              </a:rPr>
              <a:t>Deux cadres pour une même épargne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Assurance vie française ou luxembourgeoise ?</a:t>
            </a:r>
          </a:p>
        </p:txBody>
      </p:sp>
      <p:sp>
        <p:nvSpPr>
          <p:cNvPr id="2024" name="Text 2024"/>
          <p:cNvSpPr txBox="1"/>
          <p:nvPr/>
        </p:nvSpPr>
        <p:spPr>
          <a:xfrm>
            <a:off x="947468" y="1780000"/>
            <a:ext cx="3000000" cy="520000"/>
          </a:xfrm>
          <a:prstGeom prst="rect">
            <a:avLst/>
          </a:prstGeom>
          <a:noFill/>
          <a:ln>
            <a:noFill/>
          </a:ln>
        </p:spPr>
        <p:txBody>
          <a:bodyPr wrap="square" lIns="0" tIns="0" rIns="0" bIns="0" rtlCol="0" anchor="ctr">
            <a:normAutofit/>
          </a:bodyPr>
          <a:lstStyle/>
          <a:p>
            <a:pPr algn="l">
              <a:buNone/>
            </a:pPr>
            <a:r>
              <a:rPr lang="fr-FR" sz="1000" dirty="0">
                <a:solidFill>
                  <a:srgbClr val="6B6B6B"/>
                </a:solidFill>
                <a:latin typeface="Jost Medium" pitchFamily="2" charset="77"/>
                <a:ea typeface="Jost Medium" pitchFamily="2" charset="77"/>
                <a:cs typeface="Jost Medium" pitchFamily="2" charset="77"/>
              </a:rPr>
              <a:t>Critère</a:t>
            </a:r>
          </a:p>
        </p:txBody>
      </p:sp>
      <p:sp>
        <p:nvSpPr>
          <p:cNvPr id="2025" name="Shape 2025"/>
          <p:cNvSpPr/>
          <p:nvPr/>
        </p:nvSpPr>
        <p:spPr>
          <a:xfrm>
            <a:off x="3947468" y="1780000"/>
            <a:ext cx="3872266" cy="520000"/>
          </a:xfrm>
          <a:prstGeom prst="rect">
            <a:avLst/>
          </a:prstGeom>
          <a:solidFill>
            <a:srgbClr val="073527"/>
          </a:solidFill>
          <a:ln>
            <a:noFill/>
          </a:ln>
        </p:spPr>
        <p:txBody>
          <a:bodyPr rtlCol="0" anchor="ctr"/>
          <a:lstStyle/>
          <a:p>
            <a:endParaRPr lang="fr-FR"/>
          </a:p>
        </p:txBody>
      </p:sp>
      <p:sp>
        <p:nvSpPr>
          <p:cNvPr id="2026" name="Text 2026"/>
          <p:cNvSpPr txBox="1"/>
          <p:nvPr/>
        </p:nvSpPr>
        <p:spPr>
          <a:xfrm>
            <a:off x="3947468" y="1780000"/>
            <a:ext cx="3872266" cy="520000"/>
          </a:xfrm>
          <a:prstGeom prst="rect">
            <a:avLst/>
          </a:prstGeom>
          <a:noFill/>
          <a:ln>
            <a:noFill/>
          </a:ln>
        </p:spPr>
        <p:txBody>
          <a:bodyPr wrap="square" lIns="0" tIns="0" rIns="0" bIns="0" rtlCol="0" anchor="ctr">
            <a:normAutofit/>
          </a:bodyPr>
          <a:lstStyle/>
          <a:p>
            <a:pPr algn="ctr">
              <a:buNone/>
            </a:pPr>
            <a:r>
              <a:rPr lang="fr-FR" sz="1500" b="1" dirty="0">
                <a:solidFill>
                  <a:srgbClr val="FFFFFF"/>
                </a:solidFill>
                <a:latin typeface="Cormorant Garamond SemiBold" pitchFamily="2" charset="77"/>
                <a:ea typeface="Cormorant Garamond SemiBold" pitchFamily="2" charset="77"/>
                <a:cs typeface="Cormorant Garamond SemiBold" pitchFamily="2" charset="77"/>
              </a:rPr>
              <a:t>Assurance vie française</a:t>
            </a:r>
          </a:p>
        </p:txBody>
      </p:sp>
      <p:sp>
        <p:nvSpPr>
          <p:cNvPr id="2027" name="Shape 2027"/>
          <p:cNvSpPr/>
          <p:nvPr/>
        </p:nvSpPr>
        <p:spPr>
          <a:xfrm>
            <a:off x="7819734" y="1780000"/>
            <a:ext cx="3872266" cy="520000"/>
          </a:xfrm>
          <a:prstGeom prst="rect">
            <a:avLst/>
          </a:prstGeom>
          <a:solidFill>
            <a:srgbClr val="001B00"/>
          </a:solidFill>
          <a:ln>
            <a:noFill/>
          </a:ln>
        </p:spPr>
        <p:txBody>
          <a:bodyPr rtlCol="0" anchor="ctr"/>
          <a:lstStyle/>
          <a:p>
            <a:endParaRPr lang="fr-FR"/>
          </a:p>
        </p:txBody>
      </p:sp>
      <p:sp>
        <p:nvSpPr>
          <p:cNvPr id="2028" name="Text 2028"/>
          <p:cNvSpPr txBox="1"/>
          <p:nvPr/>
        </p:nvSpPr>
        <p:spPr>
          <a:xfrm>
            <a:off x="7819734" y="1780000"/>
            <a:ext cx="3872266" cy="520000"/>
          </a:xfrm>
          <a:prstGeom prst="rect">
            <a:avLst/>
          </a:prstGeom>
          <a:solidFill>
            <a:srgbClr val="AA853F"/>
          </a:solidFill>
          <a:ln>
            <a:noFill/>
          </a:ln>
        </p:spPr>
        <p:txBody>
          <a:bodyPr wrap="square" lIns="0" tIns="0" rIns="0" bIns="0" rtlCol="0" anchor="ctr">
            <a:normAutofit/>
          </a:bodyPr>
          <a:lstStyle/>
          <a:p>
            <a:pPr algn="ctr">
              <a:buNone/>
            </a:pPr>
            <a:r>
              <a:rPr lang="fr-FR" sz="1500" b="1" dirty="0">
                <a:solidFill>
                  <a:schemeClr val="bg1"/>
                </a:solidFill>
                <a:latin typeface="Cormorant Garamond SemiBold" pitchFamily="2" charset="77"/>
                <a:ea typeface="Cormorant Garamond SemiBold" pitchFamily="2" charset="77"/>
                <a:cs typeface="Cormorant Garamond SemiBold" pitchFamily="2" charset="77"/>
              </a:rPr>
              <a:t>Assurance vie luxembourgeoise</a:t>
            </a:r>
          </a:p>
        </p:txBody>
      </p:sp>
      <p:sp>
        <p:nvSpPr>
          <p:cNvPr id="2029" name="Shape 2029"/>
          <p:cNvSpPr/>
          <p:nvPr/>
        </p:nvSpPr>
        <p:spPr>
          <a:xfrm>
            <a:off x="7819734" y="2300000"/>
            <a:ext cx="3872266" cy="4120000"/>
          </a:xfrm>
          <a:prstGeom prst="rect">
            <a:avLst/>
          </a:prstGeom>
          <a:solidFill>
            <a:srgbClr val="FCF9EF"/>
          </a:solidFill>
          <a:ln>
            <a:noFill/>
          </a:ln>
        </p:spPr>
        <p:txBody>
          <a:bodyPr rtlCol="0" anchor="ctr"/>
          <a:lstStyle/>
          <a:p>
            <a:endParaRPr lang="fr-FR"/>
          </a:p>
        </p:txBody>
      </p:sp>
      <p:sp>
        <p:nvSpPr>
          <p:cNvPr id="2030" name="Text 2030"/>
          <p:cNvSpPr txBox="1"/>
          <p:nvPr/>
        </p:nvSpPr>
        <p:spPr>
          <a:xfrm>
            <a:off x="1007468" y="2300000"/>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Ticket d’entrée</a:t>
            </a:r>
          </a:p>
        </p:txBody>
      </p:sp>
      <p:sp>
        <p:nvSpPr>
          <p:cNvPr id="2031" name="Text 2031"/>
          <p:cNvSpPr txBox="1"/>
          <p:nvPr/>
        </p:nvSpPr>
        <p:spPr>
          <a:xfrm>
            <a:off x="4147468" y="2300000"/>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Dès 10 000 EUR chez LFDR</a:t>
            </a:r>
          </a:p>
        </p:txBody>
      </p:sp>
      <p:sp>
        <p:nvSpPr>
          <p:cNvPr id="2032" name="Text 2032"/>
          <p:cNvSpPr txBox="1"/>
          <p:nvPr/>
        </p:nvSpPr>
        <p:spPr>
          <a:xfrm>
            <a:off x="8019734" y="2300000"/>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Dès 100 000 EUR (250 000 € en FID / FAS)</a:t>
            </a:r>
          </a:p>
        </p:txBody>
      </p:sp>
      <p:sp>
        <p:nvSpPr>
          <p:cNvPr id="2033" name="Shape 2033"/>
          <p:cNvSpPr/>
          <p:nvPr/>
        </p:nvSpPr>
        <p:spPr>
          <a:xfrm>
            <a:off x="947468" y="2757777"/>
            <a:ext cx="10744532" cy="1"/>
          </a:xfrm>
          <a:prstGeom prst="line">
            <a:avLst/>
          </a:prstGeom>
          <a:noFill/>
          <a:ln w="6350">
            <a:solidFill>
              <a:srgbClr val="D9CBA8"/>
            </a:solidFill>
          </a:ln>
        </p:spPr>
        <p:txBody>
          <a:bodyPr rtlCol="0" anchor="ctr"/>
          <a:lstStyle/>
          <a:p>
            <a:endParaRPr lang="fr-FR"/>
          </a:p>
        </p:txBody>
      </p:sp>
      <p:sp>
        <p:nvSpPr>
          <p:cNvPr id="2034" name="Text 2034"/>
          <p:cNvSpPr txBox="1"/>
          <p:nvPr/>
        </p:nvSpPr>
        <p:spPr>
          <a:xfrm>
            <a:off x="1007468" y="2757777"/>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Protection des avoirs</a:t>
            </a:r>
          </a:p>
        </p:txBody>
      </p:sp>
      <p:sp>
        <p:nvSpPr>
          <p:cNvPr id="2035" name="Text 2035"/>
          <p:cNvSpPr txBox="1"/>
          <p:nvPr/>
        </p:nvSpPr>
        <p:spPr>
          <a:xfrm>
            <a:off x="4147468" y="2757777"/>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Garantie plafonnée à 70 000 EUR</a:t>
            </a:r>
          </a:p>
        </p:txBody>
      </p:sp>
      <p:sp>
        <p:nvSpPr>
          <p:cNvPr id="2036" name="Text 2036"/>
          <p:cNvSpPr txBox="1"/>
          <p:nvPr/>
        </p:nvSpPr>
        <p:spPr>
          <a:xfrm>
            <a:off x="8019734" y="2757777"/>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Super privilège : protection illimitée</a:t>
            </a:r>
          </a:p>
        </p:txBody>
      </p:sp>
      <p:sp>
        <p:nvSpPr>
          <p:cNvPr id="2037" name="Shape 2037"/>
          <p:cNvSpPr/>
          <p:nvPr/>
        </p:nvSpPr>
        <p:spPr>
          <a:xfrm>
            <a:off x="947468" y="3215555"/>
            <a:ext cx="10744532" cy="1"/>
          </a:xfrm>
          <a:prstGeom prst="line">
            <a:avLst/>
          </a:prstGeom>
          <a:noFill/>
          <a:ln w="6350">
            <a:solidFill>
              <a:srgbClr val="D9CBA8"/>
            </a:solidFill>
          </a:ln>
        </p:spPr>
        <p:txBody>
          <a:bodyPr rtlCol="0" anchor="ctr"/>
          <a:lstStyle/>
          <a:p>
            <a:endParaRPr lang="fr-FR"/>
          </a:p>
        </p:txBody>
      </p:sp>
      <p:sp>
        <p:nvSpPr>
          <p:cNvPr id="2038" name="Text 2038"/>
          <p:cNvSpPr txBox="1"/>
          <p:nvPr/>
        </p:nvSpPr>
        <p:spPr>
          <a:xfrm>
            <a:off x="1007468" y="3215555"/>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Conservation des actifs</a:t>
            </a:r>
          </a:p>
        </p:txBody>
      </p:sp>
      <p:sp>
        <p:nvSpPr>
          <p:cNvPr id="2039" name="Text 2039"/>
          <p:cNvSpPr txBox="1"/>
          <p:nvPr/>
        </p:nvSpPr>
        <p:spPr>
          <a:xfrm>
            <a:off x="4147468" y="3215555"/>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Au bilan de l’assureur</a:t>
            </a:r>
          </a:p>
        </p:txBody>
      </p:sp>
      <p:sp>
        <p:nvSpPr>
          <p:cNvPr id="2040" name="Text 2040"/>
          <p:cNvSpPr txBox="1"/>
          <p:nvPr/>
        </p:nvSpPr>
        <p:spPr>
          <a:xfrm>
            <a:off x="8019734" y="3215555"/>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Banque dépositaire, actifs ségrégués</a:t>
            </a:r>
          </a:p>
        </p:txBody>
      </p:sp>
      <p:sp>
        <p:nvSpPr>
          <p:cNvPr id="2041" name="Shape 2041"/>
          <p:cNvSpPr/>
          <p:nvPr/>
        </p:nvSpPr>
        <p:spPr>
          <a:xfrm>
            <a:off x="947468" y="3673333"/>
            <a:ext cx="10744532" cy="1"/>
          </a:xfrm>
          <a:prstGeom prst="line">
            <a:avLst/>
          </a:prstGeom>
          <a:noFill/>
          <a:ln w="6350">
            <a:solidFill>
              <a:srgbClr val="D9CBA8"/>
            </a:solidFill>
          </a:ln>
        </p:spPr>
        <p:txBody>
          <a:bodyPr rtlCol="0" anchor="ctr"/>
          <a:lstStyle/>
          <a:p>
            <a:endParaRPr lang="fr-FR"/>
          </a:p>
        </p:txBody>
      </p:sp>
      <p:sp>
        <p:nvSpPr>
          <p:cNvPr id="2042" name="Text 2042"/>
          <p:cNvSpPr txBox="1"/>
          <p:nvPr/>
        </p:nvSpPr>
        <p:spPr>
          <a:xfrm>
            <a:off x="1007468" y="3673333"/>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Univers d’investissement</a:t>
            </a:r>
          </a:p>
        </p:txBody>
      </p:sp>
      <p:sp>
        <p:nvSpPr>
          <p:cNvPr id="2043" name="Text 2043"/>
          <p:cNvSpPr txBox="1"/>
          <p:nvPr/>
        </p:nvSpPr>
        <p:spPr>
          <a:xfrm>
            <a:off x="4147468" y="3673333"/>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Fonds euros et UC référencées</a:t>
            </a:r>
          </a:p>
        </p:txBody>
      </p:sp>
      <p:sp>
        <p:nvSpPr>
          <p:cNvPr id="2044" name="Text 2044"/>
          <p:cNvSpPr txBox="1"/>
          <p:nvPr/>
        </p:nvSpPr>
        <p:spPr>
          <a:xfrm>
            <a:off x="8019734" y="3673333"/>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Fonds euros, Titres vifs, Obligations, ETF, OPC, Performance Absolue, PE, PS.</a:t>
            </a:r>
          </a:p>
        </p:txBody>
      </p:sp>
      <p:sp>
        <p:nvSpPr>
          <p:cNvPr id="2045" name="Shape 2045"/>
          <p:cNvSpPr/>
          <p:nvPr/>
        </p:nvSpPr>
        <p:spPr>
          <a:xfrm>
            <a:off x="947468" y="4131111"/>
            <a:ext cx="10744532" cy="1"/>
          </a:xfrm>
          <a:prstGeom prst="line">
            <a:avLst/>
          </a:prstGeom>
          <a:noFill/>
          <a:ln w="6350">
            <a:solidFill>
              <a:srgbClr val="D9CBA8"/>
            </a:solidFill>
          </a:ln>
        </p:spPr>
        <p:txBody>
          <a:bodyPr rtlCol="0" anchor="ctr"/>
          <a:lstStyle/>
          <a:p>
            <a:endParaRPr lang="fr-FR"/>
          </a:p>
        </p:txBody>
      </p:sp>
      <p:sp>
        <p:nvSpPr>
          <p:cNvPr id="2046" name="Text 2046"/>
          <p:cNvSpPr txBox="1"/>
          <p:nvPr/>
        </p:nvSpPr>
        <p:spPr>
          <a:xfrm>
            <a:off x="1007468" y="4131111"/>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Devises</a:t>
            </a:r>
          </a:p>
        </p:txBody>
      </p:sp>
      <p:sp>
        <p:nvSpPr>
          <p:cNvPr id="2047" name="Text 2047"/>
          <p:cNvSpPr txBox="1"/>
          <p:nvPr/>
        </p:nvSpPr>
        <p:spPr>
          <a:xfrm>
            <a:off x="4147468" y="4131111"/>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Euro</a:t>
            </a:r>
          </a:p>
        </p:txBody>
      </p:sp>
      <p:sp>
        <p:nvSpPr>
          <p:cNvPr id="2048" name="Text 2048"/>
          <p:cNvSpPr txBox="1"/>
          <p:nvPr/>
        </p:nvSpPr>
        <p:spPr>
          <a:xfrm>
            <a:off x="8019734" y="4131111"/>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Multidevises (USD, CHF, GBP…)</a:t>
            </a:r>
          </a:p>
        </p:txBody>
      </p:sp>
      <p:sp>
        <p:nvSpPr>
          <p:cNvPr id="2049" name="Shape 2049"/>
          <p:cNvSpPr/>
          <p:nvPr/>
        </p:nvSpPr>
        <p:spPr>
          <a:xfrm>
            <a:off x="947468" y="4588888"/>
            <a:ext cx="10744532" cy="1"/>
          </a:xfrm>
          <a:prstGeom prst="line">
            <a:avLst/>
          </a:prstGeom>
          <a:noFill/>
          <a:ln w="6350">
            <a:solidFill>
              <a:srgbClr val="D9CBA8"/>
            </a:solidFill>
          </a:ln>
        </p:spPr>
        <p:txBody>
          <a:bodyPr rtlCol="0" anchor="ctr"/>
          <a:lstStyle/>
          <a:p>
            <a:endParaRPr lang="fr-FR"/>
          </a:p>
        </p:txBody>
      </p:sp>
      <p:sp>
        <p:nvSpPr>
          <p:cNvPr id="2050" name="Text 2050"/>
          <p:cNvSpPr txBox="1"/>
          <p:nvPr/>
        </p:nvSpPr>
        <p:spPr>
          <a:xfrm>
            <a:off x="1007468" y="4588888"/>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Risque de gel des rachats (loi Sapin 2)</a:t>
            </a:r>
          </a:p>
        </p:txBody>
      </p:sp>
      <p:sp>
        <p:nvSpPr>
          <p:cNvPr id="2051" name="Text 2051"/>
          <p:cNvSpPr txBox="1"/>
          <p:nvPr/>
        </p:nvSpPr>
        <p:spPr>
          <a:xfrm>
            <a:off x="4147468" y="4588888"/>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OUI</a:t>
            </a:r>
          </a:p>
        </p:txBody>
      </p:sp>
      <p:sp>
        <p:nvSpPr>
          <p:cNvPr id="2052" name="Text 2052"/>
          <p:cNvSpPr txBox="1"/>
          <p:nvPr/>
        </p:nvSpPr>
        <p:spPr>
          <a:xfrm>
            <a:off x="8019734" y="4588888"/>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Non applicable aux assureurs luxembourgeois</a:t>
            </a:r>
          </a:p>
        </p:txBody>
      </p:sp>
      <p:sp>
        <p:nvSpPr>
          <p:cNvPr id="2053" name="Shape 2053"/>
          <p:cNvSpPr/>
          <p:nvPr/>
        </p:nvSpPr>
        <p:spPr>
          <a:xfrm>
            <a:off x="947468" y="5046666"/>
            <a:ext cx="10744532" cy="1"/>
          </a:xfrm>
          <a:prstGeom prst="line">
            <a:avLst/>
          </a:prstGeom>
          <a:noFill/>
          <a:ln w="6350">
            <a:solidFill>
              <a:srgbClr val="D9CBA8"/>
            </a:solidFill>
          </a:ln>
        </p:spPr>
        <p:txBody>
          <a:bodyPr rtlCol="0" anchor="ctr"/>
          <a:lstStyle/>
          <a:p>
            <a:endParaRPr lang="fr-FR"/>
          </a:p>
        </p:txBody>
      </p:sp>
      <p:sp>
        <p:nvSpPr>
          <p:cNvPr id="2054" name="Text 2054"/>
          <p:cNvSpPr txBox="1"/>
          <p:nvPr/>
        </p:nvSpPr>
        <p:spPr>
          <a:xfrm>
            <a:off x="1007468" y="5046666"/>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Mobilité internationale</a:t>
            </a:r>
          </a:p>
        </p:txBody>
      </p:sp>
      <p:sp>
        <p:nvSpPr>
          <p:cNvPr id="2055" name="Text 2055"/>
          <p:cNvSpPr txBox="1"/>
          <p:nvPr/>
        </p:nvSpPr>
        <p:spPr>
          <a:xfrm>
            <a:off x="4147468" y="5046666"/>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Pensée pour les résidents français</a:t>
            </a:r>
          </a:p>
        </p:txBody>
      </p:sp>
      <p:sp>
        <p:nvSpPr>
          <p:cNvPr id="2056" name="Text 2056"/>
          <p:cNvSpPr txBox="1"/>
          <p:nvPr/>
        </p:nvSpPr>
        <p:spPr>
          <a:xfrm>
            <a:off x="8019734" y="5046666"/>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Neutralité fiscale, le contrat suit le souscripteur</a:t>
            </a:r>
          </a:p>
        </p:txBody>
      </p:sp>
      <p:sp>
        <p:nvSpPr>
          <p:cNvPr id="2057" name="Shape 2057"/>
          <p:cNvSpPr/>
          <p:nvPr/>
        </p:nvSpPr>
        <p:spPr>
          <a:xfrm>
            <a:off x="947468" y="5504444"/>
            <a:ext cx="10744532" cy="1"/>
          </a:xfrm>
          <a:prstGeom prst="line">
            <a:avLst/>
          </a:prstGeom>
          <a:noFill/>
          <a:ln w="6350">
            <a:solidFill>
              <a:srgbClr val="D9CBA8"/>
            </a:solidFill>
          </a:ln>
        </p:spPr>
        <p:txBody>
          <a:bodyPr rtlCol="0" anchor="ctr"/>
          <a:lstStyle/>
          <a:p>
            <a:endParaRPr lang="fr-FR"/>
          </a:p>
        </p:txBody>
      </p:sp>
      <p:sp>
        <p:nvSpPr>
          <p:cNvPr id="2058" name="Text 2058"/>
          <p:cNvSpPr txBox="1"/>
          <p:nvPr/>
        </p:nvSpPr>
        <p:spPr>
          <a:xfrm>
            <a:off x="1007468" y="5504444"/>
            <a:ext cx="2880000" cy="457777"/>
          </a:xfrm>
          <a:prstGeom prst="rect">
            <a:avLst/>
          </a:prstGeom>
          <a:noFill/>
          <a:ln>
            <a:noFill/>
          </a:ln>
        </p:spPr>
        <p:txBody>
          <a:bodyPr wrap="square" lIns="0" tIns="0" rIns="0" bIns="0" rtlCol="0" anchor="ctr">
            <a:normAutofit/>
          </a:bodyPr>
          <a:lstStyle/>
          <a:p>
            <a:r>
              <a:rPr lang="fr-FR" sz="1000" dirty="0">
                <a:solidFill>
                  <a:srgbClr val="073527"/>
                </a:solidFill>
                <a:latin typeface="Jost Medium" pitchFamily="2" charset="77"/>
                <a:ea typeface="Jost Medium" pitchFamily="2" charset="77"/>
              </a:rPr>
              <a:t>Accédez à la gestion en parts institutionnelles</a:t>
            </a:r>
          </a:p>
        </p:txBody>
      </p:sp>
      <p:sp>
        <p:nvSpPr>
          <p:cNvPr id="2059" name="Text 2059"/>
          <p:cNvSpPr txBox="1"/>
          <p:nvPr/>
        </p:nvSpPr>
        <p:spPr>
          <a:xfrm>
            <a:off x="4147468" y="5504444"/>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NON</a:t>
            </a:r>
          </a:p>
        </p:txBody>
      </p:sp>
      <p:sp>
        <p:nvSpPr>
          <p:cNvPr id="2060" name="Text 2060"/>
          <p:cNvSpPr txBox="1"/>
          <p:nvPr/>
        </p:nvSpPr>
        <p:spPr>
          <a:xfrm>
            <a:off x="8019734" y="5504444"/>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OUI</a:t>
            </a:r>
          </a:p>
        </p:txBody>
      </p:sp>
      <p:sp>
        <p:nvSpPr>
          <p:cNvPr id="2061" name="Shape 2061"/>
          <p:cNvSpPr/>
          <p:nvPr/>
        </p:nvSpPr>
        <p:spPr>
          <a:xfrm>
            <a:off x="947468" y="5962222"/>
            <a:ext cx="10744532" cy="1"/>
          </a:xfrm>
          <a:prstGeom prst="line">
            <a:avLst/>
          </a:prstGeom>
          <a:noFill/>
          <a:ln w="6350">
            <a:solidFill>
              <a:srgbClr val="D9CBA8"/>
            </a:solidFill>
          </a:ln>
        </p:spPr>
        <p:txBody>
          <a:bodyPr rtlCol="0" anchor="ctr"/>
          <a:lstStyle/>
          <a:p>
            <a:endParaRPr lang="fr-FR"/>
          </a:p>
        </p:txBody>
      </p:sp>
      <p:sp>
        <p:nvSpPr>
          <p:cNvPr id="2062" name="Text 2062"/>
          <p:cNvSpPr txBox="1"/>
          <p:nvPr/>
        </p:nvSpPr>
        <p:spPr>
          <a:xfrm>
            <a:off x="1007468" y="5962222"/>
            <a:ext cx="2880000" cy="457777"/>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Frais de gestion chez LFDR</a:t>
            </a:r>
          </a:p>
        </p:txBody>
      </p:sp>
      <p:sp>
        <p:nvSpPr>
          <p:cNvPr id="2063" name="Text 2063"/>
          <p:cNvSpPr txBox="1"/>
          <p:nvPr/>
        </p:nvSpPr>
        <p:spPr>
          <a:xfrm>
            <a:off x="4147468" y="5962222"/>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Light" pitchFamily="2" charset="77"/>
                <a:ea typeface="Jost Light" pitchFamily="2" charset="77"/>
                <a:cs typeface="Jost Light" pitchFamily="2" charset="77"/>
              </a:rPr>
              <a:t>Entre 0,5% et 0,6%</a:t>
            </a:r>
          </a:p>
        </p:txBody>
      </p:sp>
      <p:sp>
        <p:nvSpPr>
          <p:cNvPr id="2064" name="Text 2064"/>
          <p:cNvSpPr txBox="1"/>
          <p:nvPr/>
        </p:nvSpPr>
        <p:spPr>
          <a:xfrm>
            <a:off x="8019734" y="5962222"/>
            <a:ext cx="3472266" cy="457777"/>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Entre 0,5% et 0,8%</a:t>
            </a:r>
          </a:p>
        </p:txBody>
      </p:sp>
      <p:sp>
        <p:nvSpPr>
          <p:cNvPr id="2065" name="Shape 2065"/>
          <p:cNvSpPr/>
          <p:nvPr/>
        </p:nvSpPr>
        <p:spPr>
          <a:xfrm>
            <a:off x="947468" y="6420000"/>
            <a:ext cx="10744532" cy="1"/>
          </a:xfrm>
          <a:prstGeom prst="line">
            <a:avLst/>
          </a:prstGeom>
          <a:noFill/>
          <a:ln w="9525">
            <a:solidFill>
              <a:srgbClr val="A9853F"/>
            </a:solidFill>
          </a:ln>
        </p:spPr>
        <p:txBody>
          <a:bodyPr rtlCol="0" anchor="ctr"/>
          <a:lstStyle/>
          <a:p>
            <a:endParaRPr lang="fr-FR"/>
          </a:p>
        </p:txBody>
      </p:sp>
    </p:spTree>
    <p:extLst>
      <p:ext uri="{BB962C8B-B14F-4D97-AF65-F5344CB8AC3E}">
        <p14:creationId xmlns:p14="http://schemas.microsoft.com/office/powerpoint/2010/main" val="2665818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8781" y="21548"/>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 contrat flexible, pensé pour durer, évoluer et se transmettre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Le contrat de capitalisation à l’impôt sur le revenu (IR)</a:t>
            </a:r>
          </a:p>
        </p:txBody>
      </p:sp>
      <p:sp>
        <p:nvSpPr>
          <p:cNvPr id="4001" name="Shape 4001"/>
          <p:cNvSpPr/>
          <p:nvPr/>
        </p:nvSpPr>
        <p:spPr>
          <a:xfrm>
            <a:off x="947468" y="1701343"/>
            <a:ext cx="3448177" cy="819706"/>
          </a:xfrm>
          <a:prstGeom prst="rect">
            <a:avLst/>
          </a:prstGeom>
          <a:solidFill>
            <a:srgbClr val="001B00"/>
          </a:solidFill>
          <a:ln>
            <a:noFill/>
          </a:ln>
        </p:spPr>
        <p:txBody>
          <a:bodyPr rtlCol="0" anchor="ctr"/>
          <a:lstStyle/>
          <a:p>
            <a:endParaRPr lang="fr-FR"/>
          </a:p>
        </p:txBody>
      </p:sp>
      <p:sp>
        <p:nvSpPr>
          <p:cNvPr id="4002" name="Text 4002"/>
          <p:cNvSpPr txBox="1"/>
          <p:nvPr/>
        </p:nvSpPr>
        <p:spPr>
          <a:xfrm>
            <a:off x="1047468" y="1701343"/>
            <a:ext cx="3248177" cy="819706"/>
          </a:xfrm>
          <a:prstGeom prst="rect">
            <a:avLst/>
          </a:prstGeom>
          <a:noFill/>
          <a:ln>
            <a:noFill/>
          </a:ln>
        </p:spPr>
        <p:txBody>
          <a:bodyPr wrap="square" lIns="0" tIns="0" rIns="0" bIns="0" rtlCol="0" anchor="ctr">
            <a:normAutofit/>
          </a:bodyPr>
          <a:lstStyle/>
          <a:p>
            <a:pPr algn="ctr">
              <a:spcAft>
                <a:spcPts val="150"/>
              </a:spcAft>
              <a:buNone/>
            </a:pPr>
            <a:r>
              <a:rPr lang="fr-FR" sz="950" dirty="0">
                <a:solidFill>
                  <a:srgbClr val="FFFFFF"/>
                </a:solidFill>
                <a:latin typeface="Jost Medium" pitchFamily="2" charset="77"/>
                <a:ea typeface="Jost Medium" pitchFamily="2" charset="77"/>
                <a:cs typeface="Jost Medium" pitchFamily="2" charset="77"/>
              </a:rPr>
              <a:t>Imposition annuelle des gains sans rachat</a:t>
            </a:r>
          </a:p>
          <a:p>
            <a:pPr algn="ctr">
              <a:buNone/>
            </a:pPr>
            <a:r>
              <a:rPr lang="fr-FR" sz="2000" b="1" dirty="0">
                <a:solidFill>
                  <a:srgbClr val="FFFFFF"/>
                </a:solidFill>
                <a:latin typeface="Cormorant Garamond SemiBold" pitchFamily="2" charset="77"/>
                <a:ea typeface="Cormorant Garamond SemiBold" pitchFamily="2" charset="77"/>
                <a:cs typeface="Cormorant Garamond SemiBold" pitchFamily="2" charset="77"/>
              </a:rPr>
              <a:t>Aucune</a:t>
            </a:r>
          </a:p>
        </p:txBody>
      </p:sp>
      <p:sp>
        <p:nvSpPr>
          <p:cNvPr id="4003" name="Shape 4003"/>
          <p:cNvSpPr/>
          <p:nvPr/>
        </p:nvSpPr>
        <p:spPr>
          <a:xfrm>
            <a:off x="4595645" y="1701343"/>
            <a:ext cx="3448177" cy="819706"/>
          </a:xfrm>
          <a:prstGeom prst="rect">
            <a:avLst/>
          </a:prstGeom>
          <a:solidFill>
            <a:srgbClr val="001B00"/>
          </a:solidFill>
          <a:ln>
            <a:noFill/>
          </a:ln>
        </p:spPr>
        <p:txBody>
          <a:bodyPr rtlCol="0" anchor="ctr"/>
          <a:lstStyle/>
          <a:p>
            <a:endParaRPr lang="fr-FR"/>
          </a:p>
        </p:txBody>
      </p:sp>
      <p:sp>
        <p:nvSpPr>
          <p:cNvPr id="4004" name="Text 4004"/>
          <p:cNvSpPr txBox="1"/>
          <p:nvPr/>
        </p:nvSpPr>
        <p:spPr>
          <a:xfrm>
            <a:off x="4695645" y="1701343"/>
            <a:ext cx="3248177" cy="819706"/>
          </a:xfrm>
          <a:prstGeom prst="rect">
            <a:avLst/>
          </a:prstGeom>
          <a:noFill/>
          <a:ln>
            <a:noFill/>
          </a:ln>
        </p:spPr>
        <p:txBody>
          <a:bodyPr wrap="square" lIns="0" tIns="0" rIns="0" bIns="0" rtlCol="0" anchor="ctr">
            <a:normAutofit/>
          </a:bodyPr>
          <a:lstStyle/>
          <a:p>
            <a:pPr algn="ctr">
              <a:spcAft>
                <a:spcPts val="150"/>
              </a:spcAft>
              <a:buNone/>
            </a:pPr>
            <a:r>
              <a:rPr lang="fr-FR" sz="950" dirty="0">
                <a:solidFill>
                  <a:srgbClr val="FFFFFF"/>
                </a:solidFill>
                <a:latin typeface="Jost Medium" pitchFamily="2" charset="77"/>
                <a:ea typeface="Jost Medium" pitchFamily="2" charset="77"/>
                <a:cs typeface="Jost Medium" pitchFamily="2" charset="77"/>
              </a:rPr>
              <a:t>Fiscalité des gains (avant / après 8 ans)</a:t>
            </a:r>
          </a:p>
          <a:p>
            <a:pPr algn="ctr">
              <a:buNone/>
            </a:pPr>
            <a:r>
              <a:rPr lang="fr-FR" sz="2000" b="1" dirty="0">
                <a:solidFill>
                  <a:srgbClr val="FFFFFF"/>
                </a:solidFill>
                <a:latin typeface="Cormorant Garamond SemiBold" pitchFamily="2" charset="77"/>
                <a:ea typeface="Cormorant Garamond SemiBold" pitchFamily="2" charset="77"/>
                <a:cs typeface="Cormorant Garamond SemiBold" pitchFamily="2" charset="77"/>
              </a:rPr>
              <a:t>30% / 24,7%</a:t>
            </a:r>
          </a:p>
        </p:txBody>
      </p:sp>
      <p:sp>
        <p:nvSpPr>
          <p:cNvPr id="4007" name="Shape 4007"/>
          <p:cNvSpPr/>
          <p:nvPr/>
        </p:nvSpPr>
        <p:spPr>
          <a:xfrm>
            <a:off x="947468" y="2832181"/>
            <a:ext cx="5212266" cy="460000"/>
          </a:xfrm>
          <a:prstGeom prst="rect">
            <a:avLst/>
          </a:prstGeom>
          <a:solidFill>
            <a:srgbClr val="001B00"/>
          </a:solidFill>
          <a:ln>
            <a:noFill/>
          </a:ln>
        </p:spPr>
        <p:txBody>
          <a:bodyPr rtlCol="0" anchor="ctr"/>
          <a:lstStyle/>
          <a:p>
            <a:endParaRPr lang="fr-FR"/>
          </a:p>
        </p:txBody>
      </p:sp>
      <p:sp>
        <p:nvSpPr>
          <p:cNvPr id="4008" name="Text 4008"/>
          <p:cNvSpPr txBox="1"/>
          <p:nvPr/>
        </p:nvSpPr>
        <p:spPr>
          <a:xfrm>
            <a:off x="947468" y="2832181"/>
            <a:ext cx="5212266"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Le mécanisme fiscal</a:t>
            </a:r>
          </a:p>
        </p:txBody>
      </p:sp>
      <p:sp>
        <p:nvSpPr>
          <p:cNvPr id="4009" name="Shape 4009"/>
          <p:cNvSpPr/>
          <p:nvPr/>
        </p:nvSpPr>
        <p:spPr>
          <a:xfrm>
            <a:off x="947468" y="3292181"/>
            <a:ext cx="5212266" cy="1624123"/>
          </a:xfrm>
          <a:prstGeom prst="rect">
            <a:avLst/>
          </a:prstGeom>
          <a:solidFill>
            <a:srgbClr val="FCF9EF"/>
          </a:solidFill>
          <a:ln>
            <a:noFill/>
          </a:ln>
        </p:spPr>
        <p:txBody>
          <a:bodyPr rtlCol="0" anchor="ctr"/>
          <a:lstStyle/>
          <a:p>
            <a:endParaRPr lang="fr-FR"/>
          </a:p>
        </p:txBody>
      </p:sp>
      <p:sp>
        <p:nvSpPr>
          <p:cNvPr id="4010" name="Text 4010"/>
          <p:cNvSpPr txBox="1"/>
          <p:nvPr/>
        </p:nvSpPr>
        <p:spPr>
          <a:xfrm>
            <a:off x="1167469" y="3472180"/>
            <a:ext cx="4803486" cy="1487819"/>
          </a:xfrm>
          <a:prstGeom prst="rect">
            <a:avLst/>
          </a:prstGeom>
          <a:noFill/>
          <a:ln>
            <a:noFill/>
          </a:ln>
        </p:spPr>
        <p:txBody>
          <a:bodyPr wrap="square" lIns="0" tIns="0" rIns="0" bIns="0" rtlCol="0" anchor="t">
            <a:normAutofit/>
          </a:bodyPr>
          <a:lstStyle/>
          <a:p>
            <a:pPr marL="18288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Prélèvement forfaitaire unique par défaut.</a:t>
            </a:r>
          </a:p>
          <a:p>
            <a:pPr marL="18288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Avant 8 ans : 12,8 % d’impôt sur les gains, plus 17,2% de prélèvements sociaux, soit 30%</a:t>
            </a:r>
          </a:p>
          <a:p>
            <a:pPr marL="18288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Après 8 ans : abattement annuel de 4 600 EUR sur les gains, 9 200 EUR pour un couple, renouvelable chaque année. Au-delà de l’abattement : 7,5% jusqu’à 150 000 EUR de primes versées, puis 12,8%, plus 17,2% de prélèvements sociaux. </a:t>
            </a:r>
          </a:p>
          <a:p>
            <a:pPr marL="18288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Exclu de la hausse de CSG de 2026 : les prélèvements sociaux restent à 17,2%, contre 18,6% sur un compte-titres</a:t>
            </a:r>
          </a:p>
          <a:p>
            <a:pPr marL="182880" indent="-182880">
              <a:spcAft>
                <a:spcPts val="450"/>
              </a:spcAft>
              <a:buFont typeface="Arial" pitchFamily="34" charset="0"/>
              <a:buChar char="▪"/>
            </a:pPr>
            <a:endParaRPr lang="fr-FR" sz="950" dirty="0">
              <a:solidFill>
                <a:srgbClr val="073527"/>
              </a:solidFill>
              <a:latin typeface="Jost Light" pitchFamily="2" charset="77"/>
              <a:ea typeface="Jost Light" pitchFamily="2" charset="77"/>
              <a:cs typeface="Jost Light" pitchFamily="2" charset="77"/>
            </a:endParaRPr>
          </a:p>
          <a:p>
            <a:pPr marL="182880" indent="-182880">
              <a:spcAft>
                <a:spcPts val="450"/>
              </a:spcAft>
              <a:buFont typeface="Arial" pitchFamily="34" charset="0"/>
              <a:buChar char="▪"/>
            </a:pPr>
            <a:endParaRPr lang="fr-FR" sz="950" dirty="0">
              <a:solidFill>
                <a:srgbClr val="073527"/>
              </a:solidFill>
              <a:latin typeface="Jost Light" pitchFamily="2" charset="77"/>
              <a:ea typeface="Jost Light" pitchFamily="2" charset="77"/>
              <a:cs typeface="Jost Light" pitchFamily="2" charset="77"/>
            </a:endParaRPr>
          </a:p>
          <a:p>
            <a:pPr marL="182880" indent="-182880" algn="l">
              <a:spcAft>
                <a:spcPts val="450"/>
              </a:spcAft>
              <a:buFont typeface="Arial" pitchFamily="34" charset="0"/>
              <a:buChar char="▪"/>
            </a:pPr>
            <a:endParaRPr lang="fr-FR" sz="950" dirty="0">
              <a:solidFill>
                <a:srgbClr val="073527"/>
              </a:solidFill>
              <a:latin typeface="Jost Light" pitchFamily="2" charset="77"/>
              <a:ea typeface="Jost Light" pitchFamily="2" charset="77"/>
              <a:cs typeface="Jost Light" pitchFamily="2" charset="77"/>
            </a:endParaRPr>
          </a:p>
        </p:txBody>
      </p:sp>
      <p:sp>
        <p:nvSpPr>
          <p:cNvPr id="4011" name="Shape 4011"/>
          <p:cNvSpPr/>
          <p:nvPr/>
        </p:nvSpPr>
        <p:spPr>
          <a:xfrm>
            <a:off x="6479734" y="2832181"/>
            <a:ext cx="5212266" cy="460000"/>
          </a:xfrm>
          <a:prstGeom prst="rect">
            <a:avLst/>
          </a:prstGeom>
          <a:solidFill>
            <a:srgbClr val="001B00"/>
          </a:solidFill>
          <a:ln>
            <a:noFill/>
          </a:ln>
        </p:spPr>
        <p:txBody>
          <a:bodyPr rtlCol="0" anchor="ctr"/>
          <a:lstStyle/>
          <a:p>
            <a:endParaRPr lang="fr-FR"/>
          </a:p>
        </p:txBody>
      </p:sp>
      <p:sp>
        <p:nvSpPr>
          <p:cNvPr id="4012" name="Text 4012"/>
          <p:cNvSpPr txBox="1"/>
          <p:nvPr/>
        </p:nvSpPr>
        <p:spPr>
          <a:xfrm>
            <a:off x="6479734" y="2832181"/>
            <a:ext cx="5212266"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L’intérêt pour vous</a:t>
            </a:r>
          </a:p>
        </p:txBody>
      </p:sp>
      <p:sp>
        <p:nvSpPr>
          <p:cNvPr id="4013" name="Shape 4013"/>
          <p:cNvSpPr/>
          <p:nvPr/>
        </p:nvSpPr>
        <p:spPr>
          <a:xfrm>
            <a:off x="6479734" y="3292181"/>
            <a:ext cx="5212266" cy="1624123"/>
          </a:xfrm>
          <a:prstGeom prst="rect">
            <a:avLst/>
          </a:prstGeom>
          <a:solidFill>
            <a:srgbClr val="FCF9EF"/>
          </a:solidFill>
          <a:ln>
            <a:noFill/>
          </a:ln>
        </p:spPr>
        <p:txBody>
          <a:bodyPr rtlCol="0" anchor="ctr"/>
          <a:lstStyle/>
          <a:p>
            <a:endParaRPr lang="fr-FR"/>
          </a:p>
        </p:txBody>
      </p:sp>
      <p:sp>
        <p:nvSpPr>
          <p:cNvPr id="4014" name="Text 4014"/>
          <p:cNvSpPr txBox="1"/>
          <p:nvPr/>
        </p:nvSpPr>
        <p:spPr>
          <a:xfrm>
            <a:off x="6699734" y="3472181"/>
            <a:ext cx="4772266" cy="1600000"/>
          </a:xfrm>
          <a:prstGeom prst="rect">
            <a:avLst/>
          </a:prstGeom>
          <a:noFill/>
          <a:ln>
            <a:noFill/>
          </a:ln>
        </p:spPr>
        <p:txBody>
          <a:bodyPr wrap="square" lIns="0" tIns="0" rIns="0" bIns="0" rtlCol="0" anchor="t">
            <a:normAutofit/>
          </a:bodyPr>
          <a:lstStyle/>
          <a:p>
            <a:pPr marL="18288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rPr>
              <a:t>Gérer votre épargne disponible et la valoriser sur le long terme.</a:t>
            </a:r>
          </a:p>
          <a:p>
            <a:pPr marL="18288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rPr>
              <a:t>Générer des revenus complémentaires selon vos besoins.</a:t>
            </a:r>
          </a:p>
          <a:p>
            <a:pPr marL="18288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rPr>
              <a:t>Structurer et transmettre votre patrimoine financier pour préparer l’avenir.</a:t>
            </a:r>
          </a:p>
        </p:txBody>
      </p:sp>
      <p:sp>
        <p:nvSpPr>
          <p:cNvPr id="260" name="Footnote 260"/>
          <p:cNvSpPr txBox="1"/>
          <p:nvPr/>
        </p:nvSpPr>
        <p:spPr>
          <a:xfrm>
            <a:off x="947468" y="6560000"/>
            <a:ext cx="10744532" cy="320000"/>
          </a:xfrm>
          <a:prstGeom prst="rect">
            <a:avLst/>
          </a:prstGeom>
          <a:noFill/>
          <a:ln>
            <a:noFill/>
          </a:ln>
        </p:spPr>
        <p:txBody>
          <a:bodyPr wrap="square" lIns="0" tIns="0" rIns="0" bIns="0" rtlCol="0" anchor="t">
            <a:normAutofit/>
          </a:bodyPr>
          <a:lstStyle/>
          <a:p>
            <a:pPr algn="ctr">
              <a:buNone/>
            </a:pPr>
            <a:r>
              <a:rPr lang="fr-FR" sz="800" i="1" dirty="0">
                <a:solidFill>
                  <a:srgbClr val="6B6B6B"/>
                </a:solidFill>
                <a:latin typeface="Jost Light" pitchFamily="2" charset="77"/>
                <a:ea typeface="Jost Light" pitchFamily="2" charset="77"/>
                <a:cs typeface="Jost Light" pitchFamily="2" charset="77"/>
              </a:rPr>
              <a:t>Détention par une personne physique résidente fiscale française. Fiscalité en vigueur en 2026 (art. 125-0 A et 200 A du CGI) pour les primes versées depuis le 27/09/2017, présentée à titre informatif et susceptible d’évolution.</a:t>
            </a:r>
          </a:p>
        </p:txBody>
      </p:sp>
      <p:sp>
        <p:nvSpPr>
          <p:cNvPr id="6" name="Shape 3005">
            <a:extLst>
              <a:ext uri="{FF2B5EF4-FFF2-40B4-BE49-F238E27FC236}">
                <a16:creationId xmlns:a16="http://schemas.microsoft.com/office/drawing/2014/main" id="{A9A4200D-6787-9424-2B47-44AAF4189572}"/>
              </a:ext>
            </a:extLst>
          </p:cNvPr>
          <p:cNvSpPr/>
          <p:nvPr/>
        </p:nvSpPr>
        <p:spPr>
          <a:xfrm>
            <a:off x="8243822" y="1701343"/>
            <a:ext cx="3448177" cy="819706"/>
          </a:xfrm>
          <a:prstGeom prst="rect">
            <a:avLst/>
          </a:prstGeom>
          <a:solidFill>
            <a:srgbClr val="001B00"/>
          </a:solidFill>
          <a:ln>
            <a:noFill/>
          </a:ln>
        </p:spPr>
        <p:txBody>
          <a:bodyPr rtlCol="0" anchor="ctr"/>
          <a:lstStyle/>
          <a:p>
            <a:endParaRPr lang="fr-FR"/>
          </a:p>
        </p:txBody>
      </p:sp>
      <p:sp>
        <p:nvSpPr>
          <p:cNvPr id="7" name="Text 3006">
            <a:extLst>
              <a:ext uri="{FF2B5EF4-FFF2-40B4-BE49-F238E27FC236}">
                <a16:creationId xmlns:a16="http://schemas.microsoft.com/office/drawing/2014/main" id="{98346E32-A847-B6BE-0A36-74AABBD9080B}"/>
              </a:ext>
            </a:extLst>
          </p:cNvPr>
          <p:cNvSpPr txBox="1"/>
          <p:nvPr/>
        </p:nvSpPr>
        <p:spPr>
          <a:xfrm>
            <a:off x="8343822" y="1701343"/>
            <a:ext cx="3248177" cy="819706"/>
          </a:xfrm>
          <a:prstGeom prst="rect">
            <a:avLst/>
          </a:prstGeom>
          <a:noFill/>
          <a:ln>
            <a:noFill/>
          </a:ln>
        </p:spPr>
        <p:txBody>
          <a:bodyPr wrap="square" lIns="0" tIns="0" rIns="0" bIns="0" rtlCol="0" anchor="ctr">
            <a:normAutofit/>
          </a:bodyPr>
          <a:lstStyle/>
          <a:p>
            <a:pPr algn="ctr">
              <a:spcAft>
                <a:spcPts val="150"/>
              </a:spcAft>
              <a:buNone/>
            </a:pPr>
            <a:r>
              <a:rPr lang="fr-FR" sz="950" dirty="0">
                <a:solidFill>
                  <a:srgbClr val="FFFFFF"/>
                </a:solidFill>
                <a:latin typeface="Jost Medium" pitchFamily="2" charset="77"/>
                <a:ea typeface="Jost Medium" pitchFamily="2" charset="77"/>
                <a:cs typeface="Jost Medium" pitchFamily="2" charset="77"/>
              </a:rPr>
              <a:t>Donation en pleine propriété</a:t>
            </a:r>
          </a:p>
          <a:p>
            <a:pPr algn="ctr">
              <a:buNone/>
            </a:pPr>
            <a:r>
              <a:rPr lang="fr-FR" sz="2000" b="1" dirty="0">
                <a:solidFill>
                  <a:srgbClr val="FFFFFF"/>
                </a:solidFill>
                <a:latin typeface="Cormorant Garamond SemiBold" pitchFamily="2" charset="77"/>
                <a:ea typeface="Cormorant Garamond SemiBold" pitchFamily="2" charset="77"/>
                <a:cs typeface="Cormorant Garamond SemiBold" pitchFamily="2" charset="77"/>
              </a:rPr>
              <a:t>Purge des plus-values</a:t>
            </a:r>
          </a:p>
        </p:txBody>
      </p:sp>
      <p:sp>
        <p:nvSpPr>
          <p:cNvPr id="10" name="Text 7015">
            <a:extLst>
              <a:ext uri="{FF2B5EF4-FFF2-40B4-BE49-F238E27FC236}">
                <a16:creationId xmlns:a16="http://schemas.microsoft.com/office/drawing/2014/main" id="{98D79A46-DC7F-8513-87C6-1B645306CB7E}"/>
              </a:ext>
            </a:extLst>
          </p:cNvPr>
          <p:cNvSpPr txBox="1"/>
          <p:nvPr/>
        </p:nvSpPr>
        <p:spPr>
          <a:xfrm>
            <a:off x="947468" y="5078152"/>
            <a:ext cx="4000000" cy="32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COMMENT LE TRANSMETTRE</a:t>
            </a:r>
          </a:p>
        </p:txBody>
      </p:sp>
      <p:sp>
        <p:nvSpPr>
          <p:cNvPr id="11" name="Shape 7016">
            <a:extLst>
              <a:ext uri="{FF2B5EF4-FFF2-40B4-BE49-F238E27FC236}">
                <a16:creationId xmlns:a16="http://schemas.microsoft.com/office/drawing/2014/main" id="{9C8658C8-E41E-62FA-3B40-24108746B478}"/>
              </a:ext>
            </a:extLst>
          </p:cNvPr>
          <p:cNvSpPr/>
          <p:nvPr/>
        </p:nvSpPr>
        <p:spPr>
          <a:xfrm>
            <a:off x="947468" y="5408152"/>
            <a:ext cx="2551133" cy="958862"/>
          </a:xfrm>
          <a:prstGeom prst="rect">
            <a:avLst/>
          </a:prstGeom>
          <a:solidFill>
            <a:srgbClr val="073527"/>
          </a:solidFill>
          <a:ln>
            <a:noFill/>
          </a:ln>
        </p:spPr>
        <p:txBody>
          <a:bodyPr rtlCol="0" anchor="ctr"/>
          <a:lstStyle/>
          <a:p>
            <a:endParaRPr lang="fr-FR"/>
          </a:p>
        </p:txBody>
      </p:sp>
      <p:sp>
        <p:nvSpPr>
          <p:cNvPr id="12" name="Text 7017">
            <a:extLst>
              <a:ext uri="{FF2B5EF4-FFF2-40B4-BE49-F238E27FC236}">
                <a16:creationId xmlns:a16="http://schemas.microsoft.com/office/drawing/2014/main" id="{4A87A773-B784-32B6-8FC4-610E848B2C56}"/>
              </a:ext>
            </a:extLst>
          </p:cNvPr>
          <p:cNvSpPr txBox="1"/>
          <p:nvPr/>
        </p:nvSpPr>
        <p:spPr>
          <a:xfrm>
            <a:off x="1127468" y="5538152"/>
            <a:ext cx="450000" cy="860000"/>
          </a:xfrm>
          <a:prstGeom prst="rect">
            <a:avLst/>
          </a:prstGeom>
          <a:noFill/>
          <a:ln>
            <a:noFill/>
          </a:ln>
        </p:spPr>
        <p:txBody>
          <a:bodyPr wrap="square" lIns="0" tIns="0" rIns="0" bIns="0" rtlCol="0" anchor="t">
            <a:normAutofit/>
          </a:bodyPr>
          <a:lstStyle/>
          <a:p>
            <a:pPr algn="l">
              <a:buNone/>
            </a:pPr>
            <a:r>
              <a:rPr lang="fr-FR" sz="1700" b="1" dirty="0">
                <a:solidFill>
                  <a:srgbClr val="A9853F"/>
                </a:solidFill>
                <a:latin typeface="Cormorant Garamond SemiBold" pitchFamily="2" charset="77"/>
                <a:ea typeface="Cormorant Garamond SemiBold" pitchFamily="2" charset="77"/>
                <a:cs typeface="Cormorant Garamond SemiBold" pitchFamily="2" charset="77"/>
              </a:rPr>
              <a:t>01</a:t>
            </a:r>
          </a:p>
        </p:txBody>
      </p:sp>
      <p:sp>
        <p:nvSpPr>
          <p:cNvPr id="13" name="Text 7018">
            <a:extLst>
              <a:ext uri="{FF2B5EF4-FFF2-40B4-BE49-F238E27FC236}">
                <a16:creationId xmlns:a16="http://schemas.microsoft.com/office/drawing/2014/main" id="{A8E5B27C-31F4-6059-12C1-6BDF1B81427B}"/>
              </a:ext>
            </a:extLst>
          </p:cNvPr>
          <p:cNvSpPr txBox="1"/>
          <p:nvPr/>
        </p:nvSpPr>
        <p:spPr>
          <a:xfrm>
            <a:off x="1607468" y="5538152"/>
            <a:ext cx="1711133" cy="860000"/>
          </a:xfrm>
          <a:prstGeom prst="rect">
            <a:avLst/>
          </a:prstGeom>
          <a:noFill/>
          <a:ln>
            <a:noFill/>
          </a:ln>
        </p:spPr>
        <p:txBody>
          <a:bodyPr wrap="square" lIns="0" tIns="0" rIns="0" bIns="0" rtlCol="0" anchor="t">
            <a:normAutofit/>
          </a:bodyPr>
          <a:lstStyle/>
          <a:p>
            <a:pPr algn="l">
              <a:spcAft>
                <a:spcPts val="200"/>
              </a:spcAft>
              <a:buNone/>
            </a:pPr>
            <a:r>
              <a:rPr lang="fr-FR" sz="1000" dirty="0">
                <a:solidFill>
                  <a:srgbClr val="FFFFFF"/>
                </a:solidFill>
                <a:latin typeface="Jost Medium" pitchFamily="2" charset="77"/>
                <a:ea typeface="Jost Medium" pitchFamily="2" charset="77"/>
                <a:cs typeface="Jost Medium" pitchFamily="2" charset="77"/>
              </a:rPr>
              <a:t>Donner le contrat</a:t>
            </a:r>
          </a:p>
          <a:p>
            <a:pPr algn="just">
              <a:buNone/>
            </a:pPr>
            <a:r>
              <a:rPr lang="fr-FR" sz="850" dirty="0">
                <a:solidFill>
                  <a:srgbClr val="FFFFFF"/>
                </a:solidFill>
                <a:latin typeface="Jost Light" pitchFamily="2" charset="77"/>
                <a:ea typeface="Jost Light" pitchFamily="2" charset="77"/>
                <a:cs typeface="Jost Light" pitchFamily="2" charset="77"/>
              </a:rPr>
              <a:t>Donation en pleine propriété ou en nue-propriété, sans clôturer le contrat. Droits calculés sur la valeur de rachat, après abattement disponible.</a:t>
            </a:r>
          </a:p>
        </p:txBody>
      </p:sp>
      <p:sp>
        <p:nvSpPr>
          <p:cNvPr id="14" name="Shape 7019">
            <a:extLst>
              <a:ext uri="{FF2B5EF4-FFF2-40B4-BE49-F238E27FC236}">
                <a16:creationId xmlns:a16="http://schemas.microsoft.com/office/drawing/2014/main" id="{41DFC0A7-4BA4-C564-975B-A593FD6CF40F}"/>
              </a:ext>
            </a:extLst>
          </p:cNvPr>
          <p:cNvSpPr/>
          <p:nvPr/>
        </p:nvSpPr>
        <p:spPr>
          <a:xfrm>
            <a:off x="3678601" y="5408152"/>
            <a:ext cx="2551133" cy="958862"/>
          </a:xfrm>
          <a:prstGeom prst="rect">
            <a:avLst/>
          </a:prstGeom>
          <a:solidFill>
            <a:srgbClr val="073527"/>
          </a:solidFill>
          <a:ln>
            <a:noFill/>
          </a:ln>
        </p:spPr>
        <p:txBody>
          <a:bodyPr rtlCol="0" anchor="ctr"/>
          <a:lstStyle/>
          <a:p>
            <a:endParaRPr lang="fr-FR"/>
          </a:p>
        </p:txBody>
      </p:sp>
      <p:sp>
        <p:nvSpPr>
          <p:cNvPr id="15" name="Text 7020">
            <a:extLst>
              <a:ext uri="{FF2B5EF4-FFF2-40B4-BE49-F238E27FC236}">
                <a16:creationId xmlns:a16="http://schemas.microsoft.com/office/drawing/2014/main" id="{36367042-0D15-7181-AFDE-6B2ED63D514A}"/>
              </a:ext>
            </a:extLst>
          </p:cNvPr>
          <p:cNvSpPr txBox="1"/>
          <p:nvPr/>
        </p:nvSpPr>
        <p:spPr>
          <a:xfrm>
            <a:off x="3858601" y="5538152"/>
            <a:ext cx="450000" cy="860000"/>
          </a:xfrm>
          <a:prstGeom prst="rect">
            <a:avLst/>
          </a:prstGeom>
          <a:noFill/>
          <a:ln>
            <a:noFill/>
          </a:ln>
        </p:spPr>
        <p:txBody>
          <a:bodyPr wrap="square" lIns="0" tIns="0" rIns="0" bIns="0" rtlCol="0" anchor="t">
            <a:normAutofit/>
          </a:bodyPr>
          <a:lstStyle/>
          <a:p>
            <a:pPr algn="l">
              <a:buNone/>
            </a:pPr>
            <a:r>
              <a:rPr lang="fr-FR" sz="1700" b="1" dirty="0">
                <a:solidFill>
                  <a:srgbClr val="A9853F"/>
                </a:solidFill>
                <a:latin typeface="Cormorant Garamond SemiBold" pitchFamily="2" charset="77"/>
                <a:ea typeface="Cormorant Garamond SemiBold" pitchFamily="2" charset="77"/>
                <a:cs typeface="Cormorant Garamond SemiBold" pitchFamily="2" charset="77"/>
              </a:rPr>
              <a:t>02</a:t>
            </a:r>
          </a:p>
        </p:txBody>
      </p:sp>
      <p:sp>
        <p:nvSpPr>
          <p:cNvPr id="16" name="Text 7021">
            <a:extLst>
              <a:ext uri="{FF2B5EF4-FFF2-40B4-BE49-F238E27FC236}">
                <a16:creationId xmlns:a16="http://schemas.microsoft.com/office/drawing/2014/main" id="{2B1902EC-E2D1-3910-4892-7AD331F3CCF9}"/>
              </a:ext>
            </a:extLst>
          </p:cNvPr>
          <p:cNvSpPr txBox="1"/>
          <p:nvPr/>
        </p:nvSpPr>
        <p:spPr>
          <a:xfrm>
            <a:off x="4338601" y="5538152"/>
            <a:ext cx="1711133" cy="860000"/>
          </a:xfrm>
          <a:prstGeom prst="rect">
            <a:avLst/>
          </a:prstGeom>
          <a:noFill/>
          <a:ln>
            <a:noFill/>
          </a:ln>
        </p:spPr>
        <p:txBody>
          <a:bodyPr wrap="square" lIns="0" tIns="0" rIns="0" bIns="0" rtlCol="0" anchor="t">
            <a:normAutofit/>
          </a:bodyPr>
          <a:lstStyle/>
          <a:p>
            <a:pPr algn="l">
              <a:spcAft>
                <a:spcPts val="200"/>
              </a:spcAft>
              <a:buNone/>
            </a:pPr>
            <a:r>
              <a:rPr lang="fr-FR" sz="1000" dirty="0">
                <a:solidFill>
                  <a:srgbClr val="FFFFFF"/>
                </a:solidFill>
                <a:latin typeface="Jost Medium" pitchFamily="2" charset="77"/>
                <a:ea typeface="Jost Medium" pitchFamily="2" charset="77"/>
                <a:cs typeface="Jost Medium" pitchFamily="2" charset="77"/>
              </a:rPr>
              <a:t>La purge des plus-values</a:t>
            </a:r>
          </a:p>
          <a:p>
            <a:pPr algn="just">
              <a:buNone/>
            </a:pPr>
            <a:r>
              <a:rPr lang="fr-FR" sz="850" dirty="0">
                <a:solidFill>
                  <a:srgbClr val="FFFFFF"/>
                </a:solidFill>
                <a:latin typeface="Jost Light" pitchFamily="2" charset="77"/>
                <a:ea typeface="Jost Light" pitchFamily="2" charset="77"/>
                <a:cs typeface="Jost Light" pitchFamily="2" charset="77"/>
              </a:rPr>
              <a:t>Le paiement des droits efface les plus-values latentes : le donataire repart de la valeur au jour de la donation. Purge partielle en démembrement.</a:t>
            </a:r>
          </a:p>
        </p:txBody>
      </p:sp>
      <p:sp>
        <p:nvSpPr>
          <p:cNvPr id="17" name="Shape 7022">
            <a:extLst>
              <a:ext uri="{FF2B5EF4-FFF2-40B4-BE49-F238E27FC236}">
                <a16:creationId xmlns:a16="http://schemas.microsoft.com/office/drawing/2014/main" id="{1E5EC768-2382-BF69-07B5-B8DC32985BB2}"/>
              </a:ext>
            </a:extLst>
          </p:cNvPr>
          <p:cNvSpPr/>
          <p:nvPr/>
        </p:nvSpPr>
        <p:spPr>
          <a:xfrm>
            <a:off x="6409734" y="5408152"/>
            <a:ext cx="2551133" cy="958862"/>
          </a:xfrm>
          <a:prstGeom prst="rect">
            <a:avLst/>
          </a:prstGeom>
          <a:solidFill>
            <a:srgbClr val="073527"/>
          </a:solidFill>
          <a:ln>
            <a:noFill/>
          </a:ln>
        </p:spPr>
        <p:txBody>
          <a:bodyPr rtlCol="0" anchor="ctr"/>
          <a:lstStyle/>
          <a:p>
            <a:endParaRPr lang="fr-FR"/>
          </a:p>
        </p:txBody>
      </p:sp>
      <p:sp>
        <p:nvSpPr>
          <p:cNvPr id="18" name="Text 7023">
            <a:extLst>
              <a:ext uri="{FF2B5EF4-FFF2-40B4-BE49-F238E27FC236}">
                <a16:creationId xmlns:a16="http://schemas.microsoft.com/office/drawing/2014/main" id="{E573FBD1-6043-395D-CC98-AA2E7562D2AF}"/>
              </a:ext>
            </a:extLst>
          </p:cNvPr>
          <p:cNvSpPr txBox="1"/>
          <p:nvPr/>
        </p:nvSpPr>
        <p:spPr>
          <a:xfrm>
            <a:off x="6589734" y="5538152"/>
            <a:ext cx="450000" cy="860000"/>
          </a:xfrm>
          <a:prstGeom prst="rect">
            <a:avLst/>
          </a:prstGeom>
          <a:noFill/>
          <a:ln>
            <a:noFill/>
          </a:ln>
        </p:spPr>
        <p:txBody>
          <a:bodyPr wrap="square" lIns="0" tIns="0" rIns="0" bIns="0" rtlCol="0" anchor="t">
            <a:normAutofit/>
          </a:bodyPr>
          <a:lstStyle/>
          <a:p>
            <a:pPr algn="l">
              <a:buNone/>
            </a:pPr>
            <a:r>
              <a:rPr lang="fr-FR" sz="1700" b="1" dirty="0">
                <a:solidFill>
                  <a:srgbClr val="A9853F"/>
                </a:solidFill>
                <a:latin typeface="Cormorant Garamond SemiBold" pitchFamily="2" charset="77"/>
                <a:ea typeface="Cormorant Garamond SemiBold" pitchFamily="2" charset="77"/>
                <a:cs typeface="Cormorant Garamond SemiBold" pitchFamily="2" charset="77"/>
              </a:rPr>
              <a:t>03</a:t>
            </a:r>
          </a:p>
        </p:txBody>
      </p:sp>
      <p:sp>
        <p:nvSpPr>
          <p:cNvPr id="19" name="Text 7024">
            <a:extLst>
              <a:ext uri="{FF2B5EF4-FFF2-40B4-BE49-F238E27FC236}">
                <a16:creationId xmlns:a16="http://schemas.microsoft.com/office/drawing/2014/main" id="{E0A8A396-86D6-8F5E-C83E-8BE1F85E2061}"/>
              </a:ext>
            </a:extLst>
          </p:cNvPr>
          <p:cNvSpPr txBox="1"/>
          <p:nvPr/>
        </p:nvSpPr>
        <p:spPr>
          <a:xfrm>
            <a:off x="7069734" y="5538152"/>
            <a:ext cx="1711133" cy="860000"/>
          </a:xfrm>
          <a:prstGeom prst="rect">
            <a:avLst/>
          </a:prstGeom>
          <a:noFill/>
          <a:ln>
            <a:noFill/>
          </a:ln>
        </p:spPr>
        <p:txBody>
          <a:bodyPr wrap="square" lIns="0" tIns="0" rIns="0" bIns="0" rtlCol="0" anchor="t">
            <a:normAutofit/>
          </a:bodyPr>
          <a:lstStyle/>
          <a:p>
            <a:pPr algn="l">
              <a:spcAft>
                <a:spcPts val="200"/>
              </a:spcAft>
              <a:buNone/>
            </a:pPr>
            <a:r>
              <a:rPr lang="fr-FR" sz="1000" dirty="0">
                <a:solidFill>
                  <a:srgbClr val="FFFFFF"/>
                </a:solidFill>
                <a:latin typeface="Jost Medium" pitchFamily="2" charset="77"/>
                <a:ea typeface="Jost Medium" pitchFamily="2" charset="77"/>
                <a:cs typeface="Jost Medium" pitchFamily="2" charset="77"/>
              </a:rPr>
              <a:t>Pas de clause bénéficiaire</a:t>
            </a:r>
          </a:p>
          <a:p>
            <a:pPr algn="just">
              <a:buNone/>
            </a:pPr>
            <a:r>
              <a:rPr lang="fr-FR" sz="850" dirty="0">
                <a:solidFill>
                  <a:srgbClr val="FFFFFF"/>
                </a:solidFill>
                <a:latin typeface="Jost Light" pitchFamily="2" charset="77"/>
                <a:ea typeface="Jost Light" pitchFamily="2" charset="77"/>
                <a:cs typeface="Jost Light" pitchFamily="2" charset="77"/>
              </a:rPr>
              <a:t>Le contrat n’est pas dénoué au décès : il entre dans la succession à sa valeur de rachat et continue de vivre.</a:t>
            </a:r>
          </a:p>
        </p:txBody>
      </p:sp>
      <p:sp>
        <p:nvSpPr>
          <p:cNvPr id="20" name="Shape 7025">
            <a:extLst>
              <a:ext uri="{FF2B5EF4-FFF2-40B4-BE49-F238E27FC236}">
                <a16:creationId xmlns:a16="http://schemas.microsoft.com/office/drawing/2014/main" id="{489DD1D4-5C1D-A388-0F64-5D66F46D8800}"/>
              </a:ext>
            </a:extLst>
          </p:cNvPr>
          <p:cNvSpPr/>
          <p:nvPr/>
        </p:nvSpPr>
        <p:spPr>
          <a:xfrm>
            <a:off x="9140867" y="5408152"/>
            <a:ext cx="2551133" cy="958862"/>
          </a:xfrm>
          <a:prstGeom prst="rect">
            <a:avLst/>
          </a:prstGeom>
          <a:solidFill>
            <a:srgbClr val="073527"/>
          </a:solidFill>
          <a:ln>
            <a:noFill/>
          </a:ln>
        </p:spPr>
        <p:txBody>
          <a:bodyPr rtlCol="0" anchor="ctr"/>
          <a:lstStyle/>
          <a:p>
            <a:endParaRPr lang="fr-FR"/>
          </a:p>
        </p:txBody>
      </p:sp>
      <p:sp>
        <p:nvSpPr>
          <p:cNvPr id="21" name="Text 7026">
            <a:extLst>
              <a:ext uri="{FF2B5EF4-FFF2-40B4-BE49-F238E27FC236}">
                <a16:creationId xmlns:a16="http://schemas.microsoft.com/office/drawing/2014/main" id="{C979024A-0C60-8043-E893-0170BD8361F0}"/>
              </a:ext>
            </a:extLst>
          </p:cNvPr>
          <p:cNvSpPr txBox="1"/>
          <p:nvPr/>
        </p:nvSpPr>
        <p:spPr>
          <a:xfrm>
            <a:off x="9320867" y="5538152"/>
            <a:ext cx="450000" cy="860000"/>
          </a:xfrm>
          <a:prstGeom prst="rect">
            <a:avLst/>
          </a:prstGeom>
          <a:noFill/>
          <a:ln>
            <a:noFill/>
          </a:ln>
        </p:spPr>
        <p:txBody>
          <a:bodyPr wrap="square" lIns="0" tIns="0" rIns="0" bIns="0" rtlCol="0" anchor="t">
            <a:normAutofit/>
          </a:bodyPr>
          <a:lstStyle/>
          <a:p>
            <a:pPr algn="l">
              <a:buNone/>
            </a:pPr>
            <a:r>
              <a:rPr lang="fr-FR" sz="1700" b="1" dirty="0">
                <a:solidFill>
                  <a:srgbClr val="A9853F"/>
                </a:solidFill>
                <a:latin typeface="Cormorant Garamond SemiBold" pitchFamily="2" charset="77"/>
                <a:ea typeface="Cormorant Garamond SemiBold" pitchFamily="2" charset="77"/>
                <a:cs typeface="Cormorant Garamond SemiBold" pitchFamily="2" charset="77"/>
              </a:rPr>
              <a:t>04</a:t>
            </a:r>
          </a:p>
        </p:txBody>
      </p:sp>
      <p:sp>
        <p:nvSpPr>
          <p:cNvPr id="22" name="Text 7027">
            <a:extLst>
              <a:ext uri="{FF2B5EF4-FFF2-40B4-BE49-F238E27FC236}">
                <a16:creationId xmlns:a16="http://schemas.microsoft.com/office/drawing/2014/main" id="{272397C0-566D-5174-3CEB-EA0CF52C8292}"/>
              </a:ext>
            </a:extLst>
          </p:cNvPr>
          <p:cNvSpPr txBox="1"/>
          <p:nvPr/>
        </p:nvSpPr>
        <p:spPr>
          <a:xfrm>
            <a:off x="9800867" y="5538152"/>
            <a:ext cx="1711133" cy="860000"/>
          </a:xfrm>
          <a:prstGeom prst="rect">
            <a:avLst/>
          </a:prstGeom>
          <a:noFill/>
          <a:ln>
            <a:noFill/>
          </a:ln>
        </p:spPr>
        <p:txBody>
          <a:bodyPr wrap="square" lIns="0" tIns="0" rIns="0" bIns="0" rtlCol="0" anchor="t">
            <a:normAutofit/>
          </a:bodyPr>
          <a:lstStyle/>
          <a:p>
            <a:pPr algn="l">
              <a:spcAft>
                <a:spcPts val="200"/>
              </a:spcAft>
              <a:buNone/>
            </a:pPr>
            <a:r>
              <a:rPr lang="fr-FR" sz="1000" dirty="0">
                <a:solidFill>
                  <a:srgbClr val="FFFFFF"/>
                </a:solidFill>
                <a:latin typeface="Jost Medium" pitchFamily="2" charset="77"/>
                <a:ea typeface="Jost Medium" pitchFamily="2" charset="77"/>
                <a:cs typeface="Jost Medium" pitchFamily="2" charset="77"/>
              </a:rPr>
              <a:t>L’antériorité conservée</a:t>
            </a:r>
          </a:p>
          <a:p>
            <a:pPr algn="just">
              <a:buNone/>
            </a:pPr>
            <a:r>
              <a:rPr lang="fr-FR" sz="850" dirty="0">
                <a:solidFill>
                  <a:srgbClr val="FFFFFF"/>
                </a:solidFill>
                <a:latin typeface="Jost Light" pitchFamily="2" charset="77"/>
                <a:ea typeface="Jost Light" pitchFamily="2" charset="77"/>
                <a:cs typeface="Jost Light" pitchFamily="2" charset="77"/>
              </a:rPr>
              <a:t>Le donataire ou l’héritier garde les 8 ans du contrat et peut continuer à verser, arbitrer ou racheter.</a:t>
            </a:r>
          </a:p>
        </p:txBody>
      </p:sp>
    </p:spTree>
    <p:extLst>
      <p:ext uri="{BB962C8B-B14F-4D97-AF65-F5344CB8AC3E}">
        <p14:creationId xmlns:p14="http://schemas.microsoft.com/office/powerpoint/2010/main" val="324143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0061"/>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Placer la trésorerie de la société dans une enveloppe pensé pour durer, évoluer et se transmettre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Le contrat de capitalisation détenu par une société, à l’impôt sur les sociétés (IS) </a:t>
            </a:r>
          </a:p>
          <a:p>
            <a:endParaRPr lang="fr-FR" sz="1900" b="1" noProof="0" dirty="0">
              <a:solidFill>
                <a:srgbClr val="A9853F"/>
              </a:solidFill>
              <a:latin typeface="Cormorant Garamond SemiBold" pitchFamily="2" charset="77"/>
              <a:ea typeface="Cormorant Garamond SemiBold" pitchFamily="2" charset="77"/>
              <a:cs typeface="Cormorant Garamond SemiBold" pitchFamily="2" charset="77"/>
            </a:endParaRPr>
          </a:p>
        </p:txBody>
      </p:sp>
      <p:sp>
        <p:nvSpPr>
          <p:cNvPr id="5001" name="Shape 5001"/>
          <p:cNvSpPr/>
          <p:nvPr/>
        </p:nvSpPr>
        <p:spPr>
          <a:xfrm>
            <a:off x="947468" y="1780000"/>
            <a:ext cx="3448177" cy="900000"/>
          </a:xfrm>
          <a:prstGeom prst="rect">
            <a:avLst/>
          </a:prstGeom>
          <a:solidFill>
            <a:srgbClr val="001B00"/>
          </a:solidFill>
          <a:ln>
            <a:noFill/>
          </a:ln>
        </p:spPr>
        <p:txBody>
          <a:bodyPr rtlCol="0" anchor="ctr"/>
          <a:lstStyle/>
          <a:p>
            <a:endParaRPr lang="fr-FR"/>
          </a:p>
        </p:txBody>
      </p:sp>
      <p:sp>
        <p:nvSpPr>
          <p:cNvPr id="5002" name="Text 5002"/>
          <p:cNvSpPr txBox="1"/>
          <p:nvPr/>
        </p:nvSpPr>
        <p:spPr>
          <a:xfrm>
            <a:off x="1047468" y="1780000"/>
            <a:ext cx="3248177" cy="900000"/>
          </a:xfrm>
          <a:prstGeom prst="rect">
            <a:avLst/>
          </a:prstGeom>
          <a:noFill/>
          <a:ln>
            <a:noFill/>
          </a:ln>
        </p:spPr>
        <p:txBody>
          <a:bodyPr wrap="square" lIns="0" tIns="0" rIns="0" bIns="0" rtlCol="0" anchor="ctr">
            <a:normAutofit/>
          </a:bodyPr>
          <a:lstStyle/>
          <a:p>
            <a:pPr algn="ctr">
              <a:spcAft>
                <a:spcPts val="150"/>
              </a:spcAft>
              <a:buNone/>
            </a:pPr>
            <a:r>
              <a:rPr lang="fr-FR" sz="950" dirty="0">
                <a:solidFill>
                  <a:srgbClr val="FFFFFF"/>
                </a:solidFill>
                <a:latin typeface="Jost Medium" pitchFamily="2" charset="77"/>
                <a:ea typeface="Jost Medium" pitchFamily="2" charset="77"/>
                <a:cs typeface="Jost Medium" pitchFamily="2" charset="77"/>
              </a:rPr>
              <a:t>Base imposée chaque année (105 % du TME)</a:t>
            </a:r>
          </a:p>
          <a:p>
            <a:pPr algn="ctr">
              <a:buNone/>
            </a:pPr>
            <a:r>
              <a:rPr lang="fr-FR" sz="2000" b="1" dirty="0">
                <a:solidFill>
                  <a:srgbClr val="FFFFFF"/>
                </a:solidFill>
                <a:latin typeface="Cormorant Garamond SemiBold" pitchFamily="2" charset="77"/>
                <a:ea typeface="Cormorant Garamond SemiBold" pitchFamily="2" charset="77"/>
                <a:cs typeface="Cormorant Garamond SemiBold" pitchFamily="2" charset="77"/>
              </a:rPr>
              <a:t>≈ 3,76%</a:t>
            </a:r>
          </a:p>
        </p:txBody>
      </p:sp>
      <p:sp>
        <p:nvSpPr>
          <p:cNvPr id="5003" name="Shape 5003"/>
          <p:cNvSpPr/>
          <p:nvPr/>
        </p:nvSpPr>
        <p:spPr>
          <a:xfrm>
            <a:off x="4595645" y="1780000"/>
            <a:ext cx="3448177" cy="900000"/>
          </a:xfrm>
          <a:prstGeom prst="rect">
            <a:avLst/>
          </a:prstGeom>
          <a:solidFill>
            <a:srgbClr val="001B00"/>
          </a:solidFill>
          <a:ln>
            <a:noFill/>
          </a:ln>
        </p:spPr>
        <p:txBody>
          <a:bodyPr rtlCol="0" anchor="ctr"/>
          <a:lstStyle/>
          <a:p>
            <a:endParaRPr lang="fr-FR"/>
          </a:p>
        </p:txBody>
      </p:sp>
      <p:sp>
        <p:nvSpPr>
          <p:cNvPr id="5004" name="Text 5004"/>
          <p:cNvSpPr txBox="1"/>
          <p:nvPr/>
        </p:nvSpPr>
        <p:spPr>
          <a:xfrm>
            <a:off x="4695645" y="1780000"/>
            <a:ext cx="3248177" cy="900000"/>
          </a:xfrm>
          <a:prstGeom prst="rect">
            <a:avLst/>
          </a:prstGeom>
          <a:noFill/>
          <a:ln>
            <a:noFill/>
          </a:ln>
        </p:spPr>
        <p:txBody>
          <a:bodyPr wrap="square" lIns="0" tIns="0" rIns="0" bIns="0" rtlCol="0" anchor="ctr">
            <a:normAutofit/>
          </a:bodyPr>
          <a:lstStyle/>
          <a:p>
            <a:pPr algn="ctr">
              <a:spcAft>
                <a:spcPts val="150"/>
              </a:spcAft>
              <a:buNone/>
            </a:pPr>
            <a:r>
              <a:rPr lang="fr-FR" sz="950" dirty="0">
                <a:solidFill>
                  <a:srgbClr val="FFFFFF"/>
                </a:solidFill>
                <a:latin typeface="Jost Medium" pitchFamily="2" charset="77"/>
                <a:ea typeface="Jost Medium" pitchFamily="2" charset="77"/>
                <a:cs typeface="Jost Medium" pitchFamily="2" charset="77"/>
              </a:rPr>
              <a:t>Taux d’imposition</a:t>
            </a:r>
          </a:p>
          <a:p>
            <a:pPr algn="ctr">
              <a:buNone/>
            </a:pPr>
            <a:r>
              <a:rPr lang="fr-FR" sz="2000" b="1" dirty="0">
                <a:solidFill>
                  <a:srgbClr val="FFFFFF"/>
                </a:solidFill>
                <a:latin typeface="Cormorant Garamond SemiBold" pitchFamily="2" charset="77"/>
                <a:ea typeface="Cormorant Garamond SemiBold" pitchFamily="2" charset="77"/>
                <a:cs typeface="Cormorant Garamond SemiBold" pitchFamily="2" charset="77"/>
              </a:rPr>
              <a:t>IS : 25%</a:t>
            </a:r>
          </a:p>
        </p:txBody>
      </p:sp>
      <p:sp>
        <p:nvSpPr>
          <p:cNvPr id="5005" name="Shape 5005"/>
          <p:cNvSpPr/>
          <p:nvPr/>
        </p:nvSpPr>
        <p:spPr>
          <a:xfrm>
            <a:off x="8243822" y="1780000"/>
            <a:ext cx="3448177" cy="900000"/>
          </a:xfrm>
          <a:prstGeom prst="rect">
            <a:avLst/>
          </a:prstGeom>
          <a:solidFill>
            <a:srgbClr val="001B00"/>
          </a:solidFill>
          <a:ln>
            <a:noFill/>
          </a:ln>
        </p:spPr>
        <p:txBody>
          <a:bodyPr rtlCol="0" anchor="ctr"/>
          <a:lstStyle/>
          <a:p>
            <a:endParaRPr lang="fr-FR"/>
          </a:p>
        </p:txBody>
      </p:sp>
      <p:sp>
        <p:nvSpPr>
          <p:cNvPr id="5006" name="Text 5006"/>
          <p:cNvSpPr txBox="1"/>
          <p:nvPr/>
        </p:nvSpPr>
        <p:spPr>
          <a:xfrm>
            <a:off x="8343822" y="1780000"/>
            <a:ext cx="3248177" cy="900000"/>
          </a:xfrm>
          <a:prstGeom prst="rect">
            <a:avLst/>
          </a:prstGeom>
          <a:noFill/>
          <a:ln>
            <a:noFill/>
          </a:ln>
        </p:spPr>
        <p:txBody>
          <a:bodyPr wrap="square" lIns="0" tIns="0" rIns="0" bIns="0" rtlCol="0" anchor="ctr">
            <a:normAutofit/>
          </a:bodyPr>
          <a:lstStyle/>
          <a:p>
            <a:pPr algn="ctr">
              <a:spcAft>
                <a:spcPts val="150"/>
              </a:spcAft>
              <a:buNone/>
            </a:pPr>
            <a:r>
              <a:rPr lang="fr-FR" sz="950" dirty="0">
                <a:solidFill>
                  <a:srgbClr val="FFFFFF"/>
                </a:solidFill>
                <a:latin typeface="Jost Medium" pitchFamily="2" charset="77"/>
                <a:ea typeface="Jost Medium" pitchFamily="2" charset="77"/>
                <a:cs typeface="Jost Medium" pitchFamily="2" charset="77"/>
              </a:rPr>
              <a:t>Prélèvements sociaux</a:t>
            </a:r>
          </a:p>
          <a:p>
            <a:pPr algn="ctr">
              <a:buNone/>
            </a:pPr>
            <a:r>
              <a:rPr lang="fr-FR" sz="2000" b="1" dirty="0">
                <a:solidFill>
                  <a:srgbClr val="FFFFFF"/>
                </a:solidFill>
                <a:latin typeface="Cormorant Garamond SemiBold" pitchFamily="2" charset="77"/>
                <a:ea typeface="Cormorant Garamond SemiBold" pitchFamily="2" charset="77"/>
                <a:cs typeface="Cormorant Garamond SemiBold" pitchFamily="2" charset="77"/>
              </a:rPr>
              <a:t>Aucun</a:t>
            </a:r>
          </a:p>
        </p:txBody>
      </p:sp>
      <p:sp>
        <p:nvSpPr>
          <p:cNvPr id="5007" name="Shape 5007"/>
          <p:cNvSpPr/>
          <p:nvPr/>
        </p:nvSpPr>
        <p:spPr>
          <a:xfrm>
            <a:off x="947468" y="2960000"/>
            <a:ext cx="5212266" cy="460000"/>
          </a:xfrm>
          <a:prstGeom prst="rect">
            <a:avLst/>
          </a:prstGeom>
          <a:solidFill>
            <a:srgbClr val="001B00"/>
          </a:solidFill>
          <a:ln>
            <a:noFill/>
          </a:ln>
        </p:spPr>
        <p:txBody>
          <a:bodyPr rtlCol="0" anchor="ctr"/>
          <a:lstStyle/>
          <a:p>
            <a:endParaRPr lang="fr-FR"/>
          </a:p>
        </p:txBody>
      </p:sp>
      <p:sp>
        <p:nvSpPr>
          <p:cNvPr id="5008" name="Text 5008"/>
          <p:cNvSpPr txBox="1"/>
          <p:nvPr/>
        </p:nvSpPr>
        <p:spPr>
          <a:xfrm>
            <a:off x="947468" y="2960000"/>
            <a:ext cx="5212266"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Le mécanisme fiscal</a:t>
            </a:r>
          </a:p>
        </p:txBody>
      </p:sp>
      <p:sp>
        <p:nvSpPr>
          <p:cNvPr id="5009" name="Shape 5009"/>
          <p:cNvSpPr/>
          <p:nvPr/>
        </p:nvSpPr>
        <p:spPr>
          <a:xfrm>
            <a:off x="947468" y="3420000"/>
            <a:ext cx="5212266" cy="1360000"/>
          </a:xfrm>
          <a:prstGeom prst="rect">
            <a:avLst/>
          </a:prstGeom>
          <a:solidFill>
            <a:srgbClr val="FCF9EF"/>
          </a:solidFill>
          <a:ln>
            <a:noFill/>
          </a:ln>
        </p:spPr>
        <p:txBody>
          <a:bodyPr rtlCol="0" anchor="ctr"/>
          <a:lstStyle/>
          <a:p>
            <a:endParaRPr lang="fr-FR"/>
          </a:p>
        </p:txBody>
      </p:sp>
      <p:sp>
        <p:nvSpPr>
          <p:cNvPr id="5010" name="Text 5010"/>
          <p:cNvSpPr txBox="1"/>
          <p:nvPr/>
        </p:nvSpPr>
        <p:spPr>
          <a:xfrm>
            <a:off x="1167468" y="3600000"/>
            <a:ext cx="4772266" cy="1600000"/>
          </a:xfrm>
          <a:prstGeom prst="rect">
            <a:avLst/>
          </a:prstGeom>
          <a:noFill/>
          <a:ln>
            <a:noFill/>
          </a:ln>
        </p:spPr>
        <p:txBody>
          <a:bodyPr wrap="square" lIns="0" tIns="0" rIns="0" bIns="0" rtlCol="0" anchor="t">
            <a:normAutofit/>
          </a:bodyPr>
          <a:lstStyle/>
          <a:p>
            <a:pPr marL="18288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Chaque année, même sans rachat, la société réintègre un produit forfaitaire : base × 105% du TME connu à la souscription / ou lors des versements.</a:t>
            </a:r>
          </a:p>
          <a:p>
            <a:pPr marL="18288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Pas de régime des 8 ans ni d’abattement : ces avantages sont réservés aux personnes physiques.</a:t>
            </a:r>
          </a:p>
          <a:p>
            <a:pPr marL="18288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cs typeface="Jost Light" pitchFamily="2" charset="77"/>
              </a:rPr>
              <a:t>Pas de clause bénéficiaire sur le contrat de capitalisation.</a:t>
            </a:r>
          </a:p>
          <a:p>
            <a:pPr marL="182880" indent="-182880" algn="l">
              <a:spcAft>
                <a:spcPts val="450"/>
              </a:spcAft>
              <a:buFont typeface="Arial" pitchFamily="34" charset="0"/>
              <a:buChar char="▪"/>
            </a:pPr>
            <a:endParaRPr lang="fr-FR" sz="950" dirty="0">
              <a:solidFill>
                <a:srgbClr val="073527"/>
              </a:solidFill>
              <a:latin typeface="Jost Light" pitchFamily="2" charset="77"/>
              <a:ea typeface="Jost Light" pitchFamily="2" charset="77"/>
              <a:cs typeface="Jost Light" pitchFamily="2" charset="77"/>
            </a:endParaRPr>
          </a:p>
        </p:txBody>
      </p:sp>
      <p:sp>
        <p:nvSpPr>
          <p:cNvPr id="5011" name="Shape 5011"/>
          <p:cNvSpPr/>
          <p:nvPr/>
        </p:nvSpPr>
        <p:spPr>
          <a:xfrm>
            <a:off x="6479734" y="2960000"/>
            <a:ext cx="5212266" cy="460000"/>
          </a:xfrm>
          <a:prstGeom prst="rect">
            <a:avLst/>
          </a:prstGeom>
          <a:solidFill>
            <a:srgbClr val="001B00"/>
          </a:solidFill>
          <a:ln>
            <a:noFill/>
          </a:ln>
        </p:spPr>
        <p:txBody>
          <a:bodyPr rtlCol="0" anchor="ctr"/>
          <a:lstStyle/>
          <a:p>
            <a:endParaRPr lang="fr-FR"/>
          </a:p>
        </p:txBody>
      </p:sp>
      <p:sp>
        <p:nvSpPr>
          <p:cNvPr id="5012" name="Text 5012"/>
          <p:cNvSpPr txBox="1"/>
          <p:nvPr/>
        </p:nvSpPr>
        <p:spPr>
          <a:xfrm>
            <a:off x="6479734" y="2960000"/>
            <a:ext cx="5212266"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L’intérêt pour la holding</a:t>
            </a:r>
          </a:p>
        </p:txBody>
      </p:sp>
      <p:sp>
        <p:nvSpPr>
          <p:cNvPr id="5013" name="Shape 5013"/>
          <p:cNvSpPr/>
          <p:nvPr/>
        </p:nvSpPr>
        <p:spPr>
          <a:xfrm>
            <a:off x="6479734" y="3420000"/>
            <a:ext cx="5212266" cy="1360000"/>
          </a:xfrm>
          <a:prstGeom prst="rect">
            <a:avLst/>
          </a:prstGeom>
          <a:solidFill>
            <a:srgbClr val="FCF9EF"/>
          </a:solidFill>
          <a:ln>
            <a:noFill/>
          </a:ln>
        </p:spPr>
        <p:txBody>
          <a:bodyPr rtlCol="0" anchor="ctr"/>
          <a:lstStyle/>
          <a:p>
            <a:endParaRPr lang="fr-FR"/>
          </a:p>
        </p:txBody>
      </p:sp>
      <p:sp>
        <p:nvSpPr>
          <p:cNvPr id="5014" name="Text 5014"/>
          <p:cNvSpPr txBox="1"/>
          <p:nvPr/>
        </p:nvSpPr>
        <p:spPr>
          <a:xfrm>
            <a:off x="6699734" y="3600000"/>
            <a:ext cx="4772266" cy="918774"/>
          </a:xfrm>
          <a:prstGeom prst="rect">
            <a:avLst/>
          </a:prstGeom>
          <a:noFill/>
          <a:ln>
            <a:noFill/>
          </a:ln>
        </p:spPr>
        <p:txBody>
          <a:bodyPr wrap="square" lIns="0" tIns="0" rIns="0" bIns="0" rtlCol="0" anchor="t">
            <a:normAutofit/>
          </a:bodyPr>
          <a:lstStyle/>
          <a:p>
            <a:pPr marL="182880" lvl="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rPr>
              <a:t>Gérer votre trésorerie disponible et la valoriser sur le long terme.</a:t>
            </a:r>
          </a:p>
          <a:p>
            <a:pPr marL="182880" lvl="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rPr>
              <a:t>Générer des revenus complémentaires selon vos besoins.</a:t>
            </a:r>
          </a:p>
          <a:p>
            <a:pPr marL="182880" lvl="0" indent="-182880" algn="just">
              <a:spcAft>
                <a:spcPts val="450"/>
              </a:spcAft>
              <a:buFont typeface="Arial" pitchFamily="34" charset="0"/>
              <a:buChar char="▪"/>
            </a:pPr>
            <a:r>
              <a:rPr lang="fr-FR" sz="950" dirty="0">
                <a:solidFill>
                  <a:srgbClr val="073527"/>
                </a:solidFill>
                <a:latin typeface="Jost Light" pitchFamily="2" charset="77"/>
                <a:ea typeface="Jost Light" pitchFamily="2" charset="77"/>
              </a:rPr>
              <a:t>Structurer et transmettre votre patrimoine financier pour préparer l’avenir.</a:t>
            </a:r>
          </a:p>
        </p:txBody>
      </p:sp>
      <p:sp>
        <p:nvSpPr>
          <p:cNvPr id="260" name="Footnote 260"/>
          <p:cNvSpPr txBox="1"/>
          <p:nvPr/>
        </p:nvSpPr>
        <p:spPr>
          <a:xfrm>
            <a:off x="947468" y="6560000"/>
            <a:ext cx="10744532" cy="320000"/>
          </a:xfrm>
          <a:prstGeom prst="rect">
            <a:avLst/>
          </a:prstGeom>
          <a:noFill/>
          <a:ln>
            <a:noFill/>
          </a:ln>
        </p:spPr>
        <p:txBody>
          <a:bodyPr wrap="square" lIns="0" tIns="0" rIns="0" bIns="0" rtlCol="0" anchor="t">
            <a:normAutofit/>
          </a:bodyPr>
          <a:lstStyle/>
          <a:p>
            <a:pPr algn="ctr">
              <a:buNone/>
            </a:pPr>
            <a:r>
              <a:rPr lang="fr-FR" sz="800" i="1" dirty="0">
                <a:solidFill>
                  <a:srgbClr val="6B6B6B"/>
                </a:solidFill>
                <a:latin typeface="Jost Light" pitchFamily="2" charset="77"/>
                <a:ea typeface="Jost Light" pitchFamily="2" charset="77"/>
                <a:cs typeface="Jost Light" pitchFamily="2" charset="77"/>
              </a:rPr>
              <a:t>TME de 3,58 % en janvier 2026, soit une base forfaitaire de 3,76 % . Information à valider avec votre expert-comptable.</a:t>
            </a:r>
          </a:p>
        </p:txBody>
      </p:sp>
      <p:sp>
        <p:nvSpPr>
          <p:cNvPr id="16" name="Text 6015">
            <a:extLst>
              <a:ext uri="{FF2B5EF4-FFF2-40B4-BE49-F238E27FC236}">
                <a16:creationId xmlns:a16="http://schemas.microsoft.com/office/drawing/2014/main" id="{EB92D4FA-B848-7077-8336-DE2E72E2790C}"/>
              </a:ext>
            </a:extLst>
          </p:cNvPr>
          <p:cNvSpPr txBox="1"/>
          <p:nvPr/>
        </p:nvSpPr>
        <p:spPr>
          <a:xfrm>
            <a:off x="947468" y="4960168"/>
            <a:ext cx="4000000" cy="32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COMMENT LE TRANSMETTRE</a:t>
            </a:r>
          </a:p>
        </p:txBody>
      </p:sp>
      <p:sp>
        <p:nvSpPr>
          <p:cNvPr id="17" name="Shape 6016">
            <a:extLst>
              <a:ext uri="{FF2B5EF4-FFF2-40B4-BE49-F238E27FC236}">
                <a16:creationId xmlns:a16="http://schemas.microsoft.com/office/drawing/2014/main" id="{2C7BCEFA-0AA7-B676-6225-A931FECCECD0}"/>
              </a:ext>
            </a:extLst>
          </p:cNvPr>
          <p:cNvSpPr/>
          <p:nvPr/>
        </p:nvSpPr>
        <p:spPr>
          <a:xfrm>
            <a:off x="947468" y="5290168"/>
            <a:ext cx="2551133" cy="989059"/>
          </a:xfrm>
          <a:prstGeom prst="rect">
            <a:avLst/>
          </a:prstGeom>
          <a:solidFill>
            <a:srgbClr val="073527"/>
          </a:solidFill>
          <a:ln>
            <a:noFill/>
          </a:ln>
        </p:spPr>
        <p:txBody>
          <a:bodyPr rtlCol="0" anchor="ctr"/>
          <a:lstStyle/>
          <a:p>
            <a:endParaRPr lang="fr-FR"/>
          </a:p>
        </p:txBody>
      </p:sp>
      <p:sp>
        <p:nvSpPr>
          <p:cNvPr id="18" name="Text 6017">
            <a:extLst>
              <a:ext uri="{FF2B5EF4-FFF2-40B4-BE49-F238E27FC236}">
                <a16:creationId xmlns:a16="http://schemas.microsoft.com/office/drawing/2014/main" id="{ACA2AB60-23FC-1A62-3977-2E1B717845F3}"/>
              </a:ext>
            </a:extLst>
          </p:cNvPr>
          <p:cNvSpPr txBox="1"/>
          <p:nvPr/>
        </p:nvSpPr>
        <p:spPr>
          <a:xfrm>
            <a:off x="1127468" y="5420168"/>
            <a:ext cx="450000" cy="860000"/>
          </a:xfrm>
          <a:prstGeom prst="rect">
            <a:avLst/>
          </a:prstGeom>
          <a:noFill/>
          <a:ln>
            <a:noFill/>
          </a:ln>
        </p:spPr>
        <p:txBody>
          <a:bodyPr wrap="square" lIns="0" tIns="0" rIns="0" bIns="0" rtlCol="0" anchor="t">
            <a:normAutofit/>
          </a:bodyPr>
          <a:lstStyle/>
          <a:p>
            <a:pPr algn="l">
              <a:buNone/>
            </a:pPr>
            <a:r>
              <a:rPr lang="fr-FR" sz="1700" b="1" dirty="0">
                <a:solidFill>
                  <a:srgbClr val="A9853F"/>
                </a:solidFill>
                <a:latin typeface="Cormorant Garamond SemiBold" pitchFamily="2" charset="77"/>
                <a:ea typeface="Cormorant Garamond SemiBold" pitchFamily="2" charset="77"/>
                <a:cs typeface="Cormorant Garamond SemiBold" pitchFamily="2" charset="77"/>
              </a:rPr>
              <a:t>01</a:t>
            </a:r>
          </a:p>
        </p:txBody>
      </p:sp>
      <p:sp>
        <p:nvSpPr>
          <p:cNvPr id="19" name="Text 6018">
            <a:extLst>
              <a:ext uri="{FF2B5EF4-FFF2-40B4-BE49-F238E27FC236}">
                <a16:creationId xmlns:a16="http://schemas.microsoft.com/office/drawing/2014/main" id="{EDF92F81-295B-1D7C-CF03-CC1681E96727}"/>
              </a:ext>
            </a:extLst>
          </p:cNvPr>
          <p:cNvSpPr txBox="1"/>
          <p:nvPr/>
        </p:nvSpPr>
        <p:spPr>
          <a:xfrm>
            <a:off x="1607468" y="5420168"/>
            <a:ext cx="1711133" cy="860000"/>
          </a:xfrm>
          <a:prstGeom prst="rect">
            <a:avLst/>
          </a:prstGeom>
          <a:noFill/>
          <a:ln>
            <a:noFill/>
          </a:ln>
        </p:spPr>
        <p:txBody>
          <a:bodyPr wrap="square" lIns="0" tIns="0" rIns="0" bIns="0" rtlCol="0" anchor="t">
            <a:normAutofit/>
          </a:bodyPr>
          <a:lstStyle/>
          <a:p>
            <a:pPr algn="l">
              <a:spcAft>
                <a:spcPts val="200"/>
              </a:spcAft>
              <a:buNone/>
            </a:pPr>
            <a:r>
              <a:rPr lang="fr-FR" sz="1000" dirty="0">
                <a:solidFill>
                  <a:srgbClr val="FFFFFF"/>
                </a:solidFill>
                <a:latin typeface="Jost Medium" pitchFamily="2" charset="77"/>
                <a:ea typeface="Jost Medium" pitchFamily="2" charset="77"/>
                <a:cs typeface="Jost Medium" pitchFamily="2" charset="77"/>
              </a:rPr>
              <a:t>Donner les titres</a:t>
            </a:r>
          </a:p>
          <a:p>
            <a:pPr algn="just">
              <a:buNone/>
            </a:pPr>
            <a:r>
              <a:rPr lang="fr-FR" sz="850" dirty="0">
                <a:solidFill>
                  <a:srgbClr val="FFFFFF"/>
                </a:solidFill>
                <a:latin typeface="Jost Light" pitchFamily="2" charset="77"/>
                <a:ea typeface="Jost Light" pitchFamily="2" charset="77"/>
                <a:cs typeface="Jost Light" pitchFamily="2" charset="77"/>
              </a:rPr>
              <a:t>Donation des parts en pleine propriété ou en nue-propriété, avec l’abattement de 100 000 EUR par enfant, renouvelable tous les 15 ans.</a:t>
            </a:r>
          </a:p>
        </p:txBody>
      </p:sp>
      <p:sp>
        <p:nvSpPr>
          <p:cNvPr id="20" name="Shape 6019">
            <a:extLst>
              <a:ext uri="{FF2B5EF4-FFF2-40B4-BE49-F238E27FC236}">
                <a16:creationId xmlns:a16="http://schemas.microsoft.com/office/drawing/2014/main" id="{C53C9141-6A58-084A-5FA4-BFE3676E41BA}"/>
              </a:ext>
            </a:extLst>
          </p:cNvPr>
          <p:cNvSpPr/>
          <p:nvPr/>
        </p:nvSpPr>
        <p:spPr>
          <a:xfrm>
            <a:off x="3678601" y="5290168"/>
            <a:ext cx="2551133" cy="989059"/>
          </a:xfrm>
          <a:prstGeom prst="rect">
            <a:avLst/>
          </a:prstGeom>
          <a:solidFill>
            <a:srgbClr val="073527"/>
          </a:solidFill>
          <a:ln>
            <a:noFill/>
          </a:ln>
        </p:spPr>
        <p:txBody>
          <a:bodyPr rtlCol="0" anchor="ctr"/>
          <a:lstStyle/>
          <a:p>
            <a:endParaRPr lang="fr-FR"/>
          </a:p>
        </p:txBody>
      </p:sp>
      <p:sp>
        <p:nvSpPr>
          <p:cNvPr id="21" name="Text 6020">
            <a:extLst>
              <a:ext uri="{FF2B5EF4-FFF2-40B4-BE49-F238E27FC236}">
                <a16:creationId xmlns:a16="http://schemas.microsoft.com/office/drawing/2014/main" id="{0D94487E-B1FE-1A61-1CDC-116966B4037C}"/>
              </a:ext>
            </a:extLst>
          </p:cNvPr>
          <p:cNvSpPr txBox="1"/>
          <p:nvPr/>
        </p:nvSpPr>
        <p:spPr>
          <a:xfrm>
            <a:off x="3858601" y="5420168"/>
            <a:ext cx="450000" cy="860000"/>
          </a:xfrm>
          <a:prstGeom prst="rect">
            <a:avLst/>
          </a:prstGeom>
          <a:noFill/>
          <a:ln>
            <a:noFill/>
          </a:ln>
        </p:spPr>
        <p:txBody>
          <a:bodyPr wrap="square" lIns="0" tIns="0" rIns="0" bIns="0" rtlCol="0" anchor="t">
            <a:normAutofit/>
          </a:bodyPr>
          <a:lstStyle/>
          <a:p>
            <a:pPr algn="l">
              <a:buNone/>
            </a:pPr>
            <a:r>
              <a:rPr lang="fr-FR" sz="1700" b="1" dirty="0">
                <a:solidFill>
                  <a:srgbClr val="A9853F"/>
                </a:solidFill>
                <a:latin typeface="Cormorant Garamond SemiBold" pitchFamily="2" charset="77"/>
                <a:ea typeface="Cormorant Garamond SemiBold" pitchFamily="2" charset="77"/>
                <a:cs typeface="Cormorant Garamond SemiBold" pitchFamily="2" charset="77"/>
              </a:rPr>
              <a:t>02</a:t>
            </a:r>
          </a:p>
        </p:txBody>
      </p:sp>
      <p:sp>
        <p:nvSpPr>
          <p:cNvPr id="22" name="Text 6021">
            <a:extLst>
              <a:ext uri="{FF2B5EF4-FFF2-40B4-BE49-F238E27FC236}">
                <a16:creationId xmlns:a16="http://schemas.microsoft.com/office/drawing/2014/main" id="{A0DC9A94-275A-C385-DE95-BD6868A8C947}"/>
              </a:ext>
            </a:extLst>
          </p:cNvPr>
          <p:cNvSpPr txBox="1"/>
          <p:nvPr/>
        </p:nvSpPr>
        <p:spPr>
          <a:xfrm>
            <a:off x="4338601" y="5420168"/>
            <a:ext cx="1711133" cy="860000"/>
          </a:xfrm>
          <a:prstGeom prst="rect">
            <a:avLst/>
          </a:prstGeom>
          <a:noFill/>
          <a:ln>
            <a:noFill/>
          </a:ln>
        </p:spPr>
        <p:txBody>
          <a:bodyPr wrap="square" lIns="0" tIns="0" rIns="0" bIns="0" rtlCol="0" anchor="t">
            <a:normAutofit/>
          </a:bodyPr>
          <a:lstStyle/>
          <a:p>
            <a:pPr algn="l">
              <a:spcAft>
                <a:spcPts val="200"/>
              </a:spcAft>
              <a:buNone/>
            </a:pPr>
            <a:r>
              <a:rPr lang="fr-FR" sz="1000" dirty="0">
                <a:solidFill>
                  <a:srgbClr val="FFFFFF"/>
                </a:solidFill>
                <a:latin typeface="Jost Medium" pitchFamily="2" charset="77"/>
                <a:ea typeface="Jost Medium" pitchFamily="2" charset="77"/>
                <a:cs typeface="Jost Medium" pitchFamily="2" charset="77"/>
              </a:rPr>
              <a:t>Garder la main</a:t>
            </a:r>
          </a:p>
          <a:p>
            <a:pPr algn="just">
              <a:buNone/>
            </a:pPr>
            <a:r>
              <a:rPr lang="fr-FR" sz="850" dirty="0">
                <a:solidFill>
                  <a:srgbClr val="FFFFFF"/>
                </a:solidFill>
                <a:latin typeface="Jost Light" pitchFamily="2" charset="77"/>
                <a:ea typeface="Jost Light" pitchFamily="2" charset="77"/>
                <a:cs typeface="Jost Light" pitchFamily="2" charset="77"/>
              </a:rPr>
              <a:t>En donnant la nue-propriété, vous conservez l’usufruit et la direction : vous décidez toujours des arbitrages et des rachats.</a:t>
            </a:r>
          </a:p>
        </p:txBody>
      </p:sp>
      <p:sp>
        <p:nvSpPr>
          <p:cNvPr id="23" name="Shape 6022">
            <a:extLst>
              <a:ext uri="{FF2B5EF4-FFF2-40B4-BE49-F238E27FC236}">
                <a16:creationId xmlns:a16="http://schemas.microsoft.com/office/drawing/2014/main" id="{0FEE205F-E795-B9A0-320D-12246537B484}"/>
              </a:ext>
            </a:extLst>
          </p:cNvPr>
          <p:cNvSpPr/>
          <p:nvPr/>
        </p:nvSpPr>
        <p:spPr>
          <a:xfrm>
            <a:off x="6409734" y="5290168"/>
            <a:ext cx="2551133" cy="1008606"/>
          </a:xfrm>
          <a:prstGeom prst="rect">
            <a:avLst/>
          </a:prstGeom>
          <a:solidFill>
            <a:srgbClr val="073527"/>
          </a:solidFill>
          <a:ln>
            <a:noFill/>
          </a:ln>
        </p:spPr>
        <p:txBody>
          <a:bodyPr rtlCol="0" anchor="ctr"/>
          <a:lstStyle/>
          <a:p>
            <a:endParaRPr lang="fr-FR"/>
          </a:p>
        </p:txBody>
      </p:sp>
      <p:sp>
        <p:nvSpPr>
          <p:cNvPr id="24" name="Text 6023">
            <a:extLst>
              <a:ext uri="{FF2B5EF4-FFF2-40B4-BE49-F238E27FC236}">
                <a16:creationId xmlns:a16="http://schemas.microsoft.com/office/drawing/2014/main" id="{46B539D1-D75A-7B9F-3063-8EC57AAD9B97}"/>
              </a:ext>
            </a:extLst>
          </p:cNvPr>
          <p:cNvSpPr txBox="1"/>
          <p:nvPr/>
        </p:nvSpPr>
        <p:spPr>
          <a:xfrm>
            <a:off x="6589734" y="5420168"/>
            <a:ext cx="450000" cy="860000"/>
          </a:xfrm>
          <a:prstGeom prst="rect">
            <a:avLst/>
          </a:prstGeom>
          <a:noFill/>
          <a:ln>
            <a:noFill/>
          </a:ln>
        </p:spPr>
        <p:txBody>
          <a:bodyPr wrap="square" lIns="0" tIns="0" rIns="0" bIns="0" rtlCol="0" anchor="t">
            <a:normAutofit/>
          </a:bodyPr>
          <a:lstStyle/>
          <a:p>
            <a:pPr algn="l">
              <a:buNone/>
            </a:pPr>
            <a:r>
              <a:rPr lang="fr-FR" sz="1700" b="1" dirty="0">
                <a:solidFill>
                  <a:srgbClr val="A9853F"/>
                </a:solidFill>
                <a:latin typeface="Cormorant Garamond SemiBold" pitchFamily="2" charset="77"/>
                <a:ea typeface="Cormorant Garamond SemiBold" pitchFamily="2" charset="77"/>
                <a:cs typeface="Cormorant Garamond SemiBold" pitchFamily="2" charset="77"/>
              </a:rPr>
              <a:t>03</a:t>
            </a:r>
          </a:p>
        </p:txBody>
      </p:sp>
      <p:sp>
        <p:nvSpPr>
          <p:cNvPr id="25" name="Text 6024">
            <a:extLst>
              <a:ext uri="{FF2B5EF4-FFF2-40B4-BE49-F238E27FC236}">
                <a16:creationId xmlns:a16="http://schemas.microsoft.com/office/drawing/2014/main" id="{91DCCB26-439E-AA3A-0234-5ADD069F2541}"/>
              </a:ext>
            </a:extLst>
          </p:cNvPr>
          <p:cNvSpPr txBox="1"/>
          <p:nvPr/>
        </p:nvSpPr>
        <p:spPr>
          <a:xfrm>
            <a:off x="7069734" y="5420168"/>
            <a:ext cx="1711133" cy="860000"/>
          </a:xfrm>
          <a:prstGeom prst="rect">
            <a:avLst/>
          </a:prstGeom>
          <a:noFill/>
          <a:ln>
            <a:noFill/>
          </a:ln>
        </p:spPr>
        <p:txBody>
          <a:bodyPr wrap="square" lIns="0" tIns="0" rIns="0" bIns="0" rtlCol="0" anchor="t">
            <a:normAutofit/>
          </a:bodyPr>
          <a:lstStyle/>
          <a:p>
            <a:pPr algn="l">
              <a:spcAft>
                <a:spcPts val="200"/>
              </a:spcAft>
              <a:buNone/>
            </a:pPr>
            <a:r>
              <a:rPr lang="fr-FR" sz="1000" dirty="0">
                <a:solidFill>
                  <a:srgbClr val="FFFFFF"/>
                </a:solidFill>
                <a:latin typeface="Jost Medium" pitchFamily="2" charset="77"/>
                <a:ea typeface="Jost Medium" pitchFamily="2" charset="77"/>
                <a:cs typeface="Jost Medium" pitchFamily="2" charset="77"/>
              </a:rPr>
              <a:t>La purge des plus-values</a:t>
            </a:r>
          </a:p>
          <a:p>
            <a:pPr algn="just">
              <a:buNone/>
            </a:pPr>
            <a:r>
              <a:rPr lang="fr-FR" sz="850" dirty="0">
                <a:solidFill>
                  <a:srgbClr val="FFFFFF"/>
                </a:solidFill>
                <a:latin typeface="Jost Light" pitchFamily="2" charset="77"/>
                <a:ea typeface="Jost Light" pitchFamily="2" charset="77"/>
                <a:cs typeface="Jost Light" pitchFamily="2" charset="77"/>
              </a:rPr>
              <a:t>La donation efface la plus-value latente sur les titres. Le donataire repart de leur valeur au jour de la donation.</a:t>
            </a:r>
          </a:p>
        </p:txBody>
      </p:sp>
      <p:sp>
        <p:nvSpPr>
          <p:cNvPr id="26" name="Shape 6025">
            <a:extLst>
              <a:ext uri="{FF2B5EF4-FFF2-40B4-BE49-F238E27FC236}">
                <a16:creationId xmlns:a16="http://schemas.microsoft.com/office/drawing/2014/main" id="{FE064A69-CE86-0E04-95D5-B0C179B124CB}"/>
              </a:ext>
            </a:extLst>
          </p:cNvPr>
          <p:cNvSpPr/>
          <p:nvPr/>
        </p:nvSpPr>
        <p:spPr>
          <a:xfrm>
            <a:off x="9140867" y="5290168"/>
            <a:ext cx="2551133" cy="1008606"/>
          </a:xfrm>
          <a:prstGeom prst="rect">
            <a:avLst/>
          </a:prstGeom>
          <a:solidFill>
            <a:srgbClr val="073527"/>
          </a:solidFill>
          <a:ln>
            <a:noFill/>
          </a:ln>
        </p:spPr>
        <p:txBody>
          <a:bodyPr rtlCol="0" anchor="ctr"/>
          <a:lstStyle/>
          <a:p>
            <a:endParaRPr lang="fr-FR"/>
          </a:p>
        </p:txBody>
      </p:sp>
      <p:sp>
        <p:nvSpPr>
          <p:cNvPr id="27" name="Text 6026">
            <a:extLst>
              <a:ext uri="{FF2B5EF4-FFF2-40B4-BE49-F238E27FC236}">
                <a16:creationId xmlns:a16="http://schemas.microsoft.com/office/drawing/2014/main" id="{A3FE284D-3766-0F91-D276-B4AAD3B95E3B}"/>
              </a:ext>
            </a:extLst>
          </p:cNvPr>
          <p:cNvSpPr txBox="1"/>
          <p:nvPr/>
        </p:nvSpPr>
        <p:spPr>
          <a:xfrm>
            <a:off x="9320867" y="5420168"/>
            <a:ext cx="450000" cy="860000"/>
          </a:xfrm>
          <a:prstGeom prst="rect">
            <a:avLst/>
          </a:prstGeom>
          <a:noFill/>
          <a:ln>
            <a:noFill/>
          </a:ln>
        </p:spPr>
        <p:txBody>
          <a:bodyPr wrap="square" lIns="0" tIns="0" rIns="0" bIns="0" rtlCol="0" anchor="t">
            <a:normAutofit/>
          </a:bodyPr>
          <a:lstStyle/>
          <a:p>
            <a:pPr algn="l">
              <a:buNone/>
            </a:pPr>
            <a:r>
              <a:rPr lang="fr-FR" sz="1700" b="1" dirty="0">
                <a:solidFill>
                  <a:srgbClr val="A9853F"/>
                </a:solidFill>
                <a:latin typeface="Cormorant Garamond SemiBold" pitchFamily="2" charset="77"/>
                <a:ea typeface="Cormorant Garamond SemiBold" pitchFamily="2" charset="77"/>
                <a:cs typeface="Cormorant Garamond SemiBold" pitchFamily="2" charset="77"/>
              </a:rPr>
              <a:t>04</a:t>
            </a:r>
          </a:p>
        </p:txBody>
      </p:sp>
      <p:sp>
        <p:nvSpPr>
          <p:cNvPr id="28" name="Text 6027">
            <a:extLst>
              <a:ext uri="{FF2B5EF4-FFF2-40B4-BE49-F238E27FC236}">
                <a16:creationId xmlns:a16="http://schemas.microsoft.com/office/drawing/2014/main" id="{9331F186-E1AE-AE5A-6A66-9F0DD2F2696B}"/>
              </a:ext>
            </a:extLst>
          </p:cNvPr>
          <p:cNvSpPr txBox="1"/>
          <p:nvPr/>
        </p:nvSpPr>
        <p:spPr>
          <a:xfrm>
            <a:off x="9800867" y="5420168"/>
            <a:ext cx="1711133" cy="860000"/>
          </a:xfrm>
          <a:prstGeom prst="rect">
            <a:avLst/>
          </a:prstGeom>
          <a:noFill/>
          <a:ln>
            <a:noFill/>
          </a:ln>
        </p:spPr>
        <p:txBody>
          <a:bodyPr wrap="square" lIns="0" tIns="0" rIns="0" bIns="0" rtlCol="0" anchor="t">
            <a:normAutofit/>
          </a:bodyPr>
          <a:lstStyle/>
          <a:p>
            <a:pPr algn="l">
              <a:spcAft>
                <a:spcPts val="200"/>
              </a:spcAft>
              <a:buNone/>
            </a:pPr>
            <a:r>
              <a:rPr lang="fr-FR" sz="1000" dirty="0">
                <a:solidFill>
                  <a:srgbClr val="FFFFFF"/>
                </a:solidFill>
                <a:latin typeface="Jost Medium" pitchFamily="2" charset="77"/>
                <a:ea typeface="Jost Medium" pitchFamily="2" charset="77"/>
                <a:cs typeface="Jost Medium" pitchFamily="2" charset="77"/>
              </a:rPr>
              <a:t>Le contrat continue de vivre</a:t>
            </a:r>
          </a:p>
          <a:p>
            <a:pPr algn="just">
              <a:buNone/>
            </a:pPr>
            <a:r>
              <a:rPr lang="fr-FR" sz="850" dirty="0">
                <a:solidFill>
                  <a:srgbClr val="FFFFFF"/>
                </a:solidFill>
                <a:latin typeface="Jost Light" pitchFamily="2" charset="77"/>
                <a:ea typeface="Jost Light" pitchFamily="2" charset="77"/>
                <a:cs typeface="Jost Light" pitchFamily="2" charset="77"/>
              </a:rPr>
              <a:t>Il n’est pas dénoué : seules les parts changent de mains. Le gain du contrat, lui, reste imposable à l’IS au rachat.</a:t>
            </a:r>
          </a:p>
        </p:txBody>
      </p:sp>
    </p:spTree>
    <p:extLst>
      <p:ext uri="{BB962C8B-B14F-4D97-AF65-F5344CB8AC3E}">
        <p14:creationId xmlns:p14="http://schemas.microsoft.com/office/powerpoint/2010/main" val="3472220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Une société qui détient vos titres et devient le point de départ de votre stratégie patrimoniale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Pourquoi se créer une holding quand on est chef d’entreprise</a:t>
            </a:r>
          </a:p>
        </p:txBody>
      </p:sp>
      <p:sp>
        <p:nvSpPr>
          <p:cNvPr id="8001" name="Shape 8001"/>
          <p:cNvSpPr/>
          <p:nvPr/>
        </p:nvSpPr>
        <p:spPr>
          <a:xfrm>
            <a:off x="947468" y="1780000"/>
            <a:ext cx="5250000" cy="4640000"/>
          </a:xfrm>
          <a:prstGeom prst="rect">
            <a:avLst/>
          </a:prstGeom>
          <a:solidFill>
            <a:srgbClr val="FCF9EF"/>
          </a:solidFill>
          <a:ln>
            <a:noFill/>
          </a:ln>
        </p:spPr>
        <p:txBody>
          <a:bodyPr rtlCol="0" anchor="ctr"/>
          <a:lstStyle/>
          <a:p>
            <a:endParaRPr lang="fr-FR"/>
          </a:p>
        </p:txBody>
      </p:sp>
      <p:sp>
        <p:nvSpPr>
          <p:cNvPr id="8003" name="Shape 8003"/>
          <p:cNvSpPr/>
          <p:nvPr/>
        </p:nvSpPr>
        <p:spPr>
          <a:xfrm>
            <a:off x="2072468" y="2100000"/>
            <a:ext cx="3000000" cy="680000"/>
          </a:xfrm>
          <a:prstGeom prst="rect">
            <a:avLst/>
          </a:prstGeom>
          <a:solidFill>
            <a:srgbClr val="FFFFFF"/>
          </a:solidFill>
          <a:ln w="12700">
            <a:solidFill>
              <a:srgbClr val="A9853F"/>
            </a:solidFill>
          </a:ln>
        </p:spPr>
        <p:txBody>
          <a:bodyPr rtlCol="0" anchor="ctr"/>
          <a:lstStyle/>
          <a:p>
            <a:endParaRPr lang="fr-FR"/>
          </a:p>
        </p:txBody>
      </p:sp>
      <p:sp>
        <p:nvSpPr>
          <p:cNvPr id="8004" name="Text 8004"/>
          <p:cNvSpPr txBox="1"/>
          <p:nvPr/>
        </p:nvSpPr>
        <p:spPr>
          <a:xfrm>
            <a:off x="2222468" y="2190000"/>
            <a:ext cx="2700000" cy="50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073527"/>
                </a:solidFill>
                <a:latin typeface="Jost Medium" pitchFamily="2" charset="77"/>
                <a:ea typeface="Jost Medium" pitchFamily="2" charset="77"/>
                <a:cs typeface="Jost Medium" pitchFamily="2" charset="77"/>
              </a:rPr>
              <a:t>Vous, chef d’entreprise</a:t>
            </a:r>
          </a:p>
          <a:p>
            <a:pPr algn="ctr">
              <a:buNone/>
            </a:pPr>
            <a:r>
              <a:rPr lang="fr-FR" sz="900" dirty="0">
                <a:solidFill>
                  <a:srgbClr val="6B6B6B"/>
                </a:solidFill>
                <a:latin typeface="Jost Light" pitchFamily="2" charset="77"/>
                <a:ea typeface="Jost Light" pitchFamily="2" charset="77"/>
                <a:cs typeface="Jost Light" pitchFamily="2" charset="77"/>
              </a:rPr>
              <a:t>Associé de la holding</a:t>
            </a:r>
          </a:p>
        </p:txBody>
      </p:sp>
      <p:sp>
        <p:nvSpPr>
          <p:cNvPr id="8005" name="Shape 8005"/>
          <p:cNvSpPr/>
          <p:nvPr/>
        </p:nvSpPr>
        <p:spPr>
          <a:xfrm>
            <a:off x="3572468" y="2780000"/>
            <a:ext cx="1" cy="250000"/>
          </a:xfrm>
          <a:prstGeom prst="line">
            <a:avLst/>
          </a:prstGeom>
          <a:noFill/>
          <a:ln w="19050">
            <a:solidFill>
              <a:srgbClr val="A9853F"/>
            </a:solidFill>
          </a:ln>
        </p:spPr>
        <p:txBody>
          <a:bodyPr rtlCol="0" anchor="ctr"/>
          <a:lstStyle/>
          <a:p>
            <a:endParaRPr lang="fr-FR"/>
          </a:p>
        </p:txBody>
      </p:sp>
      <p:sp>
        <p:nvSpPr>
          <p:cNvPr id="8006" name="Text 8006"/>
          <p:cNvSpPr txBox="1"/>
          <p:nvPr/>
        </p:nvSpPr>
        <p:spPr>
          <a:xfrm>
            <a:off x="3372468" y="2920000"/>
            <a:ext cx="400000" cy="260000"/>
          </a:xfrm>
          <a:prstGeom prst="rect">
            <a:avLst/>
          </a:prstGeom>
          <a:noFill/>
          <a:ln>
            <a:noFill/>
          </a:ln>
        </p:spPr>
        <p:txBody>
          <a:bodyPr wrap="square" lIns="0" tIns="0" rIns="0" bIns="0" rtlCol="0" anchor="ctr">
            <a:normAutofit/>
          </a:bodyPr>
          <a:lstStyle/>
          <a:p>
            <a:pPr algn="ctr">
              <a:buNone/>
            </a:pPr>
            <a:r>
              <a:rPr lang="fr-FR" sz="1200" dirty="0">
                <a:solidFill>
                  <a:srgbClr val="A9853F"/>
                </a:solidFill>
                <a:latin typeface="Arial" pitchFamily="2" charset="77"/>
                <a:ea typeface="Arial" pitchFamily="2" charset="77"/>
                <a:cs typeface="Arial" pitchFamily="2" charset="77"/>
              </a:rPr>
              <a:t>▼</a:t>
            </a:r>
          </a:p>
        </p:txBody>
      </p:sp>
      <p:sp>
        <p:nvSpPr>
          <p:cNvPr id="8007" name="Text 8007"/>
          <p:cNvSpPr txBox="1"/>
          <p:nvPr/>
        </p:nvSpPr>
        <p:spPr>
          <a:xfrm>
            <a:off x="3732468" y="2785000"/>
            <a:ext cx="2200000" cy="320000"/>
          </a:xfrm>
          <a:prstGeom prst="rect">
            <a:avLst/>
          </a:prstGeom>
          <a:noFill/>
          <a:ln>
            <a:noFill/>
          </a:ln>
        </p:spPr>
        <p:txBody>
          <a:bodyPr wrap="square" lIns="0" tIns="0" rIns="0" bIns="0" rtlCol="0" anchor="ctr">
            <a:normAutofit/>
          </a:bodyPr>
          <a:lstStyle/>
          <a:p>
            <a:pPr algn="l">
              <a:buNone/>
            </a:pPr>
            <a:r>
              <a:rPr lang="fr-FR" sz="850" dirty="0">
                <a:solidFill>
                  <a:srgbClr val="6B6B6B"/>
                </a:solidFill>
                <a:latin typeface="Jost Light" pitchFamily="2" charset="77"/>
                <a:ea typeface="Jost Light" pitchFamily="2" charset="77"/>
                <a:cs typeface="Jost Light" pitchFamily="2" charset="77"/>
              </a:rPr>
              <a:t>100% des parts</a:t>
            </a:r>
          </a:p>
        </p:txBody>
      </p:sp>
      <p:sp>
        <p:nvSpPr>
          <p:cNvPr id="8008" name="Shape 8008"/>
          <p:cNvSpPr/>
          <p:nvPr/>
        </p:nvSpPr>
        <p:spPr>
          <a:xfrm>
            <a:off x="2072468" y="3150000"/>
            <a:ext cx="3000000" cy="680000"/>
          </a:xfrm>
          <a:prstGeom prst="rect">
            <a:avLst/>
          </a:prstGeom>
          <a:solidFill>
            <a:srgbClr val="001B00"/>
          </a:solidFill>
          <a:ln>
            <a:noFill/>
          </a:ln>
        </p:spPr>
        <p:txBody>
          <a:bodyPr rtlCol="0" anchor="ctr"/>
          <a:lstStyle/>
          <a:p>
            <a:endParaRPr lang="fr-FR"/>
          </a:p>
        </p:txBody>
      </p:sp>
      <p:sp>
        <p:nvSpPr>
          <p:cNvPr id="8009" name="Text 8009"/>
          <p:cNvSpPr txBox="1"/>
          <p:nvPr/>
        </p:nvSpPr>
        <p:spPr>
          <a:xfrm>
            <a:off x="2222468" y="3240000"/>
            <a:ext cx="2700000" cy="50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FFFFFF"/>
                </a:solidFill>
                <a:latin typeface="Jost Medium" pitchFamily="2" charset="77"/>
                <a:ea typeface="Jost Medium" pitchFamily="2" charset="77"/>
                <a:cs typeface="Jost Medium" pitchFamily="2" charset="77"/>
              </a:rPr>
              <a:t>Holding patrimoniale</a:t>
            </a:r>
          </a:p>
          <a:p>
            <a:pPr algn="ctr">
              <a:buNone/>
            </a:pPr>
            <a:r>
              <a:rPr lang="fr-FR" sz="900" dirty="0">
                <a:solidFill>
                  <a:srgbClr val="A9853F"/>
                </a:solidFill>
                <a:latin typeface="Jost Light" pitchFamily="2" charset="77"/>
                <a:ea typeface="Jost Light" pitchFamily="2" charset="77"/>
                <a:cs typeface="Jost Light" pitchFamily="2" charset="77"/>
              </a:rPr>
              <a:t>Société à l’IS</a:t>
            </a:r>
          </a:p>
        </p:txBody>
      </p:sp>
      <p:sp>
        <p:nvSpPr>
          <p:cNvPr id="8010" name="Shape 8010"/>
          <p:cNvSpPr/>
          <p:nvPr/>
        </p:nvSpPr>
        <p:spPr>
          <a:xfrm>
            <a:off x="3572468" y="3830000"/>
            <a:ext cx="1" cy="180000"/>
          </a:xfrm>
          <a:prstGeom prst="line">
            <a:avLst/>
          </a:prstGeom>
          <a:noFill/>
          <a:ln w="19050">
            <a:solidFill>
              <a:srgbClr val="A9853F"/>
            </a:solidFill>
          </a:ln>
        </p:spPr>
        <p:txBody>
          <a:bodyPr rtlCol="0" anchor="ctr"/>
          <a:lstStyle/>
          <a:p>
            <a:endParaRPr lang="fr-FR"/>
          </a:p>
        </p:txBody>
      </p:sp>
      <p:sp>
        <p:nvSpPr>
          <p:cNvPr id="8011" name="Shape 8011"/>
          <p:cNvSpPr/>
          <p:nvPr/>
        </p:nvSpPr>
        <p:spPr>
          <a:xfrm>
            <a:off x="2247468" y="4010000"/>
            <a:ext cx="2650000" cy="1"/>
          </a:xfrm>
          <a:prstGeom prst="line">
            <a:avLst/>
          </a:prstGeom>
          <a:noFill/>
          <a:ln w="19050">
            <a:solidFill>
              <a:srgbClr val="A9853F"/>
            </a:solidFill>
          </a:ln>
        </p:spPr>
        <p:txBody>
          <a:bodyPr rtlCol="0" anchor="ctr"/>
          <a:lstStyle/>
          <a:p>
            <a:endParaRPr lang="fr-FR"/>
          </a:p>
        </p:txBody>
      </p:sp>
      <p:sp>
        <p:nvSpPr>
          <p:cNvPr id="8012" name="Shape 8012"/>
          <p:cNvSpPr/>
          <p:nvPr/>
        </p:nvSpPr>
        <p:spPr>
          <a:xfrm>
            <a:off x="2247468" y="4010000"/>
            <a:ext cx="1" cy="570000"/>
          </a:xfrm>
          <a:prstGeom prst="line">
            <a:avLst/>
          </a:prstGeom>
          <a:noFill/>
          <a:ln w="19050">
            <a:solidFill>
              <a:srgbClr val="A9853F"/>
            </a:solidFill>
          </a:ln>
        </p:spPr>
        <p:txBody>
          <a:bodyPr rtlCol="0" anchor="ctr"/>
          <a:lstStyle/>
          <a:p>
            <a:endParaRPr lang="fr-FR"/>
          </a:p>
        </p:txBody>
      </p:sp>
      <p:sp>
        <p:nvSpPr>
          <p:cNvPr id="8013" name="Text 8013"/>
          <p:cNvSpPr txBox="1"/>
          <p:nvPr/>
        </p:nvSpPr>
        <p:spPr>
          <a:xfrm>
            <a:off x="2047468" y="4470000"/>
            <a:ext cx="400000" cy="260000"/>
          </a:xfrm>
          <a:prstGeom prst="rect">
            <a:avLst/>
          </a:prstGeom>
          <a:noFill/>
          <a:ln>
            <a:noFill/>
          </a:ln>
        </p:spPr>
        <p:txBody>
          <a:bodyPr wrap="square" lIns="0" tIns="0" rIns="0" bIns="0" rtlCol="0" anchor="ctr">
            <a:normAutofit/>
          </a:bodyPr>
          <a:lstStyle/>
          <a:p>
            <a:pPr algn="ctr">
              <a:buNone/>
            </a:pPr>
            <a:r>
              <a:rPr lang="fr-FR" sz="1200" dirty="0">
                <a:solidFill>
                  <a:srgbClr val="A9853F"/>
                </a:solidFill>
                <a:latin typeface="Arial" pitchFamily="2" charset="77"/>
                <a:ea typeface="Arial" pitchFamily="2" charset="77"/>
                <a:cs typeface="Arial" pitchFamily="2" charset="77"/>
              </a:rPr>
              <a:t>▼</a:t>
            </a:r>
          </a:p>
        </p:txBody>
      </p:sp>
      <p:sp>
        <p:nvSpPr>
          <p:cNvPr id="8014" name="Shape 8014"/>
          <p:cNvSpPr/>
          <p:nvPr/>
        </p:nvSpPr>
        <p:spPr>
          <a:xfrm>
            <a:off x="4897468" y="4010000"/>
            <a:ext cx="1" cy="570000"/>
          </a:xfrm>
          <a:prstGeom prst="line">
            <a:avLst/>
          </a:prstGeom>
          <a:noFill/>
          <a:ln w="19050">
            <a:solidFill>
              <a:srgbClr val="A9853F"/>
            </a:solidFill>
          </a:ln>
        </p:spPr>
        <p:txBody>
          <a:bodyPr rtlCol="0" anchor="ctr"/>
          <a:lstStyle/>
          <a:p>
            <a:endParaRPr lang="fr-FR"/>
          </a:p>
        </p:txBody>
      </p:sp>
      <p:sp>
        <p:nvSpPr>
          <p:cNvPr id="8015" name="Text 8015"/>
          <p:cNvSpPr txBox="1"/>
          <p:nvPr/>
        </p:nvSpPr>
        <p:spPr>
          <a:xfrm>
            <a:off x="4697468" y="4470000"/>
            <a:ext cx="400000" cy="260000"/>
          </a:xfrm>
          <a:prstGeom prst="rect">
            <a:avLst/>
          </a:prstGeom>
          <a:noFill/>
          <a:ln>
            <a:noFill/>
          </a:ln>
        </p:spPr>
        <p:txBody>
          <a:bodyPr wrap="square" lIns="0" tIns="0" rIns="0" bIns="0" rtlCol="0" anchor="ctr">
            <a:normAutofit/>
          </a:bodyPr>
          <a:lstStyle/>
          <a:p>
            <a:pPr algn="ctr">
              <a:buNone/>
            </a:pPr>
            <a:r>
              <a:rPr lang="fr-FR" sz="1200" dirty="0">
                <a:solidFill>
                  <a:srgbClr val="A9853F"/>
                </a:solidFill>
                <a:latin typeface="Arial" pitchFamily="2" charset="77"/>
                <a:ea typeface="Arial" pitchFamily="2" charset="77"/>
                <a:cs typeface="Arial" pitchFamily="2" charset="77"/>
              </a:rPr>
              <a:t>▼</a:t>
            </a:r>
          </a:p>
        </p:txBody>
      </p:sp>
      <p:sp>
        <p:nvSpPr>
          <p:cNvPr id="8016" name="Shape 8016"/>
          <p:cNvSpPr/>
          <p:nvPr/>
        </p:nvSpPr>
        <p:spPr>
          <a:xfrm>
            <a:off x="1122468" y="4700000"/>
            <a:ext cx="2250000" cy="900000"/>
          </a:xfrm>
          <a:prstGeom prst="rect">
            <a:avLst/>
          </a:prstGeom>
          <a:solidFill>
            <a:srgbClr val="FFFFFF"/>
          </a:solidFill>
          <a:ln w="12700">
            <a:solidFill>
              <a:srgbClr val="A9853F"/>
            </a:solidFill>
          </a:ln>
        </p:spPr>
        <p:txBody>
          <a:bodyPr rtlCol="0" anchor="ctr"/>
          <a:lstStyle/>
          <a:p>
            <a:endParaRPr lang="fr-FR"/>
          </a:p>
        </p:txBody>
      </p:sp>
      <p:sp>
        <p:nvSpPr>
          <p:cNvPr id="8017" name="Text 8017"/>
          <p:cNvSpPr txBox="1"/>
          <p:nvPr/>
        </p:nvSpPr>
        <p:spPr>
          <a:xfrm>
            <a:off x="1272468" y="4790000"/>
            <a:ext cx="1950000" cy="72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073527"/>
                </a:solidFill>
                <a:latin typeface="Jost Medium" pitchFamily="2" charset="77"/>
                <a:ea typeface="Jost Medium" pitchFamily="2" charset="77"/>
                <a:cs typeface="Jost Medium" pitchFamily="2" charset="77"/>
              </a:rPr>
              <a:t>Société opérationnelle</a:t>
            </a:r>
          </a:p>
          <a:p>
            <a:pPr algn="ctr">
              <a:buNone/>
            </a:pPr>
            <a:r>
              <a:rPr lang="fr-FR" sz="900" dirty="0">
                <a:solidFill>
                  <a:srgbClr val="6B6B6B"/>
                </a:solidFill>
                <a:latin typeface="Jost Light" pitchFamily="2" charset="77"/>
                <a:ea typeface="Jost Light" pitchFamily="2" charset="77"/>
                <a:cs typeface="Jost Light" pitchFamily="2" charset="77"/>
              </a:rPr>
              <a:t>Votre entreprise : les dividendes remontent à la holding</a:t>
            </a:r>
          </a:p>
        </p:txBody>
      </p:sp>
      <p:sp>
        <p:nvSpPr>
          <p:cNvPr id="8018" name="Shape 8018"/>
          <p:cNvSpPr/>
          <p:nvPr/>
        </p:nvSpPr>
        <p:spPr>
          <a:xfrm>
            <a:off x="3772468" y="4700000"/>
            <a:ext cx="2250000" cy="900000"/>
          </a:xfrm>
          <a:prstGeom prst="rect">
            <a:avLst/>
          </a:prstGeom>
          <a:solidFill>
            <a:srgbClr val="FFFFFF"/>
          </a:solidFill>
          <a:ln w="12700">
            <a:solidFill>
              <a:srgbClr val="A9853F"/>
            </a:solidFill>
          </a:ln>
        </p:spPr>
        <p:txBody>
          <a:bodyPr rtlCol="0" anchor="ctr"/>
          <a:lstStyle/>
          <a:p>
            <a:endParaRPr lang="fr-FR"/>
          </a:p>
        </p:txBody>
      </p:sp>
      <p:sp>
        <p:nvSpPr>
          <p:cNvPr id="8019" name="Text 8019"/>
          <p:cNvSpPr txBox="1"/>
          <p:nvPr/>
        </p:nvSpPr>
        <p:spPr>
          <a:xfrm>
            <a:off x="3922468" y="4790000"/>
            <a:ext cx="1950000" cy="72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073527"/>
                </a:solidFill>
                <a:latin typeface="Jost Medium" pitchFamily="2" charset="77"/>
                <a:ea typeface="Jost Medium" pitchFamily="2" charset="77"/>
                <a:cs typeface="Jost Medium" pitchFamily="2" charset="77"/>
              </a:rPr>
              <a:t>Poche financière</a:t>
            </a:r>
          </a:p>
          <a:p>
            <a:pPr algn="ctr">
              <a:buNone/>
            </a:pPr>
            <a:r>
              <a:rPr lang="fr-FR" sz="900" dirty="0">
                <a:solidFill>
                  <a:srgbClr val="6B6B6B"/>
                </a:solidFill>
                <a:latin typeface="Jost Light" pitchFamily="2" charset="77"/>
                <a:ea typeface="Jost Light" pitchFamily="2" charset="77"/>
                <a:cs typeface="Jost Light" pitchFamily="2" charset="77"/>
              </a:rPr>
              <a:t>Contrat de capitalisation, compte-titres</a:t>
            </a:r>
          </a:p>
        </p:txBody>
      </p:sp>
      <p:sp>
        <p:nvSpPr>
          <p:cNvPr id="8020" name="Shape 8020"/>
          <p:cNvSpPr/>
          <p:nvPr/>
        </p:nvSpPr>
        <p:spPr>
          <a:xfrm>
            <a:off x="6479734" y="1780000"/>
            <a:ext cx="5212266" cy="460000"/>
          </a:xfrm>
          <a:prstGeom prst="rect">
            <a:avLst/>
          </a:prstGeom>
          <a:solidFill>
            <a:srgbClr val="001B00"/>
          </a:solidFill>
          <a:ln>
            <a:noFill/>
          </a:ln>
        </p:spPr>
        <p:txBody>
          <a:bodyPr rtlCol="0" anchor="ctr"/>
          <a:lstStyle/>
          <a:p>
            <a:endParaRPr lang="fr-FR"/>
          </a:p>
        </p:txBody>
      </p:sp>
      <p:sp>
        <p:nvSpPr>
          <p:cNvPr id="8021" name="Text 8021"/>
          <p:cNvSpPr txBox="1"/>
          <p:nvPr/>
        </p:nvSpPr>
        <p:spPr>
          <a:xfrm>
            <a:off x="6479734" y="1780000"/>
            <a:ext cx="5212266"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Ce que la holding vous apporte</a:t>
            </a:r>
          </a:p>
        </p:txBody>
      </p:sp>
      <p:sp>
        <p:nvSpPr>
          <p:cNvPr id="8022" name="Shape 8022"/>
          <p:cNvSpPr/>
          <p:nvPr/>
        </p:nvSpPr>
        <p:spPr>
          <a:xfrm>
            <a:off x="6479734" y="2240000"/>
            <a:ext cx="5212266" cy="4180000"/>
          </a:xfrm>
          <a:prstGeom prst="rect">
            <a:avLst/>
          </a:prstGeom>
          <a:solidFill>
            <a:srgbClr val="FCF9EF"/>
          </a:solidFill>
          <a:ln>
            <a:noFill/>
          </a:ln>
        </p:spPr>
        <p:txBody>
          <a:bodyPr rtlCol="0" anchor="ctr"/>
          <a:lstStyle/>
          <a:p>
            <a:endParaRPr lang="fr-FR"/>
          </a:p>
        </p:txBody>
      </p:sp>
      <p:sp>
        <p:nvSpPr>
          <p:cNvPr id="8023" name="Shape 8023"/>
          <p:cNvSpPr/>
          <p:nvPr/>
        </p:nvSpPr>
        <p:spPr>
          <a:xfrm>
            <a:off x="6739734" y="2535000"/>
            <a:ext cx="110000" cy="110000"/>
          </a:xfrm>
          <a:prstGeom prst="rect">
            <a:avLst/>
          </a:prstGeom>
          <a:solidFill>
            <a:srgbClr val="A9853F"/>
          </a:solidFill>
          <a:ln>
            <a:noFill/>
          </a:ln>
        </p:spPr>
        <p:txBody>
          <a:bodyPr rtlCol="0" anchor="ctr"/>
          <a:lstStyle/>
          <a:p>
            <a:endParaRPr lang="fr-FR"/>
          </a:p>
        </p:txBody>
      </p:sp>
      <p:sp>
        <p:nvSpPr>
          <p:cNvPr id="8024" name="Text 8024"/>
          <p:cNvSpPr txBox="1"/>
          <p:nvPr/>
        </p:nvSpPr>
        <p:spPr>
          <a:xfrm>
            <a:off x="6999734" y="2440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Remonter les dividendes</a:t>
            </a:r>
          </a:p>
          <a:p>
            <a:pPr algn="l">
              <a:buNone/>
            </a:pPr>
            <a:r>
              <a:rPr lang="fr-FR" sz="950" dirty="0">
                <a:solidFill>
                  <a:srgbClr val="073527"/>
                </a:solidFill>
                <a:latin typeface="Jost Light" pitchFamily="2" charset="77"/>
                <a:ea typeface="Jost Light" pitchFamily="2" charset="77"/>
                <a:cs typeface="Jost Light" pitchFamily="2" charset="77"/>
              </a:rPr>
              <a:t>Régime mère-fille : les dividendes de votre société remontent exonérés à 95%, seule une quote-part de 5% reste imposée.</a:t>
            </a:r>
          </a:p>
        </p:txBody>
      </p:sp>
      <p:sp>
        <p:nvSpPr>
          <p:cNvPr id="8025" name="Shape 8025"/>
          <p:cNvSpPr/>
          <p:nvPr/>
        </p:nvSpPr>
        <p:spPr>
          <a:xfrm>
            <a:off x="6739734" y="3470000"/>
            <a:ext cx="110000" cy="110000"/>
          </a:xfrm>
          <a:prstGeom prst="rect">
            <a:avLst/>
          </a:prstGeom>
          <a:solidFill>
            <a:srgbClr val="A9853F"/>
          </a:solidFill>
          <a:ln>
            <a:noFill/>
          </a:ln>
        </p:spPr>
        <p:txBody>
          <a:bodyPr rtlCol="0" anchor="ctr"/>
          <a:lstStyle/>
          <a:p>
            <a:endParaRPr lang="fr-FR"/>
          </a:p>
        </p:txBody>
      </p:sp>
      <p:sp>
        <p:nvSpPr>
          <p:cNvPr id="8026" name="Text 8026"/>
          <p:cNvSpPr txBox="1"/>
          <p:nvPr/>
        </p:nvSpPr>
        <p:spPr>
          <a:xfrm>
            <a:off x="6999734" y="3375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Création de votre patrimoine financier</a:t>
            </a:r>
          </a:p>
          <a:p>
            <a:pPr lvl="0"/>
            <a:r>
              <a:rPr lang="fr-FR" sz="1000" dirty="0">
                <a:solidFill>
                  <a:srgbClr val="073527"/>
                </a:solidFill>
                <a:latin typeface="Jost Light" pitchFamily="2" charset="77"/>
                <a:ea typeface="Jost Light" pitchFamily="2" charset="77"/>
              </a:rPr>
              <a:t>Structurer votre épargne financière et votre trésorerie pour les faire fructifier dans le temps.</a:t>
            </a:r>
          </a:p>
        </p:txBody>
      </p:sp>
      <p:sp>
        <p:nvSpPr>
          <p:cNvPr id="8027" name="Shape 8027"/>
          <p:cNvSpPr/>
          <p:nvPr/>
        </p:nvSpPr>
        <p:spPr>
          <a:xfrm>
            <a:off x="6739734" y="4405000"/>
            <a:ext cx="110000" cy="110000"/>
          </a:xfrm>
          <a:prstGeom prst="rect">
            <a:avLst/>
          </a:prstGeom>
          <a:solidFill>
            <a:srgbClr val="A9853F"/>
          </a:solidFill>
          <a:ln>
            <a:noFill/>
          </a:ln>
        </p:spPr>
        <p:txBody>
          <a:bodyPr rtlCol="0" anchor="ctr"/>
          <a:lstStyle/>
          <a:p>
            <a:endParaRPr lang="fr-FR"/>
          </a:p>
        </p:txBody>
      </p:sp>
      <p:sp>
        <p:nvSpPr>
          <p:cNvPr id="8028" name="Text 8028"/>
          <p:cNvSpPr txBox="1"/>
          <p:nvPr/>
        </p:nvSpPr>
        <p:spPr>
          <a:xfrm>
            <a:off x="6999734" y="4310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Financer une acquisition</a:t>
            </a:r>
          </a:p>
          <a:p>
            <a:pPr algn="l">
              <a:buNone/>
            </a:pPr>
            <a:r>
              <a:rPr lang="fr-FR" sz="950" dirty="0">
                <a:solidFill>
                  <a:srgbClr val="073527"/>
                </a:solidFill>
                <a:latin typeface="Jost Light" pitchFamily="2" charset="77"/>
                <a:ea typeface="Jost Light" pitchFamily="2" charset="77"/>
                <a:cs typeface="Jost Light" pitchFamily="2" charset="77"/>
              </a:rPr>
              <a:t>La holding emprunte et rembourse avec les dividendes de la filiale. L’intégration fiscale est possible dès 95% de détention.</a:t>
            </a:r>
          </a:p>
        </p:txBody>
      </p:sp>
      <p:sp>
        <p:nvSpPr>
          <p:cNvPr id="8029" name="Shape 8029"/>
          <p:cNvSpPr/>
          <p:nvPr/>
        </p:nvSpPr>
        <p:spPr>
          <a:xfrm>
            <a:off x="6739734" y="5340000"/>
            <a:ext cx="110000" cy="110000"/>
          </a:xfrm>
          <a:prstGeom prst="rect">
            <a:avLst/>
          </a:prstGeom>
          <a:solidFill>
            <a:srgbClr val="A9853F"/>
          </a:solidFill>
          <a:ln>
            <a:noFill/>
          </a:ln>
        </p:spPr>
        <p:txBody>
          <a:bodyPr rtlCol="0" anchor="ctr"/>
          <a:lstStyle/>
          <a:p>
            <a:endParaRPr lang="fr-FR"/>
          </a:p>
        </p:txBody>
      </p:sp>
      <p:sp>
        <p:nvSpPr>
          <p:cNvPr id="8030" name="Text 8030"/>
          <p:cNvSpPr txBox="1"/>
          <p:nvPr/>
        </p:nvSpPr>
        <p:spPr>
          <a:xfrm>
            <a:off x="6999734" y="5245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Préparer la transmission</a:t>
            </a:r>
          </a:p>
          <a:p>
            <a:pPr algn="l">
              <a:buNone/>
            </a:pPr>
            <a:r>
              <a:rPr lang="fr-FR" sz="950" dirty="0">
                <a:solidFill>
                  <a:srgbClr val="073527"/>
                </a:solidFill>
                <a:latin typeface="Jost Light" pitchFamily="2" charset="77"/>
                <a:ea typeface="Jost Light" pitchFamily="2" charset="77"/>
                <a:cs typeface="Jost Light" pitchFamily="2" charset="77"/>
              </a:rPr>
              <a:t>Vous donnez les titres de la holding, en pleine propriété ou en nue-propriété, avec un pacte Dutreil si l’activité le permet.</a:t>
            </a:r>
          </a:p>
        </p:txBody>
      </p:sp>
    </p:spTree>
    <p:extLst>
      <p:ext uri="{BB962C8B-B14F-4D97-AF65-F5344CB8AC3E}">
        <p14:creationId xmlns:p14="http://schemas.microsoft.com/office/powerpoint/2010/main" val="1296378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Loger l’immobilier sous la holding, pour investir avec la trésorerie de l’entreprise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La SCI détenue par une société à l’IS</a:t>
            </a:r>
          </a:p>
        </p:txBody>
      </p:sp>
      <p:sp>
        <p:nvSpPr>
          <p:cNvPr id="8056" name="Shape 8056"/>
          <p:cNvSpPr/>
          <p:nvPr/>
        </p:nvSpPr>
        <p:spPr>
          <a:xfrm>
            <a:off x="947468" y="1780000"/>
            <a:ext cx="5250000" cy="4640000"/>
          </a:xfrm>
          <a:prstGeom prst="rect">
            <a:avLst/>
          </a:prstGeom>
          <a:solidFill>
            <a:srgbClr val="FCF9EF"/>
          </a:solidFill>
          <a:ln>
            <a:noFill/>
          </a:ln>
        </p:spPr>
        <p:txBody>
          <a:bodyPr rtlCol="0" anchor="ctr"/>
          <a:lstStyle/>
          <a:p>
            <a:endParaRPr lang="fr-FR"/>
          </a:p>
        </p:txBody>
      </p:sp>
      <p:sp>
        <p:nvSpPr>
          <p:cNvPr id="8058" name="Shape 8058"/>
          <p:cNvSpPr/>
          <p:nvPr/>
        </p:nvSpPr>
        <p:spPr>
          <a:xfrm>
            <a:off x="2072468" y="1950000"/>
            <a:ext cx="3000000" cy="560000"/>
          </a:xfrm>
          <a:prstGeom prst="rect">
            <a:avLst/>
          </a:prstGeom>
          <a:solidFill>
            <a:srgbClr val="FFFFFF"/>
          </a:solidFill>
          <a:ln w="12700">
            <a:solidFill>
              <a:srgbClr val="A9853F"/>
            </a:solidFill>
          </a:ln>
        </p:spPr>
        <p:txBody>
          <a:bodyPr rtlCol="0" anchor="ctr"/>
          <a:lstStyle/>
          <a:p>
            <a:endParaRPr lang="fr-FR"/>
          </a:p>
        </p:txBody>
      </p:sp>
      <p:sp>
        <p:nvSpPr>
          <p:cNvPr id="8059" name="Text 8059"/>
          <p:cNvSpPr txBox="1"/>
          <p:nvPr/>
        </p:nvSpPr>
        <p:spPr>
          <a:xfrm>
            <a:off x="2222468" y="2040000"/>
            <a:ext cx="2700000" cy="38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073527"/>
                </a:solidFill>
                <a:latin typeface="Jost Medium" pitchFamily="2" charset="77"/>
                <a:ea typeface="Jost Medium" pitchFamily="2" charset="77"/>
                <a:cs typeface="Jost Medium" pitchFamily="2" charset="77"/>
              </a:rPr>
              <a:t>Vous</a:t>
            </a:r>
          </a:p>
          <a:p>
            <a:pPr algn="ctr">
              <a:buNone/>
            </a:pPr>
            <a:r>
              <a:rPr lang="fr-FR" sz="900" dirty="0">
                <a:solidFill>
                  <a:srgbClr val="6B6B6B"/>
                </a:solidFill>
                <a:latin typeface="Jost Light" pitchFamily="2" charset="77"/>
                <a:ea typeface="Jost Light" pitchFamily="2" charset="77"/>
                <a:cs typeface="Jost Light" pitchFamily="2" charset="77"/>
              </a:rPr>
              <a:t>Associé de la holding</a:t>
            </a:r>
          </a:p>
        </p:txBody>
      </p:sp>
      <p:sp>
        <p:nvSpPr>
          <p:cNvPr id="8060" name="Shape 8060"/>
          <p:cNvSpPr/>
          <p:nvPr/>
        </p:nvSpPr>
        <p:spPr>
          <a:xfrm>
            <a:off x="3572468" y="2510000"/>
            <a:ext cx="1" cy="350000"/>
          </a:xfrm>
          <a:prstGeom prst="line">
            <a:avLst/>
          </a:prstGeom>
          <a:noFill/>
          <a:ln w="19050">
            <a:solidFill>
              <a:srgbClr val="A9853F"/>
            </a:solidFill>
          </a:ln>
        </p:spPr>
        <p:txBody>
          <a:bodyPr rtlCol="0" anchor="ctr"/>
          <a:lstStyle/>
          <a:p>
            <a:endParaRPr lang="fr-FR"/>
          </a:p>
        </p:txBody>
      </p:sp>
      <p:sp>
        <p:nvSpPr>
          <p:cNvPr id="8061" name="Text 8061"/>
          <p:cNvSpPr txBox="1"/>
          <p:nvPr/>
        </p:nvSpPr>
        <p:spPr>
          <a:xfrm>
            <a:off x="3372468" y="2750000"/>
            <a:ext cx="400000" cy="260000"/>
          </a:xfrm>
          <a:prstGeom prst="rect">
            <a:avLst/>
          </a:prstGeom>
          <a:noFill/>
          <a:ln>
            <a:noFill/>
          </a:ln>
        </p:spPr>
        <p:txBody>
          <a:bodyPr wrap="square" lIns="0" tIns="0" rIns="0" bIns="0" rtlCol="0" anchor="ctr">
            <a:normAutofit/>
          </a:bodyPr>
          <a:lstStyle/>
          <a:p>
            <a:pPr algn="ctr">
              <a:buNone/>
            </a:pPr>
            <a:r>
              <a:rPr lang="fr-FR" sz="1200" dirty="0">
                <a:solidFill>
                  <a:srgbClr val="A9853F"/>
                </a:solidFill>
                <a:latin typeface="Arial" pitchFamily="2" charset="77"/>
                <a:ea typeface="Arial" pitchFamily="2" charset="77"/>
                <a:cs typeface="Arial" pitchFamily="2" charset="77"/>
              </a:rPr>
              <a:t>▼</a:t>
            </a:r>
          </a:p>
        </p:txBody>
      </p:sp>
      <p:sp>
        <p:nvSpPr>
          <p:cNvPr id="8062" name="Text 8062"/>
          <p:cNvSpPr txBox="1"/>
          <p:nvPr/>
        </p:nvSpPr>
        <p:spPr>
          <a:xfrm>
            <a:off x="3732468" y="2565000"/>
            <a:ext cx="2200000" cy="320000"/>
          </a:xfrm>
          <a:prstGeom prst="rect">
            <a:avLst/>
          </a:prstGeom>
          <a:noFill/>
          <a:ln>
            <a:noFill/>
          </a:ln>
        </p:spPr>
        <p:txBody>
          <a:bodyPr wrap="square" lIns="0" tIns="0" rIns="0" bIns="0" rtlCol="0" anchor="ctr">
            <a:normAutofit/>
          </a:bodyPr>
          <a:lstStyle/>
          <a:p>
            <a:pPr algn="l">
              <a:buNone/>
            </a:pPr>
            <a:r>
              <a:rPr lang="fr-FR" sz="850" dirty="0">
                <a:solidFill>
                  <a:srgbClr val="6B6B6B"/>
                </a:solidFill>
                <a:latin typeface="Jost Light" pitchFamily="2" charset="77"/>
                <a:ea typeface="Jost Light" pitchFamily="2" charset="77"/>
                <a:cs typeface="Jost Light" pitchFamily="2" charset="77"/>
              </a:rPr>
              <a:t>Titres</a:t>
            </a:r>
          </a:p>
        </p:txBody>
      </p:sp>
      <p:sp>
        <p:nvSpPr>
          <p:cNvPr id="8063" name="Shape 8063"/>
          <p:cNvSpPr/>
          <p:nvPr/>
        </p:nvSpPr>
        <p:spPr>
          <a:xfrm>
            <a:off x="2072468" y="2980000"/>
            <a:ext cx="3000000" cy="560000"/>
          </a:xfrm>
          <a:prstGeom prst="rect">
            <a:avLst/>
          </a:prstGeom>
          <a:solidFill>
            <a:srgbClr val="001B00"/>
          </a:solidFill>
          <a:ln>
            <a:noFill/>
          </a:ln>
        </p:spPr>
        <p:txBody>
          <a:bodyPr rtlCol="0" anchor="ctr"/>
          <a:lstStyle/>
          <a:p>
            <a:endParaRPr lang="fr-FR"/>
          </a:p>
        </p:txBody>
      </p:sp>
      <p:sp>
        <p:nvSpPr>
          <p:cNvPr id="8064" name="Text 8064"/>
          <p:cNvSpPr txBox="1"/>
          <p:nvPr/>
        </p:nvSpPr>
        <p:spPr>
          <a:xfrm>
            <a:off x="2222468" y="3070000"/>
            <a:ext cx="2700000" cy="38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FFFFFF"/>
                </a:solidFill>
                <a:latin typeface="Jost Medium" pitchFamily="2" charset="77"/>
                <a:ea typeface="Jost Medium" pitchFamily="2" charset="77"/>
                <a:cs typeface="Jost Medium" pitchFamily="2" charset="77"/>
              </a:rPr>
              <a:t>Holding à l’IS</a:t>
            </a:r>
          </a:p>
          <a:p>
            <a:pPr algn="ctr">
              <a:buNone/>
            </a:pPr>
            <a:r>
              <a:rPr lang="fr-FR" sz="900" dirty="0">
                <a:solidFill>
                  <a:srgbClr val="A9853F"/>
                </a:solidFill>
                <a:latin typeface="Jost Light" pitchFamily="2" charset="77"/>
                <a:ea typeface="Jost Light" pitchFamily="2" charset="77"/>
                <a:cs typeface="Jost Light" pitchFamily="2" charset="77"/>
              </a:rPr>
              <a:t>Sa trésorerie finance l’apport</a:t>
            </a:r>
          </a:p>
        </p:txBody>
      </p:sp>
      <p:sp>
        <p:nvSpPr>
          <p:cNvPr id="8065" name="Shape 8065"/>
          <p:cNvSpPr/>
          <p:nvPr/>
        </p:nvSpPr>
        <p:spPr>
          <a:xfrm>
            <a:off x="3572468" y="3540000"/>
            <a:ext cx="1" cy="350000"/>
          </a:xfrm>
          <a:prstGeom prst="line">
            <a:avLst/>
          </a:prstGeom>
          <a:noFill/>
          <a:ln w="19050">
            <a:solidFill>
              <a:srgbClr val="A9853F"/>
            </a:solidFill>
          </a:ln>
        </p:spPr>
        <p:txBody>
          <a:bodyPr rtlCol="0" anchor="ctr"/>
          <a:lstStyle/>
          <a:p>
            <a:endParaRPr lang="fr-FR"/>
          </a:p>
        </p:txBody>
      </p:sp>
      <p:sp>
        <p:nvSpPr>
          <p:cNvPr id="8066" name="Text 8066"/>
          <p:cNvSpPr txBox="1"/>
          <p:nvPr/>
        </p:nvSpPr>
        <p:spPr>
          <a:xfrm>
            <a:off x="3372468" y="3780000"/>
            <a:ext cx="400000" cy="260000"/>
          </a:xfrm>
          <a:prstGeom prst="rect">
            <a:avLst/>
          </a:prstGeom>
          <a:noFill/>
          <a:ln>
            <a:noFill/>
          </a:ln>
        </p:spPr>
        <p:txBody>
          <a:bodyPr wrap="square" lIns="0" tIns="0" rIns="0" bIns="0" rtlCol="0" anchor="ctr">
            <a:normAutofit/>
          </a:bodyPr>
          <a:lstStyle/>
          <a:p>
            <a:pPr algn="ctr">
              <a:buNone/>
            </a:pPr>
            <a:r>
              <a:rPr lang="fr-FR" sz="1200" dirty="0">
                <a:solidFill>
                  <a:srgbClr val="A9853F"/>
                </a:solidFill>
                <a:latin typeface="Arial" pitchFamily="2" charset="77"/>
                <a:ea typeface="Arial" pitchFamily="2" charset="77"/>
                <a:cs typeface="Arial" pitchFamily="2" charset="77"/>
              </a:rPr>
              <a:t>▼</a:t>
            </a:r>
          </a:p>
        </p:txBody>
      </p:sp>
      <p:sp>
        <p:nvSpPr>
          <p:cNvPr id="8067" name="Text 8067"/>
          <p:cNvSpPr txBox="1"/>
          <p:nvPr/>
        </p:nvSpPr>
        <p:spPr>
          <a:xfrm>
            <a:off x="3732468" y="3595000"/>
            <a:ext cx="2200000" cy="320000"/>
          </a:xfrm>
          <a:prstGeom prst="rect">
            <a:avLst/>
          </a:prstGeom>
          <a:noFill/>
          <a:ln>
            <a:noFill/>
          </a:ln>
        </p:spPr>
        <p:txBody>
          <a:bodyPr wrap="square" lIns="0" tIns="0" rIns="0" bIns="0" rtlCol="0" anchor="ctr">
            <a:normAutofit/>
          </a:bodyPr>
          <a:lstStyle/>
          <a:p>
            <a:pPr algn="l">
              <a:buNone/>
            </a:pPr>
            <a:r>
              <a:rPr lang="fr-FR" sz="850" dirty="0">
                <a:solidFill>
                  <a:srgbClr val="6B6B6B"/>
                </a:solidFill>
                <a:latin typeface="Jost Light" pitchFamily="2" charset="77"/>
                <a:ea typeface="Jost Light" pitchFamily="2" charset="77"/>
                <a:cs typeface="Jost Light" pitchFamily="2" charset="77"/>
              </a:rPr>
              <a:t>Parts de la SCI</a:t>
            </a:r>
          </a:p>
        </p:txBody>
      </p:sp>
      <p:sp>
        <p:nvSpPr>
          <p:cNvPr id="8068" name="Shape 8068"/>
          <p:cNvSpPr/>
          <p:nvPr/>
        </p:nvSpPr>
        <p:spPr>
          <a:xfrm>
            <a:off x="2072468" y="4010000"/>
            <a:ext cx="3000000" cy="560000"/>
          </a:xfrm>
          <a:prstGeom prst="rect">
            <a:avLst/>
          </a:prstGeom>
          <a:solidFill>
            <a:srgbClr val="001B00"/>
          </a:solidFill>
          <a:ln>
            <a:noFill/>
          </a:ln>
        </p:spPr>
        <p:txBody>
          <a:bodyPr rtlCol="0" anchor="ctr"/>
          <a:lstStyle/>
          <a:p>
            <a:endParaRPr lang="fr-FR"/>
          </a:p>
        </p:txBody>
      </p:sp>
      <p:sp>
        <p:nvSpPr>
          <p:cNvPr id="8069" name="Text 8069"/>
          <p:cNvSpPr txBox="1"/>
          <p:nvPr/>
        </p:nvSpPr>
        <p:spPr>
          <a:xfrm>
            <a:off x="2222468" y="4100000"/>
            <a:ext cx="2700000" cy="38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FFFFFF"/>
                </a:solidFill>
                <a:latin typeface="Jost Medium" pitchFamily="2" charset="77"/>
                <a:ea typeface="Jost Medium" pitchFamily="2" charset="77"/>
                <a:cs typeface="Jost Medium" pitchFamily="2" charset="77"/>
              </a:rPr>
              <a:t>SCI</a:t>
            </a:r>
          </a:p>
          <a:p>
            <a:pPr algn="ctr">
              <a:buNone/>
            </a:pPr>
            <a:r>
              <a:rPr lang="fr-FR" sz="900" dirty="0">
                <a:solidFill>
                  <a:srgbClr val="A9853F"/>
                </a:solidFill>
                <a:latin typeface="Jost Light" pitchFamily="2" charset="77"/>
                <a:ea typeface="Jost Light" pitchFamily="2" charset="77"/>
                <a:cs typeface="Jost Light" pitchFamily="2" charset="77"/>
              </a:rPr>
              <a:t>Résultat imposé selon les règles de l’IS</a:t>
            </a:r>
          </a:p>
        </p:txBody>
      </p:sp>
      <p:sp>
        <p:nvSpPr>
          <p:cNvPr id="8070" name="Shape 8070"/>
          <p:cNvSpPr/>
          <p:nvPr/>
        </p:nvSpPr>
        <p:spPr>
          <a:xfrm>
            <a:off x="3572468" y="4570000"/>
            <a:ext cx="1" cy="350000"/>
          </a:xfrm>
          <a:prstGeom prst="line">
            <a:avLst/>
          </a:prstGeom>
          <a:noFill/>
          <a:ln w="19050">
            <a:solidFill>
              <a:srgbClr val="A9853F"/>
            </a:solidFill>
          </a:ln>
        </p:spPr>
        <p:txBody>
          <a:bodyPr rtlCol="0" anchor="ctr"/>
          <a:lstStyle/>
          <a:p>
            <a:endParaRPr lang="fr-FR"/>
          </a:p>
        </p:txBody>
      </p:sp>
      <p:sp>
        <p:nvSpPr>
          <p:cNvPr id="8071" name="Text 8071"/>
          <p:cNvSpPr txBox="1"/>
          <p:nvPr/>
        </p:nvSpPr>
        <p:spPr>
          <a:xfrm>
            <a:off x="3372468" y="4810000"/>
            <a:ext cx="400000" cy="260000"/>
          </a:xfrm>
          <a:prstGeom prst="rect">
            <a:avLst/>
          </a:prstGeom>
          <a:noFill/>
          <a:ln>
            <a:noFill/>
          </a:ln>
        </p:spPr>
        <p:txBody>
          <a:bodyPr wrap="square" lIns="0" tIns="0" rIns="0" bIns="0" rtlCol="0" anchor="ctr">
            <a:normAutofit/>
          </a:bodyPr>
          <a:lstStyle/>
          <a:p>
            <a:pPr algn="ctr">
              <a:buNone/>
            </a:pPr>
            <a:r>
              <a:rPr lang="fr-FR" sz="1200" dirty="0">
                <a:solidFill>
                  <a:srgbClr val="A9853F"/>
                </a:solidFill>
                <a:latin typeface="Arial" pitchFamily="2" charset="77"/>
                <a:ea typeface="Arial" pitchFamily="2" charset="77"/>
                <a:cs typeface="Arial" pitchFamily="2" charset="77"/>
              </a:rPr>
              <a:t>▼</a:t>
            </a:r>
          </a:p>
        </p:txBody>
      </p:sp>
      <p:sp>
        <p:nvSpPr>
          <p:cNvPr id="8072" name="Text 8072"/>
          <p:cNvSpPr txBox="1"/>
          <p:nvPr/>
        </p:nvSpPr>
        <p:spPr>
          <a:xfrm>
            <a:off x="3732468" y="4625000"/>
            <a:ext cx="2200000" cy="320000"/>
          </a:xfrm>
          <a:prstGeom prst="rect">
            <a:avLst/>
          </a:prstGeom>
          <a:noFill/>
          <a:ln>
            <a:noFill/>
          </a:ln>
        </p:spPr>
        <p:txBody>
          <a:bodyPr wrap="square" lIns="0" tIns="0" rIns="0" bIns="0" rtlCol="0" anchor="ctr">
            <a:normAutofit/>
          </a:bodyPr>
          <a:lstStyle/>
          <a:p>
            <a:pPr algn="l">
              <a:buNone/>
            </a:pPr>
            <a:r>
              <a:rPr lang="fr-FR" sz="850" dirty="0">
                <a:solidFill>
                  <a:srgbClr val="6B6B6B"/>
                </a:solidFill>
                <a:latin typeface="Jost Light" pitchFamily="2" charset="77"/>
                <a:ea typeface="Jost Light" pitchFamily="2" charset="77"/>
                <a:cs typeface="Jost Light" pitchFamily="2" charset="77"/>
              </a:rPr>
              <a:t>Loyers</a:t>
            </a:r>
          </a:p>
        </p:txBody>
      </p:sp>
      <p:sp>
        <p:nvSpPr>
          <p:cNvPr id="8073" name="Shape 8073"/>
          <p:cNvSpPr/>
          <p:nvPr/>
        </p:nvSpPr>
        <p:spPr>
          <a:xfrm>
            <a:off x="2072468" y="5040000"/>
            <a:ext cx="3000000" cy="560000"/>
          </a:xfrm>
          <a:prstGeom prst="rect">
            <a:avLst/>
          </a:prstGeom>
          <a:solidFill>
            <a:srgbClr val="FFFFFF"/>
          </a:solidFill>
          <a:ln w="12700">
            <a:solidFill>
              <a:srgbClr val="A9853F"/>
            </a:solidFill>
          </a:ln>
        </p:spPr>
        <p:txBody>
          <a:bodyPr rtlCol="0" anchor="ctr"/>
          <a:lstStyle/>
          <a:p>
            <a:endParaRPr lang="fr-FR"/>
          </a:p>
        </p:txBody>
      </p:sp>
      <p:sp>
        <p:nvSpPr>
          <p:cNvPr id="8074" name="Text 8074"/>
          <p:cNvSpPr txBox="1"/>
          <p:nvPr/>
        </p:nvSpPr>
        <p:spPr>
          <a:xfrm>
            <a:off x="2222468" y="5130000"/>
            <a:ext cx="2700000" cy="38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073527"/>
                </a:solidFill>
                <a:latin typeface="Jost Medium" pitchFamily="2" charset="77"/>
                <a:ea typeface="Jost Medium" pitchFamily="2" charset="77"/>
                <a:cs typeface="Jost Medium" pitchFamily="2" charset="77"/>
              </a:rPr>
              <a:t>Immeuble</a:t>
            </a:r>
          </a:p>
          <a:p>
            <a:pPr algn="ctr">
              <a:buNone/>
            </a:pPr>
            <a:r>
              <a:rPr lang="fr-FR" sz="900" dirty="0">
                <a:solidFill>
                  <a:srgbClr val="6B6B6B"/>
                </a:solidFill>
                <a:latin typeface="Jost Light" pitchFamily="2" charset="77"/>
                <a:ea typeface="Jost Light" pitchFamily="2" charset="77"/>
                <a:cs typeface="Jost Light" pitchFamily="2" charset="77"/>
              </a:rPr>
              <a:t>Amortissable</a:t>
            </a:r>
          </a:p>
        </p:txBody>
      </p:sp>
      <p:sp>
        <p:nvSpPr>
          <p:cNvPr id="8075" name="Shape 8075"/>
          <p:cNvSpPr/>
          <p:nvPr/>
        </p:nvSpPr>
        <p:spPr>
          <a:xfrm>
            <a:off x="6479734" y="1780000"/>
            <a:ext cx="5212266" cy="460000"/>
          </a:xfrm>
          <a:prstGeom prst="rect">
            <a:avLst/>
          </a:prstGeom>
          <a:solidFill>
            <a:srgbClr val="001B00"/>
          </a:solidFill>
          <a:ln>
            <a:noFill/>
          </a:ln>
        </p:spPr>
        <p:txBody>
          <a:bodyPr rtlCol="0" anchor="ctr"/>
          <a:lstStyle/>
          <a:p>
            <a:endParaRPr lang="fr-FR"/>
          </a:p>
        </p:txBody>
      </p:sp>
      <p:sp>
        <p:nvSpPr>
          <p:cNvPr id="8076" name="Text 8076"/>
          <p:cNvSpPr txBox="1"/>
          <p:nvPr/>
        </p:nvSpPr>
        <p:spPr>
          <a:xfrm>
            <a:off x="6479734" y="1780000"/>
            <a:ext cx="5212266"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Ce qu’il faut savoir</a:t>
            </a:r>
          </a:p>
        </p:txBody>
      </p:sp>
      <p:sp>
        <p:nvSpPr>
          <p:cNvPr id="8077" name="Shape 8077"/>
          <p:cNvSpPr/>
          <p:nvPr/>
        </p:nvSpPr>
        <p:spPr>
          <a:xfrm>
            <a:off x="6479734" y="2240000"/>
            <a:ext cx="5212266" cy="4180000"/>
          </a:xfrm>
          <a:prstGeom prst="rect">
            <a:avLst/>
          </a:prstGeom>
          <a:solidFill>
            <a:srgbClr val="FCF9EF"/>
          </a:solidFill>
          <a:ln>
            <a:noFill/>
          </a:ln>
        </p:spPr>
        <p:txBody>
          <a:bodyPr rtlCol="0" anchor="ctr"/>
          <a:lstStyle/>
          <a:p>
            <a:endParaRPr lang="fr-FR"/>
          </a:p>
        </p:txBody>
      </p:sp>
      <p:sp>
        <p:nvSpPr>
          <p:cNvPr id="8078" name="Shape 8078"/>
          <p:cNvSpPr/>
          <p:nvPr/>
        </p:nvSpPr>
        <p:spPr>
          <a:xfrm>
            <a:off x="6739734" y="2535000"/>
            <a:ext cx="110000" cy="110000"/>
          </a:xfrm>
          <a:prstGeom prst="rect">
            <a:avLst/>
          </a:prstGeom>
          <a:solidFill>
            <a:srgbClr val="A9853F"/>
          </a:solidFill>
          <a:ln>
            <a:noFill/>
          </a:ln>
        </p:spPr>
        <p:txBody>
          <a:bodyPr rtlCol="0" anchor="ctr"/>
          <a:lstStyle/>
          <a:p>
            <a:endParaRPr lang="fr-FR"/>
          </a:p>
        </p:txBody>
      </p:sp>
      <p:sp>
        <p:nvSpPr>
          <p:cNvPr id="8079" name="Text 8079"/>
          <p:cNvSpPr txBox="1"/>
          <p:nvPr/>
        </p:nvSpPr>
        <p:spPr>
          <a:xfrm>
            <a:off x="6999734" y="2440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Les règles de l’IS s’appliquent</a:t>
            </a:r>
          </a:p>
          <a:p>
            <a:pPr algn="l">
              <a:buNone/>
            </a:pPr>
            <a:r>
              <a:rPr lang="fr-FR" sz="950" dirty="0">
                <a:solidFill>
                  <a:srgbClr val="073527"/>
                </a:solidFill>
                <a:latin typeface="Jost Light" pitchFamily="2" charset="77"/>
                <a:ea typeface="Jost Light" pitchFamily="2" charset="77"/>
                <a:cs typeface="Jost Light" pitchFamily="2" charset="77"/>
              </a:rPr>
              <a:t>La quote-part revenant à la société associée est calculée selon les règles de l’IS. Le bien est amorti, ce qui efface une large part du résultat imposable.</a:t>
            </a:r>
          </a:p>
        </p:txBody>
      </p:sp>
      <p:sp>
        <p:nvSpPr>
          <p:cNvPr id="8080" name="Shape 8080"/>
          <p:cNvSpPr/>
          <p:nvPr/>
        </p:nvSpPr>
        <p:spPr>
          <a:xfrm>
            <a:off x="6739734" y="3470000"/>
            <a:ext cx="110000" cy="110000"/>
          </a:xfrm>
          <a:prstGeom prst="rect">
            <a:avLst/>
          </a:prstGeom>
          <a:solidFill>
            <a:srgbClr val="A9853F"/>
          </a:solidFill>
          <a:ln>
            <a:noFill/>
          </a:ln>
        </p:spPr>
        <p:txBody>
          <a:bodyPr rtlCol="0" anchor="ctr"/>
          <a:lstStyle/>
          <a:p>
            <a:endParaRPr lang="fr-FR"/>
          </a:p>
        </p:txBody>
      </p:sp>
      <p:sp>
        <p:nvSpPr>
          <p:cNvPr id="8081" name="Text 8081"/>
          <p:cNvSpPr txBox="1"/>
          <p:nvPr/>
        </p:nvSpPr>
        <p:spPr>
          <a:xfrm>
            <a:off x="6999734" y="3375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Un taux d’imposition maîtrisé</a:t>
            </a:r>
          </a:p>
          <a:p>
            <a:pPr algn="l">
              <a:buNone/>
            </a:pPr>
            <a:r>
              <a:rPr lang="fr-FR" sz="950" dirty="0">
                <a:solidFill>
                  <a:srgbClr val="073527"/>
                </a:solidFill>
                <a:latin typeface="Jost Light" pitchFamily="2" charset="77"/>
                <a:ea typeface="Jost Light" pitchFamily="2" charset="77"/>
                <a:cs typeface="Jost Light" pitchFamily="2" charset="77"/>
              </a:rPr>
              <a:t>Le résultat est imposé à 15% jusqu’à 42 500 EUR de bénéfice, puis à 25%, au lieu du barème de l’impôt sur le revenu et des 17,2% de prélèvements sociaux.</a:t>
            </a:r>
          </a:p>
        </p:txBody>
      </p:sp>
      <p:sp>
        <p:nvSpPr>
          <p:cNvPr id="8082" name="Shape 8082"/>
          <p:cNvSpPr/>
          <p:nvPr/>
        </p:nvSpPr>
        <p:spPr>
          <a:xfrm>
            <a:off x="6739734" y="4405000"/>
            <a:ext cx="110000" cy="110000"/>
          </a:xfrm>
          <a:prstGeom prst="rect">
            <a:avLst/>
          </a:prstGeom>
          <a:solidFill>
            <a:srgbClr val="A9853F"/>
          </a:solidFill>
          <a:ln>
            <a:noFill/>
          </a:ln>
        </p:spPr>
        <p:txBody>
          <a:bodyPr rtlCol="0" anchor="ctr"/>
          <a:lstStyle/>
          <a:p>
            <a:endParaRPr lang="fr-FR"/>
          </a:p>
        </p:txBody>
      </p:sp>
      <p:sp>
        <p:nvSpPr>
          <p:cNvPr id="8083" name="Text 8083"/>
          <p:cNvSpPr txBox="1"/>
          <p:nvPr/>
        </p:nvSpPr>
        <p:spPr>
          <a:xfrm>
            <a:off x="6999734" y="4310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Investir sans sortir la trésorerie</a:t>
            </a:r>
          </a:p>
          <a:p>
            <a:pPr algn="l">
              <a:buNone/>
            </a:pPr>
            <a:r>
              <a:rPr lang="fr-FR" sz="950" dirty="0">
                <a:solidFill>
                  <a:srgbClr val="073527"/>
                </a:solidFill>
                <a:latin typeface="Jost Light" pitchFamily="2" charset="77"/>
                <a:ea typeface="Jost Light" pitchFamily="2" charset="77"/>
                <a:cs typeface="Jost Light" pitchFamily="2" charset="77"/>
              </a:rPr>
              <a:t>La société finance l’acquisition avec ses liquidités, sans passer par une distribution de dividendes taxée chez vous.</a:t>
            </a:r>
          </a:p>
        </p:txBody>
      </p:sp>
      <p:sp>
        <p:nvSpPr>
          <p:cNvPr id="8084" name="Shape 8084"/>
          <p:cNvSpPr/>
          <p:nvPr/>
        </p:nvSpPr>
        <p:spPr>
          <a:xfrm>
            <a:off x="6739734" y="5340000"/>
            <a:ext cx="110000" cy="110000"/>
          </a:xfrm>
          <a:prstGeom prst="rect">
            <a:avLst/>
          </a:prstGeom>
          <a:solidFill>
            <a:srgbClr val="A9853F"/>
          </a:solidFill>
          <a:ln>
            <a:noFill/>
          </a:ln>
        </p:spPr>
        <p:txBody>
          <a:bodyPr rtlCol="0" anchor="ctr"/>
          <a:lstStyle/>
          <a:p>
            <a:endParaRPr lang="fr-FR"/>
          </a:p>
        </p:txBody>
      </p:sp>
      <p:sp>
        <p:nvSpPr>
          <p:cNvPr id="8085" name="Text 8085"/>
          <p:cNvSpPr txBox="1"/>
          <p:nvPr/>
        </p:nvSpPr>
        <p:spPr>
          <a:xfrm>
            <a:off x="6999734" y="5245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Une gestion de long terme obligatoire</a:t>
            </a:r>
          </a:p>
          <a:p>
            <a:pPr algn="l">
              <a:buNone/>
            </a:pPr>
            <a:r>
              <a:rPr lang="fr-FR" sz="950" dirty="0">
                <a:solidFill>
                  <a:srgbClr val="073527"/>
                </a:solidFill>
                <a:latin typeface="Jost Light" pitchFamily="2" charset="77"/>
                <a:ea typeface="Jost Light" pitchFamily="2" charset="77"/>
                <a:cs typeface="Jost Light" pitchFamily="2" charset="77"/>
              </a:rPr>
              <a:t>À la revente, la plus-value est professionnelle. Les amortissements sont repris et il n’y a aucun abattement pour durée de détention.</a:t>
            </a:r>
          </a:p>
        </p:txBody>
      </p:sp>
    </p:spTree>
    <p:extLst>
      <p:ext uri="{BB962C8B-B14F-4D97-AF65-F5344CB8AC3E}">
        <p14:creationId xmlns:p14="http://schemas.microsoft.com/office/powerpoint/2010/main" val="1723089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Une société civile à l’impôt sur le revenu, pour détenir et transmettre un bien à plusieurs</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La SCI détenue par des personnes physiques à l’IR</a:t>
            </a:r>
          </a:p>
        </p:txBody>
      </p:sp>
      <p:sp>
        <p:nvSpPr>
          <p:cNvPr id="8031" name="Shape 8031"/>
          <p:cNvSpPr/>
          <p:nvPr/>
        </p:nvSpPr>
        <p:spPr>
          <a:xfrm>
            <a:off x="947468" y="1780000"/>
            <a:ext cx="5250000" cy="4640000"/>
          </a:xfrm>
          <a:prstGeom prst="rect">
            <a:avLst/>
          </a:prstGeom>
          <a:solidFill>
            <a:srgbClr val="FCF9EF"/>
          </a:solidFill>
          <a:ln>
            <a:noFill/>
          </a:ln>
        </p:spPr>
        <p:txBody>
          <a:bodyPr rtlCol="0" anchor="ctr"/>
          <a:lstStyle/>
          <a:p>
            <a:endParaRPr lang="fr-FR"/>
          </a:p>
        </p:txBody>
      </p:sp>
      <p:sp>
        <p:nvSpPr>
          <p:cNvPr id="8033" name="Shape 8033"/>
          <p:cNvSpPr/>
          <p:nvPr/>
        </p:nvSpPr>
        <p:spPr>
          <a:xfrm>
            <a:off x="2072468" y="2100000"/>
            <a:ext cx="3000000" cy="680000"/>
          </a:xfrm>
          <a:prstGeom prst="rect">
            <a:avLst/>
          </a:prstGeom>
          <a:solidFill>
            <a:srgbClr val="FFFFFF"/>
          </a:solidFill>
          <a:ln w="12700">
            <a:solidFill>
              <a:srgbClr val="A9853F"/>
            </a:solidFill>
          </a:ln>
        </p:spPr>
        <p:txBody>
          <a:bodyPr rtlCol="0" anchor="ctr"/>
          <a:lstStyle/>
          <a:p>
            <a:endParaRPr lang="fr-FR"/>
          </a:p>
        </p:txBody>
      </p:sp>
      <p:sp>
        <p:nvSpPr>
          <p:cNvPr id="8034" name="Text 8034"/>
          <p:cNvSpPr txBox="1"/>
          <p:nvPr/>
        </p:nvSpPr>
        <p:spPr>
          <a:xfrm>
            <a:off x="2222468" y="2190000"/>
            <a:ext cx="2700000" cy="50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073527"/>
                </a:solidFill>
                <a:latin typeface="Jost Medium" pitchFamily="2" charset="77"/>
                <a:ea typeface="Jost Medium" pitchFamily="2" charset="77"/>
                <a:cs typeface="Jost Medium" pitchFamily="2" charset="77"/>
              </a:rPr>
              <a:t>Vous et votre famille</a:t>
            </a:r>
          </a:p>
          <a:p>
            <a:pPr algn="ctr">
              <a:buNone/>
            </a:pPr>
            <a:r>
              <a:rPr lang="fr-FR" sz="900" dirty="0">
                <a:solidFill>
                  <a:srgbClr val="6B6B6B"/>
                </a:solidFill>
                <a:latin typeface="Jost Light" pitchFamily="2" charset="77"/>
                <a:ea typeface="Jost Light" pitchFamily="2" charset="77"/>
                <a:cs typeface="Jost Light" pitchFamily="2" charset="77"/>
              </a:rPr>
              <a:t>Associés, par exemple 99% et 1%</a:t>
            </a:r>
          </a:p>
        </p:txBody>
      </p:sp>
      <p:sp>
        <p:nvSpPr>
          <p:cNvPr id="8035" name="Shape 8035"/>
          <p:cNvSpPr/>
          <p:nvPr/>
        </p:nvSpPr>
        <p:spPr>
          <a:xfrm>
            <a:off x="3572468" y="2780000"/>
            <a:ext cx="1" cy="600000"/>
          </a:xfrm>
          <a:prstGeom prst="line">
            <a:avLst/>
          </a:prstGeom>
          <a:noFill/>
          <a:ln w="19050">
            <a:solidFill>
              <a:srgbClr val="A9853F"/>
            </a:solidFill>
          </a:ln>
        </p:spPr>
        <p:txBody>
          <a:bodyPr rtlCol="0" anchor="ctr"/>
          <a:lstStyle/>
          <a:p>
            <a:endParaRPr lang="fr-FR"/>
          </a:p>
        </p:txBody>
      </p:sp>
      <p:sp>
        <p:nvSpPr>
          <p:cNvPr id="8036" name="Text 8036"/>
          <p:cNvSpPr txBox="1"/>
          <p:nvPr/>
        </p:nvSpPr>
        <p:spPr>
          <a:xfrm>
            <a:off x="3372468" y="3270000"/>
            <a:ext cx="400000" cy="260000"/>
          </a:xfrm>
          <a:prstGeom prst="rect">
            <a:avLst/>
          </a:prstGeom>
          <a:noFill/>
          <a:ln>
            <a:noFill/>
          </a:ln>
        </p:spPr>
        <p:txBody>
          <a:bodyPr wrap="square" lIns="0" tIns="0" rIns="0" bIns="0" rtlCol="0" anchor="ctr">
            <a:normAutofit/>
          </a:bodyPr>
          <a:lstStyle/>
          <a:p>
            <a:pPr algn="ctr">
              <a:buNone/>
            </a:pPr>
            <a:r>
              <a:rPr lang="fr-FR" sz="1200" dirty="0">
                <a:solidFill>
                  <a:srgbClr val="A9853F"/>
                </a:solidFill>
                <a:latin typeface="Arial" pitchFamily="2" charset="77"/>
                <a:ea typeface="Arial" pitchFamily="2" charset="77"/>
                <a:cs typeface="Arial" pitchFamily="2" charset="77"/>
              </a:rPr>
              <a:t>▼</a:t>
            </a:r>
          </a:p>
        </p:txBody>
      </p:sp>
      <p:sp>
        <p:nvSpPr>
          <p:cNvPr id="8037" name="Text 8037"/>
          <p:cNvSpPr txBox="1"/>
          <p:nvPr/>
        </p:nvSpPr>
        <p:spPr>
          <a:xfrm>
            <a:off x="3732468" y="2960000"/>
            <a:ext cx="2200000" cy="320000"/>
          </a:xfrm>
          <a:prstGeom prst="rect">
            <a:avLst/>
          </a:prstGeom>
          <a:noFill/>
          <a:ln>
            <a:noFill/>
          </a:ln>
        </p:spPr>
        <p:txBody>
          <a:bodyPr wrap="square" lIns="0" tIns="0" rIns="0" bIns="0" rtlCol="0" anchor="ctr">
            <a:normAutofit/>
          </a:bodyPr>
          <a:lstStyle/>
          <a:p>
            <a:pPr algn="l">
              <a:buNone/>
            </a:pPr>
            <a:r>
              <a:rPr lang="fr-FR" sz="850" dirty="0">
                <a:solidFill>
                  <a:srgbClr val="6B6B6B"/>
                </a:solidFill>
                <a:latin typeface="Jost Light" pitchFamily="2" charset="77"/>
                <a:ea typeface="Jost Light" pitchFamily="2" charset="77"/>
                <a:cs typeface="Jost Light" pitchFamily="2" charset="77"/>
              </a:rPr>
              <a:t>Parts sociales</a:t>
            </a:r>
          </a:p>
        </p:txBody>
      </p:sp>
      <p:sp>
        <p:nvSpPr>
          <p:cNvPr id="8038" name="Shape 8038"/>
          <p:cNvSpPr/>
          <p:nvPr/>
        </p:nvSpPr>
        <p:spPr>
          <a:xfrm>
            <a:off x="2072468" y="3500000"/>
            <a:ext cx="3000000" cy="680000"/>
          </a:xfrm>
          <a:prstGeom prst="rect">
            <a:avLst/>
          </a:prstGeom>
          <a:solidFill>
            <a:srgbClr val="001B00"/>
          </a:solidFill>
          <a:ln>
            <a:noFill/>
          </a:ln>
        </p:spPr>
        <p:txBody>
          <a:bodyPr rtlCol="0" anchor="ctr"/>
          <a:lstStyle/>
          <a:p>
            <a:endParaRPr lang="fr-FR"/>
          </a:p>
        </p:txBody>
      </p:sp>
      <p:sp>
        <p:nvSpPr>
          <p:cNvPr id="8039" name="Text 8039"/>
          <p:cNvSpPr txBox="1"/>
          <p:nvPr/>
        </p:nvSpPr>
        <p:spPr>
          <a:xfrm>
            <a:off x="2222468" y="3590000"/>
            <a:ext cx="2700000" cy="50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FFFFFF"/>
                </a:solidFill>
                <a:latin typeface="Jost Medium" pitchFamily="2" charset="77"/>
                <a:ea typeface="Jost Medium" pitchFamily="2" charset="77"/>
                <a:cs typeface="Jost Medium" pitchFamily="2" charset="77"/>
              </a:rPr>
              <a:t>SCI à l’impôt sur le revenu</a:t>
            </a:r>
          </a:p>
          <a:p>
            <a:pPr algn="ctr">
              <a:buNone/>
            </a:pPr>
            <a:r>
              <a:rPr lang="fr-FR" sz="900" dirty="0">
                <a:solidFill>
                  <a:srgbClr val="A9853F"/>
                </a:solidFill>
                <a:latin typeface="Jost Light" pitchFamily="2" charset="77"/>
                <a:ea typeface="Jost Light" pitchFamily="2" charset="77"/>
                <a:cs typeface="Jost Light" pitchFamily="2" charset="77"/>
              </a:rPr>
              <a:t>Société civile immobilière</a:t>
            </a:r>
          </a:p>
        </p:txBody>
      </p:sp>
      <p:sp>
        <p:nvSpPr>
          <p:cNvPr id="8040" name="Shape 8040"/>
          <p:cNvSpPr/>
          <p:nvPr/>
        </p:nvSpPr>
        <p:spPr>
          <a:xfrm>
            <a:off x="3572468" y="4180000"/>
            <a:ext cx="1" cy="600000"/>
          </a:xfrm>
          <a:prstGeom prst="line">
            <a:avLst/>
          </a:prstGeom>
          <a:noFill/>
          <a:ln w="19050">
            <a:solidFill>
              <a:srgbClr val="A9853F"/>
            </a:solidFill>
          </a:ln>
        </p:spPr>
        <p:txBody>
          <a:bodyPr rtlCol="0" anchor="ctr"/>
          <a:lstStyle/>
          <a:p>
            <a:endParaRPr lang="fr-FR"/>
          </a:p>
        </p:txBody>
      </p:sp>
      <p:sp>
        <p:nvSpPr>
          <p:cNvPr id="8041" name="Text 8041"/>
          <p:cNvSpPr txBox="1"/>
          <p:nvPr/>
        </p:nvSpPr>
        <p:spPr>
          <a:xfrm>
            <a:off x="3372468" y="4670000"/>
            <a:ext cx="400000" cy="260000"/>
          </a:xfrm>
          <a:prstGeom prst="rect">
            <a:avLst/>
          </a:prstGeom>
          <a:noFill/>
          <a:ln>
            <a:noFill/>
          </a:ln>
        </p:spPr>
        <p:txBody>
          <a:bodyPr wrap="square" lIns="0" tIns="0" rIns="0" bIns="0" rtlCol="0" anchor="ctr">
            <a:normAutofit/>
          </a:bodyPr>
          <a:lstStyle/>
          <a:p>
            <a:pPr algn="ctr">
              <a:buNone/>
            </a:pPr>
            <a:r>
              <a:rPr lang="fr-FR" sz="1200" dirty="0">
                <a:solidFill>
                  <a:srgbClr val="A9853F"/>
                </a:solidFill>
                <a:latin typeface="Arial" pitchFamily="2" charset="77"/>
                <a:ea typeface="Arial" pitchFamily="2" charset="77"/>
                <a:cs typeface="Arial" pitchFamily="2" charset="77"/>
              </a:rPr>
              <a:t>▼</a:t>
            </a:r>
          </a:p>
        </p:txBody>
      </p:sp>
      <p:sp>
        <p:nvSpPr>
          <p:cNvPr id="8042" name="Text 8042"/>
          <p:cNvSpPr txBox="1"/>
          <p:nvPr/>
        </p:nvSpPr>
        <p:spPr>
          <a:xfrm>
            <a:off x="3732468" y="4360000"/>
            <a:ext cx="2200000" cy="320000"/>
          </a:xfrm>
          <a:prstGeom prst="rect">
            <a:avLst/>
          </a:prstGeom>
          <a:noFill/>
          <a:ln>
            <a:noFill/>
          </a:ln>
        </p:spPr>
        <p:txBody>
          <a:bodyPr wrap="square" lIns="0" tIns="0" rIns="0" bIns="0" rtlCol="0" anchor="ctr">
            <a:normAutofit/>
          </a:bodyPr>
          <a:lstStyle/>
          <a:p>
            <a:pPr algn="l">
              <a:buNone/>
            </a:pPr>
            <a:r>
              <a:rPr lang="fr-FR" sz="850" dirty="0">
                <a:solidFill>
                  <a:srgbClr val="6B6B6B"/>
                </a:solidFill>
                <a:latin typeface="Jost Light" pitchFamily="2" charset="77"/>
                <a:ea typeface="Jost Light" pitchFamily="2" charset="77"/>
                <a:cs typeface="Jost Light" pitchFamily="2" charset="77"/>
              </a:rPr>
              <a:t>Détention du bien</a:t>
            </a:r>
          </a:p>
        </p:txBody>
      </p:sp>
      <p:sp>
        <p:nvSpPr>
          <p:cNvPr id="8043" name="Shape 8043"/>
          <p:cNvSpPr/>
          <p:nvPr/>
        </p:nvSpPr>
        <p:spPr>
          <a:xfrm>
            <a:off x="2072468" y="4900000"/>
            <a:ext cx="3000000" cy="680000"/>
          </a:xfrm>
          <a:prstGeom prst="rect">
            <a:avLst/>
          </a:prstGeom>
          <a:solidFill>
            <a:srgbClr val="FFFFFF"/>
          </a:solidFill>
          <a:ln w="12700">
            <a:solidFill>
              <a:srgbClr val="A9853F"/>
            </a:solidFill>
          </a:ln>
        </p:spPr>
        <p:txBody>
          <a:bodyPr rtlCol="0" anchor="ctr"/>
          <a:lstStyle/>
          <a:p>
            <a:endParaRPr lang="fr-FR"/>
          </a:p>
        </p:txBody>
      </p:sp>
      <p:sp>
        <p:nvSpPr>
          <p:cNvPr id="8044" name="Text 8044"/>
          <p:cNvSpPr txBox="1"/>
          <p:nvPr/>
        </p:nvSpPr>
        <p:spPr>
          <a:xfrm>
            <a:off x="2222468" y="4990000"/>
            <a:ext cx="2700000" cy="50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073527"/>
                </a:solidFill>
                <a:latin typeface="Jost Medium" pitchFamily="2" charset="77"/>
                <a:ea typeface="Jost Medium" pitchFamily="2" charset="77"/>
                <a:cs typeface="Jost Medium" pitchFamily="2" charset="77"/>
              </a:rPr>
              <a:t>Immeuble locatif</a:t>
            </a:r>
          </a:p>
          <a:p>
            <a:pPr algn="ctr">
              <a:buNone/>
            </a:pPr>
            <a:r>
              <a:rPr lang="fr-FR" sz="900" dirty="0">
                <a:solidFill>
                  <a:srgbClr val="6B6B6B"/>
                </a:solidFill>
                <a:latin typeface="Jost Light" pitchFamily="2" charset="77"/>
                <a:ea typeface="Jost Light" pitchFamily="2" charset="77"/>
                <a:cs typeface="Jost Light" pitchFamily="2" charset="77"/>
              </a:rPr>
              <a:t>Les loyers sont des revenus fonciers</a:t>
            </a:r>
          </a:p>
        </p:txBody>
      </p:sp>
      <p:sp>
        <p:nvSpPr>
          <p:cNvPr id="8045" name="Shape 8045"/>
          <p:cNvSpPr/>
          <p:nvPr/>
        </p:nvSpPr>
        <p:spPr>
          <a:xfrm>
            <a:off x="6479734" y="1780000"/>
            <a:ext cx="5212266" cy="460000"/>
          </a:xfrm>
          <a:prstGeom prst="rect">
            <a:avLst/>
          </a:prstGeom>
          <a:solidFill>
            <a:srgbClr val="001B00"/>
          </a:solidFill>
          <a:ln>
            <a:noFill/>
          </a:ln>
        </p:spPr>
        <p:txBody>
          <a:bodyPr rtlCol="0" anchor="ctr"/>
          <a:lstStyle/>
          <a:p>
            <a:endParaRPr lang="fr-FR"/>
          </a:p>
        </p:txBody>
      </p:sp>
      <p:sp>
        <p:nvSpPr>
          <p:cNvPr id="8046" name="Text 8046"/>
          <p:cNvSpPr txBox="1"/>
          <p:nvPr/>
        </p:nvSpPr>
        <p:spPr>
          <a:xfrm>
            <a:off x="6479734" y="1780000"/>
            <a:ext cx="5212266"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Ce qu’il faut savoir</a:t>
            </a:r>
          </a:p>
        </p:txBody>
      </p:sp>
      <p:sp>
        <p:nvSpPr>
          <p:cNvPr id="8047" name="Shape 8047"/>
          <p:cNvSpPr/>
          <p:nvPr/>
        </p:nvSpPr>
        <p:spPr>
          <a:xfrm>
            <a:off x="6479734" y="2240000"/>
            <a:ext cx="5212266" cy="4180000"/>
          </a:xfrm>
          <a:prstGeom prst="rect">
            <a:avLst/>
          </a:prstGeom>
          <a:solidFill>
            <a:srgbClr val="FCF9EF"/>
          </a:solidFill>
          <a:ln>
            <a:noFill/>
          </a:ln>
        </p:spPr>
        <p:txBody>
          <a:bodyPr rtlCol="0" anchor="ctr"/>
          <a:lstStyle/>
          <a:p>
            <a:endParaRPr lang="fr-FR"/>
          </a:p>
        </p:txBody>
      </p:sp>
      <p:sp>
        <p:nvSpPr>
          <p:cNvPr id="8048" name="Shape 8048"/>
          <p:cNvSpPr/>
          <p:nvPr/>
        </p:nvSpPr>
        <p:spPr>
          <a:xfrm>
            <a:off x="6739734" y="2535000"/>
            <a:ext cx="110000" cy="110000"/>
          </a:xfrm>
          <a:prstGeom prst="rect">
            <a:avLst/>
          </a:prstGeom>
          <a:solidFill>
            <a:srgbClr val="A9853F"/>
          </a:solidFill>
          <a:ln>
            <a:noFill/>
          </a:ln>
        </p:spPr>
        <p:txBody>
          <a:bodyPr rtlCol="0" anchor="ctr"/>
          <a:lstStyle/>
          <a:p>
            <a:endParaRPr lang="fr-FR"/>
          </a:p>
        </p:txBody>
      </p:sp>
      <p:sp>
        <p:nvSpPr>
          <p:cNvPr id="8049" name="Text 8049"/>
          <p:cNvSpPr txBox="1"/>
          <p:nvPr/>
        </p:nvSpPr>
        <p:spPr>
          <a:xfrm>
            <a:off x="6999734" y="2440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Une fiscalité transparente</a:t>
            </a:r>
          </a:p>
          <a:p>
            <a:pPr algn="l">
              <a:buNone/>
            </a:pPr>
            <a:r>
              <a:rPr lang="fr-FR" sz="950" dirty="0">
                <a:solidFill>
                  <a:srgbClr val="073527"/>
                </a:solidFill>
                <a:latin typeface="Jost Light" pitchFamily="2" charset="77"/>
                <a:ea typeface="Jost Light" pitchFamily="2" charset="77"/>
                <a:cs typeface="Jost Light" pitchFamily="2" charset="77"/>
              </a:rPr>
              <a:t>Chaque associé déclare sa quote-part de revenus fonciers, imposée au barème de l’impôt sur le revenu et à 17,2% de prélèvements sociaux.</a:t>
            </a:r>
          </a:p>
        </p:txBody>
      </p:sp>
      <p:sp>
        <p:nvSpPr>
          <p:cNvPr id="8050" name="Shape 8050"/>
          <p:cNvSpPr/>
          <p:nvPr/>
        </p:nvSpPr>
        <p:spPr>
          <a:xfrm>
            <a:off x="6739734" y="3470000"/>
            <a:ext cx="110000" cy="110000"/>
          </a:xfrm>
          <a:prstGeom prst="rect">
            <a:avLst/>
          </a:prstGeom>
          <a:solidFill>
            <a:srgbClr val="A9853F"/>
          </a:solidFill>
          <a:ln>
            <a:noFill/>
          </a:ln>
        </p:spPr>
        <p:txBody>
          <a:bodyPr rtlCol="0" anchor="ctr"/>
          <a:lstStyle/>
          <a:p>
            <a:endParaRPr lang="fr-FR"/>
          </a:p>
        </p:txBody>
      </p:sp>
      <p:sp>
        <p:nvSpPr>
          <p:cNvPr id="8051" name="Text 8051"/>
          <p:cNvSpPr txBox="1"/>
          <p:nvPr/>
        </p:nvSpPr>
        <p:spPr>
          <a:xfrm>
            <a:off x="6999734" y="3375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Pas d’amortissement</a:t>
            </a:r>
          </a:p>
          <a:p>
            <a:pPr algn="l">
              <a:buNone/>
            </a:pPr>
            <a:r>
              <a:rPr lang="fr-FR" sz="950" dirty="0">
                <a:solidFill>
                  <a:srgbClr val="073527"/>
                </a:solidFill>
                <a:latin typeface="Jost Light" pitchFamily="2" charset="77"/>
                <a:ea typeface="Jost Light" pitchFamily="2" charset="77"/>
                <a:cs typeface="Jost Light" pitchFamily="2" charset="77"/>
              </a:rPr>
              <a:t>Seules les charges réelles sont déductibles, dont les intérêts d’emprunt. Le déficit foncier s’impute jusqu’à 10 700 EUR par an.</a:t>
            </a:r>
          </a:p>
        </p:txBody>
      </p:sp>
      <p:sp>
        <p:nvSpPr>
          <p:cNvPr id="8052" name="Shape 8052"/>
          <p:cNvSpPr/>
          <p:nvPr/>
        </p:nvSpPr>
        <p:spPr>
          <a:xfrm>
            <a:off x="6739734" y="4405000"/>
            <a:ext cx="110000" cy="110000"/>
          </a:xfrm>
          <a:prstGeom prst="rect">
            <a:avLst/>
          </a:prstGeom>
          <a:solidFill>
            <a:srgbClr val="A9853F"/>
          </a:solidFill>
          <a:ln>
            <a:noFill/>
          </a:ln>
        </p:spPr>
        <p:txBody>
          <a:bodyPr rtlCol="0" anchor="ctr"/>
          <a:lstStyle/>
          <a:p>
            <a:endParaRPr lang="fr-FR"/>
          </a:p>
        </p:txBody>
      </p:sp>
      <p:sp>
        <p:nvSpPr>
          <p:cNvPr id="8053" name="Text 8053"/>
          <p:cNvSpPr txBox="1"/>
          <p:nvPr/>
        </p:nvSpPr>
        <p:spPr>
          <a:xfrm>
            <a:off x="6999734" y="4310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Plus-value des particuliers</a:t>
            </a:r>
          </a:p>
          <a:p>
            <a:pPr algn="l">
              <a:buNone/>
            </a:pPr>
            <a:r>
              <a:rPr lang="fr-FR" sz="950" dirty="0">
                <a:solidFill>
                  <a:srgbClr val="073527"/>
                </a:solidFill>
                <a:latin typeface="Jost Light" pitchFamily="2" charset="77"/>
                <a:ea typeface="Jost Light" pitchFamily="2" charset="77"/>
                <a:cs typeface="Jost Light" pitchFamily="2" charset="77"/>
              </a:rPr>
              <a:t>19% plus 17,2% à la revente, avec abattement pour durée de détention : exonération d’impôt à 22 ans et de prélèvements sociaux à 30 ans.</a:t>
            </a:r>
          </a:p>
        </p:txBody>
      </p:sp>
      <p:sp>
        <p:nvSpPr>
          <p:cNvPr id="8054" name="Shape 8054"/>
          <p:cNvSpPr/>
          <p:nvPr/>
        </p:nvSpPr>
        <p:spPr>
          <a:xfrm>
            <a:off x="6739734" y="5340000"/>
            <a:ext cx="110000" cy="110000"/>
          </a:xfrm>
          <a:prstGeom prst="rect">
            <a:avLst/>
          </a:prstGeom>
          <a:solidFill>
            <a:srgbClr val="A9853F"/>
          </a:solidFill>
          <a:ln>
            <a:noFill/>
          </a:ln>
        </p:spPr>
        <p:txBody>
          <a:bodyPr rtlCol="0" anchor="ctr"/>
          <a:lstStyle/>
          <a:p>
            <a:endParaRPr lang="fr-FR"/>
          </a:p>
        </p:txBody>
      </p:sp>
      <p:sp>
        <p:nvSpPr>
          <p:cNvPr id="8055" name="Text 8055"/>
          <p:cNvSpPr txBox="1"/>
          <p:nvPr/>
        </p:nvSpPr>
        <p:spPr>
          <a:xfrm>
            <a:off x="6999734" y="5245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Transmettre par tranches</a:t>
            </a:r>
          </a:p>
          <a:p>
            <a:pPr algn="l">
              <a:buNone/>
            </a:pPr>
            <a:r>
              <a:rPr lang="fr-FR" sz="950" dirty="0">
                <a:solidFill>
                  <a:srgbClr val="073527"/>
                </a:solidFill>
                <a:latin typeface="Jost Light" pitchFamily="2" charset="77"/>
                <a:ea typeface="Jost Light" pitchFamily="2" charset="77"/>
                <a:cs typeface="Jost Light" pitchFamily="2" charset="77"/>
              </a:rPr>
              <a:t>Donation de parts tous les 15 ans avec l’abattement de 100 000 EUR par enfant, en nue-propriété si vous souhaitez garder les revenus.</a:t>
            </a:r>
          </a:p>
        </p:txBody>
      </p:sp>
    </p:spTree>
    <p:extLst>
      <p:ext uri="{BB962C8B-B14F-4D97-AF65-F5344CB8AC3E}">
        <p14:creationId xmlns:p14="http://schemas.microsoft.com/office/powerpoint/2010/main" val="1554712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1" y="20178"/>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Deux régimes pour la même société civile, deux logiques fiscales opposées</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SCI à l’IR ou SCI à l’IS : que choisir ?</a:t>
            </a:r>
          </a:p>
        </p:txBody>
      </p:sp>
      <p:sp>
        <p:nvSpPr>
          <p:cNvPr id="9001" name="Shape 9001"/>
          <p:cNvSpPr/>
          <p:nvPr/>
        </p:nvSpPr>
        <p:spPr>
          <a:xfrm>
            <a:off x="947468" y="1780000"/>
            <a:ext cx="5212266" cy="460000"/>
          </a:xfrm>
          <a:prstGeom prst="rect">
            <a:avLst/>
          </a:prstGeom>
          <a:solidFill>
            <a:srgbClr val="001B00"/>
          </a:solidFill>
          <a:ln>
            <a:noFill/>
          </a:ln>
        </p:spPr>
        <p:txBody>
          <a:bodyPr rtlCol="0" anchor="ctr"/>
          <a:lstStyle/>
          <a:p>
            <a:endParaRPr lang="fr-FR"/>
          </a:p>
        </p:txBody>
      </p:sp>
      <p:sp>
        <p:nvSpPr>
          <p:cNvPr id="9002" name="Text 9002"/>
          <p:cNvSpPr txBox="1"/>
          <p:nvPr/>
        </p:nvSpPr>
        <p:spPr>
          <a:xfrm>
            <a:off x="947468" y="1780000"/>
            <a:ext cx="5212266" cy="460000"/>
          </a:xfrm>
          <a:prstGeom prst="rect">
            <a:avLst/>
          </a:prstGeom>
          <a:noFill/>
          <a:ln>
            <a:noFill/>
          </a:ln>
        </p:spPr>
        <p:txBody>
          <a:bodyPr wrap="square" lIns="0" tIns="0" rIns="0" bIns="0" rtlCol="0" anchor="ctr">
            <a:normAutofit/>
          </a:bodyPr>
          <a:lstStyle/>
          <a:p>
            <a:pPr algn="ctr">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SCI à l’impôt sur le revenu</a:t>
            </a:r>
          </a:p>
        </p:txBody>
      </p:sp>
      <p:sp>
        <p:nvSpPr>
          <p:cNvPr id="9003" name="Shape 9003"/>
          <p:cNvSpPr/>
          <p:nvPr/>
        </p:nvSpPr>
        <p:spPr>
          <a:xfrm>
            <a:off x="947468" y="2240000"/>
            <a:ext cx="5212266" cy="3060000"/>
          </a:xfrm>
          <a:prstGeom prst="rect">
            <a:avLst/>
          </a:prstGeom>
          <a:solidFill>
            <a:srgbClr val="FCF9EF"/>
          </a:solidFill>
          <a:ln>
            <a:noFill/>
          </a:ln>
        </p:spPr>
        <p:txBody>
          <a:bodyPr rtlCol="0" anchor="ctr"/>
          <a:lstStyle/>
          <a:p>
            <a:endParaRPr lang="fr-FR"/>
          </a:p>
        </p:txBody>
      </p:sp>
      <p:sp>
        <p:nvSpPr>
          <p:cNvPr id="9004" name="Text 9004"/>
          <p:cNvSpPr txBox="1"/>
          <p:nvPr/>
        </p:nvSpPr>
        <p:spPr>
          <a:xfrm>
            <a:off x="1207468" y="2420000"/>
            <a:ext cx="4692266" cy="300000"/>
          </a:xfrm>
          <a:prstGeom prst="rect">
            <a:avLst/>
          </a:prstGeom>
          <a:noFill/>
          <a:ln>
            <a:noFill/>
          </a:ln>
        </p:spPr>
        <p:txBody>
          <a:bodyPr wrap="square" lIns="0" tIns="0" rIns="0" bIns="0" rtlCol="0" anchor="t">
            <a:normAutofit/>
          </a:bodyPr>
          <a:lstStyle/>
          <a:p>
            <a:pPr algn="l">
              <a:buNone/>
            </a:pPr>
            <a:r>
              <a:rPr lang="fr-FR" sz="850" dirty="0">
                <a:solidFill>
                  <a:srgbClr val="A9853F"/>
                </a:solidFill>
                <a:latin typeface="Jost Medium" pitchFamily="2" charset="77"/>
                <a:ea typeface="Jost Medium" pitchFamily="2" charset="77"/>
                <a:cs typeface="Jost Medium" pitchFamily="2" charset="77"/>
              </a:rPr>
              <a:t>LES AVANTAGES</a:t>
            </a:r>
          </a:p>
        </p:txBody>
      </p:sp>
      <p:sp>
        <p:nvSpPr>
          <p:cNvPr id="9005" name="Text 9005"/>
          <p:cNvSpPr txBox="1"/>
          <p:nvPr/>
        </p:nvSpPr>
        <p:spPr>
          <a:xfrm>
            <a:off x="1207468" y="2720000"/>
            <a:ext cx="4692266" cy="1050000"/>
          </a:xfrm>
          <a:prstGeom prst="rect">
            <a:avLst/>
          </a:prstGeom>
          <a:noFill/>
          <a:ln>
            <a:noFill/>
          </a:ln>
        </p:spPr>
        <p:txBody>
          <a:bodyPr wrap="square" lIns="0" tIns="0" rIns="0" bIns="0" rtlCol="0" anchor="t">
            <a:normAutofit/>
          </a:bodyPr>
          <a:lstStyle/>
          <a:p>
            <a:pPr marL="182880" indent="-182880" algn="just">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Le déficit foncier s’impute sur votre revenu global, jusqu’à 10 700 EUR par an.</a:t>
            </a:r>
          </a:p>
          <a:p>
            <a:pPr marL="182880" indent="-182880" algn="just">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À la revente, régime des particuliers : exonération d’impôt à 22 ans et de prélèvements sociaux à 30 ans.</a:t>
            </a:r>
          </a:p>
          <a:p>
            <a:pPr marL="182880" indent="-182880" algn="just">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Fonctionnement simple, sans comptabilité commerciale obligatoire.</a:t>
            </a:r>
          </a:p>
        </p:txBody>
      </p:sp>
      <p:sp>
        <p:nvSpPr>
          <p:cNvPr id="9006" name="Shape 9006"/>
          <p:cNvSpPr/>
          <p:nvPr/>
        </p:nvSpPr>
        <p:spPr>
          <a:xfrm>
            <a:off x="1207468" y="3800000"/>
            <a:ext cx="4692266" cy="1"/>
          </a:xfrm>
          <a:prstGeom prst="line">
            <a:avLst/>
          </a:prstGeom>
          <a:noFill/>
          <a:ln w="6350">
            <a:solidFill>
              <a:srgbClr val="A9853F"/>
            </a:solidFill>
          </a:ln>
        </p:spPr>
        <p:txBody>
          <a:bodyPr rtlCol="0" anchor="ctr"/>
          <a:lstStyle/>
          <a:p>
            <a:endParaRPr lang="fr-FR"/>
          </a:p>
        </p:txBody>
      </p:sp>
      <p:sp>
        <p:nvSpPr>
          <p:cNvPr id="9007" name="Text 9007"/>
          <p:cNvSpPr txBox="1"/>
          <p:nvPr/>
        </p:nvSpPr>
        <p:spPr>
          <a:xfrm>
            <a:off x="1207468" y="3970000"/>
            <a:ext cx="4692266" cy="300000"/>
          </a:xfrm>
          <a:prstGeom prst="rect">
            <a:avLst/>
          </a:prstGeom>
          <a:noFill/>
          <a:ln>
            <a:noFill/>
          </a:ln>
        </p:spPr>
        <p:txBody>
          <a:bodyPr wrap="square" lIns="0" tIns="0" rIns="0" bIns="0" rtlCol="0" anchor="t">
            <a:normAutofit/>
          </a:bodyPr>
          <a:lstStyle/>
          <a:p>
            <a:pPr algn="l">
              <a:buNone/>
            </a:pPr>
            <a:r>
              <a:rPr lang="fr-FR" sz="850" dirty="0">
                <a:solidFill>
                  <a:srgbClr val="A9853F"/>
                </a:solidFill>
                <a:latin typeface="Jost Medium" pitchFamily="2" charset="77"/>
                <a:ea typeface="Jost Medium" pitchFamily="2" charset="77"/>
                <a:cs typeface="Jost Medium" pitchFamily="2" charset="77"/>
              </a:rPr>
              <a:t>LES POINTS DE VIGILANCE</a:t>
            </a:r>
          </a:p>
        </p:txBody>
      </p:sp>
      <p:sp>
        <p:nvSpPr>
          <p:cNvPr id="9008" name="Text 9008"/>
          <p:cNvSpPr txBox="1"/>
          <p:nvPr/>
        </p:nvSpPr>
        <p:spPr>
          <a:xfrm>
            <a:off x="1207468" y="4250000"/>
            <a:ext cx="4692266" cy="1050000"/>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Les loyers sont imposés au barème, jusqu’à 45%, plus 17,2% de prélèvements sociaux, même sans distribution.</a:t>
            </a:r>
          </a:p>
          <a:p>
            <a:pPr marL="182880" indent="-182880" algn="l">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Aucun amortissement : l’impôt porte souvent sur plus que la trésorerie réellement encaissée.</a:t>
            </a:r>
          </a:p>
          <a:p>
            <a:pPr marL="182880" indent="-182880" algn="l">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La location meublée fait basculer la SCI à l’IS de plein droit, au-delà de la tolérance de 10% des recettes.</a:t>
            </a:r>
          </a:p>
        </p:txBody>
      </p:sp>
      <p:sp>
        <p:nvSpPr>
          <p:cNvPr id="9009" name="Shape 9009"/>
          <p:cNvSpPr/>
          <p:nvPr/>
        </p:nvSpPr>
        <p:spPr>
          <a:xfrm>
            <a:off x="6479734" y="1780000"/>
            <a:ext cx="5212266" cy="460000"/>
          </a:xfrm>
          <a:prstGeom prst="rect">
            <a:avLst/>
          </a:prstGeom>
          <a:solidFill>
            <a:srgbClr val="001B00"/>
          </a:solidFill>
          <a:ln>
            <a:noFill/>
          </a:ln>
        </p:spPr>
        <p:txBody>
          <a:bodyPr rtlCol="0" anchor="ctr"/>
          <a:lstStyle/>
          <a:p>
            <a:endParaRPr lang="fr-FR"/>
          </a:p>
        </p:txBody>
      </p:sp>
      <p:sp>
        <p:nvSpPr>
          <p:cNvPr id="9010" name="Text 9010"/>
          <p:cNvSpPr txBox="1"/>
          <p:nvPr/>
        </p:nvSpPr>
        <p:spPr>
          <a:xfrm>
            <a:off x="6479734" y="1780000"/>
            <a:ext cx="5212266" cy="460000"/>
          </a:xfrm>
          <a:prstGeom prst="rect">
            <a:avLst/>
          </a:prstGeom>
          <a:noFill/>
          <a:ln>
            <a:noFill/>
          </a:ln>
        </p:spPr>
        <p:txBody>
          <a:bodyPr wrap="square" lIns="0" tIns="0" rIns="0" bIns="0" rtlCol="0" anchor="ctr">
            <a:normAutofit/>
          </a:bodyPr>
          <a:lstStyle/>
          <a:p>
            <a:pPr algn="ctr">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SCI à l’impôt sur les sociétés</a:t>
            </a:r>
          </a:p>
        </p:txBody>
      </p:sp>
      <p:sp>
        <p:nvSpPr>
          <p:cNvPr id="9011" name="Shape 9011"/>
          <p:cNvSpPr/>
          <p:nvPr/>
        </p:nvSpPr>
        <p:spPr>
          <a:xfrm>
            <a:off x="6479734" y="2240000"/>
            <a:ext cx="5212266" cy="3060000"/>
          </a:xfrm>
          <a:prstGeom prst="rect">
            <a:avLst/>
          </a:prstGeom>
          <a:solidFill>
            <a:srgbClr val="FCF9EF"/>
          </a:solidFill>
          <a:ln>
            <a:noFill/>
          </a:ln>
        </p:spPr>
        <p:txBody>
          <a:bodyPr rtlCol="0" anchor="ctr"/>
          <a:lstStyle/>
          <a:p>
            <a:endParaRPr lang="fr-FR"/>
          </a:p>
        </p:txBody>
      </p:sp>
      <p:sp>
        <p:nvSpPr>
          <p:cNvPr id="9012" name="Text 9012"/>
          <p:cNvSpPr txBox="1"/>
          <p:nvPr/>
        </p:nvSpPr>
        <p:spPr>
          <a:xfrm>
            <a:off x="6739734" y="2420000"/>
            <a:ext cx="4692266" cy="300000"/>
          </a:xfrm>
          <a:prstGeom prst="rect">
            <a:avLst/>
          </a:prstGeom>
          <a:noFill/>
          <a:ln>
            <a:noFill/>
          </a:ln>
        </p:spPr>
        <p:txBody>
          <a:bodyPr wrap="square" lIns="0" tIns="0" rIns="0" bIns="0" rtlCol="0" anchor="t">
            <a:normAutofit/>
          </a:bodyPr>
          <a:lstStyle/>
          <a:p>
            <a:pPr algn="l">
              <a:buNone/>
            </a:pPr>
            <a:r>
              <a:rPr lang="fr-FR" sz="850" dirty="0">
                <a:solidFill>
                  <a:srgbClr val="A9853F"/>
                </a:solidFill>
                <a:latin typeface="Jost Medium" pitchFamily="2" charset="77"/>
                <a:ea typeface="Jost Medium" pitchFamily="2" charset="77"/>
                <a:cs typeface="Jost Medium" pitchFamily="2" charset="77"/>
              </a:rPr>
              <a:t>LES AVANTAGES</a:t>
            </a:r>
          </a:p>
        </p:txBody>
      </p:sp>
      <p:sp>
        <p:nvSpPr>
          <p:cNvPr id="9013" name="Text 9013"/>
          <p:cNvSpPr txBox="1"/>
          <p:nvPr/>
        </p:nvSpPr>
        <p:spPr>
          <a:xfrm>
            <a:off x="6739734" y="2720000"/>
            <a:ext cx="4692266" cy="1050000"/>
          </a:xfrm>
          <a:prstGeom prst="rect">
            <a:avLst/>
          </a:prstGeom>
          <a:noFill/>
          <a:ln>
            <a:noFill/>
          </a:ln>
        </p:spPr>
        <p:txBody>
          <a:bodyPr wrap="square" lIns="0" tIns="0" rIns="0" bIns="0" rtlCol="0" anchor="t">
            <a:normAutofit/>
          </a:bodyPr>
          <a:lstStyle/>
          <a:p>
            <a:pPr marL="182880" indent="-182880" algn="just">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Gestion immobilière en BIC, le bien est amorti. Le résultat imposable est fortement réduit pendant de longues années.</a:t>
            </a:r>
          </a:p>
          <a:p>
            <a:pPr marL="182880" indent="-182880" algn="just">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Taux de 15% jusqu’à 42 500 EUR de bénéfice, puis 25%, sans prélèvements sociaux.</a:t>
            </a:r>
          </a:p>
          <a:p>
            <a:pPr marL="182880" indent="-182880" algn="just">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Toutes les charges sont déductibles, y compris les frais d’acquisition, et la location meublée est possible.</a:t>
            </a:r>
          </a:p>
        </p:txBody>
      </p:sp>
      <p:sp>
        <p:nvSpPr>
          <p:cNvPr id="9014" name="Shape 9014"/>
          <p:cNvSpPr/>
          <p:nvPr/>
        </p:nvSpPr>
        <p:spPr>
          <a:xfrm>
            <a:off x="6739734" y="3800000"/>
            <a:ext cx="4692266" cy="1"/>
          </a:xfrm>
          <a:prstGeom prst="line">
            <a:avLst/>
          </a:prstGeom>
          <a:noFill/>
          <a:ln w="6350">
            <a:solidFill>
              <a:srgbClr val="A9853F"/>
            </a:solidFill>
          </a:ln>
        </p:spPr>
        <p:txBody>
          <a:bodyPr rtlCol="0" anchor="ctr"/>
          <a:lstStyle/>
          <a:p>
            <a:endParaRPr lang="fr-FR"/>
          </a:p>
        </p:txBody>
      </p:sp>
      <p:sp>
        <p:nvSpPr>
          <p:cNvPr id="9015" name="Text 9015"/>
          <p:cNvSpPr txBox="1"/>
          <p:nvPr/>
        </p:nvSpPr>
        <p:spPr>
          <a:xfrm>
            <a:off x="6739734" y="3970000"/>
            <a:ext cx="4692266" cy="300000"/>
          </a:xfrm>
          <a:prstGeom prst="rect">
            <a:avLst/>
          </a:prstGeom>
          <a:noFill/>
          <a:ln>
            <a:noFill/>
          </a:ln>
        </p:spPr>
        <p:txBody>
          <a:bodyPr wrap="square" lIns="0" tIns="0" rIns="0" bIns="0" rtlCol="0" anchor="t">
            <a:normAutofit/>
          </a:bodyPr>
          <a:lstStyle/>
          <a:p>
            <a:pPr algn="l">
              <a:buNone/>
            </a:pPr>
            <a:r>
              <a:rPr lang="fr-FR" sz="850" dirty="0">
                <a:solidFill>
                  <a:srgbClr val="A9853F"/>
                </a:solidFill>
                <a:latin typeface="Jost Medium" pitchFamily="2" charset="77"/>
                <a:ea typeface="Jost Medium" pitchFamily="2" charset="77"/>
                <a:cs typeface="Jost Medium" pitchFamily="2" charset="77"/>
              </a:rPr>
              <a:t>LES POINTS DE VIGILANCE</a:t>
            </a:r>
          </a:p>
        </p:txBody>
      </p:sp>
      <p:sp>
        <p:nvSpPr>
          <p:cNvPr id="9016" name="Text 9016"/>
          <p:cNvSpPr txBox="1"/>
          <p:nvPr/>
        </p:nvSpPr>
        <p:spPr>
          <a:xfrm>
            <a:off x="6739734" y="4250000"/>
            <a:ext cx="4692266" cy="1050000"/>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À la revente, plus-value professionnelle : les amortissements sont repris et aucun abattement ne s’applique.</a:t>
            </a:r>
          </a:p>
          <a:p>
            <a:pPr marL="182880" indent="-182880" algn="l">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Distribuer les bénéfices coûte une seconde couche d’impôt : 30% de PFU chez l’associé.</a:t>
            </a:r>
          </a:p>
          <a:p>
            <a:pPr marL="182880" indent="-182880" algn="l">
              <a:spcAft>
                <a:spcPts val="350"/>
              </a:spcAft>
              <a:buFont typeface="Arial" pitchFamily="34" charset="0"/>
              <a:buChar char="▪"/>
            </a:pPr>
            <a:r>
              <a:rPr lang="fr-FR" sz="900" dirty="0">
                <a:solidFill>
                  <a:srgbClr val="073527"/>
                </a:solidFill>
                <a:latin typeface="Jost Light" pitchFamily="2" charset="77"/>
                <a:ea typeface="Jost Light" pitchFamily="2" charset="77"/>
                <a:cs typeface="Jost Light" pitchFamily="2" charset="77"/>
              </a:rPr>
              <a:t>Option définitive au-delà du cinquième exercice, et comptabilité commerciale à tenir.</a:t>
            </a:r>
          </a:p>
        </p:txBody>
      </p:sp>
      <p:sp>
        <p:nvSpPr>
          <p:cNvPr id="9017" name="Shape 9017"/>
          <p:cNvSpPr/>
          <p:nvPr/>
        </p:nvSpPr>
        <p:spPr>
          <a:xfrm>
            <a:off x="947468" y="5450000"/>
            <a:ext cx="3448177" cy="970000"/>
          </a:xfrm>
          <a:prstGeom prst="rect">
            <a:avLst/>
          </a:prstGeom>
          <a:solidFill>
            <a:srgbClr val="073527"/>
          </a:solidFill>
          <a:ln>
            <a:noFill/>
          </a:ln>
        </p:spPr>
        <p:txBody>
          <a:bodyPr rtlCol="0" anchor="ctr"/>
          <a:lstStyle/>
          <a:p>
            <a:endParaRPr lang="fr-FR"/>
          </a:p>
        </p:txBody>
      </p:sp>
      <p:sp>
        <p:nvSpPr>
          <p:cNvPr id="9018" name="Text 9018"/>
          <p:cNvSpPr txBox="1"/>
          <p:nvPr/>
        </p:nvSpPr>
        <p:spPr>
          <a:xfrm>
            <a:off x="1167468" y="5580000"/>
            <a:ext cx="3008177" cy="710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FFFFFF"/>
                </a:solidFill>
                <a:latin typeface="Jost Medium" pitchFamily="2" charset="77"/>
                <a:ea typeface="Jost Medium" pitchFamily="2" charset="77"/>
                <a:cs typeface="Jost Medium" pitchFamily="2" charset="77"/>
              </a:rPr>
              <a:t>Vous comptez revendre</a:t>
            </a:r>
          </a:p>
          <a:p>
            <a:pPr algn="l">
              <a:buNone/>
            </a:pPr>
            <a:r>
              <a:rPr lang="fr-FR" sz="900" dirty="0">
                <a:solidFill>
                  <a:srgbClr val="FFFFFF"/>
                </a:solidFill>
                <a:latin typeface="Jost Light" pitchFamily="2" charset="77"/>
                <a:ea typeface="Jost Light" pitchFamily="2" charset="77"/>
                <a:cs typeface="Jost Light" pitchFamily="2" charset="77"/>
              </a:rPr>
              <a:t>L’IR l’emporte : les abattements pour durée de détention effacent progressivement la plus-value.</a:t>
            </a:r>
          </a:p>
        </p:txBody>
      </p:sp>
      <p:sp>
        <p:nvSpPr>
          <p:cNvPr id="9019" name="Shape 9019"/>
          <p:cNvSpPr/>
          <p:nvPr/>
        </p:nvSpPr>
        <p:spPr>
          <a:xfrm>
            <a:off x="4595645" y="5450000"/>
            <a:ext cx="3448177" cy="970000"/>
          </a:xfrm>
          <a:prstGeom prst="rect">
            <a:avLst/>
          </a:prstGeom>
          <a:solidFill>
            <a:srgbClr val="073527"/>
          </a:solidFill>
          <a:ln>
            <a:noFill/>
          </a:ln>
        </p:spPr>
        <p:txBody>
          <a:bodyPr rtlCol="0" anchor="ctr"/>
          <a:lstStyle/>
          <a:p>
            <a:endParaRPr lang="fr-FR"/>
          </a:p>
        </p:txBody>
      </p:sp>
      <p:sp>
        <p:nvSpPr>
          <p:cNvPr id="9020" name="Text 9020"/>
          <p:cNvSpPr txBox="1"/>
          <p:nvPr/>
        </p:nvSpPr>
        <p:spPr>
          <a:xfrm>
            <a:off x="4815645" y="5580000"/>
            <a:ext cx="3008177" cy="710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FFFFFF"/>
                </a:solidFill>
                <a:latin typeface="Jost Medium" pitchFamily="2" charset="77"/>
                <a:ea typeface="Jost Medium" pitchFamily="2" charset="77"/>
                <a:cs typeface="Jost Medium" pitchFamily="2" charset="77"/>
              </a:rPr>
              <a:t>Vous conservez et réinvestissez</a:t>
            </a:r>
          </a:p>
          <a:p>
            <a:pPr algn="l">
              <a:buNone/>
            </a:pPr>
            <a:r>
              <a:rPr lang="fr-FR" sz="900" dirty="0">
                <a:solidFill>
                  <a:srgbClr val="FFFFFF"/>
                </a:solidFill>
                <a:latin typeface="Jost Light" pitchFamily="2" charset="77"/>
                <a:ea typeface="Jost Light" pitchFamily="2" charset="77"/>
                <a:cs typeface="Jost Light" pitchFamily="2" charset="77"/>
              </a:rPr>
              <a:t>L’IS l’emporte : l’amortissement libère de la trésorerie pour rembourser l’emprunt ou acheter un autre bien.</a:t>
            </a:r>
          </a:p>
        </p:txBody>
      </p:sp>
      <p:sp>
        <p:nvSpPr>
          <p:cNvPr id="9021" name="Shape 9021"/>
          <p:cNvSpPr/>
          <p:nvPr/>
        </p:nvSpPr>
        <p:spPr>
          <a:xfrm>
            <a:off x="8243822" y="5450000"/>
            <a:ext cx="3448177" cy="970000"/>
          </a:xfrm>
          <a:prstGeom prst="rect">
            <a:avLst/>
          </a:prstGeom>
          <a:solidFill>
            <a:srgbClr val="073527"/>
          </a:solidFill>
          <a:ln>
            <a:noFill/>
          </a:ln>
        </p:spPr>
        <p:txBody>
          <a:bodyPr rtlCol="0" anchor="ctr"/>
          <a:lstStyle/>
          <a:p>
            <a:endParaRPr lang="fr-FR"/>
          </a:p>
        </p:txBody>
      </p:sp>
      <p:sp>
        <p:nvSpPr>
          <p:cNvPr id="9022" name="Text 9022"/>
          <p:cNvSpPr txBox="1"/>
          <p:nvPr/>
        </p:nvSpPr>
        <p:spPr>
          <a:xfrm>
            <a:off x="8463822" y="5580000"/>
            <a:ext cx="3008177" cy="710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FFFFFF"/>
                </a:solidFill>
                <a:latin typeface="Jost Medium" pitchFamily="2" charset="77"/>
                <a:ea typeface="Jost Medium" pitchFamily="2" charset="77"/>
                <a:cs typeface="Jost Medium" pitchFamily="2" charset="77"/>
              </a:rPr>
              <a:t>Vous avez besoin des loyers</a:t>
            </a:r>
          </a:p>
          <a:p>
            <a:pPr algn="l">
              <a:buNone/>
            </a:pPr>
            <a:r>
              <a:rPr lang="fr-FR" sz="900" dirty="0">
                <a:solidFill>
                  <a:srgbClr val="FFFFFF"/>
                </a:solidFill>
                <a:latin typeface="Jost Light" pitchFamily="2" charset="77"/>
                <a:ea typeface="Jost Light" pitchFamily="2" charset="77"/>
                <a:cs typeface="Jost Light" pitchFamily="2" charset="77"/>
              </a:rPr>
              <a:t>L’IR évite la double couche d’impôt. Si choix de l’IS, chaque euro distribué est taxé une seconde fois.</a:t>
            </a:r>
          </a:p>
        </p:txBody>
      </p:sp>
    </p:spTree>
    <p:extLst>
      <p:ext uri="{BB962C8B-B14F-4D97-AF65-F5344CB8AC3E}">
        <p14:creationId xmlns:p14="http://schemas.microsoft.com/office/powerpoint/2010/main" val="3706882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Une société commerciale qui peut être imposée à l’impôt sur le revenu, entre membres d’une même famille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La SARL et la SARL de famille pour une personne physique à L’IR</a:t>
            </a:r>
          </a:p>
        </p:txBody>
      </p:sp>
      <p:sp>
        <p:nvSpPr>
          <p:cNvPr id="8086" name="Shape 8086"/>
          <p:cNvSpPr/>
          <p:nvPr/>
        </p:nvSpPr>
        <p:spPr>
          <a:xfrm>
            <a:off x="947468" y="1780000"/>
            <a:ext cx="5250000" cy="4640000"/>
          </a:xfrm>
          <a:prstGeom prst="rect">
            <a:avLst/>
          </a:prstGeom>
          <a:solidFill>
            <a:srgbClr val="FCF9EF"/>
          </a:solidFill>
          <a:ln>
            <a:noFill/>
          </a:ln>
        </p:spPr>
        <p:txBody>
          <a:bodyPr rtlCol="0" anchor="ctr"/>
          <a:lstStyle/>
          <a:p>
            <a:endParaRPr lang="fr-FR"/>
          </a:p>
        </p:txBody>
      </p:sp>
      <p:sp>
        <p:nvSpPr>
          <p:cNvPr id="8088" name="Shape 8088"/>
          <p:cNvSpPr/>
          <p:nvPr/>
        </p:nvSpPr>
        <p:spPr>
          <a:xfrm>
            <a:off x="1972468" y="2050000"/>
            <a:ext cx="3200000" cy="720000"/>
          </a:xfrm>
          <a:prstGeom prst="rect">
            <a:avLst/>
          </a:prstGeom>
          <a:solidFill>
            <a:srgbClr val="FFFFFF"/>
          </a:solidFill>
          <a:ln w="12700">
            <a:solidFill>
              <a:srgbClr val="A9853F"/>
            </a:solidFill>
          </a:ln>
        </p:spPr>
        <p:txBody>
          <a:bodyPr rtlCol="0" anchor="ctr"/>
          <a:lstStyle/>
          <a:p>
            <a:endParaRPr lang="fr-FR"/>
          </a:p>
        </p:txBody>
      </p:sp>
      <p:sp>
        <p:nvSpPr>
          <p:cNvPr id="8089" name="Text 8089"/>
          <p:cNvSpPr txBox="1"/>
          <p:nvPr/>
        </p:nvSpPr>
        <p:spPr>
          <a:xfrm>
            <a:off x="2122468" y="2140000"/>
            <a:ext cx="2900000" cy="54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073527"/>
                </a:solidFill>
                <a:latin typeface="Jost Medium" pitchFamily="2" charset="77"/>
                <a:ea typeface="Jost Medium" pitchFamily="2" charset="77"/>
                <a:cs typeface="Jost Medium" pitchFamily="2" charset="77"/>
              </a:rPr>
              <a:t>La famille</a:t>
            </a:r>
          </a:p>
          <a:p>
            <a:pPr algn="ctr">
              <a:buNone/>
            </a:pPr>
            <a:r>
              <a:rPr lang="fr-FR" sz="900" dirty="0">
                <a:solidFill>
                  <a:srgbClr val="6B6B6B"/>
                </a:solidFill>
                <a:latin typeface="Jost Light" pitchFamily="2" charset="77"/>
                <a:ea typeface="Jost Light" pitchFamily="2" charset="77"/>
                <a:cs typeface="Jost Light" pitchFamily="2" charset="77"/>
              </a:rPr>
              <a:t>Parents, enfants, frères et sœurs, conjoints ou partenaires de PACS</a:t>
            </a:r>
          </a:p>
        </p:txBody>
      </p:sp>
      <p:sp>
        <p:nvSpPr>
          <p:cNvPr id="8090" name="Shape 8090"/>
          <p:cNvSpPr/>
          <p:nvPr/>
        </p:nvSpPr>
        <p:spPr>
          <a:xfrm>
            <a:off x="3572468" y="2770000"/>
            <a:ext cx="1" cy="630000"/>
          </a:xfrm>
          <a:prstGeom prst="line">
            <a:avLst/>
          </a:prstGeom>
          <a:noFill/>
          <a:ln w="19050">
            <a:solidFill>
              <a:srgbClr val="A9853F"/>
            </a:solidFill>
          </a:ln>
        </p:spPr>
        <p:txBody>
          <a:bodyPr rtlCol="0" anchor="ctr"/>
          <a:lstStyle/>
          <a:p>
            <a:endParaRPr lang="fr-FR"/>
          </a:p>
        </p:txBody>
      </p:sp>
      <p:sp>
        <p:nvSpPr>
          <p:cNvPr id="8091" name="Text 8091"/>
          <p:cNvSpPr txBox="1"/>
          <p:nvPr/>
        </p:nvSpPr>
        <p:spPr>
          <a:xfrm>
            <a:off x="3372468" y="3290000"/>
            <a:ext cx="400000" cy="260000"/>
          </a:xfrm>
          <a:prstGeom prst="rect">
            <a:avLst/>
          </a:prstGeom>
          <a:noFill/>
          <a:ln>
            <a:noFill/>
          </a:ln>
        </p:spPr>
        <p:txBody>
          <a:bodyPr wrap="square" lIns="0" tIns="0" rIns="0" bIns="0" rtlCol="0" anchor="ctr">
            <a:normAutofit/>
          </a:bodyPr>
          <a:lstStyle/>
          <a:p>
            <a:pPr algn="ctr">
              <a:buNone/>
            </a:pPr>
            <a:r>
              <a:rPr lang="fr-FR" sz="1200" dirty="0">
                <a:solidFill>
                  <a:srgbClr val="A9853F"/>
                </a:solidFill>
                <a:latin typeface="Arial" pitchFamily="2" charset="77"/>
                <a:ea typeface="Arial" pitchFamily="2" charset="77"/>
                <a:cs typeface="Arial" pitchFamily="2" charset="77"/>
              </a:rPr>
              <a:t>▼</a:t>
            </a:r>
          </a:p>
        </p:txBody>
      </p:sp>
      <p:sp>
        <p:nvSpPr>
          <p:cNvPr id="8092" name="Text 8092"/>
          <p:cNvSpPr txBox="1"/>
          <p:nvPr/>
        </p:nvSpPr>
        <p:spPr>
          <a:xfrm>
            <a:off x="3732468" y="2965000"/>
            <a:ext cx="2200000" cy="320000"/>
          </a:xfrm>
          <a:prstGeom prst="rect">
            <a:avLst/>
          </a:prstGeom>
          <a:noFill/>
          <a:ln>
            <a:noFill/>
          </a:ln>
        </p:spPr>
        <p:txBody>
          <a:bodyPr wrap="square" lIns="0" tIns="0" rIns="0" bIns="0" rtlCol="0" anchor="ctr">
            <a:normAutofit/>
          </a:bodyPr>
          <a:lstStyle/>
          <a:p>
            <a:pPr algn="l">
              <a:buNone/>
            </a:pPr>
            <a:r>
              <a:rPr lang="fr-FR" sz="850" dirty="0">
                <a:solidFill>
                  <a:srgbClr val="6B6B6B"/>
                </a:solidFill>
                <a:latin typeface="Jost Light" pitchFamily="2" charset="77"/>
                <a:ea typeface="Jost Light" pitchFamily="2" charset="77"/>
                <a:cs typeface="Jost Light" pitchFamily="2" charset="77"/>
              </a:rPr>
              <a:t>Parts sociales</a:t>
            </a:r>
          </a:p>
        </p:txBody>
      </p:sp>
      <p:sp>
        <p:nvSpPr>
          <p:cNvPr id="8093" name="Shape 8093"/>
          <p:cNvSpPr/>
          <p:nvPr/>
        </p:nvSpPr>
        <p:spPr>
          <a:xfrm>
            <a:off x="1972468" y="3520000"/>
            <a:ext cx="3200000" cy="720000"/>
          </a:xfrm>
          <a:prstGeom prst="rect">
            <a:avLst/>
          </a:prstGeom>
          <a:solidFill>
            <a:srgbClr val="001B00"/>
          </a:solidFill>
          <a:ln>
            <a:noFill/>
          </a:ln>
        </p:spPr>
        <p:txBody>
          <a:bodyPr rtlCol="0" anchor="ctr"/>
          <a:lstStyle/>
          <a:p>
            <a:endParaRPr lang="fr-FR"/>
          </a:p>
        </p:txBody>
      </p:sp>
      <p:sp>
        <p:nvSpPr>
          <p:cNvPr id="8094" name="Text 8094"/>
          <p:cNvSpPr txBox="1"/>
          <p:nvPr/>
        </p:nvSpPr>
        <p:spPr>
          <a:xfrm>
            <a:off x="2122468" y="3610000"/>
            <a:ext cx="2900000" cy="54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FFFFFF"/>
                </a:solidFill>
                <a:latin typeface="Jost Medium" pitchFamily="2" charset="77"/>
                <a:ea typeface="Jost Medium" pitchFamily="2" charset="77"/>
                <a:cs typeface="Jost Medium" pitchFamily="2" charset="77"/>
              </a:rPr>
              <a:t>SARL de famille</a:t>
            </a:r>
          </a:p>
          <a:p>
            <a:pPr algn="ctr">
              <a:buNone/>
            </a:pPr>
            <a:r>
              <a:rPr lang="fr-FR" sz="900" dirty="0">
                <a:solidFill>
                  <a:srgbClr val="A9853F"/>
                </a:solidFill>
                <a:latin typeface="Jost Light" pitchFamily="2" charset="77"/>
                <a:ea typeface="Jost Light" pitchFamily="2" charset="77"/>
                <a:cs typeface="Jost Light" pitchFamily="2" charset="77"/>
              </a:rPr>
              <a:t>Option pour l’impôt sur le revenu (art. 239 bis AA)</a:t>
            </a:r>
          </a:p>
        </p:txBody>
      </p:sp>
      <p:sp>
        <p:nvSpPr>
          <p:cNvPr id="8095" name="Shape 8095"/>
          <p:cNvSpPr/>
          <p:nvPr/>
        </p:nvSpPr>
        <p:spPr>
          <a:xfrm>
            <a:off x="3572468" y="4240000"/>
            <a:ext cx="1" cy="630000"/>
          </a:xfrm>
          <a:prstGeom prst="line">
            <a:avLst/>
          </a:prstGeom>
          <a:noFill/>
          <a:ln w="19050">
            <a:solidFill>
              <a:srgbClr val="A9853F"/>
            </a:solidFill>
          </a:ln>
        </p:spPr>
        <p:txBody>
          <a:bodyPr rtlCol="0" anchor="ctr"/>
          <a:lstStyle/>
          <a:p>
            <a:endParaRPr lang="fr-FR"/>
          </a:p>
        </p:txBody>
      </p:sp>
      <p:sp>
        <p:nvSpPr>
          <p:cNvPr id="8096" name="Text 8096"/>
          <p:cNvSpPr txBox="1"/>
          <p:nvPr/>
        </p:nvSpPr>
        <p:spPr>
          <a:xfrm>
            <a:off x="3372468" y="4760000"/>
            <a:ext cx="400000" cy="260000"/>
          </a:xfrm>
          <a:prstGeom prst="rect">
            <a:avLst/>
          </a:prstGeom>
          <a:noFill/>
          <a:ln>
            <a:noFill/>
          </a:ln>
        </p:spPr>
        <p:txBody>
          <a:bodyPr wrap="square" lIns="0" tIns="0" rIns="0" bIns="0" rtlCol="0" anchor="ctr">
            <a:normAutofit/>
          </a:bodyPr>
          <a:lstStyle/>
          <a:p>
            <a:pPr algn="ctr">
              <a:buNone/>
            </a:pPr>
            <a:r>
              <a:rPr lang="fr-FR" sz="1200" dirty="0">
                <a:solidFill>
                  <a:srgbClr val="A9853F"/>
                </a:solidFill>
                <a:latin typeface="Arial" pitchFamily="2" charset="77"/>
                <a:ea typeface="Arial" pitchFamily="2" charset="77"/>
                <a:cs typeface="Arial" pitchFamily="2" charset="77"/>
              </a:rPr>
              <a:t>▼</a:t>
            </a:r>
          </a:p>
        </p:txBody>
      </p:sp>
      <p:sp>
        <p:nvSpPr>
          <p:cNvPr id="8097" name="Text 8097"/>
          <p:cNvSpPr txBox="1"/>
          <p:nvPr/>
        </p:nvSpPr>
        <p:spPr>
          <a:xfrm>
            <a:off x="3732468" y="4435000"/>
            <a:ext cx="2200000" cy="320000"/>
          </a:xfrm>
          <a:prstGeom prst="rect">
            <a:avLst/>
          </a:prstGeom>
          <a:noFill/>
          <a:ln>
            <a:noFill/>
          </a:ln>
        </p:spPr>
        <p:txBody>
          <a:bodyPr wrap="square" lIns="0" tIns="0" rIns="0" bIns="0" rtlCol="0" anchor="ctr">
            <a:normAutofit/>
          </a:bodyPr>
          <a:lstStyle/>
          <a:p>
            <a:pPr algn="l">
              <a:buNone/>
            </a:pPr>
            <a:r>
              <a:rPr lang="fr-FR" sz="850" dirty="0">
                <a:solidFill>
                  <a:srgbClr val="6B6B6B"/>
                </a:solidFill>
                <a:latin typeface="Jost Light" pitchFamily="2" charset="77"/>
                <a:ea typeface="Jost Light" pitchFamily="2" charset="77"/>
                <a:cs typeface="Jost Light" pitchFamily="2" charset="77"/>
              </a:rPr>
              <a:t>Résultat imposé chez chaque associé</a:t>
            </a:r>
          </a:p>
        </p:txBody>
      </p:sp>
      <p:sp>
        <p:nvSpPr>
          <p:cNvPr id="8098" name="Shape 8098"/>
          <p:cNvSpPr/>
          <p:nvPr/>
        </p:nvSpPr>
        <p:spPr>
          <a:xfrm>
            <a:off x="1972468" y="4990000"/>
            <a:ext cx="3200000" cy="720000"/>
          </a:xfrm>
          <a:prstGeom prst="rect">
            <a:avLst/>
          </a:prstGeom>
          <a:solidFill>
            <a:srgbClr val="FFFFFF"/>
          </a:solidFill>
          <a:ln w="12700">
            <a:solidFill>
              <a:srgbClr val="A9853F"/>
            </a:solidFill>
          </a:ln>
        </p:spPr>
        <p:txBody>
          <a:bodyPr rtlCol="0" anchor="ctr"/>
          <a:lstStyle/>
          <a:p>
            <a:endParaRPr lang="fr-FR"/>
          </a:p>
        </p:txBody>
      </p:sp>
      <p:sp>
        <p:nvSpPr>
          <p:cNvPr id="8099" name="Text 8099"/>
          <p:cNvSpPr txBox="1"/>
          <p:nvPr/>
        </p:nvSpPr>
        <p:spPr>
          <a:xfrm>
            <a:off x="2122468" y="5080000"/>
            <a:ext cx="2900000" cy="540000"/>
          </a:xfrm>
          <a:prstGeom prst="rect">
            <a:avLst/>
          </a:prstGeom>
          <a:noFill/>
          <a:ln>
            <a:noFill/>
          </a:ln>
        </p:spPr>
        <p:txBody>
          <a:bodyPr wrap="square" lIns="0" tIns="0" rIns="0" bIns="0" rtlCol="0" anchor="ctr">
            <a:normAutofit/>
          </a:bodyPr>
          <a:lstStyle/>
          <a:p>
            <a:pPr algn="ctr">
              <a:spcAft>
                <a:spcPts val="150"/>
              </a:spcAft>
              <a:buNone/>
            </a:pPr>
            <a:r>
              <a:rPr lang="fr-FR" sz="1100" dirty="0">
                <a:solidFill>
                  <a:srgbClr val="073527"/>
                </a:solidFill>
                <a:latin typeface="Jost Medium" pitchFamily="2" charset="77"/>
                <a:ea typeface="Jost Medium" pitchFamily="2" charset="77"/>
                <a:cs typeface="Jost Medium" pitchFamily="2" charset="77"/>
              </a:rPr>
              <a:t>Activité</a:t>
            </a:r>
          </a:p>
          <a:p>
            <a:pPr algn="ctr">
              <a:buNone/>
            </a:pPr>
            <a:r>
              <a:rPr lang="fr-FR" sz="900" dirty="0">
                <a:solidFill>
                  <a:srgbClr val="6B6B6B"/>
                </a:solidFill>
                <a:latin typeface="Jost Light" pitchFamily="2" charset="77"/>
                <a:ea typeface="Jost Light" pitchFamily="2" charset="77"/>
                <a:cs typeface="Jost Light" pitchFamily="2" charset="77"/>
              </a:rPr>
              <a:t>Location meublée, fonds de commerce, exploitation</a:t>
            </a:r>
          </a:p>
        </p:txBody>
      </p:sp>
      <p:sp>
        <p:nvSpPr>
          <p:cNvPr id="8100" name="Shape 8100"/>
          <p:cNvSpPr/>
          <p:nvPr/>
        </p:nvSpPr>
        <p:spPr>
          <a:xfrm>
            <a:off x="6479734" y="1780000"/>
            <a:ext cx="5212266" cy="460000"/>
          </a:xfrm>
          <a:prstGeom prst="rect">
            <a:avLst/>
          </a:prstGeom>
          <a:solidFill>
            <a:srgbClr val="001B00"/>
          </a:solidFill>
          <a:ln>
            <a:noFill/>
          </a:ln>
        </p:spPr>
        <p:txBody>
          <a:bodyPr rtlCol="0" anchor="ctr"/>
          <a:lstStyle/>
          <a:p>
            <a:endParaRPr lang="fr-FR"/>
          </a:p>
        </p:txBody>
      </p:sp>
      <p:sp>
        <p:nvSpPr>
          <p:cNvPr id="8101" name="Text 8101"/>
          <p:cNvSpPr txBox="1"/>
          <p:nvPr/>
        </p:nvSpPr>
        <p:spPr>
          <a:xfrm>
            <a:off x="6479734" y="1780000"/>
            <a:ext cx="5212266" cy="460000"/>
          </a:xfrm>
          <a:prstGeom prst="rect">
            <a:avLst/>
          </a:prstGeom>
          <a:noFill/>
          <a:ln>
            <a:noFill/>
          </a:ln>
        </p:spPr>
        <p:txBody>
          <a:bodyPr wrap="square" lIns="0" tIns="0" rIns="0" bIns="0" rtlCol="0" anchor="ctr">
            <a:normAutofit/>
          </a:bodyPr>
          <a:lstStyle/>
          <a:p>
            <a:pPr algn="ctr">
              <a:buNone/>
            </a:pPr>
            <a:r>
              <a:rPr lang="fr-FR" sz="1200" b="1" dirty="0">
                <a:solidFill>
                  <a:srgbClr val="FFFFFF"/>
                </a:solidFill>
                <a:latin typeface="Cormorant Garamond SemiBold" pitchFamily="2" charset="77"/>
                <a:ea typeface="Cormorant Garamond SemiBold" pitchFamily="2" charset="77"/>
                <a:cs typeface="Cormorant Garamond SemiBold" pitchFamily="2" charset="77"/>
              </a:rPr>
              <a:t>Ce qu’il faut savoir</a:t>
            </a:r>
          </a:p>
        </p:txBody>
      </p:sp>
      <p:sp>
        <p:nvSpPr>
          <p:cNvPr id="8102" name="Shape 8102"/>
          <p:cNvSpPr/>
          <p:nvPr/>
        </p:nvSpPr>
        <p:spPr>
          <a:xfrm>
            <a:off x="6479734" y="2240000"/>
            <a:ext cx="5212266" cy="4180000"/>
          </a:xfrm>
          <a:prstGeom prst="rect">
            <a:avLst/>
          </a:prstGeom>
          <a:solidFill>
            <a:srgbClr val="FCF9EF"/>
          </a:solidFill>
          <a:ln>
            <a:noFill/>
          </a:ln>
        </p:spPr>
        <p:txBody>
          <a:bodyPr rtlCol="0" anchor="ctr"/>
          <a:lstStyle/>
          <a:p>
            <a:endParaRPr lang="fr-FR"/>
          </a:p>
        </p:txBody>
      </p:sp>
      <p:sp>
        <p:nvSpPr>
          <p:cNvPr id="8103" name="Shape 8103"/>
          <p:cNvSpPr/>
          <p:nvPr/>
        </p:nvSpPr>
        <p:spPr>
          <a:xfrm>
            <a:off x="6739734" y="2535000"/>
            <a:ext cx="110000" cy="110000"/>
          </a:xfrm>
          <a:prstGeom prst="rect">
            <a:avLst/>
          </a:prstGeom>
          <a:solidFill>
            <a:srgbClr val="A9853F"/>
          </a:solidFill>
          <a:ln>
            <a:noFill/>
          </a:ln>
        </p:spPr>
        <p:txBody>
          <a:bodyPr rtlCol="0" anchor="ctr"/>
          <a:lstStyle/>
          <a:p>
            <a:endParaRPr lang="fr-FR"/>
          </a:p>
        </p:txBody>
      </p:sp>
      <p:sp>
        <p:nvSpPr>
          <p:cNvPr id="8104" name="Text 8104"/>
          <p:cNvSpPr txBox="1"/>
          <p:nvPr/>
        </p:nvSpPr>
        <p:spPr>
          <a:xfrm>
            <a:off x="6999734" y="2440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Qui peut opter</a:t>
            </a:r>
          </a:p>
          <a:p>
            <a:pPr algn="l">
              <a:buNone/>
            </a:pPr>
            <a:r>
              <a:rPr lang="fr-FR" sz="950" dirty="0">
                <a:solidFill>
                  <a:srgbClr val="073527"/>
                </a:solidFill>
                <a:latin typeface="Jost Light" pitchFamily="2" charset="77"/>
                <a:ea typeface="Jost Light" pitchFamily="2" charset="77"/>
                <a:cs typeface="Jost Light" pitchFamily="2" charset="77"/>
              </a:rPr>
              <a:t>Uniquement une SARL exerçant une activité commerciale, industrielle, artisanale ou agricole, détenue par des membres d’une même famille. Une activité civile en est exclue.</a:t>
            </a:r>
          </a:p>
        </p:txBody>
      </p:sp>
      <p:sp>
        <p:nvSpPr>
          <p:cNvPr id="8105" name="Shape 8105"/>
          <p:cNvSpPr/>
          <p:nvPr/>
        </p:nvSpPr>
        <p:spPr>
          <a:xfrm>
            <a:off x="6739734" y="3470000"/>
            <a:ext cx="110000" cy="110000"/>
          </a:xfrm>
          <a:prstGeom prst="rect">
            <a:avLst/>
          </a:prstGeom>
          <a:solidFill>
            <a:srgbClr val="A9853F"/>
          </a:solidFill>
          <a:ln>
            <a:noFill/>
          </a:ln>
        </p:spPr>
        <p:txBody>
          <a:bodyPr rtlCol="0" anchor="ctr"/>
          <a:lstStyle/>
          <a:p>
            <a:endParaRPr lang="fr-FR"/>
          </a:p>
        </p:txBody>
      </p:sp>
      <p:sp>
        <p:nvSpPr>
          <p:cNvPr id="8106" name="Text 8106"/>
          <p:cNvSpPr txBox="1"/>
          <p:nvPr/>
        </p:nvSpPr>
        <p:spPr>
          <a:xfrm>
            <a:off x="6999734" y="3375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L’imposition chez l’associé</a:t>
            </a:r>
          </a:p>
          <a:p>
            <a:pPr algn="l">
              <a:buNone/>
            </a:pPr>
            <a:r>
              <a:rPr lang="fr-FR" sz="950" dirty="0">
                <a:solidFill>
                  <a:srgbClr val="073527"/>
                </a:solidFill>
                <a:latin typeface="Jost Light" pitchFamily="2" charset="77"/>
                <a:ea typeface="Jost Light" pitchFamily="2" charset="77"/>
                <a:cs typeface="Jost Light" pitchFamily="2" charset="77"/>
              </a:rPr>
              <a:t>Chacun est imposé sur sa quote-part de résultat, en bénéfices industriels et commerciaux, sans double imposition ni taxation des dividendes.</a:t>
            </a:r>
          </a:p>
        </p:txBody>
      </p:sp>
      <p:sp>
        <p:nvSpPr>
          <p:cNvPr id="8107" name="Shape 8107"/>
          <p:cNvSpPr/>
          <p:nvPr/>
        </p:nvSpPr>
        <p:spPr>
          <a:xfrm>
            <a:off x="6739734" y="4405000"/>
            <a:ext cx="110000" cy="110000"/>
          </a:xfrm>
          <a:prstGeom prst="rect">
            <a:avLst/>
          </a:prstGeom>
          <a:solidFill>
            <a:srgbClr val="A9853F"/>
          </a:solidFill>
          <a:ln>
            <a:noFill/>
          </a:ln>
        </p:spPr>
        <p:txBody>
          <a:bodyPr rtlCol="0" anchor="ctr"/>
          <a:lstStyle/>
          <a:p>
            <a:endParaRPr lang="fr-FR"/>
          </a:p>
        </p:txBody>
      </p:sp>
      <p:sp>
        <p:nvSpPr>
          <p:cNvPr id="8108" name="Text 8108"/>
          <p:cNvSpPr txBox="1"/>
          <p:nvPr/>
        </p:nvSpPr>
        <p:spPr>
          <a:xfrm>
            <a:off x="6999734" y="4310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L’intérêt en location meublée</a:t>
            </a:r>
          </a:p>
          <a:p>
            <a:pPr algn="l">
              <a:buNone/>
            </a:pPr>
            <a:r>
              <a:rPr lang="fr-FR" sz="950" dirty="0">
                <a:solidFill>
                  <a:srgbClr val="073527"/>
                </a:solidFill>
                <a:latin typeface="Jost Light" pitchFamily="2" charset="77"/>
                <a:ea typeface="Jost Light" pitchFamily="2" charset="77"/>
                <a:cs typeface="Jost Light" pitchFamily="2" charset="77"/>
              </a:rPr>
              <a:t>Les amortissements réduisent fortement le résultat imposable. Mais attention, depuis 2025 ils sont repris dans le calcul de la plus-value en LMNP.</a:t>
            </a:r>
          </a:p>
        </p:txBody>
      </p:sp>
      <p:sp>
        <p:nvSpPr>
          <p:cNvPr id="8109" name="Shape 8109"/>
          <p:cNvSpPr/>
          <p:nvPr/>
        </p:nvSpPr>
        <p:spPr>
          <a:xfrm>
            <a:off x="6739734" y="5340000"/>
            <a:ext cx="110000" cy="110000"/>
          </a:xfrm>
          <a:prstGeom prst="rect">
            <a:avLst/>
          </a:prstGeom>
          <a:solidFill>
            <a:srgbClr val="A9853F"/>
          </a:solidFill>
          <a:ln>
            <a:noFill/>
          </a:ln>
        </p:spPr>
        <p:txBody>
          <a:bodyPr rtlCol="0" anchor="ctr"/>
          <a:lstStyle/>
          <a:p>
            <a:endParaRPr lang="fr-FR"/>
          </a:p>
        </p:txBody>
      </p:sp>
      <p:sp>
        <p:nvSpPr>
          <p:cNvPr id="8110" name="Text 8110"/>
          <p:cNvSpPr txBox="1"/>
          <p:nvPr/>
        </p:nvSpPr>
        <p:spPr>
          <a:xfrm>
            <a:off x="6999734" y="5245000"/>
            <a:ext cx="4452266" cy="875000"/>
          </a:xfrm>
          <a:prstGeom prst="rect">
            <a:avLst/>
          </a:prstGeom>
          <a:noFill/>
          <a:ln>
            <a:noFill/>
          </a:ln>
        </p:spPr>
        <p:txBody>
          <a:bodyPr wrap="square" lIns="0" tIns="0" rIns="0" bIns="0" rtlCol="0" anchor="t">
            <a:normAutofit/>
          </a:bodyPr>
          <a:lstStyle/>
          <a:p>
            <a:pPr algn="l">
              <a:spcAft>
                <a:spcPts val="200"/>
              </a:spcAft>
              <a:buNone/>
            </a:pPr>
            <a:r>
              <a:rPr lang="fr-FR" sz="1050" dirty="0">
                <a:solidFill>
                  <a:srgbClr val="073527"/>
                </a:solidFill>
                <a:latin typeface="Jost Medium" pitchFamily="2" charset="77"/>
                <a:ea typeface="Jost Medium" pitchFamily="2" charset="77"/>
                <a:cs typeface="Jost Medium" pitchFamily="2" charset="77"/>
              </a:rPr>
              <a:t>Une transmission progressive</a:t>
            </a:r>
          </a:p>
          <a:p>
            <a:pPr algn="l">
              <a:buNone/>
            </a:pPr>
            <a:r>
              <a:rPr lang="fr-FR" sz="950" dirty="0">
                <a:solidFill>
                  <a:srgbClr val="073527"/>
                </a:solidFill>
                <a:latin typeface="Jost Light" pitchFamily="2" charset="77"/>
                <a:ea typeface="Jost Light" pitchFamily="2" charset="77"/>
                <a:cs typeface="Jost Light" pitchFamily="2" charset="77"/>
              </a:rPr>
              <a:t>Les parts se donnent par tranches, en pleine propriété ou en nue-propriété. L’option reste valable tant que le capital demeure familial.</a:t>
            </a:r>
          </a:p>
        </p:txBody>
      </p:sp>
    </p:spTree>
    <p:extLst>
      <p:ext uri="{BB962C8B-B14F-4D97-AF65-F5344CB8AC3E}">
        <p14:creationId xmlns:p14="http://schemas.microsoft.com/office/powerpoint/2010/main" val="623795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27" name="Image 26">
            <a:extLst>
              <a:ext uri="{FF2B5EF4-FFF2-40B4-BE49-F238E27FC236}">
                <a16:creationId xmlns:a16="http://schemas.microsoft.com/office/drawing/2014/main" id="{B243801D-D19C-81C3-026E-CEA7666A614C}"/>
              </a:ext>
            </a:extLst>
          </p:cNvPr>
          <p:cNvPicPr>
            <a:picLocks noChangeAspect="1"/>
          </p:cNvPicPr>
          <p:nvPr/>
        </p:nvPicPr>
        <p:blipFill>
          <a:blip r:embed="rId2">
            <a:alphaModFix amt="5000"/>
          </a:blip>
          <a:srcRect l="6207" b="6232"/>
          <a:stretch>
            <a:fillRect/>
          </a:stretch>
        </p:blipFill>
        <p:spPr>
          <a:xfrm>
            <a:off x="0" y="-1822"/>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6658718"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Savoir se diversifier,</a:t>
            </a:r>
            <a:r>
              <a:rPr lang="fr-FR" sz="1200" dirty="0">
                <a:solidFill>
                  <a:srgbClr val="073527"/>
                </a:solidFill>
                <a:latin typeface="Jost Medium" pitchFamily="2" charset="77"/>
                <a:ea typeface="Jost Medium" pitchFamily="2" charset="77"/>
                <a:cs typeface="Futura Medium" panose="020B0602020204020303" pitchFamily="34" charset="-79"/>
              </a:rPr>
              <a:t> en investissant </a:t>
            </a:r>
            <a:r>
              <a:rPr lang="fr-FR" sz="1200" noProof="0" dirty="0">
                <a:solidFill>
                  <a:srgbClr val="073527"/>
                </a:solidFill>
                <a:latin typeface="Jost Medium" pitchFamily="2" charset="77"/>
                <a:ea typeface="Jost Medium" pitchFamily="2" charset="77"/>
                <a:cs typeface="Futura Medium" panose="020B0602020204020303" pitchFamily="34" charset="-79"/>
              </a:rPr>
              <a:t>dans le non-côté financier</a:t>
            </a:r>
            <a:r>
              <a:rPr lang="fr-FR" sz="1200" dirty="0">
                <a:solidFill>
                  <a:srgbClr val="073527"/>
                </a:solidFill>
                <a:latin typeface="Jost Medium" pitchFamily="2" charset="77"/>
                <a:ea typeface="Jost Medium" pitchFamily="2" charset="77"/>
                <a:cs typeface="Futura Medium" panose="020B0602020204020303" pitchFamily="34" charset="-79"/>
              </a:rPr>
              <a:t>.</a:t>
            </a:r>
            <a:endParaRPr lang="fr-FR" sz="1200" noProof="0" dirty="0">
              <a:solidFill>
                <a:srgbClr val="073527"/>
              </a:solidFill>
              <a:latin typeface="Jost Medium" pitchFamily="2" charset="77"/>
              <a:ea typeface="Jost Medium" pitchFamily="2" charset="77"/>
              <a:cs typeface="Futura Medium" panose="020B0602020204020303" pitchFamily="34" charset="-79"/>
            </a:endParaRP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9000000" cy="371138"/>
          </a:xfrm>
          <a:prstGeom prst="rect">
            <a:avLst/>
          </a:prstGeom>
          <a:noFill/>
          <a:ln/>
        </p:spPr>
        <p:txBody>
          <a:bodyPr wrap="square" lIns="0" tIns="0" rIns="0" bIns="0" rtlCol="0" anchor="t">
            <a:normAutofit/>
          </a:bodyPr>
          <a:lstStyle/>
          <a:p>
            <a:r>
              <a:rPr lang="fr-FR" sz="2200" b="1" noProof="0" dirty="0">
                <a:solidFill>
                  <a:srgbClr val="A9853F"/>
                </a:solidFill>
                <a:latin typeface="Cormorant Garamond SemiBold" pitchFamily="2" charset="77"/>
                <a:ea typeface="Cormorant Garamond SemiBold" pitchFamily="2" charset="77"/>
                <a:cs typeface="Cormorant Garamond SemiBold" pitchFamily="2" charset="77"/>
              </a:rPr>
              <a:t>Le Private Equity dans une allocation patrimoniale</a:t>
            </a:r>
          </a:p>
        </p:txBody>
      </p:sp>
      <p:sp>
        <p:nvSpPr>
          <p:cNvPr id="201" name="Shape 201"/>
          <p:cNvSpPr/>
          <p:nvPr/>
        </p:nvSpPr>
        <p:spPr>
          <a:xfrm>
            <a:off x="964728" y="1875802"/>
            <a:ext cx="2012906" cy="600000"/>
          </a:xfrm>
          <a:prstGeom prst="round2SameRect">
            <a:avLst/>
          </a:prstGeom>
          <a:solidFill>
            <a:srgbClr val="001A00"/>
          </a:solidFill>
          <a:ln>
            <a:noFill/>
          </a:ln>
        </p:spPr>
        <p:txBody>
          <a:bodyPr rtlCol="0" anchor="ctr"/>
          <a:lstStyle/>
          <a:p>
            <a:pPr algn="ctr"/>
            <a:r>
              <a:rPr lang="fr-FR" sz="1000" b="1" dirty="0">
                <a:solidFill>
                  <a:srgbClr val="FFFFFF"/>
                </a:solidFill>
                <a:latin typeface="Jost Black" pitchFamily="2" charset="77"/>
                <a:ea typeface="Jost Black" pitchFamily="2" charset="77"/>
                <a:cs typeface="Jost Medium" pitchFamily="2" charset="77"/>
              </a:rPr>
              <a:t>Diversification</a:t>
            </a:r>
            <a:endParaRPr lang="fr-FR" sz="1100" b="1" dirty="0">
              <a:solidFill>
                <a:srgbClr val="FFFFFF"/>
              </a:solidFill>
              <a:latin typeface="Jost Black" pitchFamily="2" charset="77"/>
              <a:ea typeface="Jost Black" pitchFamily="2" charset="77"/>
              <a:cs typeface="Jost Medium" pitchFamily="2" charset="77"/>
            </a:endParaRPr>
          </a:p>
        </p:txBody>
      </p:sp>
      <p:sp>
        <p:nvSpPr>
          <p:cNvPr id="202" name="Pillar Header 202"/>
          <p:cNvSpPr txBox="1"/>
          <p:nvPr/>
        </p:nvSpPr>
        <p:spPr>
          <a:xfrm>
            <a:off x="1903921" y="1079770"/>
            <a:ext cx="1892906" cy="600000"/>
          </a:xfrm>
          <a:prstGeom prst="rect">
            <a:avLst/>
          </a:prstGeom>
          <a:noFill/>
          <a:ln>
            <a:noFill/>
          </a:ln>
        </p:spPr>
        <p:txBody>
          <a:bodyPr wrap="square" lIns="0" tIns="0" rIns="0" bIns="0" rtlCol="0" anchor="ctr">
            <a:normAutofit/>
          </a:bodyPr>
          <a:lstStyle/>
          <a:p>
            <a:pPr algn="ctr">
              <a:buNone/>
            </a:pPr>
            <a:r>
              <a:rPr lang="fr-FR" sz="1000" b="1" dirty="0">
                <a:solidFill>
                  <a:srgbClr val="FFFFFF"/>
                </a:solidFill>
                <a:latin typeface="Jost Medium" pitchFamily="2" charset="77"/>
                <a:ea typeface="Jost Medium" pitchFamily="2" charset="77"/>
                <a:cs typeface="Jost Medium" pitchFamily="2" charset="77"/>
              </a:rPr>
              <a:t>Diversification</a:t>
            </a:r>
          </a:p>
        </p:txBody>
      </p:sp>
      <p:sp>
        <p:nvSpPr>
          <p:cNvPr id="203" name="Shape 203"/>
          <p:cNvSpPr/>
          <p:nvPr/>
        </p:nvSpPr>
        <p:spPr>
          <a:xfrm>
            <a:off x="964728" y="2475803"/>
            <a:ext cx="2012906" cy="960140"/>
          </a:xfrm>
          <a:prstGeom prst="rect">
            <a:avLst/>
          </a:prstGeom>
          <a:solidFill>
            <a:srgbClr val="FCF9EF"/>
          </a:solidFill>
          <a:ln>
            <a:noFill/>
          </a:ln>
        </p:spPr>
        <p:txBody>
          <a:bodyPr rtlCol="0" anchor="ctr"/>
          <a:lstStyle/>
          <a:p>
            <a:pPr algn="ctr"/>
            <a:r>
              <a:rPr lang="fr-FR" sz="800" dirty="0">
                <a:latin typeface="Jost Light" pitchFamily="2" charset="77"/>
                <a:ea typeface="Jost Light" pitchFamily="2" charset="77"/>
              </a:rPr>
              <a:t>Exposition à une classe d’actifs peu corrélée aux marchés cotés, pouvant contribuer à diversifier le portefeuille face aux chocs simultanés sur les actions et les obligations.</a:t>
            </a:r>
          </a:p>
        </p:txBody>
      </p:sp>
      <p:sp>
        <p:nvSpPr>
          <p:cNvPr id="205" name="Shape 205"/>
          <p:cNvSpPr/>
          <p:nvPr/>
        </p:nvSpPr>
        <p:spPr>
          <a:xfrm>
            <a:off x="3147634" y="1875802"/>
            <a:ext cx="2012906" cy="600000"/>
          </a:xfrm>
          <a:prstGeom prst="round2SameRect">
            <a:avLst/>
          </a:prstGeom>
          <a:solidFill>
            <a:srgbClr val="001B00"/>
          </a:solidFill>
          <a:ln>
            <a:noFill/>
          </a:ln>
        </p:spPr>
        <p:txBody>
          <a:bodyPr rtlCol="0" anchor="ctr"/>
          <a:lstStyle/>
          <a:p>
            <a:pPr algn="ctr"/>
            <a:r>
              <a:rPr lang="fr-FR" sz="1000" b="1" dirty="0">
                <a:solidFill>
                  <a:srgbClr val="FFFFFF"/>
                </a:solidFill>
                <a:latin typeface="Jost Black" pitchFamily="2" charset="77"/>
                <a:ea typeface="Jost Black" pitchFamily="2" charset="77"/>
              </a:rPr>
              <a:t>Accès au non coté</a:t>
            </a:r>
          </a:p>
        </p:txBody>
      </p:sp>
      <p:sp>
        <p:nvSpPr>
          <p:cNvPr id="207" name="Shape 207"/>
          <p:cNvSpPr/>
          <p:nvPr/>
        </p:nvSpPr>
        <p:spPr>
          <a:xfrm>
            <a:off x="3147634" y="2475803"/>
            <a:ext cx="2012906" cy="960140"/>
          </a:xfrm>
          <a:prstGeom prst="rect">
            <a:avLst/>
          </a:prstGeom>
          <a:solidFill>
            <a:srgbClr val="FCF9EF"/>
          </a:solidFill>
          <a:ln>
            <a:noFill/>
          </a:ln>
        </p:spPr>
        <p:txBody>
          <a:bodyPr rtlCol="0" anchor="ctr"/>
          <a:lstStyle/>
          <a:p>
            <a:pPr algn="ctr"/>
            <a:r>
              <a:rPr lang="fr-FR" sz="800" dirty="0">
                <a:latin typeface="Jost Light" pitchFamily="2" charset="77"/>
                <a:ea typeface="Jost Light" pitchFamily="2" charset="77"/>
              </a:rPr>
              <a:t>Il permet d’accéder à davantage d’entreprises non cotées, avec des valorisations parfois plus attractives et un potentiel de création de valeur à long terme.</a:t>
            </a:r>
          </a:p>
        </p:txBody>
      </p:sp>
      <p:sp>
        <p:nvSpPr>
          <p:cNvPr id="209" name="Shape 209"/>
          <p:cNvSpPr/>
          <p:nvPr/>
        </p:nvSpPr>
        <p:spPr>
          <a:xfrm>
            <a:off x="5330540" y="1875802"/>
            <a:ext cx="2012906" cy="600000"/>
          </a:xfrm>
          <a:prstGeom prst="round2SameRect">
            <a:avLst/>
          </a:prstGeom>
          <a:solidFill>
            <a:srgbClr val="001B00"/>
          </a:solidFill>
          <a:ln>
            <a:noFill/>
          </a:ln>
        </p:spPr>
        <p:txBody>
          <a:bodyPr rtlCol="0" anchor="ctr"/>
          <a:lstStyle/>
          <a:p>
            <a:pPr algn="ctr"/>
            <a:r>
              <a:rPr lang="fr-FR" sz="1000" b="1" dirty="0">
                <a:solidFill>
                  <a:srgbClr val="FFFFFF"/>
                </a:solidFill>
                <a:latin typeface="Jost Black" pitchFamily="2" charset="77"/>
                <a:ea typeface="Jost Black" pitchFamily="2" charset="77"/>
              </a:rPr>
              <a:t>Financer les entreprises de demain</a:t>
            </a:r>
          </a:p>
        </p:txBody>
      </p:sp>
      <p:sp>
        <p:nvSpPr>
          <p:cNvPr id="211" name="Shape 211"/>
          <p:cNvSpPr/>
          <p:nvPr/>
        </p:nvSpPr>
        <p:spPr>
          <a:xfrm>
            <a:off x="5330540" y="2475803"/>
            <a:ext cx="2012906" cy="960140"/>
          </a:xfrm>
          <a:prstGeom prst="rect">
            <a:avLst/>
          </a:prstGeom>
          <a:solidFill>
            <a:srgbClr val="FCF9EF"/>
          </a:solidFill>
          <a:ln>
            <a:noFill/>
          </a:ln>
        </p:spPr>
        <p:txBody>
          <a:bodyPr rtlCol="0" anchor="ctr"/>
          <a:lstStyle/>
          <a:p>
            <a:pPr algn="ctr"/>
            <a:r>
              <a:rPr lang="fr-FR" sz="800" dirty="0">
                <a:latin typeface="Jost Light" pitchFamily="2" charset="77"/>
                <a:ea typeface="Jost Light" pitchFamily="2" charset="77"/>
              </a:rPr>
              <a:t>Investir dans le Private Equity, c’est participer directement au développement de PME, ETI et start-up innovantes, en accompagnant leur croissance sur le long terme. </a:t>
            </a:r>
          </a:p>
        </p:txBody>
      </p:sp>
      <p:sp>
        <p:nvSpPr>
          <p:cNvPr id="213" name="Shape 213"/>
          <p:cNvSpPr/>
          <p:nvPr/>
        </p:nvSpPr>
        <p:spPr>
          <a:xfrm>
            <a:off x="7513446" y="1875802"/>
            <a:ext cx="2012906" cy="600000"/>
          </a:xfrm>
          <a:prstGeom prst="round2SameRect">
            <a:avLst/>
          </a:prstGeom>
          <a:solidFill>
            <a:srgbClr val="001B00"/>
          </a:solidFill>
          <a:ln>
            <a:noFill/>
          </a:ln>
        </p:spPr>
        <p:txBody>
          <a:bodyPr rtlCol="0" anchor="ctr"/>
          <a:lstStyle/>
          <a:p>
            <a:pPr algn="ctr"/>
            <a:r>
              <a:rPr lang="fr-FR" sz="1000" b="1" dirty="0">
                <a:solidFill>
                  <a:srgbClr val="FFFFFF"/>
                </a:solidFill>
                <a:latin typeface="Jost Black" pitchFamily="2" charset="77"/>
                <a:ea typeface="Jost Black" pitchFamily="2" charset="77"/>
              </a:rPr>
              <a:t>Acteur d’un écosystème</a:t>
            </a:r>
          </a:p>
        </p:txBody>
      </p:sp>
      <p:sp>
        <p:nvSpPr>
          <p:cNvPr id="215" name="Shape 215"/>
          <p:cNvSpPr/>
          <p:nvPr/>
        </p:nvSpPr>
        <p:spPr>
          <a:xfrm>
            <a:off x="7513446" y="2475802"/>
            <a:ext cx="2012906" cy="960141"/>
          </a:xfrm>
          <a:prstGeom prst="rect">
            <a:avLst/>
          </a:prstGeom>
          <a:solidFill>
            <a:srgbClr val="FCF9EF"/>
          </a:solidFill>
          <a:ln>
            <a:noFill/>
          </a:ln>
        </p:spPr>
        <p:txBody>
          <a:bodyPr rtlCol="0" anchor="ctr"/>
          <a:lstStyle/>
          <a:p>
            <a:pPr algn="ctr"/>
            <a:r>
              <a:rPr lang="fr-FR" sz="800" dirty="0">
                <a:latin typeface="Jost Light" pitchFamily="2" charset="77"/>
                <a:ea typeface="Jost Light" pitchFamily="2" charset="77"/>
              </a:rPr>
              <a:t>S’inscrire dans une dynamique de financement de l’économie réelle, de l’emploi et de l’innovation locale.</a:t>
            </a:r>
          </a:p>
          <a:p>
            <a:pPr algn="ctr"/>
            <a:endParaRPr lang="fr-FR" sz="800" dirty="0">
              <a:latin typeface="Jost Light" pitchFamily="2" charset="77"/>
              <a:ea typeface="Jost Light" pitchFamily="2" charset="77"/>
            </a:endParaRPr>
          </a:p>
        </p:txBody>
      </p:sp>
      <p:sp>
        <p:nvSpPr>
          <p:cNvPr id="217" name="Shape 217"/>
          <p:cNvSpPr/>
          <p:nvPr/>
        </p:nvSpPr>
        <p:spPr>
          <a:xfrm>
            <a:off x="9696352" y="1875802"/>
            <a:ext cx="2012906" cy="600000"/>
          </a:xfrm>
          <a:prstGeom prst="round2SameRect">
            <a:avLst/>
          </a:prstGeom>
          <a:solidFill>
            <a:srgbClr val="001B00"/>
          </a:solidFill>
          <a:ln>
            <a:noFill/>
          </a:ln>
        </p:spPr>
        <p:txBody>
          <a:bodyPr rtlCol="0" anchor="ctr"/>
          <a:lstStyle/>
          <a:p>
            <a:pPr algn="ctr"/>
            <a:r>
              <a:rPr lang="fr-FR" sz="1000" b="1" dirty="0">
                <a:solidFill>
                  <a:srgbClr val="FFFFFF"/>
                </a:solidFill>
                <a:latin typeface="Jost Black" pitchFamily="2" charset="77"/>
                <a:ea typeface="Jost Black" pitchFamily="2" charset="77"/>
              </a:rPr>
              <a:t>Un patrimoine sur le temps long</a:t>
            </a:r>
          </a:p>
        </p:txBody>
      </p:sp>
      <p:sp>
        <p:nvSpPr>
          <p:cNvPr id="219" name="Shape 219"/>
          <p:cNvSpPr/>
          <p:nvPr/>
        </p:nvSpPr>
        <p:spPr>
          <a:xfrm>
            <a:off x="9696352" y="2475802"/>
            <a:ext cx="2012906" cy="960141"/>
          </a:xfrm>
          <a:prstGeom prst="rect">
            <a:avLst/>
          </a:prstGeom>
          <a:solidFill>
            <a:srgbClr val="FCF9EF"/>
          </a:solidFill>
          <a:ln>
            <a:noFill/>
          </a:ln>
        </p:spPr>
        <p:txBody>
          <a:bodyPr rtlCol="0" anchor="ctr"/>
          <a:lstStyle/>
          <a:p>
            <a:pPr algn="ctr"/>
            <a:r>
              <a:rPr lang="fr-FR" sz="800" dirty="0">
                <a:latin typeface="Jost Light" pitchFamily="2" charset="77"/>
                <a:ea typeface="Jost Light" pitchFamily="2" charset="77"/>
              </a:rPr>
              <a:t>Se constituer un capital sur un horizon de 8 à 10 ans, en phase avec des objectifs patrimoniaux de long terme (retraite, transmission).</a:t>
            </a:r>
          </a:p>
        </p:txBody>
      </p:sp>
      <p:sp>
        <p:nvSpPr>
          <p:cNvPr id="6" name="Flow Label 217">
            <a:extLst>
              <a:ext uri="{FF2B5EF4-FFF2-40B4-BE49-F238E27FC236}">
                <a16:creationId xmlns:a16="http://schemas.microsoft.com/office/drawing/2014/main" id="{82D4A61B-B40D-A1A7-B3C7-56C5201E4DB9}"/>
              </a:ext>
            </a:extLst>
          </p:cNvPr>
          <p:cNvSpPr txBox="1"/>
          <p:nvPr/>
        </p:nvSpPr>
        <p:spPr>
          <a:xfrm>
            <a:off x="1000460" y="3695966"/>
            <a:ext cx="10744532" cy="340000"/>
          </a:xfrm>
          <a:prstGeom prst="rect">
            <a:avLst/>
          </a:prstGeom>
          <a:noFill/>
          <a:ln>
            <a:noFill/>
          </a:ln>
        </p:spPr>
        <p:txBody>
          <a:bodyPr wrap="square" lIns="0" tIns="0" rIns="0" bIns="0" rtlCol="0" anchor="t">
            <a:normAutofit/>
          </a:bodyPr>
          <a:lstStyle/>
          <a:p>
            <a:pPr algn="l">
              <a:buNone/>
            </a:pPr>
            <a:r>
              <a:rPr lang="fr-FR" sz="1300" b="1" dirty="0">
                <a:solidFill>
                  <a:srgbClr val="A9853F"/>
                </a:solidFill>
                <a:latin typeface="Cormorant Garamond SemiBold" pitchFamily="2" charset="77"/>
                <a:ea typeface="Cormorant Garamond SemiBold" pitchFamily="2" charset="77"/>
                <a:cs typeface="Cormorant Garamond SemiBold" pitchFamily="2" charset="77"/>
              </a:rPr>
              <a:t>Un cycle de vie en 3 temps</a:t>
            </a:r>
          </a:p>
        </p:txBody>
      </p:sp>
      <p:sp>
        <p:nvSpPr>
          <p:cNvPr id="15" name="Shape 218">
            <a:extLst>
              <a:ext uri="{FF2B5EF4-FFF2-40B4-BE49-F238E27FC236}">
                <a16:creationId xmlns:a16="http://schemas.microsoft.com/office/drawing/2014/main" id="{787B11B8-D5BA-0D85-5EB4-1C4F8F5E81D5}"/>
              </a:ext>
            </a:extLst>
          </p:cNvPr>
          <p:cNvSpPr/>
          <p:nvPr/>
        </p:nvSpPr>
        <p:spPr>
          <a:xfrm>
            <a:off x="1170373" y="4384816"/>
            <a:ext cx="3208177" cy="900000"/>
          </a:xfrm>
          <a:prstGeom prst="rect">
            <a:avLst/>
          </a:prstGeom>
          <a:solidFill>
            <a:srgbClr val="E7DCC7"/>
          </a:solidFill>
          <a:ln>
            <a:noFill/>
          </a:ln>
        </p:spPr>
        <p:txBody>
          <a:bodyPr rtlCol="0" anchor="ctr"/>
          <a:lstStyle/>
          <a:p>
            <a:pPr>
              <a:spcAft>
                <a:spcPts val="300"/>
              </a:spcAft>
            </a:pPr>
            <a:r>
              <a:rPr lang="fr-FR" sz="1000" dirty="0">
                <a:solidFill>
                  <a:srgbClr val="001B00"/>
                </a:solidFill>
                <a:latin typeface="Jost Medium" pitchFamily="2" charset="77"/>
                <a:ea typeface="Jost Medium" pitchFamily="2" charset="77"/>
              </a:rPr>
              <a:t>Phase d’investissement</a:t>
            </a:r>
          </a:p>
          <a:p>
            <a:r>
              <a:rPr lang="fr-FR" sz="800" dirty="0">
                <a:solidFill>
                  <a:srgbClr val="073527"/>
                </a:solidFill>
                <a:latin typeface="Jost Light" pitchFamily="2" charset="77"/>
                <a:ea typeface="Jost Light" pitchFamily="2" charset="77"/>
                <a:cs typeface="Jost Light" pitchFamily="2" charset="77"/>
              </a:rPr>
              <a:t>Le capital est appelé puis investi progressivement, projet par projet dans les entreprises ciblées.</a:t>
            </a:r>
          </a:p>
        </p:txBody>
      </p:sp>
      <p:sp>
        <p:nvSpPr>
          <p:cNvPr id="18" name="Shape 221">
            <a:extLst>
              <a:ext uri="{FF2B5EF4-FFF2-40B4-BE49-F238E27FC236}">
                <a16:creationId xmlns:a16="http://schemas.microsoft.com/office/drawing/2014/main" id="{B96E66A9-EF18-92F6-2EE9-D0137EDC4EAB}"/>
              </a:ext>
            </a:extLst>
          </p:cNvPr>
          <p:cNvSpPr/>
          <p:nvPr/>
        </p:nvSpPr>
        <p:spPr>
          <a:xfrm>
            <a:off x="4664295" y="4379239"/>
            <a:ext cx="3208177" cy="900000"/>
          </a:xfrm>
          <a:prstGeom prst="rect">
            <a:avLst/>
          </a:prstGeom>
          <a:solidFill>
            <a:srgbClr val="E7DCC7"/>
          </a:solidFill>
          <a:ln>
            <a:noFill/>
          </a:ln>
        </p:spPr>
        <p:txBody>
          <a:bodyPr rtlCol="0" anchor="ctr"/>
          <a:lstStyle/>
          <a:p>
            <a:pPr>
              <a:spcAft>
                <a:spcPts val="300"/>
              </a:spcAft>
            </a:pPr>
            <a:r>
              <a:rPr lang="fr-FR" sz="1000" dirty="0">
                <a:solidFill>
                  <a:srgbClr val="001B00"/>
                </a:solidFill>
                <a:latin typeface="Jost Medium" pitchFamily="2" charset="77"/>
                <a:ea typeface="Jost Medium" pitchFamily="2" charset="77"/>
              </a:rPr>
              <a:t>Phase de développement</a:t>
            </a:r>
          </a:p>
          <a:p>
            <a:r>
              <a:rPr lang="fr-FR" sz="800" dirty="0">
                <a:solidFill>
                  <a:srgbClr val="073527"/>
                </a:solidFill>
                <a:latin typeface="Jost Light" pitchFamily="2" charset="77"/>
                <a:ea typeface="Jost Light" pitchFamily="2" charset="77"/>
              </a:rPr>
              <a:t>Sortie des investissements arrivés à maturité, rémunération des investisseurs, investissements complémentaires.</a:t>
            </a:r>
          </a:p>
        </p:txBody>
      </p:sp>
      <p:sp>
        <p:nvSpPr>
          <p:cNvPr id="21" name="Shape 224">
            <a:extLst>
              <a:ext uri="{FF2B5EF4-FFF2-40B4-BE49-F238E27FC236}">
                <a16:creationId xmlns:a16="http://schemas.microsoft.com/office/drawing/2014/main" id="{036F7E74-2AE0-45E1-E6E8-DD74C0DD9FCE}"/>
              </a:ext>
            </a:extLst>
          </p:cNvPr>
          <p:cNvSpPr/>
          <p:nvPr/>
        </p:nvSpPr>
        <p:spPr>
          <a:xfrm>
            <a:off x="8158217" y="4384816"/>
            <a:ext cx="3208177" cy="900000"/>
          </a:xfrm>
          <a:prstGeom prst="rect">
            <a:avLst/>
          </a:prstGeom>
          <a:solidFill>
            <a:srgbClr val="E7DCC7"/>
          </a:solidFill>
          <a:ln>
            <a:noFill/>
          </a:ln>
        </p:spPr>
        <p:txBody>
          <a:bodyPr rtlCol="0" anchor="ctr"/>
          <a:lstStyle/>
          <a:p>
            <a:pPr>
              <a:spcAft>
                <a:spcPts val="300"/>
              </a:spcAft>
            </a:pPr>
            <a:r>
              <a:rPr lang="fr-FR" sz="1000" dirty="0">
                <a:solidFill>
                  <a:srgbClr val="001B00"/>
                </a:solidFill>
                <a:latin typeface="Jost Medium" pitchFamily="2" charset="77"/>
                <a:ea typeface="Jost Medium" pitchFamily="2" charset="77"/>
              </a:rPr>
              <a:t>Phase de liquidation</a:t>
            </a:r>
          </a:p>
          <a:p>
            <a:r>
              <a:rPr lang="fr-FR" sz="800" dirty="0">
                <a:solidFill>
                  <a:srgbClr val="073527"/>
                </a:solidFill>
                <a:latin typeface="Jost Light" pitchFamily="2" charset="77"/>
                <a:ea typeface="Jost Light" pitchFamily="2" charset="77"/>
              </a:rPr>
              <a:t>La plupart des investissements sont arrivés à maturité et la majorité des investissements a été soldée : prise de plus-values.</a:t>
            </a:r>
          </a:p>
        </p:txBody>
      </p:sp>
      <p:sp>
        <p:nvSpPr>
          <p:cNvPr id="8" name="Ellipse 7">
            <a:extLst>
              <a:ext uri="{FF2B5EF4-FFF2-40B4-BE49-F238E27FC236}">
                <a16:creationId xmlns:a16="http://schemas.microsoft.com/office/drawing/2014/main" id="{39C8FFAC-D71E-4D5A-86B0-03C7FF617288}"/>
              </a:ext>
            </a:extLst>
          </p:cNvPr>
          <p:cNvSpPr/>
          <p:nvPr/>
        </p:nvSpPr>
        <p:spPr>
          <a:xfrm>
            <a:off x="964728" y="4234883"/>
            <a:ext cx="307910" cy="314004"/>
          </a:xfrm>
          <a:prstGeom prst="ellipse">
            <a:avLst/>
          </a:prstGeom>
          <a:solidFill>
            <a:srgbClr val="AA853F"/>
          </a:solidFill>
          <a:ln>
            <a:solidFill>
              <a:srgbClr val="F7F4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dirty="0">
                <a:latin typeface="Jost Black" pitchFamily="2" charset="77"/>
                <a:ea typeface="Jost Black" pitchFamily="2" charset="77"/>
              </a:rPr>
              <a:t>1</a:t>
            </a:r>
          </a:p>
        </p:txBody>
      </p:sp>
      <p:cxnSp>
        <p:nvCxnSpPr>
          <p:cNvPr id="10" name="Connecteur droit avec flèche 9">
            <a:extLst>
              <a:ext uri="{FF2B5EF4-FFF2-40B4-BE49-F238E27FC236}">
                <a16:creationId xmlns:a16="http://schemas.microsoft.com/office/drawing/2014/main" id="{FB408AA3-20EC-CBA3-636C-3077F2461911}"/>
              </a:ext>
            </a:extLst>
          </p:cNvPr>
          <p:cNvCxnSpPr>
            <a:cxnSpLocks/>
          </p:cNvCxnSpPr>
          <p:nvPr/>
        </p:nvCxnSpPr>
        <p:spPr>
          <a:xfrm>
            <a:off x="1170373" y="5677074"/>
            <a:ext cx="3208177"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A68BFD6F-75E6-D6BA-4EC0-F0E6D589F915}"/>
              </a:ext>
            </a:extLst>
          </p:cNvPr>
          <p:cNvSpPr txBox="1"/>
          <p:nvPr/>
        </p:nvSpPr>
        <p:spPr>
          <a:xfrm>
            <a:off x="2094877" y="5853889"/>
            <a:ext cx="1359167" cy="215444"/>
          </a:xfrm>
          <a:prstGeom prst="rect">
            <a:avLst/>
          </a:prstGeom>
          <a:noFill/>
        </p:spPr>
        <p:txBody>
          <a:bodyPr wrap="square" rtlCol="0">
            <a:spAutoFit/>
          </a:bodyPr>
          <a:lstStyle/>
          <a:p>
            <a:pPr algn="ctr"/>
            <a:r>
              <a:rPr lang="fr-FR" sz="800" dirty="0">
                <a:latin typeface="Jost Medium" pitchFamily="2" charset="77"/>
                <a:ea typeface="Jost Medium" pitchFamily="2" charset="77"/>
              </a:rPr>
              <a:t>Année 1 à année 4 ou 5</a:t>
            </a:r>
          </a:p>
        </p:txBody>
      </p:sp>
      <p:cxnSp>
        <p:nvCxnSpPr>
          <p:cNvPr id="13" name="Connecteur droit avec flèche 12">
            <a:extLst>
              <a:ext uri="{FF2B5EF4-FFF2-40B4-BE49-F238E27FC236}">
                <a16:creationId xmlns:a16="http://schemas.microsoft.com/office/drawing/2014/main" id="{F58159AE-AE42-153C-445D-73F1F186A211}"/>
              </a:ext>
            </a:extLst>
          </p:cNvPr>
          <p:cNvCxnSpPr>
            <a:cxnSpLocks/>
          </p:cNvCxnSpPr>
          <p:nvPr/>
        </p:nvCxnSpPr>
        <p:spPr>
          <a:xfrm>
            <a:off x="4637399" y="5677074"/>
            <a:ext cx="3208177"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31CB95CE-8CB2-8E24-A94C-E9B9452FAD24}"/>
              </a:ext>
            </a:extLst>
          </p:cNvPr>
          <p:cNvSpPr txBox="1"/>
          <p:nvPr/>
        </p:nvSpPr>
        <p:spPr>
          <a:xfrm>
            <a:off x="5756619" y="5853889"/>
            <a:ext cx="1126227" cy="215444"/>
          </a:xfrm>
          <a:prstGeom prst="rect">
            <a:avLst/>
          </a:prstGeom>
          <a:noFill/>
        </p:spPr>
        <p:txBody>
          <a:bodyPr wrap="square" rtlCol="0">
            <a:spAutoFit/>
          </a:bodyPr>
          <a:lstStyle/>
          <a:p>
            <a:pPr algn="ctr"/>
            <a:r>
              <a:rPr lang="fr-FR" sz="800" dirty="0">
                <a:latin typeface="Jost Medium" pitchFamily="2" charset="77"/>
                <a:ea typeface="Jost Medium" pitchFamily="2" charset="77"/>
              </a:rPr>
              <a:t>Années 3 à année 8</a:t>
            </a:r>
          </a:p>
        </p:txBody>
      </p:sp>
      <p:cxnSp>
        <p:nvCxnSpPr>
          <p:cNvPr id="23" name="Connecteur droit avec flèche 22">
            <a:extLst>
              <a:ext uri="{FF2B5EF4-FFF2-40B4-BE49-F238E27FC236}">
                <a16:creationId xmlns:a16="http://schemas.microsoft.com/office/drawing/2014/main" id="{EE526242-0704-DFA1-6288-408DA9C354FA}"/>
              </a:ext>
            </a:extLst>
          </p:cNvPr>
          <p:cNvCxnSpPr>
            <a:cxnSpLocks/>
          </p:cNvCxnSpPr>
          <p:nvPr/>
        </p:nvCxnSpPr>
        <p:spPr>
          <a:xfrm>
            <a:off x="8158217" y="5666914"/>
            <a:ext cx="3208177"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581C78E3-35C1-6BBB-4989-31880BB0A4FB}"/>
              </a:ext>
            </a:extLst>
          </p:cNvPr>
          <p:cNvSpPr txBox="1"/>
          <p:nvPr/>
        </p:nvSpPr>
        <p:spPr>
          <a:xfrm>
            <a:off x="9199191" y="5853889"/>
            <a:ext cx="1126227" cy="215444"/>
          </a:xfrm>
          <a:prstGeom prst="rect">
            <a:avLst/>
          </a:prstGeom>
          <a:noFill/>
        </p:spPr>
        <p:txBody>
          <a:bodyPr wrap="square" rtlCol="0">
            <a:spAutoFit/>
          </a:bodyPr>
          <a:lstStyle/>
          <a:p>
            <a:pPr algn="ctr"/>
            <a:r>
              <a:rPr lang="fr-FR" sz="800" dirty="0">
                <a:latin typeface="Jost Medium" pitchFamily="2" charset="77"/>
                <a:ea typeface="Jost Medium" pitchFamily="2" charset="77"/>
              </a:rPr>
              <a:t>À partir de l’année 8</a:t>
            </a:r>
          </a:p>
        </p:txBody>
      </p:sp>
      <p:sp>
        <p:nvSpPr>
          <p:cNvPr id="25" name="Ellipse 24">
            <a:extLst>
              <a:ext uri="{FF2B5EF4-FFF2-40B4-BE49-F238E27FC236}">
                <a16:creationId xmlns:a16="http://schemas.microsoft.com/office/drawing/2014/main" id="{A633243B-42ED-EFDE-CAAF-540C3B844B0D}"/>
              </a:ext>
            </a:extLst>
          </p:cNvPr>
          <p:cNvSpPr/>
          <p:nvPr/>
        </p:nvSpPr>
        <p:spPr>
          <a:xfrm>
            <a:off x="4483444" y="4234883"/>
            <a:ext cx="307910" cy="314004"/>
          </a:xfrm>
          <a:prstGeom prst="ellipse">
            <a:avLst/>
          </a:prstGeom>
          <a:solidFill>
            <a:srgbClr val="AA853F"/>
          </a:solidFill>
          <a:ln>
            <a:solidFill>
              <a:srgbClr val="F7F4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dirty="0">
                <a:latin typeface="Jost Black" pitchFamily="2" charset="77"/>
                <a:ea typeface="Jost Black" pitchFamily="2" charset="77"/>
              </a:rPr>
              <a:t>2</a:t>
            </a:r>
          </a:p>
        </p:txBody>
      </p:sp>
      <p:sp>
        <p:nvSpPr>
          <p:cNvPr id="26" name="Ellipse 25">
            <a:extLst>
              <a:ext uri="{FF2B5EF4-FFF2-40B4-BE49-F238E27FC236}">
                <a16:creationId xmlns:a16="http://schemas.microsoft.com/office/drawing/2014/main" id="{F5C9E1CF-D89B-C08F-73C0-007154F54BF7}"/>
              </a:ext>
            </a:extLst>
          </p:cNvPr>
          <p:cNvSpPr/>
          <p:nvPr/>
        </p:nvSpPr>
        <p:spPr>
          <a:xfrm>
            <a:off x="8002160" y="4234883"/>
            <a:ext cx="307910" cy="314004"/>
          </a:xfrm>
          <a:prstGeom prst="ellipse">
            <a:avLst/>
          </a:prstGeom>
          <a:solidFill>
            <a:srgbClr val="AA853F"/>
          </a:solidFill>
          <a:ln>
            <a:solidFill>
              <a:srgbClr val="F7F4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dirty="0">
                <a:latin typeface="Jost Black" pitchFamily="2" charset="77"/>
                <a:ea typeface="Jost Black" pitchFamily="2" charset="77"/>
              </a:rPr>
              <a:t>3</a:t>
            </a:r>
          </a:p>
        </p:txBody>
      </p:sp>
      <p:sp>
        <p:nvSpPr>
          <p:cNvPr id="9" name="ZoneTexte 8">
            <a:extLst>
              <a:ext uri="{FF2B5EF4-FFF2-40B4-BE49-F238E27FC236}">
                <a16:creationId xmlns:a16="http://schemas.microsoft.com/office/drawing/2014/main" id="{0E6C834D-1875-514B-F3FC-BEA0EC585C61}"/>
              </a:ext>
            </a:extLst>
          </p:cNvPr>
          <p:cNvSpPr txBox="1"/>
          <p:nvPr/>
        </p:nvSpPr>
        <p:spPr>
          <a:xfrm>
            <a:off x="3218709" y="6561276"/>
            <a:ext cx="6099348" cy="200055"/>
          </a:xfrm>
          <a:prstGeom prst="rect">
            <a:avLst/>
          </a:prstGeom>
          <a:noFill/>
        </p:spPr>
        <p:txBody>
          <a:bodyPr wrap="square">
            <a:spAutoFit/>
          </a:bodyPr>
          <a:lstStyle/>
          <a:p>
            <a:pPr algn="ctr"/>
            <a:r>
              <a:rPr lang="fr-FR" sz="700" i="1" dirty="0">
                <a:solidFill>
                  <a:srgbClr val="6B6B6B"/>
                </a:solidFill>
                <a:latin typeface="Jost Light" pitchFamily="2" charset="77"/>
                <a:ea typeface="Jost Light" pitchFamily="2" charset="77"/>
                <a:cs typeface="Jost Light" pitchFamily="2" charset="77"/>
              </a:rPr>
              <a:t>Investir en Private Equity comporte un risque de perte en capital.</a:t>
            </a:r>
            <a:endParaRPr lang="fr-FR" dirty="0"/>
          </a:p>
        </p:txBody>
      </p:sp>
    </p:spTree>
    <p:extLst>
      <p:ext uri="{BB962C8B-B14F-4D97-AF65-F5344CB8AC3E}">
        <p14:creationId xmlns:p14="http://schemas.microsoft.com/office/powerpoint/2010/main" val="3117916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9500000"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Segments d’investissement et niveaux de risque associés</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9500000" cy="371138"/>
          </a:xfrm>
          <a:prstGeom prst="rect">
            <a:avLst/>
          </a:prstGeom>
          <a:noFill/>
          <a:ln/>
        </p:spPr>
        <p:txBody>
          <a:bodyPr wrap="square" lIns="0" tIns="0" rIns="0" bIns="0" rtlCol="0" anchor="t">
            <a:normAutofit/>
          </a:bodyPr>
          <a:lstStyle/>
          <a:p>
            <a:r>
              <a:rPr lang="fr-FR" sz="2200" b="1" noProof="0" dirty="0">
                <a:solidFill>
                  <a:srgbClr val="A9853F"/>
                </a:solidFill>
                <a:latin typeface="Cormorant Garamond SemiBold" pitchFamily="2" charset="77"/>
                <a:ea typeface="Cormorant Garamond SemiBold" pitchFamily="2" charset="77"/>
                <a:cs typeface="Cormorant Garamond SemiBold" pitchFamily="2" charset="77"/>
              </a:rPr>
              <a:t>Les typologies de fonds de Private Equity</a:t>
            </a:r>
          </a:p>
        </p:txBody>
      </p:sp>
      <p:sp>
        <p:nvSpPr>
          <p:cNvPr id="201" name="Shape 201"/>
          <p:cNvSpPr/>
          <p:nvPr/>
        </p:nvSpPr>
        <p:spPr>
          <a:xfrm>
            <a:off x="947468" y="1780000"/>
            <a:ext cx="2100000" cy="420000"/>
          </a:xfrm>
          <a:prstGeom prst="rect">
            <a:avLst/>
          </a:prstGeom>
          <a:solidFill>
            <a:srgbClr val="001B00"/>
          </a:solidFill>
          <a:ln>
            <a:noFill/>
          </a:ln>
        </p:spPr>
        <p:txBody>
          <a:bodyPr rtlCol="0" anchor="ctr"/>
          <a:lstStyle/>
          <a:p>
            <a:pPr algn="ctr"/>
            <a:endParaRPr lang="fr-FR"/>
          </a:p>
        </p:txBody>
      </p:sp>
      <p:sp>
        <p:nvSpPr>
          <p:cNvPr id="202" name="Table Header 202"/>
          <p:cNvSpPr txBox="1"/>
          <p:nvPr/>
        </p:nvSpPr>
        <p:spPr>
          <a:xfrm>
            <a:off x="1067468" y="1780000"/>
            <a:ext cx="1900000" cy="420000"/>
          </a:xfrm>
          <a:prstGeom prst="rect">
            <a:avLst/>
          </a:prstGeom>
          <a:noFill/>
          <a:ln>
            <a:noFill/>
          </a:ln>
        </p:spPr>
        <p:txBody>
          <a:bodyPr wrap="square" lIns="0" tIns="0" rIns="0" bIns="0" rtlCol="0" anchor="ctr">
            <a:normAutofit/>
          </a:bodyPr>
          <a:lstStyle/>
          <a:p>
            <a:pPr algn="l">
              <a:buNone/>
            </a:pPr>
            <a:r>
              <a:rPr lang="fr-FR" sz="1050" b="1" dirty="0">
                <a:solidFill>
                  <a:srgbClr val="FFFFFF"/>
                </a:solidFill>
                <a:latin typeface="Jost Medium" pitchFamily="2" charset="77"/>
                <a:ea typeface="Jost Medium" pitchFamily="2" charset="77"/>
                <a:cs typeface="Jost Medium" pitchFamily="2" charset="77"/>
              </a:rPr>
              <a:t>Typologie</a:t>
            </a:r>
          </a:p>
        </p:txBody>
      </p:sp>
      <p:sp>
        <p:nvSpPr>
          <p:cNvPr id="203" name="Shape 203"/>
          <p:cNvSpPr/>
          <p:nvPr/>
        </p:nvSpPr>
        <p:spPr>
          <a:xfrm>
            <a:off x="3047468" y="1780000"/>
            <a:ext cx="5700000" cy="420000"/>
          </a:xfrm>
          <a:prstGeom prst="rect">
            <a:avLst/>
          </a:prstGeom>
          <a:solidFill>
            <a:srgbClr val="001B00"/>
          </a:solidFill>
          <a:ln>
            <a:noFill/>
          </a:ln>
        </p:spPr>
        <p:txBody>
          <a:bodyPr rtlCol="0" anchor="ctr"/>
          <a:lstStyle/>
          <a:p>
            <a:pPr algn="ctr"/>
            <a:endParaRPr lang="fr-FR"/>
          </a:p>
        </p:txBody>
      </p:sp>
      <p:sp>
        <p:nvSpPr>
          <p:cNvPr id="204" name="Table Header 204"/>
          <p:cNvSpPr txBox="1"/>
          <p:nvPr/>
        </p:nvSpPr>
        <p:spPr>
          <a:xfrm>
            <a:off x="3167468" y="1780000"/>
            <a:ext cx="5500000" cy="420000"/>
          </a:xfrm>
          <a:prstGeom prst="rect">
            <a:avLst/>
          </a:prstGeom>
          <a:noFill/>
          <a:ln>
            <a:noFill/>
          </a:ln>
        </p:spPr>
        <p:txBody>
          <a:bodyPr wrap="square" lIns="0" tIns="0" rIns="0" bIns="0" rtlCol="0" anchor="ctr">
            <a:normAutofit/>
          </a:bodyPr>
          <a:lstStyle/>
          <a:p>
            <a:pPr algn="l">
              <a:buNone/>
            </a:pPr>
            <a:r>
              <a:rPr lang="fr-FR" sz="1050" b="1" dirty="0">
                <a:solidFill>
                  <a:srgbClr val="FFFFFF"/>
                </a:solidFill>
                <a:latin typeface="Jost Medium" pitchFamily="2" charset="77"/>
                <a:ea typeface="Jost Medium" pitchFamily="2" charset="77"/>
                <a:cs typeface="Jost Medium" pitchFamily="2" charset="77"/>
              </a:rPr>
              <a:t>Description</a:t>
            </a:r>
          </a:p>
        </p:txBody>
      </p:sp>
      <p:sp>
        <p:nvSpPr>
          <p:cNvPr id="205" name="Shape 205"/>
          <p:cNvSpPr/>
          <p:nvPr/>
        </p:nvSpPr>
        <p:spPr>
          <a:xfrm>
            <a:off x="8747468" y="1780000"/>
            <a:ext cx="2944532" cy="420000"/>
          </a:xfrm>
          <a:prstGeom prst="rect">
            <a:avLst/>
          </a:prstGeom>
          <a:solidFill>
            <a:srgbClr val="001B00"/>
          </a:solidFill>
          <a:ln>
            <a:noFill/>
          </a:ln>
        </p:spPr>
        <p:txBody>
          <a:bodyPr rtlCol="0" anchor="ctr"/>
          <a:lstStyle/>
          <a:p>
            <a:pPr algn="ctr"/>
            <a:endParaRPr lang="fr-FR"/>
          </a:p>
        </p:txBody>
      </p:sp>
      <p:sp>
        <p:nvSpPr>
          <p:cNvPr id="206" name="Table Header 206"/>
          <p:cNvSpPr txBox="1"/>
          <p:nvPr/>
        </p:nvSpPr>
        <p:spPr>
          <a:xfrm>
            <a:off x="8867468" y="1780000"/>
            <a:ext cx="2744532" cy="420000"/>
          </a:xfrm>
          <a:prstGeom prst="rect">
            <a:avLst/>
          </a:prstGeom>
          <a:noFill/>
          <a:ln>
            <a:noFill/>
          </a:ln>
        </p:spPr>
        <p:txBody>
          <a:bodyPr wrap="square" lIns="0" tIns="0" rIns="0" bIns="0" rtlCol="0" anchor="ctr">
            <a:normAutofit/>
          </a:bodyPr>
          <a:lstStyle/>
          <a:p>
            <a:pPr algn="l">
              <a:buNone/>
            </a:pPr>
            <a:r>
              <a:rPr lang="fr-FR" sz="1050" b="1" dirty="0">
                <a:solidFill>
                  <a:srgbClr val="FFFFFF"/>
                </a:solidFill>
                <a:latin typeface="Jost Medium" pitchFamily="2" charset="77"/>
                <a:ea typeface="Jost Medium" pitchFamily="2" charset="77"/>
                <a:cs typeface="Jost Medium" pitchFamily="2" charset="77"/>
              </a:rPr>
              <a:t>Niveau de risque (SRRI 1-7)</a:t>
            </a:r>
          </a:p>
        </p:txBody>
      </p:sp>
      <p:sp>
        <p:nvSpPr>
          <p:cNvPr id="207" name="Shape 207"/>
          <p:cNvSpPr/>
          <p:nvPr/>
        </p:nvSpPr>
        <p:spPr>
          <a:xfrm>
            <a:off x="947468" y="2200000"/>
            <a:ext cx="10744532" cy="545000"/>
          </a:xfrm>
          <a:prstGeom prst="rect">
            <a:avLst/>
          </a:prstGeom>
          <a:solidFill>
            <a:srgbClr val="FCF9EF"/>
          </a:solidFill>
          <a:ln>
            <a:noFill/>
          </a:ln>
        </p:spPr>
        <p:txBody>
          <a:bodyPr rtlCol="0" anchor="ctr"/>
          <a:lstStyle/>
          <a:p>
            <a:pPr algn="ctr"/>
            <a:endParaRPr lang="fr-FR"/>
          </a:p>
        </p:txBody>
      </p:sp>
      <p:sp>
        <p:nvSpPr>
          <p:cNvPr id="208" name="Row Typologie 208"/>
          <p:cNvSpPr txBox="1"/>
          <p:nvPr/>
        </p:nvSpPr>
        <p:spPr>
          <a:xfrm>
            <a:off x="1067468" y="2200000"/>
            <a:ext cx="1920000" cy="545000"/>
          </a:xfrm>
          <a:prstGeom prst="rect">
            <a:avLst/>
          </a:prstGeom>
          <a:noFill/>
          <a:ln>
            <a:noFill/>
          </a:ln>
        </p:spPr>
        <p:txBody>
          <a:bodyPr wrap="square" lIns="0" tIns="0" rIns="0" bIns="0" rtlCol="0" anchor="ctr">
            <a:normAutofit/>
          </a:bodyPr>
          <a:lstStyle/>
          <a:p>
            <a:pPr algn="l">
              <a:buNone/>
            </a:pPr>
            <a:r>
              <a:rPr lang="fr-FR" sz="950" b="1" dirty="0">
                <a:solidFill>
                  <a:srgbClr val="001B00"/>
                </a:solidFill>
                <a:latin typeface="Jost Medium" pitchFamily="2" charset="77"/>
                <a:ea typeface="Jost Medium" pitchFamily="2" charset="77"/>
                <a:cs typeface="Jost Medium" pitchFamily="2" charset="77"/>
              </a:rPr>
              <a:t>Capital-risque (Venture)</a:t>
            </a:r>
          </a:p>
        </p:txBody>
      </p:sp>
      <p:sp>
        <p:nvSpPr>
          <p:cNvPr id="209" name="Row Description 209"/>
          <p:cNvSpPr txBox="1"/>
          <p:nvPr/>
        </p:nvSpPr>
        <p:spPr>
          <a:xfrm>
            <a:off x="3147468" y="2200000"/>
            <a:ext cx="5520000" cy="545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Light" pitchFamily="2" charset="77"/>
                <a:ea typeface="Jost Light" pitchFamily="2" charset="77"/>
                <a:cs typeface="Jost Light" pitchFamily="2" charset="77"/>
              </a:rPr>
              <a:t>Start-up en amorçage, fort potentiel mais modèle non prouvé (tech, biotech, greentech).</a:t>
            </a:r>
          </a:p>
        </p:txBody>
      </p:sp>
      <p:sp>
        <p:nvSpPr>
          <p:cNvPr id="210" name="Row Risk 210"/>
          <p:cNvSpPr txBox="1"/>
          <p:nvPr/>
        </p:nvSpPr>
        <p:spPr>
          <a:xfrm>
            <a:off x="8847468" y="2200000"/>
            <a:ext cx="2764532" cy="545000"/>
          </a:xfrm>
          <a:prstGeom prst="rect">
            <a:avLst/>
          </a:prstGeom>
          <a:noFill/>
          <a:ln>
            <a:noFill/>
          </a:ln>
        </p:spPr>
        <p:txBody>
          <a:bodyPr wrap="square" lIns="0" tIns="0" rIns="0" bIns="0" rtlCol="0" anchor="ctr">
            <a:normAutofit/>
          </a:bodyPr>
          <a:lstStyle/>
          <a:p>
            <a:pPr algn="l"/>
            <a:r>
              <a:rPr lang="fr-FR" sz="1100" b="1" dirty="0">
                <a:solidFill>
                  <a:srgbClr val="001B00"/>
                </a:solidFill>
                <a:latin typeface="Cormorant Garamond SemiBold" pitchFamily="2" charset="77"/>
                <a:ea typeface="Cormorant Garamond SemiBold" pitchFamily="2" charset="77"/>
                <a:cs typeface="Cormorant Garamond SemiBold" pitchFamily="2" charset="77"/>
              </a:rPr>
              <a:t>6-7/7</a:t>
            </a:r>
            <a:r>
              <a:rPr lang="fr-FR" sz="900" dirty="0">
                <a:solidFill>
                  <a:srgbClr val="073527"/>
                </a:solidFill>
                <a:latin typeface="Jost Light" pitchFamily="2" charset="77"/>
                <a:ea typeface="Jost Light" pitchFamily="2" charset="77"/>
                <a:cs typeface="Jost Light" pitchFamily="2" charset="77"/>
              </a:rPr>
              <a:t>   Très élevé - (Profil dynamique)</a:t>
            </a:r>
          </a:p>
        </p:txBody>
      </p:sp>
      <p:sp>
        <p:nvSpPr>
          <p:cNvPr id="211" name="Shape 211"/>
          <p:cNvSpPr/>
          <p:nvPr/>
        </p:nvSpPr>
        <p:spPr>
          <a:xfrm>
            <a:off x="947468" y="2745000"/>
            <a:ext cx="10744532" cy="545000"/>
          </a:xfrm>
          <a:prstGeom prst="rect">
            <a:avLst/>
          </a:prstGeom>
          <a:solidFill>
            <a:srgbClr val="E7DCC7"/>
          </a:solidFill>
          <a:ln>
            <a:noFill/>
          </a:ln>
        </p:spPr>
        <p:txBody>
          <a:bodyPr rtlCol="0" anchor="ctr"/>
          <a:lstStyle/>
          <a:p>
            <a:pPr algn="ctr"/>
            <a:endParaRPr lang="fr-FR"/>
          </a:p>
        </p:txBody>
      </p:sp>
      <p:sp>
        <p:nvSpPr>
          <p:cNvPr id="212" name="Row Typologie 212"/>
          <p:cNvSpPr txBox="1"/>
          <p:nvPr/>
        </p:nvSpPr>
        <p:spPr>
          <a:xfrm>
            <a:off x="1067468" y="2745000"/>
            <a:ext cx="1920000" cy="545000"/>
          </a:xfrm>
          <a:prstGeom prst="rect">
            <a:avLst/>
          </a:prstGeom>
          <a:noFill/>
          <a:ln>
            <a:noFill/>
          </a:ln>
        </p:spPr>
        <p:txBody>
          <a:bodyPr wrap="square" lIns="0" tIns="0" rIns="0" bIns="0" rtlCol="0" anchor="ctr">
            <a:normAutofit/>
          </a:bodyPr>
          <a:lstStyle/>
          <a:p>
            <a:pPr algn="l">
              <a:buNone/>
            </a:pPr>
            <a:r>
              <a:rPr lang="fr-FR" sz="950" b="1" dirty="0">
                <a:solidFill>
                  <a:srgbClr val="001B00"/>
                </a:solidFill>
                <a:latin typeface="Jost Medium" pitchFamily="2" charset="77"/>
                <a:ea typeface="Jost Medium" pitchFamily="2" charset="77"/>
                <a:cs typeface="Jost Medium" pitchFamily="2" charset="77"/>
              </a:rPr>
              <a:t>Capital-développement (Growth)</a:t>
            </a:r>
          </a:p>
        </p:txBody>
      </p:sp>
      <p:sp>
        <p:nvSpPr>
          <p:cNvPr id="213" name="Row Description 213"/>
          <p:cNvSpPr txBox="1"/>
          <p:nvPr/>
        </p:nvSpPr>
        <p:spPr>
          <a:xfrm>
            <a:off x="3147468" y="2745000"/>
            <a:ext cx="5520000" cy="545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Light" pitchFamily="2" charset="77"/>
                <a:ea typeface="Jost Light" pitchFamily="2" charset="77"/>
                <a:cs typeface="Jost Light" pitchFamily="2" charset="77"/>
              </a:rPr>
              <a:t>PME/ETI matures en phase d’accélération ou d’expansion.</a:t>
            </a:r>
          </a:p>
        </p:txBody>
      </p:sp>
      <p:sp>
        <p:nvSpPr>
          <p:cNvPr id="214" name="Row Risk 214"/>
          <p:cNvSpPr txBox="1"/>
          <p:nvPr/>
        </p:nvSpPr>
        <p:spPr>
          <a:xfrm>
            <a:off x="8847468" y="2745000"/>
            <a:ext cx="2764532" cy="545000"/>
          </a:xfrm>
          <a:prstGeom prst="rect">
            <a:avLst/>
          </a:prstGeom>
          <a:noFill/>
          <a:ln>
            <a:noFill/>
          </a:ln>
        </p:spPr>
        <p:txBody>
          <a:bodyPr wrap="square" lIns="0" tIns="0" rIns="0" bIns="0" rtlCol="0" anchor="ctr">
            <a:normAutofit/>
          </a:bodyPr>
          <a:lstStyle/>
          <a:p>
            <a:pPr algn="l"/>
            <a:r>
              <a:rPr lang="fr-FR" sz="1100" b="1" dirty="0">
                <a:solidFill>
                  <a:srgbClr val="001B00"/>
                </a:solidFill>
                <a:latin typeface="Cormorant Garamond SemiBold" pitchFamily="2" charset="77"/>
                <a:ea typeface="Cormorant Garamond SemiBold" pitchFamily="2" charset="77"/>
                <a:cs typeface="Cormorant Garamond SemiBold" pitchFamily="2" charset="77"/>
              </a:rPr>
              <a:t>4-5/7</a:t>
            </a:r>
            <a:r>
              <a:rPr lang="fr-FR" sz="900" dirty="0">
                <a:solidFill>
                  <a:srgbClr val="073527"/>
                </a:solidFill>
                <a:latin typeface="Jost Light" pitchFamily="2" charset="77"/>
                <a:ea typeface="Jost Light" pitchFamily="2" charset="77"/>
                <a:cs typeface="Jost Light" pitchFamily="2" charset="77"/>
              </a:rPr>
              <a:t>   Élevé - (Profil dynamique)</a:t>
            </a:r>
          </a:p>
        </p:txBody>
      </p:sp>
      <p:sp>
        <p:nvSpPr>
          <p:cNvPr id="215" name="Shape 215"/>
          <p:cNvSpPr/>
          <p:nvPr/>
        </p:nvSpPr>
        <p:spPr>
          <a:xfrm>
            <a:off x="947468" y="3290000"/>
            <a:ext cx="10744532" cy="545000"/>
          </a:xfrm>
          <a:prstGeom prst="rect">
            <a:avLst/>
          </a:prstGeom>
          <a:solidFill>
            <a:srgbClr val="FCF9EF"/>
          </a:solidFill>
          <a:ln>
            <a:noFill/>
          </a:ln>
        </p:spPr>
        <p:txBody>
          <a:bodyPr rtlCol="0" anchor="ctr"/>
          <a:lstStyle/>
          <a:p>
            <a:pPr algn="ctr"/>
            <a:endParaRPr lang="fr-FR"/>
          </a:p>
        </p:txBody>
      </p:sp>
      <p:sp>
        <p:nvSpPr>
          <p:cNvPr id="216" name="Row Typologie 216"/>
          <p:cNvSpPr txBox="1"/>
          <p:nvPr/>
        </p:nvSpPr>
        <p:spPr>
          <a:xfrm>
            <a:off x="1067468" y="3290000"/>
            <a:ext cx="1920000" cy="545000"/>
          </a:xfrm>
          <a:prstGeom prst="rect">
            <a:avLst/>
          </a:prstGeom>
          <a:noFill/>
          <a:ln>
            <a:noFill/>
          </a:ln>
        </p:spPr>
        <p:txBody>
          <a:bodyPr wrap="square" lIns="0" tIns="0" rIns="0" bIns="0" rtlCol="0" anchor="ctr">
            <a:normAutofit/>
          </a:bodyPr>
          <a:lstStyle/>
          <a:p>
            <a:pPr algn="l">
              <a:buNone/>
            </a:pPr>
            <a:r>
              <a:rPr lang="fr-FR" sz="950" b="1" dirty="0">
                <a:solidFill>
                  <a:srgbClr val="001B00"/>
                </a:solidFill>
                <a:latin typeface="Jost Medium" pitchFamily="2" charset="77"/>
                <a:ea typeface="Jost Medium" pitchFamily="2" charset="77"/>
                <a:cs typeface="Jost Medium" pitchFamily="2" charset="77"/>
              </a:rPr>
              <a:t>LBO / Transmission</a:t>
            </a:r>
          </a:p>
        </p:txBody>
      </p:sp>
      <p:sp>
        <p:nvSpPr>
          <p:cNvPr id="217" name="Row Description 217"/>
          <p:cNvSpPr txBox="1"/>
          <p:nvPr/>
        </p:nvSpPr>
        <p:spPr>
          <a:xfrm>
            <a:off x="3147468" y="3290000"/>
            <a:ext cx="5520000" cy="545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Light" pitchFamily="2" charset="77"/>
                <a:ea typeface="Jost Light" pitchFamily="2" charset="77"/>
                <a:cs typeface="Jost Light" pitchFamily="2" charset="77"/>
              </a:rPr>
              <a:t>Rachat par effet de levier, souvent lors d’une cession ou transmission.</a:t>
            </a:r>
          </a:p>
        </p:txBody>
      </p:sp>
      <p:sp>
        <p:nvSpPr>
          <p:cNvPr id="218" name="Row Risk 218"/>
          <p:cNvSpPr txBox="1"/>
          <p:nvPr/>
        </p:nvSpPr>
        <p:spPr>
          <a:xfrm>
            <a:off x="8847468" y="3290000"/>
            <a:ext cx="2764532" cy="545000"/>
          </a:xfrm>
          <a:prstGeom prst="rect">
            <a:avLst/>
          </a:prstGeom>
          <a:noFill/>
          <a:ln>
            <a:noFill/>
          </a:ln>
        </p:spPr>
        <p:txBody>
          <a:bodyPr wrap="square" lIns="0" tIns="0" rIns="0" bIns="0" rtlCol="0" anchor="ctr">
            <a:normAutofit/>
          </a:bodyPr>
          <a:lstStyle/>
          <a:p>
            <a:r>
              <a:rPr lang="fr-FR" sz="1100" b="1" dirty="0">
                <a:solidFill>
                  <a:srgbClr val="001B00"/>
                </a:solidFill>
                <a:latin typeface="Cormorant Garamond SemiBold" pitchFamily="2" charset="77"/>
                <a:ea typeface="Cormorant Garamond SemiBold" pitchFamily="2" charset="77"/>
                <a:cs typeface="Cormorant Garamond SemiBold" pitchFamily="2" charset="77"/>
              </a:rPr>
              <a:t>4-5/7</a:t>
            </a:r>
            <a:r>
              <a:rPr lang="fr-FR" sz="900" dirty="0">
                <a:solidFill>
                  <a:srgbClr val="073527"/>
                </a:solidFill>
                <a:latin typeface="Jost Light" pitchFamily="2" charset="77"/>
                <a:ea typeface="Jost Light" pitchFamily="2" charset="77"/>
                <a:cs typeface="Jost Light" pitchFamily="2" charset="77"/>
              </a:rPr>
              <a:t>   Élevé - (Profil dynamique)</a:t>
            </a:r>
          </a:p>
        </p:txBody>
      </p:sp>
      <p:sp>
        <p:nvSpPr>
          <p:cNvPr id="219" name="Shape 219"/>
          <p:cNvSpPr/>
          <p:nvPr/>
        </p:nvSpPr>
        <p:spPr>
          <a:xfrm>
            <a:off x="947468" y="3835000"/>
            <a:ext cx="10744532" cy="545000"/>
          </a:xfrm>
          <a:prstGeom prst="rect">
            <a:avLst/>
          </a:prstGeom>
          <a:solidFill>
            <a:srgbClr val="E7DCC7"/>
          </a:solidFill>
          <a:ln>
            <a:noFill/>
          </a:ln>
        </p:spPr>
        <p:txBody>
          <a:bodyPr rtlCol="0" anchor="ctr"/>
          <a:lstStyle/>
          <a:p>
            <a:pPr algn="ctr"/>
            <a:endParaRPr lang="fr-FR"/>
          </a:p>
        </p:txBody>
      </p:sp>
      <p:sp>
        <p:nvSpPr>
          <p:cNvPr id="220" name="Row Typologie 220"/>
          <p:cNvSpPr txBox="1"/>
          <p:nvPr/>
        </p:nvSpPr>
        <p:spPr>
          <a:xfrm>
            <a:off x="1067468" y="3835000"/>
            <a:ext cx="1920000" cy="545000"/>
          </a:xfrm>
          <a:prstGeom prst="rect">
            <a:avLst/>
          </a:prstGeom>
          <a:noFill/>
          <a:ln>
            <a:noFill/>
          </a:ln>
        </p:spPr>
        <p:txBody>
          <a:bodyPr wrap="square" lIns="0" tIns="0" rIns="0" bIns="0" rtlCol="0" anchor="ctr">
            <a:normAutofit/>
          </a:bodyPr>
          <a:lstStyle/>
          <a:p>
            <a:pPr algn="l">
              <a:buNone/>
            </a:pPr>
            <a:r>
              <a:rPr lang="fr-FR" sz="950" b="1" dirty="0">
                <a:solidFill>
                  <a:srgbClr val="001B00"/>
                </a:solidFill>
                <a:latin typeface="Jost Medium" pitchFamily="2" charset="77"/>
                <a:ea typeface="Jost Medium" pitchFamily="2" charset="77"/>
                <a:cs typeface="Jost Medium" pitchFamily="2" charset="77"/>
              </a:rPr>
              <a:t>Capital-retournement</a:t>
            </a:r>
          </a:p>
        </p:txBody>
      </p:sp>
      <p:sp>
        <p:nvSpPr>
          <p:cNvPr id="221" name="Row Description 221"/>
          <p:cNvSpPr txBox="1"/>
          <p:nvPr/>
        </p:nvSpPr>
        <p:spPr>
          <a:xfrm>
            <a:off x="3147468" y="3835000"/>
            <a:ext cx="5520000" cy="545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Light" pitchFamily="2" charset="77"/>
                <a:ea typeface="Jost Light" pitchFamily="2" charset="77"/>
                <a:cs typeface="Jost Light" pitchFamily="2" charset="77"/>
              </a:rPr>
              <a:t>Redressement d’entreprises en difficulté financière ou opérationnelle.</a:t>
            </a:r>
          </a:p>
        </p:txBody>
      </p:sp>
      <p:sp>
        <p:nvSpPr>
          <p:cNvPr id="222" name="Row Risk 222"/>
          <p:cNvSpPr txBox="1"/>
          <p:nvPr/>
        </p:nvSpPr>
        <p:spPr>
          <a:xfrm>
            <a:off x="8847468" y="3835000"/>
            <a:ext cx="2764532" cy="545000"/>
          </a:xfrm>
          <a:prstGeom prst="rect">
            <a:avLst/>
          </a:prstGeom>
          <a:noFill/>
          <a:ln>
            <a:noFill/>
          </a:ln>
        </p:spPr>
        <p:txBody>
          <a:bodyPr wrap="square" lIns="0" tIns="0" rIns="0" bIns="0" rtlCol="0" anchor="ctr">
            <a:normAutofit/>
          </a:bodyPr>
          <a:lstStyle/>
          <a:p>
            <a:r>
              <a:rPr lang="fr-FR" sz="1100" b="1" dirty="0">
                <a:solidFill>
                  <a:srgbClr val="001B00"/>
                </a:solidFill>
                <a:latin typeface="Cormorant Garamond SemiBold" pitchFamily="2" charset="77"/>
                <a:ea typeface="Cormorant Garamond SemiBold" pitchFamily="2" charset="77"/>
                <a:cs typeface="Cormorant Garamond SemiBold" pitchFamily="2" charset="77"/>
              </a:rPr>
              <a:t>6-7/7</a:t>
            </a:r>
            <a:r>
              <a:rPr lang="fr-FR" sz="900" dirty="0">
                <a:solidFill>
                  <a:srgbClr val="073527"/>
                </a:solidFill>
                <a:latin typeface="Jost Light" pitchFamily="2" charset="77"/>
                <a:ea typeface="Jost Light" pitchFamily="2" charset="77"/>
                <a:cs typeface="Jost Light" pitchFamily="2" charset="77"/>
              </a:rPr>
              <a:t>   Très élevé - (Profil dynamique)</a:t>
            </a:r>
          </a:p>
        </p:txBody>
      </p:sp>
      <p:sp>
        <p:nvSpPr>
          <p:cNvPr id="223" name="Shape 223"/>
          <p:cNvSpPr/>
          <p:nvPr/>
        </p:nvSpPr>
        <p:spPr>
          <a:xfrm>
            <a:off x="947468" y="4380000"/>
            <a:ext cx="10744532" cy="545000"/>
          </a:xfrm>
          <a:prstGeom prst="rect">
            <a:avLst/>
          </a:prstGeom>
          <a:solidFill>
            <a:srgbClr val="FCF9EF"/>
          </a:solidFill>
          <a:ln>
            <a:noFill/>
          </a:ln>
        </p:spPr>
        <p:txBody>
          <a:bodyPr rtlCol="0" anchor="ctr"/>
          <a:lstStyle/>
          <a:p>
            <a:pPr algn="ctr"/>
            <a:endParaRPr lang="fr-FR"/>
          </a:p>
        </p:txBody>
      </p:sp>
      <p:sp>
        <p:nvSpPr>
          <p:cNvPr id="224" name="Row Typologie 224"/>
          <p:cNvSpPr txBox="1"/>
          <p:nvPr/>
        </p:nvSpPr>
        <p:spPr>
          <a:xfrm>
            <a:off x="1067468" y="4380000"/>
            <a:ext cx="1920000" cy="545000"/>
          </a:xfrm>
          <a:prstGeom prst="rect">
            <a:avLst/>
          </a:prstGeom>
          <a:noFill/>
          <a:ln>
            <a:noFill/>
          </a:ln>
        </p:spPr>
        <p:txBody>
          <a:bodyPr wrap="square" lIns="0" tIns="0" rIns="0" bIns="0" rtlCol="0" anchor="ctr">
            <a:normAutofit/>
          </a:bodyPr>
          <a:lstStyle/>
          <a:p>
            <a:pPr algn="l">
              <a:buNone/>
            </a:pPr>
            <a:r>
              <a:rPr lang="fr-FR" sz="950" b="1" dirty="0">
                <a:solidFill>
                  <a:srgbClr val="001B00"/>
                </a:solidFill>
                <a:latin typeface="Jost Medium" pitchFamily="2" charset="77"/>
                <a:ea typeface="Jost Medium" pitchFamily="2" charset="77"/>
                <a:cs typeface="Jost Medium" pitchFamily="2" charset="77"/>
              </a:rPr>
              <a:t>Infrastructure</a:t>
            </a:r>
          </a:p>
        </p:txBody>
      </p:sp>
      <p:sp>
        <p:nvSpPr>
          <p:cNvPr id="225" name="Row Description 225"/>
          <p:cNvSpPr txBox="1"/>
          <p:nvPr/>
        </p:nvSpPr>
        <p:spPr>
          <a:xfrm>
            <a:off x="3147468" y="4380000"/>
            <a:ext cx="5520000" cy="545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Light" pitchFamily="2" charset="77"/>
                <a:ea typeface="Jost Light" pitchFamily="2" charset="77"/>
                <a:cs typeface="Jost Light" pitchFamily="2" charset="77"/>
              </a:rPr>
              <a:t>Actifs d’énergie, télécoms, transport - flux de trésorerie récurrents.</a:t>
            </a:r>
          </a:p>
        </p:txBody>
      </p:sp>
      <p:sp>
        <p:nvSpPr>
          <p:cNvPr id="226" name="Row Risk 226"/>
          <p:cNvSpPr txBox="1"/>
          <p:nvPr/>
        </p:nvSpPr>
        <p:spPr>
          <a:xfrm>
            <a:off x="8847468" y="4380000"/>
            <a:ext cx="2764532" cy="545000"/>
          </a:xfrm>
          <a:prstGeom prst="rect">
            <a:avLst/>
          </a:prstGeom>
          <a:noFill/>
          <a:ln>
            <a:noFill/>
          </a:ln>
        </p:spPr>
        <p:txBody>
          <a:bodyPr wrap="square" lIns="0" tIns="0" rIns="0" bIns="0" rtlCol="0" anchor="ctr">
            <a:normAutofit/>
          </a:bodyPr>
          <a:lstStyle/>
          <a:p>
            <a:pPr algn="l"/>
            <a:r>
              <a:rPr lang="fr-FR" sz="1100" b="1" dirty="0">
                <a:solidFill>
                  <a:srgbClr val="001B00"/>
                </a:solidFill>
                <a:latin typeface="Cormorant Garamond SemiBold" pitchFamily="2" charset="77"/>
                <a:ea typeface="Cormorant Garamond SemiBold" pitchFamily="2" charset="77"/>
                <a:cs typeface="Cormorant Garamond SemiBold" pitchFamily="2" charset="77"/>
              </a:rPr>
              <a:t>3-4/7</a:t>
            </a:r>
            <a:r>
              <a:rPr lang="fr-FR" sz="900" dirty="0">
                <a:solidFill>
                  <a:srgbClr val="073527"/>
                </a:solidFill>
                <a:latin typeface="Jost Light" pitchFamily="2" charset="77"/>
                <a:ea typeface="Jost Light" pitchFamily="2" charset="77"/>
                <a:cs typeface="Jost Light" pitchFamily="2" charset="77"/>
              </a:rPr>
              <a:t>   Modéré – (Profil équilibré / opportuniste) </a:t>
            </a:r>
          </a:p>
        </p:txBody>
      </p:sp>
      <p:sp>
        <p:nvSpPr>
          <p:cNvPr id="227" name="Shape 227"/>
          <p:cNvSpPr/>
          <p:nvPr/>
        </p:nvSpPr>
        <p:spPr>
          <a:xfrm>
            <a:off x="947468" y="4925000"/>
            <a:ext cx="10744532" cy="545000"/>
          </a:xfrm>
          <a:prstGeom prst="rect">
            <a:avLst/>
          </a:prstGeom>
          <a:solidFill>
            <a:srgbClr val="E7DCC7"/>
          </a:solidFill>
          <a:ln>
            <a:noFill/>
          </a:ln>
        </p:spPr>
        <p:txBody>
          <a:bodyPr rtlCol="0" anchor="ctr"/>
          <a:lstStyle/>
          <a:p>
            <a:pPr algn="ctr"/>
            <a:endParaRPr lang="fr-FR"/>
          </a:p>
        </p:txBody>
      </p:sp>
      <p:sp>
        <p:nvSpPr>
          <p:cNvPr id="228" name="Row Typologie 228"/>
          <p:cNvSpPr txBox="1"/>
          <p:nvPr/>
        </p:nvSpPr>
        <p:spPr>
          <a:xfrm>
            <a:off x="1067468" y="4925000"/>
            <a:ext cx="1920000" cy="545000"/>
          </a:xfrm>
          <a:prstGeom prst="rect">
            <a:avLst/>
          </a:prstGeom>
          <a:noFill/>
          <a:ln>
            <a:noFill/>
          </a:ln>
        </p:spPr>
        <p:txBody>
          <a:bodyPr wrap="square" lIns="0" tIns="0" rIns="0" bIns="0" rtlCol="0" anchor="ctr">
            <a:normAutofit/>
          </a:bodyPr>
          <a:lstStyle/>
          <a:p>
            <a:pPr algn="l">
              <a:buNone/>
            </a:pPr>
            <a:r>
              <a:rPr lang="fr-FR" sz="950" b="1" dirty="0">
                <a:solidFill>
                  <a:srgbClr val="001B00"/>
                </a:solidFill>
                <a:latin typeface="Jost Medium" pitchFamily="2" charset="77"/>
                <a:ea typeface="Jost Medium" pitchFamily="2" charset="77"/>
                <a:cs typeface="Jost Medium" pitchFamily="2" charset="77"/>
              </a:rPr>
              <a:t>Dette privée</a:t>
            </a:r>
          </a:p>
        </p:txBody>
      </p:sp>
      <p:sp>
        <p:nvSpPr>
          <p:cNvPr id="229" name="Row Description 229"/>
          <p:cNvSpPr txBox="1"/>
          <p:nvPr/>
        </p:nvSpPr>
        <p:spPr>
          <a:xfrm>
            <a:off x="3147468" y="4925000"/>
            <a:ext cx="5520000" cy="545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Light" pitchFamily="2" charset="77"/>
                <a:ea typeface="Jost Light" pitchFamily="2" charset="77"/>
                <a:cs typeface="Jost Light" pitchFamily="2" charset="77"/>
              </a:rPr>
              <a:t>Financement direct des entreprises, en complément du crédit bancaire.</a:t>
            </a:r>
          </a:p>
        </p:txBody>
      </p:sp>
      <p:sp>
        <p:nvSpPr>
          <p:cNvPr id="230" name="Row Risk 230"/>
          <p:cNvSpPr txBox="1"/>
          <p:nvPr/>
        </p:nvSpPr>
        <p:spPr>
          <a:xfrm>
            <a:off x="8847468" y="4925000"/>
            <a:ext cx="2764532" cy="545000"/>
          </a:xfrm>
          <a:prstGeom prst="rect">
            <a:avLst/>
          </a:prstGeom>
          <a:noFill/>
          <a:ln>
            <a:noFill/>
          </a:ln>
        </p:spPr>
        <p:txBody>
          <a:bodyPr wrap="square" lIns="0" tIns="0" rIns="0" bIns="0" rtlCol="0" anchor="ctr">
            <a:normAutofit/>
          </a:bodyPr>
          <a:lstStyle/>
          <a:p>
            <a:pPr algn="l"/>
            <a:r>
              <a:rPr lang="fr-FR" sz="1100" b="1" dirty="0">
                <a:solidFill>
                  <a:srgbClr val="001B00"/>
                </a:solidFill>
                <a:latin typeface="Cormorant Garamond SemiBold" pitchFamily="2" charset="77"/>
                <a:ea typeface="Cormorant Garamond SemiBold" pitchFamily="2" charset="77"/>
                <a:cs typeface="Cormorant Garamond SemiBold" pitchFamily="2" charset="77"/>
              </a:rPr>
              <a:t>3-4/7</a:t>
            </a:r>
            <a:r>
              <a:rPr lang="fr-FR" sz="900" dirty="0">
                <a:solidFill>
                  <a:srgbClr val="073527"/>
                </a:solidFill>
                <a:latin typeface="Jost Light" pitchFamily="2" charset="77"/>
                <a:ea typeface="Jost Light" pitchFamily="2" charset="77"/>
                <a:cs typeface="Jost Light" pitchFamily="2" charset="77"/>
              </a:rPr>
              <a:t>   Modéré (Profil équilibré / opportuniste)</a:t>
            </a:r>
          </a:p>
        </p:txBody>
      </p:sp>
      <p:sp>
        <p:nvSpPr>
          <p:cNvPr id="231" name="Shape 231"/>
          <p:cNvSpPr/>
          <p:nvPr/>
        </p:nvSpPr>
        <p:spPr>
          <a:xfrm>
            <a:off x="947468" y="5470000"/>
            <a:ext cx="10744532" cy="545000"/>
          </a:xfrm>
          <a:prstGeom prst="rect">
            <a:avLst/>
          </a:prstGeom>
          <a:solidFill>
            <a:srgbClr val="FCF9EF"/>
          </a:solidFill>
          <a:ln>
            <a:noFill/>
          </a:ln>
        </p:spPr>
        <p:txBody>
          <a:bodyPr rtlCol="0" anchor="ctr"/>
          <a:lstStyle/>
          <a:p>
            <a:pPr algn="ctr"/>
            <a:endParaRPr lang="fr-FR"/>
          </a:p>
        </p:txBody>
      </p:sp>
      <p:sp>
        <p:nvSpPr>
          <p:cNvPr id="232" name="Row Typologie 232"/>
          <p:cNvSpPr txBox="1"/>
          <p:nvPr/>
        </p:nvSpPr>
        <p:spPr>
          <a:xfrm>
            <a:off x="1067468" y="5470000"/>
            <a:ext cx="1920000" cy="545000"/>
          </a:xfrm>
          <a:prstGeom prst="rect">
            <a:avLst/>
          </a:prstGeom>
          <a:noFill/>
          <a:ln>
            <a:noFill/>
          </a:ln>
        </p:spPr>
        <p:txBody>
          <a:bodyPr wrap="square" lIns="0" tIns="0" rIns="0" bIns="0" rtlCol="0" anchor="ctr">
            <a:normAutofit/>
          </a:bodyPr>
          <a:lstStyle/>
          <a:p>
            <a:pPr algn="l">
              <a:buNone/>
            </a:pPr>
            <a:r>
              <a:rPr lang="fr-FR" sz="950" b="1" dirty="0">
                <a:solidFill>
                  <a:srgbClr val="001B00"/>
                </a:solidFill>
                <a:latin typeface="Jost Medium" pitchFamily="2" charset="77"/>
                <a:ea typeface="Jost Medium" pitchFamily="2" charset="77"/>
                <a:cs typeface="Jost Medium" pitchFamily="2" charset="77"/>
              </a:rPr>
              <a:t>Fonds secondaires</a:t>
            </a:r>
          </a:p>
        </p:txBody>
      </p:sp>
      <p:sp>
        <p:nvSpPr>
          <p:cNvPr id="233" name="Row Description 233"/>
          <p:cNvSpPr txBox="1"/>
          <p:nvPr/>
        </p:nvSpPr>
        <p:spPr>
          <a:xfrm>
            <a:off x="3147468" y="5470000"/>
            <a:ext cx="5520000" cy="545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Light" pitchFamily="2" charset="77"/>
                <a:ea typeface="Jost Light" pitchFamily="2" charset="77"/>
                <a:cs typeface="Jost Light" pitchFamily="2" charset="77"/>
              </a:rPr>
              <a:t>Rachat de parts de fonds existants - réduit la durée et la « courbe en J ».</a:t>
            </a:r>
          </a:p>
        </p:txBody>
      </p:sp>
      <p:sp>
        <p:nvSpPr>
          <p:cNvPr id="234" name="Row Risk 234"/>
          <p:cNvSpPr txBox="1"/>
          <p:nvPr/>
        </p:nvSpPr>
        <p:spPr>
          <a:xfrm>
            <a:off x="8847468" y="5470000"/>
            <a:ext cx="2764532" cy="545000"/>
          </a:xfrm>
          <a:prstGeom prst="rect">
            <a:avLst/>
          </a:prstGeom>
          <a:noFill/>
          <a:ln>
            <a:noFill/>
          </a:ln>
        </p:spPr>
        <p:txBody>
          <a:bodyPr wrap="square" lIns="0" tIns="0" rIns="0" bIns="0" rtlCol="0" anchor="ctr">
            <a:normAutofit/>
          </a:bodyPr>
          <a:lstStyle/>
          <a:p>
            <a:pPr algn="l"/>
            <a:r>
              <a:rPr lang="fr-FR" sz="1100" b="1" dirty="0">
                <a:solidFill>
                  <a:srgbClr val="001B00"/>
                </a:solidFill>
                <a:latin typeface="Cormorant Garamond SemiBold" pitchFamily="2" charset="77"/>
                <a:ea typeface="Cormorant Garamond SemiBold" pitchFamily="2" charset="77"/>
                <a:cs typeface="Cormorant Garamond SemiBold" pitchFamily="2" charset="77"/>
              </a:rPr>
              <a:t>3-4/7</a:t>
            </a:r>
            <a:r>
              <a:rPr lang="fr-FR" sz="900" dirty="0">
                <a:solidFill>
                  <a:srgbClr val="073527"/>
                </a:solidFill>
                <a:latin typeface="Jost Light" pitchFamily="2" charset="77"/>
                <a:ea typeface="Jost Light" pitchFamily="2" charset="77"/>
                <a:cs typeface="Jost Light" pitchFamily="2" charset="77"/>
              </a:rPr>
              <a:t>   Modéré (Profil équilibré / opportuniste)</a:t>
            </a:r>
          </a:p>
        </p:txBody>
      </p:sp>
      <p:sp>
        <p:nvSpPr>
          <p:cNvPr id="235" name="Footnote 235"/>
          <p:cNvSpPr txBox="1"/>
          <p:nvPr/>
        </p:nvSpPr>
        <p:spPr>
          <a:xfrm>
            <a:off x="947468" y="6375676"/>
            <a:ext cx="10744532" cy="500000"/>
          </a:xfrm>
          <a:prstGeom prst="rect">
            <a:avLst/>
          </a:prstGeom>
          <a:noFill/>
          <a:ln>
            <a:noFill/>
          </a:ln>
        </p:spPr>
        <p:txBody>
          <a:bodyPr wrap="square" lIns="0" tIns="0" rIns="0" bIns="0" rtlCol="0" anchor="t">
            <a:normAutofit/>
          </a:bodyPr>
          <a:lstStyle/>
          <a:p>
            <a:pPr algn="ctr">
              <a:spcAft>
                <a:spcPts val="200"/>
              </a:spcAft>
              <a:buNone/>
            </a:pPr>
            <a:r>
              <a:rPr lang="fr-FR" sz="700" i="1" dirty="0">
                <a:solidFill>
                  <a:srgbClr val="6B6B6B"/>
                </a:solidFill>
                <a:latin typeface="Jost Light" pitchFamily="2" charset="77"/>
                <a:ea typeface="Jost Light" pitchFamily="2" charset="77"/>
                <a:cs typeface="Jost Light" pitchFamily="2" charset="77"/>
              </a:rPr>
              <a:t>L’indicateur SRI (Synthèse du Risque et du Rendement) va de 1 (risque le plus faible) à 7 (risque le plus élevé), selon la réglementation PRIIPs.</a:t>
            </a:r>
          </a:p>
          <a:p>
            <a:pPr algn="ctr">
              <a:buNone/>
            </a:pPr>
            <a:r>
              <a:rPr lang="fr-FR" sz="700" i="1" dirty="0">
                <a:solidFill>
                  <a:srgbClr val="6B6B6B"/>
                </a:solidFill>
                <a:latin typeface="Jost Light" pitchFamily="2" charset="77"/>
                <a:ea typeface="Jost Light" pitchFamily="2" charset="77"/>
                <a:cs typeface="Jost Light" pitchFamily="2" charset="77"/>
              </a:rPr>
              <a:t>Niveaux indicatifs, variables selon les fonds. Investir en Private Equity comporte un risque de perte en capital.</a:t>
            </a:r>
          </a:p>
        </p:txBody>
      </p:sp>
    </p:spTree>
    <p:extLst>
      <p:ext uri="{BB962C8B-B14F-4D97-AF65-F5344CB8AC3E}">
        <p14:creationId xmlns:p14="http://schemas.microsoft.com/office/powerpoint/2010/main" val="5509781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9800000"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Lisser le décalage entre investissement et performance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98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La courbe en J : pourquoi privilégier les fonds secondaires</a:t>
            </a:r>
          </a:p>
        </p:txBody>
      </p:sp>
      <p:sp>
        <p:nvSpPr>
          <p:cNvPr id="201" name="Shape 201"/>
          <p:cNvSpPr/>
          <p:nvPr/>
        </p:nvSpPr>
        <p:spPr>
          <a:xfrm>
            <a:off x="947468" y="1870000"/>
            <a:ext cx="6900000" cy="3350000"/>
          </a:xfrm>
          <a:prstGeom prst="rect">
            <a:avLst/>
          </a:prstGeom>
          <a:solidFill>
            <a:srgbClr val="FCF9EF"/>
          </a:solidFill>
          <a:ln>
            <a:noFill/>
          </a:ln>
        </p:spPr>
        <p:txBody>
          <a:bodyPr rtlCol="0" anchor="ctr"/>
          <a:lstStyle/>
          <a:p>
            <a:pPr algn="ctr"/>
            <a:endParaRPr lang="fr-FR"/>
          </a:p>
        </p:txBody>
      </p:sp>
      <p:cxnSp>
        <p:nvCxnSpPr>
          <p:cNvPr id="202" name="Zero Line"/>
          <p:cNvCxnSpPr/>
          <p:nvPr/>
        </p:nvCxnSpPr>
        <p:spPr>
          <a:xfrm>
            <a:off x="947468" y="4431764"/>
            <a:ext cx="6900000" cy="0"/>
          </a:xfrm>
          <a:prstGeom prst="line">
            <a:avLst/>
          </a:prstGeom>
          <a:ln w="12700">
            <a:solidFill>
              <a:srgbClr val="6B6B6B"/>
            </a:solidFill>
            <a:prstDash val="dash"/>
          </a:ln>
        </p:spPr>
      </p:cxnSp>
      <p:sp>
        <p:nvSpPr>
          <p:cNvPr id="203" name="Zero Label 203"/>
          <p:cNvSpPr txBox="1"/>
          <p:nvPr/>
        </p:nvSpPr>
        <p:spPr>
          <a:xfrm>
            <a:off x="5947468" y="4171764"/>
            <a:ext cx="1850000" cy="240000"/>
          </a:xfrm>
          <a:prstGeom prst="rect">
            <a:avLst/>
          </a:prstGeom>
          <a:noFill/>
          <a:ln>
            <a:noFill/>
          </a:ln>
        </p:spPr>
        <p:txBody>
          <a:bodyPr wrap="square" lIns="0" tIns="0" rIns="0" bIns="0" rtlCol="0" anchor="b">
            <a:normAutofit/>
          </a:bodyPr>
          <a:lstStyle/>
          <a:p>
            <a:pPr algn="r">
              <a:buNone/>
            </a:pPr>
            <a:r>
              <a:rPr lang="fr-FR" sz="800" i="1" dirty="0">
                <a:solidFill>
                  <a:srgbClr val="6B6B6B"/>
                </a:solidFill>
                <a:latin typeface="Jost Light" pitchFamily="2" charset="77"/>
                <a:ea typeface="Jost Light" pitchFamily="2" charset="77"/>
                <a:cs typeface="Jost Light" pitchFamily="2" charset="77"/>
              </a:rPr>
              <a:t>Seuil de rentabilité</a:t>
            </a:r>
          </a:p>
        </p:txBody>
      </p:sp>
      <p:sp>
        <p:nvSpPr>
          <p:cNvPr id="204" name="Line 204"/>
          <p:cNvSpPr/>
          <p:nvPr/>
        </p:nvSpPr>
        <p:spPr>
          <a:xfrm>
            <a:off x="947468" y="1870000"/>
            <a:ext cx="6900000" cy="3350000"/>
          </a:xfrm>
          <a:custGeom>
            <a:avLst/>
            <a:gdLst/>
            <a:ahLst/>
            <a:cxnLst/>
            <a:rect l="0" t="0" r="0" b="0"/>
            <a:pathLst>
              <a:path w="6900000" h="3350000" fill="none">
                <a:moveTo>
                  <a:pt x="0" y="2561764"/>
                </a:moveTo>
                <a:lnTo>
                  <a:pt x="690000" y="2877058"/>
                </a:lnTo>
                <a:lnTo>
                  <a:pt x="1380000" y="3152941"/>
                </a:lnTo>
                <a:lnTo>
                  <a:pt x="2070000" y="3074117"/>
                </a:lnTo>
                <a:lnTo>
                  <a:pt x="2760000" y="2798235"/>
                </a:lnTo>
                <a:lnTo>
                  <a:pt x="3450000" y="2404117"/>
                </a:lnTo>
                <a:lnTo>
                  <a:pt x="4140000" y="1812941"/>
                </a:lnTo>
                <a:lnTo>
                  <a:pt x="4830000" y="1221764"/>
                </a:lnTo>
                <a:lnTo>
                  <a:pt x="5520000" y="709411"/>
                </a:lnTo>
                <a:lnTo>
                  <a:pt x="6210000" y="315294"/>
                </a:lnTo>
                <a:lnTo>
                  <a:pt x="6900000" y="0"/>
                </a:lnTo>
              </a:path>
            </a:pathLst>
          </a:custGeom>
          <a:noFill/>
          <a:ln w="28575" cap="rnd">
            <a:solidFill>
              <a:srgbClr val="A9853F"/>
            </a:solidFill>
            <a:round/>
          </a:ln>
        </p:spPr>
        <p:txBody>
          <a:bodyPr/>
          <a:lstStyle/>
          <a:p>
            <a:endParaRPr lang="fr-FR"/>
          </a:p>
        </p:txBody>
      </p:sp>
      <p:sp>
        <p:nvSpPr>
          <p:cNvPr id="205" name="Line 205"/>
          <p:cNvSpPr/>
          <p:nvPr/>
        </p:nvSpPr>
        <p:spPr>
          <a:xfrm>
            <a:off x="947468" y="1870000"/>
            <a:ext cx="6900000" cy="3350000"/>
          </a:xfrm>
          <a:custGeom>
            <a:avLst/>
            <a:gdLst/>
            <a:ahLst/>
            <a:cxnLst/>
            <a:rect l="0" t="0" r="0" b="0"/>
            <a:pathLst>
              <a:path w="6900000" h="3350000" fill="none">
                <a:moveTo>
                  <a:pt x="0" y="2680000"/>
                </a:moveTo>
                <a:lnTo>
                  <a:pt x="690000" y="2482941"/>
                </a:lnTo>
                <a:lnTo>
                  <a:pt x="1380000" y="2167647"/>
                </a:lnTo>
                <a:lnTo>
                  <a:pt x="2070000" y="1812941"/>
                </a:lnTo>
                <a:lnTo>
                  <a:pt x="2760000" y="1458235"/>
                </a:lnTo>
                <a:lnTo>
                  <a:pt x="3450000" y="1103529"/>
                </a:lnTo>
                <a:lnTo>
                  <a:pt x="4140000" y="827647"/>
                </a:lnTo>
                <a:lnTo>
                  <a:pt x="4830000" y="630588"/>
                </a:lnTo>
                <a:lnTo>
                  <a:pt x="5520000" y="472941"/>
                </a:lnTo>
                <a:lnTo>
                  <a:pt x="6210000" y="315294"/>
                </a:lnTo>
                <a:lnTo>
                  <a:pt x="6900000" y="197058"/>
                </a:lnTo>
              </a:path>
            </a:pathLst>
          </a:custGeom>
          <a:noFill/>
          <a:ln w="28575" cap="rnd">
            <a:solidFill>
              <a:srgbClr val="001B00"/>
            </a:solidFill>
            <a:round/>
          </a:ln>
        </p:spPr>
        <p:txBody>
          <a:bodyPr/>
          <a:lstStyle/>
          <a:p>
            <a:endParaRPr lang="fr-FR"/>
          </a:p>
        </p:txBody>
      </p:sp>
      <p:sp>
        <p:nvSpPr>
          <p:cNvPr id="206" name="X Label 206"/>
          <p:cNvSpPr txBox="1"/>
          <p:nvPr/>
        </p:nvSpPr>
        <p:spPr>
          <a:xfrm>
            <a:off x="697468" y="5280000"/>
            <a:ext cx="500000" cy="240000"/>
          </a:xfrm>
          <a:prstGeom prst="rect">
            <a:avLst/>
          </a:prstGeom>
          <a:noFill/>
          <a:ln>
            <a:noFill/>
          </a:ln>
        </p:spPr>
        <p:txBody>
          <a:bodyPr wrap="square" lIns="0" tIns="0" rIns="0" bIns="0" rtlCol="0" anchor="t">
            <a:normAutofit/>
          </a:bodyPr>
          <a:lstStyle/>
          <a:p>
            <a:pPr algn="ctr">
              <a:buNone/>
            </a:pPr>
            <a:r>
              <a:rPr lang="fr-FR" sz="800" dirty="0">
                <a:solidFill>
                  <a:srgbClr val="6B6B6B"/>
                </a:solidFill>
                <a:latin typeface="Jost Light" pitchFamily="2" charset="77"/>
                <a:ea typeface="Jost Light" pitchFamily="2" charset="77"/>
                <a:cs typeface="Jost Light" pitchFamily="2" charset="77"/>
              </a:rPr>
              <a:t>Année 0</a:t>
            </a:r>
          </a:p>
        </p:txBody>
      </p:sp>
      <p:sp>
        <p:nvSpPr>
          <p:cNvPr id="207" name="X Label 207"/>
          <p:cNvSpPr txBox="1"/>
          <p:nvPr/>
        </p:nvSpPr>
        <p:spPr>
          <a:xfrm>
            <a:off x="2077468" y="5280000"/>
            <a:ext cx="500000" cy="240000"/>
          </a:xfrm>
          <a:prstGeom prst="rect">
            <a:avLst/>
          </a:prstGeom>
          <a:noFill/>
          <a:ln>
            <a:noFill/>
          </a:ln>
        </p:spPr>
        <p:txBody>
          <a:bodyPr wrap="square" lIns="0" tIns="0" rIns="0" bIns="0" rtlCol="0" anchor="t">
            <a:normAutofit/>
          </a:bodyPr>
          <a:lstStyle/>
          <a:p>
            <a:pPr algn="ctr">
              <a:buNone/>
            </a:pPr>
            <a:r>
              <a:rPr lang="fr-FR" sz="800" dirty="0">
                <a:solidFill>
                  <a:srgbClr val="6B6B6B"/>
                </a:solidFill>
                <a:latin typeface="Jost Light" pitchFamily="2" charset="77"/>
                <a:ea typeface="Jost Light" pitchFamily="2" charset="77"/>
                <a:cs typeface="Jost Light" pitchFamily="2" charset="77"/>
              </a:rPr>
              <a:t>2</a:t>
            </a:r>
          </a:p>
        </p:txBody>
      </p:sp>
      <p:sp>
        <p:nvSpPr>
          <p:cNvPr id="208" name="X Label 208"/>
          <p:cNvSpPr txBox="1"/>
          <p:nvPr/>
        </p:nvSpPr>
        <p:spPr>
          <a:xfrm>
            <a:off x="3457468" y="5280000"/>
            <a:ext cx="500000" cy="240000"/>
          </a:xfrm>
          <a:prstGeom prst="rect">
            <a:avLst/>
          </a:prstGeom>
          <a:noFill/>
          <a:ln>
            <a:noFill/>
          </a:ln>
        </p:spPr>
        <p:txBody>
          <a:bodyPr wrap="square" lIns="0" tIns="0" rIns="0" bIns="0" rtlCol="0" anchor="t">
            <a:normAutofit/>
          </a:bodyPr>
          <a:lstStyle/>
          <a:p>
            <a:pPr algn="ctr">
              <a:buNone/>
            </a:pPr>
            <a:r>
              <a:rPr lang="fr-FR" sz="800" dirty="0">
                <a:solidFill>
                  <a:srgbClr val="6B6B6B"/>
                </a:solidFill>
                <a:latin typeface="Jost Light" pitchFamily="2" charset="77"/>
                <a:ea typeface="Jost Light" pitchFamily="2" charset="77"/>
                <a:cs typeface="Jost Light" pitchFamily="2" charset="77"/>
              </a:rPr>
              <a:t>4</a:t>
            </a:r>
          </a:p>
        </p:txBody>
      </p:sp>
      <p:sp>
        <p:nvSpPr>
          <p:cNvPr id="209" name="X Label 209"/>
          <p:cNvSpPr txBox="1"/>
          <p:nvPr/>
        </p:nvSpPr>
        <p:spPr>
          <a:xfrm>
            <a:off x="4837468" y="5280000"/>
            <a:ext cx="500000" cy="240000"/>
          </a:xfrm>
          <a:prstGeom prst="rect">
            <a:avLst/>
          </a:prstGeom>
          <a:noFill/>
          <a:ln>
            <a:noFill/>
          </a:ln>
        </p:spPr>
        <p:txBody>
          <a:bodyPr wrap="square" lIns="0" tIns="0" rIns="0" bIns="0" rtlCol="0" anchor="t">
            <a:normAutofit/>
          </a:bodyPr>
          <a:lstStyle/>
          <a:p>
            <a:pPr algn="ctr">
              <a:buNone/>
            </a:pPr>
            <a:r>
              <a:rPr lang="fr-FR" sz="800" dirty="0">
                <a:solidFill>
                  <a:srgbClr val="6B6B6B"/>
                </a:solidFill>
                <a:latin typeface="Jost Light" pitchFamily="2" charset="77"/>
                <a:ea typeface="Jost Light" pitchFamily="2" charset="77"/>
                <a:cs typeface="Jost Light" pitchFamily="2" charset="77"/>
              </a:rPr>
              <a:t>6</a:t>
            </a:r>
          </a:p>
        </p:txBody>
      </p:sp>
      <p:sp>
        <p:nvSpPr>
          <p:cNvPr id="210" name="X Label 210"/>
          <p:cNvSpPr txBox="1"/>
          <p:nvPr/>
        </p:nvSpPr>
        <p:spPr>
          <a:xfrm>
            <a:off x="6217468" y="5280000"/>
            <a:ext cx="500000" cy="240000"/>
          </a:xfrm>
          <a:prstGeom prst="rect">
            <a:avLst/>
          </a:prstGeom>
          <a:noFill/>
          <a:ln>
            <a:noFill/>
          </a:ln>
        </p:spPr>
        <p:txBody>
          <a:bodyPr wrap="square" lIns="0" tIns="0" rIns="0" bIns="0" rtlCol="0" anchor="t">
            <a:normAutofit/>
          </a:bodyPr>
          <a:lstStyle/>
          <a:p>
            <a:pPr algn="ctr">
              <a:buNone/>
            </a:pPr>
            <a:r>
              <a:rPr lang="fr-FR" sz="800" dirty="0">
                <a:solidFill>
                  <a:srgbClr val="6B6B6B"/>
                </a:solidFill>
                <a:latin typeface="Jost Light" pitchFamily="2" charset="77"/>
                <a:ea typeface="Jost Light" pitchFamily="2" charset="77"/>
                <a:cs typeface="Jost Light" pitchFamily="2" charset="77"/>
              </a:rPr>
              <a:t>8</a:t>
            </a:r>
          </a:p>
        </p:txBody>
      </p:sp>
      <p:sp>
        <p:nvSpPr>
          <p:cNvPr id="211" name="X Label 211"/>
          <p:cNvSpPr txBox="1"/>
          <p:nvPr/>
        </p:nvSpPr>
        <p:spPr>
          <a:xfrm>
            <a:off x="7597468" y="5280000"/>
            <a:ext cx="500000" cy="240000"/>
          </a:xfrm>
          <a:prstGeom prst="rect">
            <a:avLst/>
          </a:prstGeom>
          <a:noFill/>
          <a:ln>
            <a:noFill/>
          </a:ln>
        </p:spPr>
        <p:txBody>
          <a:bodyPr wrap="square" lIns="0" tIns="0" rIns="0" bIns="0" rtlCol="0" anchor="t">
            <a:normAutofit/>
          </a:bodyPr>
          <a:lstStyle/>
          <a:p>
            <a:pPr algn="ctr">
              <a:buNone/>
            </a:pPr>
            <a:r>
              <a:rPr lang="fr-FR" sz="800" dirty="0">
                <a:solidFill>
                  <a:srgbClr val="6B6B6B"/>
                </a:solidFill>
                <a:latin typeface="Jost Light" pitchFamily="2" charset="77"/>
                <a:ea typeface="Jost Light" pitchFamily="2" charset="77"/>
                <a:cs typeface="Jost Light" pitchFamily="2" charset="77"/>
              </a:rPr>
              <a:t>Année 10</a:t>
            </a:r>
          </a:p>
        </p:txBody>
      </p:sp>
      <p:sp>
        <p:nvSpPr>
          <p:cNvPr id="212" name="Shape 212"/>
          <p:cNvSpPr/>
          <p:nvPr/>
        </p:nvSpPr>
        <p:spPr>
          <a:xfrm>
            <a:off x="947468" y="1570000"/>
            <a:ext cx="260000" cy="60000"/>
          </a:xfrm>
          <a:prstGeom prst="rect">
            <a:avLst/>
          </a:prstGeom>
          <a:solidFill>
            <a:srgbClr val="A9853F"/>
          </a:solidFill>
          <a:ln>
            <a:noFill/>
          </a:ln>
        </p:spPr>
        <p:txBody>
          <a:bodyPr rtlCol="0" anchor="ctr"/>
          <a:lstStyle/>
          <a:p>
            <a:pPr algn="ctr"/>
            <a:endParaRPr lang="fr-FR"/>
          </a:p>
        </p:txBody>
      </p:sp>
      <p:sp>
        <p:nvSpPr>
          <p:cNvPr id="213" name="Legend1 213"/>
          <p:cNvSpPr txBox="1"/>
          <p:nvPr/>
        </p:nvSpPr>
        <p:spPr>
          <a:xfrm>
            <a:off x="1267468" y="1450000"/>
            <a:ext cx="2400000" cy="300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Medium" pitchFamily="2" charset="77"/>
                <a:ea typeface="Jost Medium" pitchFamily="2" charset="77"/>
                <a:cs typeface="Jost Medium" pitchFamily="2" charset="77"/>
              </a:rPr>
              <a:t>Fonds primaire (classique)</a:t>
            </a:r>
          </a:p>
        </p:txBody>
      </p:sp>
      <p:sp>
        <p:nvSpPr>
          <p:cNvPr id="214" name="Shape 214"/>
          <p:cNvSpPr/>
          <p:nvPr/>
        </p:nvSpPr>
        <p:spPr>
          <a:xfrm>
            <a:off x="3947468" y="1570000"/>
            <a:ext cx="260000" cy="60000"/>
          </a:xfrm>
          <a:prstGeom prst="rect">
            <a:avLst/>
          </a:prstGeom>
          <a:solidFill>
            <a:srgbClr val="001B00"/>
          </a:solidFill>
          <a:ln>
            <a:noFill/>
          </a:ln>
        </p:spPr>
        <p:txBody>
          <a:bodyPr rtlCol="0" anchor="ctr"/>
          <a:lstStyle/>
          <a:p>
            <a:pPr algn="ctr"/>
            <a:endParaRPr lang="fr-FR"/>
          </a:p>
        </p:txBody>
      </p:sp>
      <p:sp>
        <p:nvSpPr>
          <p:cNvPr id="215" name="Legend2 215"/>
          <p:cNvSpPr txBox="1"/>
          <p:nvPr/>
        </p:nvSpPr>
        <p:spPr>
          <a:xfrm>
            <a:off x="4267468" y="1450000"/>
            <a:ext cx="2400000" cy="300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Medium" pitchFamily="2" charset="77"/>
                <a:ea typeface="Jost Medium" pitchFamily="2" charset="77"/>
                <a:cs typeface="Jost Medium" pitchFamily="2" charset="77"/>
              </a:rPr>
              <a:t>Fonds secondaire</a:t>
            </a:r>
          </a:p>
        </p:txBody>
      </p:sp>
      <p:sp>
        <p:nvSpPr>
          <p:cNvPr id="216" name="Explain 216"/>
          <p:cNvSpPr txBox="1"/>
          <p:nvPr/>
        </p:nvSpPr>
        <p:spPr>
          <a:xfrm>
            <a:off x="947468" y="5670338"/>
            <a:ext cx="6900000" cy="550000"/>
          </a:xfrm>
          <a:prstGeom prst="rect">
            <a:avLst/>
          </a:prstGeom>
          <a:noFill/>
          <a:ln>
            <a:noFill/>
          </a:ln>
        </p:spPr>
        <p:txBody>
          <a:bodyPr wrap="square" lIns="0" tIns="0" rIns="0" bIns="0" rtlCol="0" anchor="t">
            <a:normAutofit/>
          </a:bodyPr>
          <a:lstStyle/>
          <a:p>
            <a:pPr algn="l">
              <a:buNone/>
            </a:pPr>
            <a:r>
              <a:rPr lang="fr-FR" sz="900" dirty="0">
                <a:solidFill>
                  <a:srgbClr val="073527"/>
                </a:solidFill>
                <a:latin typeface="Jost Light" pitchFamily="2" charset="77"/>
                <a:ea typeface="Jost Light" pitchFamily="2" charset="77"/>
                <a:cs typeface="Jost Light" pitchFamily="2" charset="77"/>
              </a:rPr>
              <a:t>Dans un fonds primaire, les premières années cumulent appels de fonds et frais de gestion sans distribution en contrepartie : la valeur apparente baisse avant de remonter avec les premières cessions.</a:t>
            </a:r>
          </a:p>
        </p:txBody>
      </p:sp>
      <p:sp>
        <p:nvSpPr>
          <p:cNvPr id="217" name="Shape 217"/>
          <p:cNvSpPr/>
          <p:nvPr/>
        </p:nvSpPr>
        <p:spPr>
          <a:xfrm>
            <a:off x="8179426" y="2266882"/>
            <a:ext cx="3524532" cy="500000"/>
          </a:xfrm>
          <a:prstGeom prst="round2SameRect">
            <a:avLst>
              <a:gd name="adj1" fmla="val 34509"/>
              <a:gd name="adj2" fmla="val 0"/>
            </a:avLst>
          </a:prstGeom>
          <a:solidFill>
            <a:srgbClr val="001B00"/>
          </a:solidFill>
          <a:ln>
            <a:noFill/>
          </a:ln>
        </p:spPr>
        <p:txBody>
          <a:bodyPr rtlCol="0" anchor="ctr"/>
          <a:lstStyle/>
          <a:p>
            <a:pPr algn="ctr"/>
            <a:endParaRPr lang="fr-FR"/>
          </a:p>
        </p:txBody>
      </p:sp>
      <p:sp>
        <p:nvSpPr>
          <p:cNvPr id="218" name="Right Header 218"/>
          <p:cNvSpPr txBox="1"/>
          <p:nvPr/>
        </p:nvSpPr>
        <p:spPr>
          <a:xfrm>
            <a:off x="8179426" y="2285078"/>
            <a:ext cx="3502000" cy="394219"/>
          </a:xfrm>
          <a:prstGeom prst="round2SameRect">
            <a:avLst>
              <a:gd name="adj1" fmla="val 34509"/>
              <a:gd name="adj2" fmla="val 0"/>
            </a:avLst>
          </a:prstGeom>
          <a:noFill/>
          <a:ln>
            <a:noFill/>
          </a:ln>
        </p:spPr>
        <p:txBody>
          <a:bodyPr wrap="square" lIns="0" tIns="0" rIns="0" bIns="0" rtlCol="0" anchor="ctr">
            <a:normAutofit/>
          </a:bodyPr>
          <a:lstStyle/>
          <a:p>
            <a:pPr algn="ctr">
              <a:buNone/>
            </a:pPr>
            <a:r>
              <a:rPr lang="fr-FR" sz="1000" b="1" dirty="0">
                <a:solidFill>
                  <a:srgbClr val="FFFFFF"/>
                </a:solidFill>
                <a:latin typeface="Jost Medium" pitchFamily="2" charset="77"/>
                <a:ea typeface="Jost Medium" pitchFamily="2" charset="77"/>
                <a:cs typeface="Jost Medium" pitchFamily="2" charset="77"/>
              </a:rPr>
              <a:t>Pourquoi les fonds secondaires limitent la courbe en J</a:t>
            </a:r>
          </a:p>
        </p:txBody>
      </p:sp>
      <p:sp>
        <p:nvSpPr>
          <p:cNvPr id="219" name="Shape 219"/>
          <p:cNvSpPr/>
          <p:nvPr/>
        </p:nvSpPr>
        <p:spPr>
          <a:xfrm>
            <a:off x="8179426" y="2778496"/>
            <a:ext cx="3524532" cy="2111368"/>
          </a:xfrm>
          <a:prstGeom prst="rect">
            <a:avLst/>
          </a:prstGeom>
          <a:solidFill>
            <a:srgbClr val="E7DCC7"/>
          </a:solidFill>
          <a:ln>
            <a:noFill/>
          </a:ln>
        </p:spPr>
        <p:txBody>
          <a:bodyPr rtlCol="0" anchor="ctr"/>
          <a:lstStyle/>
          <a:p>
            <a:pPr algn="ctr"/>
            <a:endParaRPr lang="fr-FR"/>
          </a:p>
        </p:txBody>
      </p:sp>
      <p:sp>
        <p:nvSpPr>
          <p:cNvPr id="220" name="Right Body 220"/>
          <p:cNvSpPr txBox="1"/>
          <p:nvPr/>
        </p:nvSpPr>
        <p:spPr>
          <a:xfrm>
            <a:off x="8429426" y="2991185"/>
            <a:ext cx="3084532" cy="3460000"/>
          </a:xfrm>
          <a:prstGeom prst="rect">
            <a:avLst/>
          </a:prstGeom>
          <a:noFill/>
          <a:ln>
            <a:noFill/>
          </a:ln>
        </p:spPr>
        <p:txBody>
          <a:bodyPr wrap="square" lIns="0" tIns="0" rIns="0" bIns="0" rtlCol="0" anchor="t">
            <a:normAutofit/>
          </a:bodyPr>
          <a:lstStyle/>
          <a:p>
            <a:pPr marL="182880" indent="-182880" algn="l">
              <a:spcAft>
                <a:spcPts val="450"/>
              </a:spcAft>
              <a:buFont typeface="Wingdings" pitchFamily="2" charset="2"/>
              <a:buChar char="§"/>
            </a:pPr>
            <a:r>
              <a:rPr lang="fr-FR" sz="950" dirty="0">
                <a:solidFill>
                  <a:srgbClr val="073527"/>
                </a:solidFill>
                <a:latin typeface="Jost Light" pitchFamily="2" charset="77"/>
                <a:ea typeface="Jost Light" pitchFamily="2" charset="77"/>
              </a:rPr>
              <a:t>Actifs déjà identifiés et en partie valorisés : pas de période « à l’aveugle » (blind pool).</a:t>
            </a:r>
          </a:p>
          <a:p>
            <a:pPr marL="182880" indent="-182880">
              <a:spcAft>
                <a:spcPts val="450"/>
              </a:spcAft>
              <a:buFont typeface="Wingdings" pitchFamily="2" charset="2"/>
              <a:buChar char="§"/>
            </a:pPr>
            <a:r>
              <a:rPr lang="fr-FR" sz="950" dirty="0">
                <a:solidFill>
                  <a:srgbClr val="073527"/>
                </a:solidFill>
                <a:latin typeface="Jost Light" pitchFamily="2" charset="77"/>
                <a:ea typeface="Jost Light" pitchFamily="2" charset="77"/>
              </a:rPr>
              <a:t>Achat souvent à décote sur la valeur nette d’inventaire (NAV) du portefeuille.</a:t>
            </a:r>
          </a:p>
          <a:p>
            <a:pPr marL="182880" indent="-182880">
              <a:spcAft>
                <a:spcPts val="450"/>
              </a:spcAft>
              <a:buFont typeface="Wingdings" pitchFamily="2" charset="2"/>
              <a:buChar char="§"/>
            </a:pPr>
            <a:r>
              <a:rPr lang="fr-FR" sz="950" dirty="0">
                <a:solidFill>
                  <a:srgbClr val="073527"/>
                </a:solidFill>
                <a:latin typeface="Jost Light" pitchFamily="2" charset="77"/>
                <a:ea typeface="Jost Light" pitchFamily="2" charset="77"/>
              </a:rPr>
              <a:t>Premières distributions plus rapides : le DPI progresse plus tôt.</a:t>
            </a:r>
          </a:p>
          <a:p>
            <a:pPr marL="182880" indent="-182880">
              <a:spcAft>
                <a:spcPts val="450"/>
              </a:spcAft>
              <a:buFont typeface="Wingdings" pitchFamily="2" charset="2"/>
              <a:buChar char="§"/>
            </a:pPr>
            <a:r>
              <a:rPr lang="fr-FR" sz="950" dirty="0">
                <a:solidFill>
                  <a:srgbClr val="073527"/>
                </a:solidFill>
                <a:latin typeface="Jost Light" pitchFamily="2" charset="77"/>
                <a:ea typeface="Jost Light" pitchFamily="2" charset="77"/>
              </a:rPr>
              <a:t>Diversification immédiate sur plusieurs millésimes, gérants et géographies.</a:t>
            </a:r>
          </a:p>
          <a:p>
            <a:pPr marL="182880" indent="-182880">
              <a:spcAft>
                <a:spcPts val="450"/>
              </a:spcAft>
              <a:buFont typeface="Wingdings" pitchFamily="2" charset="2"/>
              <a:buChar char="§"/>
            </a:pPr>
            <a:r>
              <a:rPr lang="fr-FR" sz="950" dirty="0">
                <a:solidFill>
                  <a:srgbClr val="073527"/>
                </a:solidFill>
                <a:latin typeface="Jost Light" pitchFamily="2" charset="77"/>
                <a:ea typeface="Jost Light" pitchFamily="2" charset="77"/>
              </a:rPr>
              <a:t>Durée de détention résiduelle plus courte que sur un fonds primaire (entre 7 à 8 - 10 ans).</a:t>
            </a:r>
          </a:p>
        </p:txBody>
      </p:sp>
      <p:sp>
        <p:nvSpPr>
          <p:cNvPr id="221" name="Footnote 221"/>
          <p:cNvSpPr txBox="1"/>
          <p:nvPr/>
        </p:nvSpPr>
        <p:spPr>
          <a:xfrm>
            <a:off x="947468" y="6560000"/>
            <a:ext cx="10744532" cy="260000"/>
          </a:xfrm>
          <a:prstGeom prst="rect">
            <a:avLst/>
          </a:prstGeom>
          <a:noFill/>
          <a:ln>
            <a:noFill/>
          </a:ln>
        </p:spPr>
        <p:txBody>
          <a:bodyPr wrap="square" lIns="0" tIns="0" rIns="0" bIns="0" rtlCol="0" anchor="t">
            <a:normAutofit/>
          </a:bodyPr>
          <a:lstStyle/>
          <a:p>
            <a:pPr algn="ctr">
              <a:buNone/>
            </a:pPr>
            <a:r>
              <a:rPr lang="fr-FR" sz="800" i="1" dirty="0">
                <a:solidFill>
                  <a:srgbClr val="6B6B6B"/>
                </a:solidFill>
                <a:latin typeface="Jost Light" pitchFamily="2" charset="77"/>
                <a:ea typeface="Jost Light" pitchFamily="2" charset="77"/>
                <a:cs typeface="Jost Light" pitchFamily="2" charset="77"/>
              </a:rPr>
              <a:t>Courbes illustratives, à but pédagogique. Les résultats réels varient selon les fonds, millésimes et gérants. Performances passées non garanties, risque de perte en capital.</a:t>
            </a:r>
          </a:p>
        </p:txBody>
      </p:sp>
    </p:spTree>
    <p:extLst>
      <p:ext uri="{BB962C8B-B14F-4D97-AF65-F5344CB8AC3E}">
        <p14:creationId xmlns:p14="http://schemas.microsoft.com/office/powerpoint/2010/main" val="13913156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47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200000"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TRI net des fonds de LBO européens vs indice action coté, depuis le XXIe siècle.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2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LBO européen vs MSCI Europe : l’écart se creuse dans la durée</a:t>
            </a:r>
          </a:p>
        </p:txBody>
      </p:sp>
      <p:sp>
        <p:nvSpPr>
          <p:cNvPr id="201" name="Shape 201"/>
          <p:cNvSpPr/>
          <p:nvPr/>
        </p:nvSpPr>
        <p:spPr>
          <a:xfrm>
            <a:off x="947468" y="1870000"/>
            <a:ext cx="6900000" cy="3350000"/>
          </a:xfrm>
          <a:prstGeom prst="rect">
            <a:avLst/>
          </a:prstGeom>
          <a:solidFill>
            <a:srgbClr val="FCF9EF"/>
          </a:solidFill>
          <a:ln>
            <a:noFill/>
          </a:ln>
        </p:spPr>
        <p:txBody>
          <a:bodyPr rtlCol="0" anchor="ctr"/>
          <a:lstStyle/>
          <a:p>
            <a:pPr algn="ctr"/>
            <a:endParaRPr lang="fr-FR"/>
          </a:p>
        </p:txBody>
      </p:sp>
      <p:cxnSp>
        <p:nvCxnSpPr>
          <p:cNvPr id="202" name="Grid 100"/>
          <p:cNvCxnSpPr/>
          <p:nvPr/>
        </p:nvCxnSpPr>
        <p:spPr>
          <a:xfrm>
            <a:off x="947468" y="4825882"/>
            <a:ext cx="6900000" cy="0"/>
          </a:xfrm>
          <a:prstGeom prst="line">
            <a:avLst/>
          </a:prstGeom>
          <a:ln w="9525">
            <a:solidFill>
              <a:srgbClr val="E7DCC7"/>
            </a:solidFill>
          </a:ln>
        </p:spPr>
      </p:cxnSp>
      <p:sp>
        <p:nvSpPr>
          <p:cNvPr id="203" name="Grid Label 203"/>
          <p:cNvSpPr txBox="1"/>
          <p:nvPr/>
        </p:nvSpPr>
        <p:spPr>
          <a:xfrm>
            <a:off x="327468" y="4715882"/>
            <a:ext cx="560000" cy="220000"/>
          </a:xfrm>
          <a:prstGeom prst="rect">
            <a:avLst/>
          </a:prstGeom>
          <a:noFill/>
          <a:ln>
            <a:noFill/>
          </a:ln>
        </p:spPr>
        <p:txBody>
          <a:bodyPr wrap="square" lIns="0" tIns="0" rIns="0" bIns="0" rtlCol="0" anchor="ctr">
            <a:normAutofit/>
          </a:bodyPr>
          <a:lstStyle/>
          <a:p>
            <a:pPr algn="r">
              <a:buNone/>
            </a:pPr>
            <a:r>
              <a:rPr lang="fr-FR" sz="750" dirty="0">
                <a:solidFill>
                  <a:srgbClr val="6B6B6B"/>
                </a:solidFill>
                <a:latin typeface="Jost Light" pitchFamily="2" charset="77"/>
                <a:ea typeface="Jost Light" pitchFamily="2" charset="77"/>
                <a:cs typeface="Jost Light" pitchFamily="2" charset="77"/>
              </a:rPr>
              <a:t>100</a:t>
            </a:r>
          </a:p>
        </p:txBody>
      </p:sp>
      <p:cxnSp>
        <p:nvCxnSpPr>
          <p:cNvPr id="204" name="Grid 300"/>
          <p:cNvCxnSpPr/>
          <p:nvPr/>
        </p:nvCxnSpPr>
        <p:spPr>
          <a:xfrm>
            <a:off x="947468" y="4037647"/>
            <a:ext cx="6900000" cy="0"/>
          </a:xfrm>
          <a:prstGeom prst="line">
            <a:avLst/>
          </a:prstGeom>
          <a:ln w="9525">
            <a:solidFill>
              <a:srgbClr val="E7DCC7"/>
            </a:solidFill>
          </a:ln>
        </p:spPr>
      </p:cxnSp>
      <p:sp>
        <p:nvSpPr>
          <p:cNvPr id="205" name="Grid Label 205"/>
          <p:cNvSpPr txBox="1"/>
          <p:nvPr/>
        </p:nvSpPr>
        <p:spPr>
          <a:xfrm>
            <a:off x="327468" y="3927647"/>
            <a:ext cx="560000" cy="220000"/>
          </a:xfrm>
          <a:prstGeom prst="rect">
            <a:avLst/>
          </a:prstGeom>
          <a:noFill/>
          <a:ln>
            <a:noFill/>
          </a:ln>
        </p:spPr>
        <p:txBody>
          <a:bodyPr wrap="square" lIns="0" tIns="0" rIns="0" bIns="0" rtlCol="0" anchor="ctr">
            <a:normAutofit/>
          </a:bodyPr>
          <a:lstStyle/>
          <a:p>
            <a:pPr algn="r">
              <a:buNone/>
            </a:pPr>
            <a:r>
              <a:rPr lang="fr-FR" sz="750" dirty="0">
                <a:solidFill>
                  <a:srgbClr val="6B6B6B"/>
                </a:solidFill>
                <a:latin typeface="Jost Light" pitchFamily="2" charset="77"/>
                <a:ea typeface="Jost Light" pitchFamily="2" charset="77"/>
                <a:cs typeface="Jost Light" pitchFamily="2" charset="77"/>
              </a:rPr>
              <a:t>300</a:t>
            </a:r>
          </a:p>
        </p:txBody>
      </p:sp>
      <p:cxnSp>
        <p:nvCxnSpPr>
          <p:cNvPr id="206" name="Grid 500"/>
          <p:cNvCxnSpPr/>
          <p:nvPr/>
        </p:nvCxnSpPr>
        <p:spPr>
          <a:xfrm>
            <a:off x="1097468" y="3418582"/>
            <a:ext cx="6900000" cy="0"/>
          </a:xfrm>
          <a:prstGeom prst="line">
            <a:avLst/>
          </a:prstGeom>
          <a:ln w="9525">
            <a:solidFill>
              <a:srgbClr val="E7DCC7"/>
            </a:solidFill>
          </a:ln>
        </p:spPr>
      </p:cxnSp>
      <p:sp>
        <p:nvSpPr>
          <p:cNvPr id="207" name="Grid Label 207"/>
          <p:cNvSpPr txBox="1"/>
          <p:nvPr/>
        </p:nvSpPr>
        <p:spPr>
          <a:xfrm>
            <a:off x="327468" y="3139411"/>
            <a:ext cx="560000" cy="220000"/>
          </a:xfrm>
          <a:prstGeom prst="rect">
            <a:avLst/>
          </a:prstGeom>
          <a:noFill/>
          <a:ln>
            <a:noFill/>
          </a:ln>
        </p:spPr>
        <p:txBody>
          <a:bodyPr wrap="square" lIns="0" tIns="0" rIns="0" bIns="0" rtlCol="0" anchor="ctr">
            <a:normAutofit/>
          </a:bodyPr>
          <a:lstStyle/>
          <a:p>
            <a:pPr algn="r">
              <a:buNone/>
            </a:pPr>
            <a:r>
              <a:rPr lang="fr-FR" sz="750" dirty="0">
                <a:solidFill>
                  <a:srgbClr val="6B6B6B"/>
                </a:solidFill>
                <a:latin typeface="Jost Light" pitchFamily="2" charset="77"/>
                <a:ea typeface="Jost Light" pitchFamily="2" charset="77"/>
                <a:cs typeface="Jost Light" pitchFamily="2" charset="77"/>
              </a:rPr>
              <a:t>500</a:t>
            </a:r>
          </a:p>
        </p:txBody>
      </p:sp>
      <p:cxnSp>
        <p:nvCxnSpPr>
          <p:cNvPr id="208" name="Grid 700"/>
          <p:cNvCxnSpPr/>
          <p:nvPr/>
        </p:nvCxnSpPr>
        <p:spPr>
          <a:xfrm>
            <a:off x="947468" y="2461176"/>
            <a:ext cx="6900000" cy="0"/>
          </a:xfrm>
          <a:prstGeom prst="line">
            <a:avLst/>
          </a:prstGeom>
          <a:ln w="9525">
            <a:solidFill>
              <a:srgbClr val="E7DCC7"/>
            </a:solidFill>
          </a:ln>
        </p:spPr>
      </p:cxnSp>
      <p:sp>
        <p:nvSpPr>
          <p:cNvPr id="209" name="Grid Label 209"/>
          <p:cNvSpPr txBox="1"/>
          <p:nvPr/>
        </p:nvSpPr>
        <p:spPr>
          <a:xfrm>
            <a:off x="327468" y="2351176"/>
            <a:ext cx="560000" cy="220000"/>
          </a:xfrm>
          <a:prstGeom prst="rect">
            <a:avLst/>
          </a:prstGeom>
          <a:noFill/>
          <a:ln>
            <a:noFill/>
          </a:ln>
        </p:spPr>
        <p:txBody>
          <a:bodyPr wrap="square" lIns="0" tIns="0" rIns="0" bIns="0" rtlCol="0" anchor="ctr">
            <a:normAutofit/>
          </a:bodyPr>
          <a:lstStyle/>
          <a:p>
            <a:pPr algn="r">
              <a:buNone/>
            </a:pPr>
            <a:r>
              <a:rPr lang="fr-FR" sz="750" dirty="0">
                <a:solidFill>
                  <a:srgbClr val="6B6B6B"/>
                </a:solidFill>
                <a:latin typeface="Jost Light" pitchFamily="2" charset="77"/>
                <a:ea typeface="Jost Light" pitchFamily="2" charset="77"/>
                <a:cs typeface="Jost Light" pitchFamily="2" charset="77"/>
              </a:rPr>
              <a:t>700</a:t>
            </a:r>
          </a:p>
        </p:txBody>
      </p:sp>
      <p:sp>
        <p:nvSpPr>
          <p:cNvPr id="210" name="Line 210"/>
          <p:cNvSpPr/>
          <p:nvPr/>
        </p:nvSpPr>
        <p:spPr>
          <a:xfrm>
            <a:off x="947468" y="1870000"/>
            <a:ext cx="6900000" cy="3350000"/>
          </a:xfrm>
          <a:custGeom>
            <a:avLst/>
            <a:gdLst/>
            <a:ahLst/>
            <a:cxnLst/>
            <a:rect l="0" t="0" r="0" b="0"/>
            <a:pathLst>
              <a:path w="6900000" h="3350000" fill="none">
                <a:moveTo>
                  <a:pt x="0" y="2955882"/>
                </a:moveTo>
                <a:lnTo>
                  <a:pt x="460000" y="2933023"/>
                </a:lnTo>
                <a:lnTo>
                  <a:pt x="920000" y="2908838"/>
                </a:lnTo>
                <a:lnTo>
                  <a:pt x="1380000" y="2883251"/>
                </a:lnTo>
                <a:lnTo>
                  <a:pt x="1840000" y="2856180"/>
                </a:lnTo>
                <a:lnTo>
                  <a:pt x="2300000" y="2827538"/>
                </a:lnTo>
                <a:lnTo>
                  <a:pt x="2760000" y="2797235"/>
                </a:lnTo>
                <a:lnTo>
                  <a:pt x="3220000" y="2765175"/>
                </a:lnTo>
                <a:lnTo>
                  <a:pt x="3680000" y="2731255"/>
                </a:lnTo>
                <a:lnTo>
                  <a:pt x="4140000" y="2695368"/>
                </a:lnTo>
                <a:lnTo>
                  <a:pt x="4600000" y="2657399"/>
                </a:lnTo>
                <a:lnTo>
                  <a:pt x="5060000" y="2617229"/>
                </a:lnTo>
                <a:lnTo>
                  <a:pt x="5520000" y="2574728"/>
                </a:lnTo>
                <a:lnTo>
                  <a:pt x="5980000" y="2529762"/>
                </a:lnTo>
                <a:lnTo>
                  <a:pt x="6440000" y="2482188"/>
                </a:lnTo>
                <a:lnTo>
                  <a:pt x="6900000" y="2431855"/>
                </a:lnTo>
              </a:path>
            </a:pathLst>
          </a:custGeom>
          <a:noFill/>
          <a:ln w="32000" cap="rnd">
            <a:solidFill>
              <a:srgbClr val="A9853F"/>
            </a:solidFill>
            <a:round/>
          </a:ln>
        </p:spPr>
        <p:txBody>
          <a:bodyPr/>
          <a:lstStyle/>
          <a:p>
            <a:endParaRPr lang="fr-FR"/>
          </a:p>
        </p:txBody>
      </p:sp>
      <p:sp>
        <p:nvSpPr>
          <p:cNvPr id="211" name="Line 211"/>
          <p:cNvSpPr/>
          <p:nvPr/>
        </p:nvSpPr>
        <p:spPr>
          <a:xfrm>
            <a:off x="947468" y="1870000"/>
            <a:ext cx="6900000" cy="3350000"/>
          </a:xfrm>
          <a:custGeom>
            <a:avLst/>
            <a:gdLst/>
            <a:ahLst/>
            <a:cxnLst/>
            <a:rect l="0" t="0" r="0" b="0"/>
            <a:pathLst>
              <a:path w="6900000" h="3350000" fill="none">
                <a:moveTo>
                  <a:pt x="0" y="2955882"/>
                </a:moveTo>
                <a:lnTo>
                  <a:pt x="460000" y="2896764"/>
                </a:lnTo>
                <a:lnTo>
                  <a:pt x="920000" y="2828779"/>
                </a:lnTo>
                <a:lnTo>
                  <a:pt x="1380000" y="2750596"/>
                </a:lnTo>
                <a:lnTo>
                  <a:pt x="1840000" y="2660685"/>
                </a:lnTo>
                <a:lnTo>
                  <a:pt x="2300000" y="2557288"/>
                </a:lnTo>
                <a:lnTo>
                  <a:pt x="2760000" y="2438381"/>
                </a:lnTo>
                <a:lnTo>
                  <a:pt x="3220000" y="2301639"/>
                </a:lnTo>
                <a:lnTo>
                  <a:pt x="3680000" y="2144385"/>
                </a:lnTo>
                <a:lnTo>
                  <a:pt x="4140000" y="1963542"/>
                </a:lnTo>
                <a:lnTo>
                  <a:pt x="4600000" y="1755574"/>
                </a:lnTo>
                <a:lnTo>
                  <a:pt x="5060000" y="1516410"/>
                </a:lnTo>
                <a:lnTo>
                  <a:pt x="5520000" y="1241372"/>
                </a:lnTo>
                <a:lnTo>
                  <a:pt x="5980000" y="925077"/>
                </a:lnTo>
                <a:lnTo>
                  <a:pt x="6440000" y="561339"/>
                </a:lnTo>
                <a:lnTo>
                  <a:pt x="6900000" y="143040"/>
                </a:lnTo>
              </a:path>
            </a:pathLst>
          </a:custGeom>
          <a:noFill/>
          <a:ln w="32000" cap="rnd">
            <a:solidFill>
              <a:srgbClr val="001B00"/>
            </a:solidFill>
            <a:round/>
          </a:ln>
        </p:spPr>
        <p:txBody>
          <a:bodyPr/>
          <a:lstStyle/>
          <a:p>
            <a:endParaRPr lang="fr-FR"/>
          </a:p>
        </p:txBody>
      </p:sp>
      <p:sp>
        <p:nvSpPr>
          <p:cNvPr id="212" name="LBO End Label 212"/>
          <p:cNvSpPr txBox="1"/>
          <p:nvPr/>
        </p:nvSpPr>
        <p:spPr>
          <a:xfrm>
            <a:off x="6947468" y="1693040"/>
            <a:ext cx="900000" cy="300000"/>
          </a:xfrm>
          <a:prstGeom prst="rect">
            <a:avLst/>
          </a:prstGeom>
          <a:noFill/>
          <a:ln>
            <a:noFill/>
          </a:ln>
        </p:spPr>
        <p:txBody>
          <a:bodyPr wrap="square" lIns="0" tIns="0" rIns="0" bIns="0" rtlCol="0" anchor="b">
            <a:normAutofit/>
          </a:bodyPr>
          <a:lstStyle/>
          <a:p>
            <a:pPr algn="r">
              <a:buNone/>
            </a:pPr>
            <a:r>
              <a:rPr lang="fr-FR" sz="1200" b="1" dirty="0">
                <a:solidFill>
                  <a:srgbClr val="001B00"/>
                </a:solidFill>
                <a:latin typeface="Cormorant Garamond SemiBold" pitchFamily="2" charset="77"/>
                <a:ea typeface="Cormorant Garamond SemiBold" pitchFamily="2" charset="77"/>
                <a:cs typeface="Cormorant Garamond SemiBold" pitchFamily="2" charset="77"/>
              </a:rPr>
              <a:t>814</a:t>
            </a:r>
          </a:p>
        </p:txBody>
      </p:sp>
      <p:sp>
        <p:nvSpPr>
          <p:cNvPr id="213" name="MSCI End Label 213"/>
          <p:cNvSpPr txBox="1"/>
          <p:nvPr/>
        </p:nvSpPr>
        <p:spPr>
          <a:xfrm>
            <a:off x="6947468" y="4341855"/>
            <a:ext cx="900000" cy="300000"/>
          </a:xfrm>
          <a:prstGeom prst="rect">
            <a:avLst/>
          </a:prstGeom>
          <a:noFill/>
          <a:ln>
            <a:noFill/>
          </a:ln>
        </p:spPr>
        <p:txBody>
          <a:bodyPr wrap="square" lIns="0" tIns="0" rIns="0" bIns="0" rtlCol="0" anchor="t">
            <a:normAutofit/>
          </a:bodyPr>
          <a:lstStyle/>
          <a:p>
            <a:pPr algn="r">
              <a:buNone/>
            </a:pPr>
            <a:r>
              <a:rPr lang="fr-FR" sz="1200" b="1" dirty="0">
                <a:solidFill>
                  <a:srgbClr val="A9853F"/>
                </a:solidFill>
                <a:latin typeface="Cormorant Garamond SemiBold" pitchFamily="2" charset="77"/>
                <a:ea typeface="Cormorant Garamond SemiBold" pitchFamily="2" charset="77"/>
                <a:cs typeface="Cormorant Garamond SemiBold" pitchFamily="2" charset="77"/>
              </a:rPr>
              <a:t>233</a:t>
            </a:r>
          </a:p>
        </p:txBody>
      </p:sp>
      <p:sp>
        <p:nvSpPr>
          <p:cNvPr id="214" name="X Label 214"/>
          <p:cNvSpPr txBox="1"/>
          <p:nvPr/>
        </p:nvSpPr>
        <p:spPr>
          <a:xfrm>
            <a:off x="647468" y="5280000"/>
            <a:ext cx="600000" cy="240000"/>
          </a:xfrm>
          <a:prstGeom prst="rect">
            <a:avLst/>
          </a:prstGeom>
          <a:noFill/>
          <a:ln>
            <a:noFill/>
          </a:ln>
        </p:spPr>
        <p:txBody>
          <a:bodyPr wrap="square" lIns="0" tIns="0" rIns="0" bIns="0" rtlCol="0" anchor="t">
            <a:normAutofit/>
          </a:bodyPr>
          <a:lstStyle/>
          <a:p>
            <a:pPr algn="ctr">
              <a:buNone/>
            </a:pPr>
            <a:r>
              <a:rPr lang="fr-FR" sz="800" dirty="0">
                <a:solidFill>
                  <a:srgbClr val="6B6B6B"/>
                </a:solidFill>
                <a:latin typeface="Jost Light" pitchFamily="2" charset="77"/>
                <a:ea typeface="Jost Light" pitchFamily="2" charset="77"/>
                <a:cs typeface="Jost Light" pitchFamily="2" charset="77"/>
              </a:rPr>
              <a:t>Année 0</a:t>
            </a:r>
          </a:p>
        </p:txBody>
      </p:sp>
      <p:sp>
        <p:nvSpPr>
          <p:cNvPr id="215" name="X Label 215"/>
          <p:cNvSpPr txBox="1"/>
          <p:nvPr/>
        </p:nvSpPr>
        <p:spPr>
          <a:xfrm>
            <a:off x="2947468" y="5280000"/>
            <a:ext cx="600000" cy="240000"/>
          </a:xfrm>
          <a:prstGeom prst="rect">
            <a:avLst/>
          </a:prstGeom>
          <a:noFill/>
          <a:ln>
            <a:noFill/>
          </a:ln>
        </p:spPr>
        <p:txBody>
          <a:bodyPr wrap="square" lIns="0" tIns="0" rIns="0" bIns="0" rtlCol="0" anchor="t">
            <a:normAutofit/>
          </a:bodyPr>
          <a:lstStyle/>
          <a:p>
            <a:pPr algn="ctr">
              <a:buNone/>
            </a:pPr>
            <a:r>
              <a:rPr lang="fr-FR" sz="800" dirty="0">
                <a:solidFill>
                  <a:srgbClr val="6B6B6B"/>
                </a:solidFill>
                <a:latin typeface="Jost Light" pitchFamily="2" charset="77"/>
                <a:ea typeface="Jost Light" pitchFamily="2" charset="77"/>
                <a:cs typeface="Jost Light" pitchFamily="2" charset="77"/>
              </a:rPr>
              <a:t>Année 5</a:t>
            </a:r>
          </a:p>
        </p:txBody>
      </p:sp>
      <p:sp>
        <p:nvSpPr>
          <p:cNvPr id="216" name="X Label 216"/>
          <p:cNvSpPr txBox="1"/>
          <p:nvPr/>
        </p:nvSpPr>
        <p:spPr>
          <a:xfrm>
            <a:off x="5247468" y="5280000"/>
            <a:ext cx="600000" cy="240000"/>
          </a:xfrm>
          <a:prstGeom prst="rect">
            <a:avLst/>
          </a:prstGeom>
          <a:noFill/>
          <a:ln>
            <a:noFill/>
          </a:ln>
        </p:spPr>
        <p:txBody>
          <a:bodyPr wrap="square" lIns="0" tIns="0" rIns="0" bIns="0" rtlCol="0" anchor="t">
            <a:normAutofit/>
          </a:bodyPr>
          <a:lstStyle/>
          <a:p>
            <a:pPr algn="ctr">
              <a:buNone/>
            </a:pPr>
            <a:r>
              <a:rPr lang="fr-FR" sz="800" dirty="0">
                <a:solidFill>
                  <a:srgbClr val="6B6B6B"/>
                </a:solidFill>
                <a:latin typeface="Jost Light" pitchFamily="2" charset="77"/>
                <a:ea typeface="Jost Light" pitchFamily="2" charset="77"/>
                <a:cs typeface="Jost Light" pitchFamily="2" charset="77"/>
              </a:rPr>
              <a:t>Année 10</a:t>
            </a:r>
          </a:p>
        </p:txBody>
      </p:sp>
      <p:sp>
        <p:nvSpPr>
          <p:cNvPr id="217" name="X Label 217"/>
          <p:cNvSpPr txBox="1"/>
          <p:nvPr/>
        </p:nvSpPr>
        <p:spPr>
          <a:xfrm>
            <a:off x="7547468" y="5280000"/>
            <a:ext cx="600000" cy="240000"/>
          </a:xfrm>
          <a:prstGeom prst="rect">
            <a:avLst/>
          </a:prstGeom>
          <a:noFill/>
          <a:ln>
            <a:noFill/>
          </a:ln>
        </p:spPr>
        <p:txBody>
          <a:bodyPr wrap="square" lIns="0" tIns="0" rIns="0" bIns="0" rtlCol="0" anchor="t">
            <a:normAutofit/>
          </a:bodyPr>
          <a:lstStyle/>
          <a:p>
            <a:pPr algn="ctr">
              <a:buNone/>
            </a:pPr>
            <a:r>
              <a:rPr lang="fr-FR" sz="800" dirty="0">
                <a:solidFill>
                  <a:srgbClr val="6B6B6B"/>
                </a:solidFill>
                <a:latin typeface="Jost Light" pitchFamily="2" charset="77"/>
                <a:ea typeface="Jost Light" pitchFamily="2" charset="77"/>
                <a:cs typeface="Jost Light" pitchFamily="2" charset="77"/>
              </a:rPr>
              <a:t>Année 15</a:t>
            </a:r>
          </a:p>
        </p:txBody>
      </p:sp>
      <p:sp>
        <p:nvSpPr>
          <p:cNvPr id="218" name="Shape 218"/>
          <p:cNvSpPr/>
          <p:nvPr/>
        </p:nvSpPr>
        <p:spPr>
          <a:xfrm>
            <a:off x="947468" y="1570000"/>
            <a:ext cx="260000" cy="60000"/>
          </a:xfrm>
          <a:prstGeom prst="rect">
            <a:avLst/>
          </a:prstGeom>
          <a:solidFill>
            <a:srgbClr val="001B00"/>
          </a:solidFill>
          <a:ln>
            <a:noFill/>
          </a:ln>
        </p:spPr>
        <p:txBody>
          <a:bodyPr rtlCol="0" anchor="ctr"/>
          <a:lstStyle/>
          <a:p>
            <a:pPr algn="ctr"/>
            <a:endParaRPr lang="fr-FR"/>
          </a:p>
        </p:txBody>
      </p:sp>
      <p:sp>
        <p:nvSpPr>
          <p:cNvPr id="219" name="Legend1 219"/>
          <p:cNvSpPr txBox="1"/>
          <p:nvPr/>
        </p:nvSpPr>
        <p:spPr>
          <a:xfrm>
            <a:off x="1267468" y="1450000"/>
            <a:ext cx="3200000" cy="300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Medium" pitchFamily="2" charset="77"/>
                <a:ea typeface="Jost Medium" pitchFamily="2" charset="77"/>
                <a:cs typeface="Jost Medium" pitchFamily="2" charset="77"/>
              </a:rPr>
              <a:t>LBO européen (TRI net 15,0 %)</a:t>
            </a:r>
          </a:p>
        </p:txBody>
      </p:sp>
      <p:sp>
        <p:nvSpPr>
          <p:cNvPr id="220" name="Shape 220"/>
          <p:cNvSpPr/>
          <p:nvPr/>
        </p:nvSpPr>
        <p:spPr>
          <a:xfrm>
            <a:off x="4547468" y="1570000"/>
            <a:ext cx="260000" cy="60000"/>
          </a:xfrm>
          <a:prstGeom prst="rect">
            <a:avLst/>
          </a:prstGeom>
          <a:solidFill>
            <a:srgbClr val="A9853F"/>
          </a:solidFill>
          <a:ln>
            <a:noFill/>
          </a:ln>
        </p:spPr>
        <p:txBody>
          <a:bodyPr rtlCol="0" anchor="ctr"/>
          <a:lstStyle/>
          <a:p>
            <a:pPr algn="ctr"/>
            <a:endParaRPr lang="fr-FR"/>
          </a:p>
        </p:txBody>
      </p:sp>
      <p:sp>
        <p:nvSpPr>
          <p:cNvPr id="221" name="Legend2 221"/>
          <p:cNvSpPr txBox="1"/>
          <p:nvPr/>
        </p:nvSpPr>
        <p:spPr>
          <a:xfrm>
            <a:off x="4867468" y="1450000"/>
            <a:ext cx="3000000" cy="300000"/>
          </a:xfrm>
          <a:prstGeom prst="rect">
            <a:avLst/>
          </a:prstGeom>
          <a:noFill/>
          <a:ln>
            <a:noFill/>
          </a:ln>
        </p:spPr>
        <p:txBody>
          <a:bodyPr wrap="square" lIns="0" tIns="0" rIns="0" bIns="0" rtlCol="0" anchor="ctr">
            <a:normAutofit/>
          </a:bodyPr>
          <a:lstStyle/>
          <a:p>
            <a:pPr algn="l">
              <a:buNone/>
            </a:pPr>
            <a:r>
              <a:rPr lang="fr-FR" sz="900" dirty="0">
                <a:solidFill>
                  <a:srgbClr val="073527"/>
                </a:solidFill>
                <a:latin typeface="Jost Medium" pitchFamily="2" charset="77"/>
                <a:ea typeface="Jost Medium" pitchFamily="2" charset="77"/>
                <a:cs typeface="Jost Medium" pitchFamily="2" charset="77"/>
              </a:rPr>
              <a:t>MSCI Europe (5,8 %)</a:t>
            </a:r>
          </a:p>
        </p:txBody>
      </p:sp>
      <p:sp>
        <p:nvSpPr>
          <p:cNvPr id="222" name="Explain 222"/>
          <p:cNvSpPr txBox="1"/>
          <p:nvPr/>
        </p:nvSpPr>
        <p:spPr>
          <a:xfrm>
            <a:off x="910460" y="5681253"/>
            <a:ext cx="6900000" cy="550000"/>
          </a:xfrm>
          <a:prstGeom prst="rect">
            <a:avLst/>
          </a:prstGeom>
          <a:noFill/>
          <a:ln>
            <a:noFill/>
          </a:ln>
        </p:spPr>
        <p:txBody>
          <a:bodyPr wrap="square" lIns="0" tIns="0" rIns="0" bIns="0" rtlCol="0" anchor="t">
            <a:normAutofit/>
          </a:bodyPr>
          <a:lstStyle/>
          <a:p>
            <a:pPr algn="l">
              <a:buNone/>
            </a:pPr>
            <a:r>
              <a:rPr lang="fr-FR" sz="900" dirty="0">
                <a:solidFill>
                  <a:srgbClr val="073527"/>
                </a:solidFill>
                <a:latin typeface="Jost Light" pitchFamily="2" charset="77"/>
                <a:ea typeface="Jost Light" pitchFamily="2" charset="77"/>
                <a:cs typeface="Jost Light" pitchFamily="2" charset="77"/>
                <a:sym typeface="Wingdings" pitchFamily="2" charset="2"/>
              </a:rPr>
              <a:t> </a:t>
            </a:r>
            <a:r>
              <a:rPr lang="fr-FR" sz="900" dirty="0">
                <a:solidFill>
                  <a:srgbClr val="073527"/>
                </a:solidFill>
                <a:latin typeface="Jost Light" pitchFamily="2" charset="77"/>
                <a:ea typeface="Jost Light" pitchFamily="2" charset="77"/>
                <a:cs typeface="Jost Light" pitchFamily="2" charset="77"/>
              </a:rPr>
              <a:t>Base 100 sur 15 ans : Depuis les années 2000, à taux constants, 100 EUR investis dans des fonds de LBO européens deviendraient environ 814 EUR, contre 233 EUR pour le même montant placé sur le MSCI Europe.</a:t>
            </a:r>
          </a:p>
        </p:txBody>
      </p:sp>
      <p:sp>
        <p:nvSpPr>
          <p:cNvPr id="223" name="Shape 223"/>
          <p:cNvSpPr/>
          <p:nvPr/>
        </p:nvSpPr>
        <p:spPr>
          <a:xfrm>
            <a:off x="8167468" y="1720000"/>
            <a:ext cx="3524532" cy="950000"/>
          </a:xfrm>
          <a:prstGeom prst="rect">
            <a:avLst/>
          </a:prstGeom>
          <a:solidFill>
            <a:srgbClr val="001B00"/>
          </a:solidFill>
          <a:ln>
            <a:noFill/>
          </a:ln>
        </p:spPr>
        <p:txBody>
          <a:bodyPr rtlCol="0" anchor="ctr"/>
          <a:lstStyle/>
          <a:p>
            <a:pPr algn="ctr"/>
            <a:endParaRPr lang="fr-FR"/>
          </a:p>
        </p:txBody>
      </p:sp>
      <p:sp>
        <p:nvSpPr>
          <p:cNvPr id="224" name="Stat1 224"/>
          <p:cNvSpPr txBox="1"/>
          <p:nvPr/>
        </p:nvSpPr>
        <p:spPr>
          <a:xfrm>
            <a:off x="8227468" y="1720000"/>
            <a:ext cx="3404532" cy="950000"/>
          </a:xfrm>
          <a:prstGeom prst="rect">
            <a:avLst/>
          </a:prstGeom>
          <a:noFill/>
          <a:ln>
            <a:noFill/>
          </a:ln>
        </p:spPr>
        <p:txBody>
          <a:bodyPr wrap="square" lIns="0" tIns="0" rIns="0" bIns="0" rtlCol="0" anchor="ctr">
            <a:normAutofit/>
          </a:bodyPr>
          <a:lstStyle/>
          <a:p>
            <a:pPr algn="ctr"/>
            <a:r>
              <a:rPr lang="fr-FR" sz="950" dirty="0">
                <a:solidFill>
                  <a:srgbClr val="FFFFFF"/>
                </a:solidFill>
                <a:latin typeface="Jost Medium" pitchFamily="2" charset="77"/>
                <a:ea typeface="Jost Medium" pitchFamily="2" charset="77"/>
                <a:cs typeface="Jost Medium" pitchFamily="2" charset="77"/>
              </a:rPr>
              <a:t>TRI net LBO européen (depuis création)</a:t>
            </a:r>
          </a:p>
          <a:p>
            <a:pPr algn="ctr"/>
            <a:r>
              <a:rPr lang="fr-FR" sz="2600" b="1" dirty="0">
                <a:solidFill>
                  <a:srgbClr val="FFFFFF"/>
                </a:solidFill>
                <a:latin typeface="Cormorant Garamond SemiBold" pitchFamily="2" charset="77"/>
                <a:ea typeface="Cormorant Garamond SemiBold" pitchFamily="2" charset="77"/>
                <a:cs typeface="Cormorant Garamond SemiBold" pitchFamily="2" charset="77"/>
              </a:rPr>
              <a:t>15,0% </a:t>
            </a:r>
            <a:r>
              <a:rPr lang="fr-FR" sz="2600" b="1" dirty="0" err="1">
                <a:solidFill>
                  <a:srgbClr val="FFFFFF"/>
                </a:solidFill>
                <a:latin typeface="Cormorant Garamond SemiBold" pitchFamily="2" charset="77"/>
                <a:ea typeface="Cormorant Garamond SemiBold" pitchFamily="2" charset="77"/>
                <a:cs typeface="Cormorant Garamond SemiBold" pitchFamily="2" charset="77"/>
              </a:rPr>
              <a:t>p.a</a:t>
            </a:r>
            <a:r>
              <a:rPr lang="fr-FR" sz="2600" b="1" dirty="0">
                <a:solidFill>
                  <a:srgbClr val="FFFFFF"/>
                </a:solidFill>
                <a:latin typeface="Cormorant Garamond SemiBold" pitchFamily="2" charset="77"/>
                <a:ea typeface="Cormorant Garamond SemiBold" pitchFamily="2" charset="77"/>
                <a:cs typeface="Cormorant Garamond SemiBold" pitchFamily="2" charset="77"/>
              </a:rPr>
              <a:t>.</a:t>
            </a:r>
          </a:p>
        </p:txBody>
      </p:sp>
      <p:sp>
        <p:nvSpPr>
          <p:cNvPr id="225" name="Shape 225"/>
          <p:cNvSpPr/>
          <p:nvPr/>
        </p:nvSpPr>
        <p:spPr>
          <a:xfrm>
            <a:off x="8167468" y="2870000"/>
            <a:ext cx="3524532" cy="950000"/>
          </a:xfrm>
          <a:prstGeom prst="rect">
            <a:avLst/>
          </a:prstGeom>
          <a:solidFill>
            <a:srgbClr val="A9853F"/>
          </a:solidFill>
          <a:ln>
            <a:noFill/>
          </a:ln>
        </p:spPr>
        <p:txBody>
          <a:bodyPr rtlCol="0" anchor="ctr"/>
          <a:lstStyle/>
          <a:p>
            <a:pPr algn="ctr"/>
            <a:endParaRPr lang="fr-FR"/>
          </a:p>
        </p:txBody>
      </p:sp>
      <p:sp>
        <p:nvSpPr>
          <p:cNvPr id="226" name="Stat2 226"/>
          <p:cNvSpPr txBox="1"/>
          <p:nvPr/>
        </p:nvSpPr>
        <p:spPr>
          <a:xfrm>
            <a:off x="8227468" y="2870000"/>
            <a:ext cx="3404532" cy="950000"/>
          </a:xfrm>
          <a:prstGeom prst="rect">
            <a:avLst/>
          </a:prstGeom>
          <a:noFill/>
          <a:ln>
            <a:noFill/>
          </a:ln>
        </p:spPr>
        <p:txBody>
          <a:bodyPr wrap="square" lIns="0" tIns="0" rIns="0" bIns="0" rtlCol="0" anchor="ctr">
            <a:normAutofit/>
          </a:bodyPr>
          <a:lstStyle/>
          <a:p>
            <a:pPr algn="ctr"/>
            <a:r>
              <a:rPr lang="fr-FR" sz="950" dirty="0">
                <a:solidFill>
                  <a:srgbClr val="FFFFFF"/>
                </a:solidFill>
                <a:latin typeface="Jost Medium" pitchFamily="2" charset="77"/>
                <a:ea typeface="Jost Medium" pitchFamily="2" charset="77"/>
                <a:cs typeface="Jost Medium" pitchFamily="2" charset="77"/>
              </a:rPr>
              <a:t>MSCI Europe (même période)</a:t>
            </a:r>
          </a:p>
          <a:p>
            <a:pPr algn="ctr"/>
            <a:r>
              <a:rPr lang="fr-FR" sz="2600" b="1" dirty="0">
                <a:solidFill>
                  <a:srgbClr val="FFFFFF"/>
                </a:solidFill>
                <a:latin typeface="Cormorant Garamond SemiBold" pitchFamily="2" charset="77"/>
                <a:ea typeface="Cormorant Garamond SemiBold" pitchFamily="2" charset="77"/>
                <a:cs typeface="Cormorant Garamond SemiBold" pitchFamily="2" charset="77"/>
              </a:rPr>
              <a:t>5,8% </a:t>
            </a:r>
            <a:r>
              <a:rPr lang="fr-FR" sz="2600" b="1" dirty="0" err="1">
                <a:solidFill>
                  <a:srgbClr val="FFFFFF"/>
                </a:solidFill>
                <a:latin typeface="Cormorant Garamond SemiBold" pitchFamily="2" charset="77"/>
                <a:ea typeface="Cormorant Garamond SemiBold" pitchFamily="2" charset="77"/>
                <a:cs typeface="Cormorant Garamond SemiBold" pitchFamily="2" charset="77"/>
              </a:rPr>
              <a:t>p.a</a:t>
            </a:r>
            <a:r>
              <a:rPr lang="fr-FR" sz="2600" b="1" dirty="0">
                <a:solidFill>
                  <a:srgbClr val="FFFFFF"/>
                </a:solidFill>
                <a:latin typeface="Cormorant Garamond SemiBold" pitchFamily="2" charset="77"/>
                <a:ea typeface="Cormorant Garamond SemiBold" pitchFamily="2" charset="77"/>
                <a:cs typeface="Cormorant Garamond SemiBold" pitchFamily="2" charset="77"/>
              </a:rPr>
              <a:t>.</a:t>
            </a:r>
          </a:p>
        </p:txBody>
      </p:sp>
      <p:sp>
        <p:nvSpPr>
          <p:cNvPr id="227" name="Shape 227"/>
          <p:cNvSpPr/>
          <p:nvPr/>
        </p:nvSpPr>
        <p:spPr>
          <a:xfrm>
            <a:off x="8167468" y="4069999"/>
            <a:ext cx="3528000" cy="2010290"/>
          </a:xfrm>
          <a:prstGeom prst="rect">
            <a:avLst/>
          </a:prstGeom>
          <a:solidFill>
            <a:srgbClr val="E7DCC7"/>
          </a:solidFill>
          <a:ln>
            <a:noFill/>
          </a:ln>
        </p:spPr>
        <p:txBody>
          <a:bodyPr lIns="216000" rIns="216000" rtlCol="0" anchor="ctr"/>
          <a:lstStyle/>
          <a:p>
            <a:r>
              <a:rPr lang="fr-FR" sz="1100" dirty="0">
                <a:solidFill>
                  <a:srgbClr val="001B00"/>
                </a:solidFill>
                <a:latin typeface="Jost Light" pitchFamily="2" charset="77"/>
                <a:ea typeface="Jost Light" pitchFamily="2" charset="77"/>
                <a:cs typeface="Jost Light" pitchFamily="2" charset="77"/>
              </a:rPr>
              <a:t>Cet écart de +9,2 points par an rémunèrent l’investisseur :</a:t>
            </a:r>
          </a:p>
          <a:p>
            <a:endParaRPr lang="fr-FR" sz="1100" dirty="0">
              <a:solidFill>
                <a:srgbClr val="001B00"/>
              </a:solidFill>
              <a:latin typeface="Jost Light" pitchFamily="2" charset="77"/>
              <a:ea typeface="Jost Light" pitchFamily="2" charset="77"/>
              <a:cs typeface="Jost Light" pitchFamily="2" charset="77"/>
            </a:endParaRPr>
          </a:p>
          <a:p>
            <a:pPr marL="171450" indent="-171450" algn="just">
              <a:buFont typeface="Wingdings" pitchFamily="2" charset="2"/>
              <a:buChar char="§"/>
            </a:pPr>
            <a:r>
              <a:rPr lang="fr-FR" sz="1100" dirty="0">
                <a:solidFill>
                  <a:srgbClr val="001B00"/>
                </a:solidFill>
                <a:latin typeface="Jost Light" pitchFamily="2" charset="77"/>
                <a:ea typeface="Jost Light" pitchFamily="2" charset="77"/>
                <a:cs typeface="Jost Light" pitchFamily="2" charset="77"/>
              </a:rPr>
              <a:t>L’illiquidité du placement (la vision LT)</a:t>
            </a:r>
          </a:p>
          <a:p>
            <a:pPr marL="171450" indent="-171450" algn="just">
              <a:buFont typeface="Wingdings" pitchFamily="2" charset="2"/>
              <a:buChar char="§"/>
            </a:pPr>
            <a:r>
              <a:rPr lang="fr-FR" sz="1100" dirty="0">
                <a:solidFill>
                  <a:srgbClr val="001B00"/>
                </a:solidFill>
                <a:latin typeface="Jost Light" pitchFamily="2" charset="77"/>
                <a:ea typeface="Jost Light" pitchFamily="2" charset="77"/>
                <a:cs typeface="Jost Light" pitchFamily="2" charset="77"/>
              </a:rPr>
              <a:t>La gestion active des entreprises en portefeuille par les équipes de LBO (restructuration, accélération de la croissance, discipline opérationnelle) là où un indice coté se contente de suivre le marché.</a:t>
            </a:r>
          </a:p>
        </p:txBody>
      </p:sp>
      <p:sp>
        <p:nvSpPr>
          <p:cNvPr id="229" name="Footnote 229"/>
          <p:cNvSpPr txBox="1"/>
          <p:nvPr/>
        </p:nvSpPr>
        <p:spPr>
          <a:xfrm>
            <a:off x="947468" y="6560000"/>
            <a:ext cx="10744532" cy="320000"/>
          </a:xfrm>
          <a:prstGeom prst="rect">
            <a:avLst/>
          </a:prstGeom>
          <a:noFill/>
          <a:ln>
            <a:noFill/>
          </a:ln>
        </p:spPr>
        <p:txBody>
          <a:bodyPr wrap="square" lIns="0" tIns="0" rIns="0" bIns="0" rtlCol="0" anchor="t">
            <a:normAutofit/>
          </a:bodyPr>
          <a:lstStyle/>
          <a:p>
            <a:pPr algn="ctr">
              <a:buNone/>
            </a:pPr>
            <a:r>
              <a:rPr lang="fr-FR" sz="700" i="1" dirty="0">
                <a:solidFill>
                  <a:srgbClr val="6B6B6B"/>
                </a:solidFill>
                <a:latin typeface="Jost Light" pitchFamily="2" charset="77"/>
                <a:ea typeface="Jost Light" pitchFamily="2" charset="77"/>
                <a:cs typeface="Jost Light" pitchFamily="2" charset="77"/>
              </a:rPr>
              <a:t>Source : Invest Europe, European Private Equity Performance Benchmarks (TRI net des fonds de LBO européens depuis leur création, vs indice MSCI Europe sur la même période). Simulation à taux constants, à but illustratif. Performances passées non garanties, risque de perte en capital.</a:t>
            </a:r>
          </a:p>
        </p:txBody>
      </p:sp>
    </p:spTree>
    <p:extLst>
      <p:ext uri="{BB962C8B-B14F-4D97-AF65-F5344CB8AC3E}">
        <p14:creationId xmlns:p14="http://schemas.microsoft.com/office/powerpoint/2010/main" val="18142834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20178"/>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Des revenus immobiliers, sans en assumer la gestion</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Pourquoi investir en SCPI</a:t>
            </a:r>
          </a:p>
        </p:txBody>
      </p:sp>
      <p:sp>
        <p:nvSpPr>
          <p:cNvPr id="50002" name="Text 50002"/>
          <p:cNvSpPr txBox="1"/>
          <p:nvPr/>
        </p:nvSpPr>
        <p:spPr>
          <a:xfrm>
            <a:off x="947468" y="1930000"/>
            <a:ext cx="3550000" cy="1800000"/>
          </a:xfrm>
          <a:prstGeom prst="rect">
            <a:avLst/>
          </a:prstGeom>
          <a:noFill/>
          <a:ln>
            <a:noFill/>
          </a:ln>
        </p:spPr>
        <p:txBody>
          <a:bodyPr wrap="square" lIns="0" tIns="0" rIns="0" bIns="0" rtlCol="0" anchor="t">
            <a:normAutofit/>
          </a:bodyPr>
          <a:lstStyle/>
          <a:p>
            <a:pPr algn="just">
              <a:buNone/>
            </a:pPr>
            <a:r>
              <a:rPr lang="fr-FR" sz="1150" dirty="0">
                <a:solidFill>
                  <a:srgbClr val="073527"/>
                </a:solidFill>
                <a:latin typeface="Jost Light" pitchFamily="2" charset="77"/>
                <a:ea typeface="Jost Light" pitchFamily="2" charset="77"/>
                <a:cs typeface="Jost Light" pitchFamily="2" charset="77"/>
              </a:rPr>
              <a:t>En achetant des parts d’une sociétés civiles de placement immobilier, vous détenez une fraction d’un parc de bureaux, de commerces, de locaux de santé ou de logistique, loué à des entreprises et géré par des professionnels.</a:t>
            </a:r>
          </a:p>
        </p:txBody>
      </p:sp>
      <p:sp>
        <p:nvSpPr>
          <p:cNvPr id="50003" name="Shape 50003"/>
          <p:cNvSpPr/>
          <p:nvPr/>
        </p:nvSpPr>
        <p:spPr>
          <a:xfrm>
            <a:off x="947468" y="3880000"/>
            <a:ext cx="1600000" cy="1"/>
          </a:xfrm>
          <a:prstGeom prst="line">
            <a:avLst/>
          </a:prstGeom>
          <a:noFill/>
          <a:ln w="12700">
            <a:solidFill>
              <a:srgbClr val="A9853F"/>
            </a:solidFill>
          </a:ln>
        </p:spPr>
        <p:txBody>
          <a:bodyPr rtlCol="0" anchor="ctr"/>
          <a:lstStyle/>
          <a:p>
            <a:endParaRPr lang="fr-FR"/>
          </a:p>
        </p:txBody>
      </p:sp>
      <p:sp>
        <p:nvSpPr>
          <p:cNvPr id="50004" name="Text 50004"/>
          <p:cNvSpPr txBox="1"/>
          <p:nvPr/>
        </p:nvSpPr>
        <p:spPr>
          <a:xfrm>
            <a:off x="947468" y="4130000"/>
            <a:ext cx="3550000" cy="700000"/>
          </a:xfrm>
          <a:prstGeom prst="rect">
            <a:avLst/>
          </a:prstGeom>
          <a:noFill/>
          <a:ln>
            <a:noFill/>
          </a:ln>
        </p:spPr>
        <p:txBody>
          <a:bodyPr wrap="square" lIns="0" tIns="0" rIns="0" bIns="0" rtlCol="0" anchor="t">
            <a:normAutofit/>
          </a:bodyPr>
          <a:lstStyle/>
          <a:p>
            <a:pPr algn="l">
              <a:buNone/>
            </a:pPr>
            <a:r>
              <a:rPr lang="fr-FR" sz="2600" b="1" dirty="0">
                <a:solidFill>
                  <a:srgbClr val="A9853F"/>
                </a:solidFill>
                <a:latin typeface="Cormorant Garamond SemiBold" pitchFamily="2" charset="77"/>
                <a:ea typeface="Cormorant Garamond SemiBold" pitchFamily="2" charset="77"/>
                <a:cs typeface="Cormorant Garamond SemiBold" pitchFamily="2" charset="77"/>
              </a:rPr>
              <a:t>Mensuel ou Trimestriel</a:t>
            </a:r>
          </a:p>
        </p:txBody>
      </p:sp>
      <p:sp>
        <p:nvSpPr>
          <p:cNvPr id="50005" name="Text 50005"/>
          <p:cNvSpPr txBox="1"/>
          <p:nvPr/>
        </p:nvSpPr>
        <p:spPr>
          <a:xfrm>
            <a:off x="947468" y="4730000"/>
            <a:ext cx="3550000" cy="600000"/>
          </a:xfrm>
          <a:prstGeom prst="rect">
            <a:avLst/>
          </a:prstGeom>
          <a:noFill/>
          <a:ln>
            <a:noFill/>
          </a:ln>
        </p:spPr>
        <p:txBody>
          <a:bodyPr wrap="square" lIns="0" tIns="0" rIns="0" bIns="0" rtlCol="0" anchor="t">
            <a:normAutofit/>
          </a:bodyPr>
          <a:lstStyle/>
          <a:p>
            <a:pPr algn="l">
              <a:buNone/>
            </a:pPr>
            <a:r>
              <a:rPr lang="fr-FR" sz="1000" dirty="0">
                <a:solidFill>
                  <a:srgbClr val="6B6B6B"/>
                </a:solidFill>
                <a:latin typeface="Jost Light" pitchFamily="2" charset="77"/>
                <a:ea typeface="Jost Light" pitchFamily="2" charset="77"/>
                <a:cs typeface="Jost Light" pitchFamily="2" charset="77"/>
              </a:rPr>
              <a:t>Le rythme habituel de versement des revenus.</a:t>
            </a:r>
          </a:p>
        </p:txBody>
      </p:sp>
      <p:sp>
        <p:nvSpPr>
          <p:cNvPr id="50006" name="Text 50006"/>
          <p:cNvSpPr txBox="1"/>
          <p:nvPr/>
        </p:nvSpPr>
        <p:spPr>
          <a:xfrm>
            <a:off x="947468" y="5380000"/>
            <a:ext cx="3550000" cy="700000"/>
          </a:xfrm>
          <a:prstGeom prst="rect">
            <a:avLst/>
          </a:prstGeom>
          <a:noFill/>
          <a:ln>
            <a:noFill/>
          </a:ln>
        </p:spPr>
        <p:txBody>
          <a:bodyPr wrap="square" lIns="0" tIns="0" rIns="0" bIns="0" rtlCol="0" anchor="t">
            <a:normAutofit/>
          </a:bodyPr>
          <a:lstStyle/>
          <a:p>
            <a:pPr algn="l">
              <a:buNone/>
            </a:pPr>
            <a:r>
              <a:rPr lang="fr-FR" sz="2600" b="1" dirty="0">
                <a:solidFill>
                  <a:srgbClr val="A9853F"/>
                </a:solidFill>
                <a:latin typeface="Cormorant Garamond SemiBold" pitchFamily="2" charset="77"/>
                <a:ea typeface="Cormorant Garamond SemiBold" pitchFamily="2" charset="77"/>
                <a:cs typeface="Cormorant Garamond SemiBold" pitchFamily="2" charset="77"/>
              </a:rPr>
              <a:t>8 à 10 ans</a:t>
            </a:r>
          </a:p>
        </p:txBody>
      </p:sp>
      <p:sp>
        <p:nvSpPr>
          <p:cNvPr id="50007" name="Text 50007"/>
          <p:cNvSpPr txBox="1"/>
          <p:nvPr/>
        </p:nvSpPr>
        <p:spPr>
          <a:xfrm>
            <a:off x="947468" y="5980000"/>
            <a:ext cx="3550000" cy="600000"/>
          </a:xfrm>
          <a:prstGeom prst="rect">
            <a:avLst/>
          </a:prstGeom>
          <a:noFill/>
          <a:ln>
            <a:noFill/>
          </a:ln>
        </p:spPr>
        <p:txBody>
          <a:bodyPr wrap="square" lIns="0" tIns="0" rIns="0" bIns="0" rtlCol="0" anchor="t">
            <a:normAutofit/>
          </a:bodyPr>
          <a:lstStyle/>
          <a:p>
            <a:pPr algn="l">
              <a:buNone/>
            </a:pPr>
            <a:r>
              <a:rPr lang="fr-FR" sz="1000" dirty="0">
                <a:solidFill>
                  <a:srgbClr val="6B6B6B"/>
                </a:solidFill>
                <a:latin typeface="Jost Light" pitchFamily="2" charset="77"/>
                <a:ea typeface="Jost Light" pitchFamily="2" charset="77"/>
                <a:cs typeface="Jost Light" pitchFamily="2" charset="77"/>
              </a:rPr>
              <a:t>La durée de détention recommandée.</a:t>
            </a:r>
          </a:p>
        </p:txBody>
      </p:sp>
      <p:sp>
        <p:nvSpPr>
          <p:cNvPr id="50008" name="Text 50008"/>
          <p:cNvSpPr txBox="1"/>
          <p:nvPr/>
        </p:nvSpPr>
        <p:spPr>
          <a:xfrm>
            <a:off x="5300208" y="1900000"/>
            <a:ext cx="500000" cy="400000"/>
          </a:xfrm>
          <a:prstGeom prst="rect">
            <a:avLst/>
          </a:prstGeom>
          <a:noFill/>
          <a:ln>
            <a:noFill/>
          </a:ln>
        </p:spPr>
        <p:txBody>
          <a:bodyPr wrap="square" lIns="0" tIns="0" rIns="0" bIns="0" rtlCol="0" anchor="t">
            <a:normAutofit/>
          </a:bodyPr>
          <a:lstStyle/>
          <a:p>
            <a:pPr algn="l">
              <a:buNone/>
            </a:pPr>
            <a:r>
              <a:rPr lang="fr-FR" sz="1400" b="1" dirty="0">
                <a:solidFill>
                  <a:srgbClr val="A9853F"/>
                </a:solidFill>
                <a:latin typeface="Cormorant Garamond SemiBold" pitchFamily="2" charset="77"/>
                <a:ea typeface="Cormorant Garamond SemiBold" pitchFamily="2" charset="77"/>
                <a:cs typeface="Cormorant Garamond SemiBold" pitchFamily="2" charset="77"/>
              </a:rPr>
              <a:t>01</a:t>
            </a:r>
          </a:p>
        </p:txBody>
      </p:sp>
      <p:sp>
        <p:nvSpPr>
          <p:cNvPr id="50009" name="Text 50009"/>
          <p:cNvSpPr txBox="1"/>
          <p:nvPr/>
        </p:nvSpPr>
        <p:spPr>
          <a:xfrm>
            <a:off x="5920208" y="1880000"/>
            <a:ext cx="5874532" cy="400000"/>
          </a:xfrm>
          <a:prstGeom prst="rect">
            <a:avLst/>
          </a:prstGeom>
          <a:noFill/>
          <a:ln>
            <a:noFill/>
          </a:ln>
        </p:spPr>
        <p:txBody>
          <a:bodyPr wrap="square" lIns="0" tIns="0" rIns="0" bIns="0" rtlCol="0" anchor="t">
            <a:normAutofit/>
          </a:bodyPr>
          <a:lstStyle/>
          <a:p>
            <a:pPr algn="l">
              <a:buNone/>
            </a:pPr>
            <a:r>
              <a:rPr lang="fr-FR" sz="1150" dirty="0">
                <a:solidFill>
                  <a:srgbClr val="073527"/>
                </a:solidFill>
                <a:latin typeface="Jost Medium" pitchFamily="2" charset="77"/>
                <a:ea typeface="Jost Medium" pitchFamily="2" charset="77"/>
                <a:cs typeface="Jost Medium" pitchFamily="2" charset="77"/>
              </a:rPr>
              <a:t>Un revenu régulier</a:t>
            </a:r>
          </a:p>
        </p:txBody>
      </p:sp>
      <p:sp>
        <p:nvSpPr>
          <p:cNvPr id="50010" name="Text 50010"/>
          <p:cNvSpPr txBox="1"/>
          <p:nvPr/>
        </p:nvSpPr>
        <p:spPr>
          <a:xfrm>
            <a:off x="5920208" y="2220000"/>
            <a:ext cx="5874532" cy="500000"/>
          </a:xfrm>
          <a:prstGeom prst="rect">
            <a:avLst/>
          </a:prstGeom>
          <a:noFill/>
          <a:ln>
            <a:noFill/>
          </a:ln>
        </p:spPr>
        <p:txBody>
          <a:bodyPr wrap="square" lIns="0" tIns="0" rIns="0" bIns="0" rtlCol="0" anchor="t">
            <a:normAutofit/>
          </a:bodyPr>
          <a:lstStyle/>
          <a:p>
            <a:pPr algn="l">
              <a:buNone/>
            </a:pPr>
            <a:r>
              <a:rPr lang="fr-FR" sz="1000" dirty="0">
                <a:solidFill>
                  <a:srgbClr val="6B6B6B"/>
                </a:solidFill>
                <a:latin typeface="Jost Light" pitchFamily="2" charset="77"/>
                <a:ea typeface="Jost Light" pitchFamily="2" charset="77"/>
                <a:cs typeface="Jost Light" pitchFamily="2" charset="77"/>
              </a:rPr>
              <a:t>Des loyers d’entreprise encaissés et redistribués, le plus souvent chaque trimestre.</a:t>
            </a:r>
          </a:p>
        </p:txBody>
      </p:sp>
      <p:sp>
        <p:nvSpPr>
          <p:cNvPr id="50011" name="Shape 50011"/>
          <p:cNvSpPr/>
          <p:nvPr/>
        </p:nvSpPr>
        <p:spPr>
          <a:xfrm>
            <a:off x="5300208" y="2574000"/>
            <a:ext cx="6494532" cy="1"/>
          </a:xfrm>
          <a:prstGeom prst="line">
            <a:avLst/>
          </a:prstGeom>
          <a:noFill/>
          <a:ln w="6350">
            <a:solidFill>
              <a:srgbClr val="D9CBA8"/>
            </a:solidFill>
          </a:ln>
        </p:spPr>
        <p:txBody>
          <a:bodyPr rtlCol="0" anchor="ctr"/>
          <a:lstStyle/>
          <a:p>
            <a:endParaRPr lang="fr-FR"/>
          </a:p>
        </p:txBody>
      </p:sp>
      <p:sp>
        <p:nvSpPr>
          <p:cNvPr id="50012" name="Text 50012"/>
          <p:cNvSpPr txBox="1"/>
          <p:nvPr/>
        </p:nvSpPr>
        <p:spPr>
          <a:xfrm>
            <a:off x="5300208" y="2764000"/>
            <a:ext cx="500000" cy="400000"/>
          </a:xfrm>
          <a:prstGeom prst="rect">
            <a:avLst/>
          </a:prstGeom>
          <a:noFill/>
          <a:ln>
            <a:noFill/>
          </a:ln>
        </p:spPr>
        <p:txBody>
          <a:bodyPr wrap="square" lIns="0" tIns="0" rIns="0" bIns="0" rtlCol="0" anchor="t">
            <a:normAutofit/>
          </a:bodyPr>
          <a:lstStyle/>
          <a:p>
            <a:pPr algn="l">
              <a:buNone/>
            </a:pPr>
            <a:r>
              <a:rPr lang="fr-FR" sz="1400" b="1" dirty="0">
                <a:solidFill>
                  <a:srgbClr val="A9853F"/>
                </a:solidFill>
                <a:latin typeface="Cormorant Garamond SemiBold" pitchFamily="2" charset="77"/>
                <a:ea typeface="Cormorant Garamond SemiBold" pitchFamily="2" charset="77"/>
                <a:cs typeface="Cormorant Garamond SemiBold" pitchFamily="2" charset="77"/>
              </a:rPr>
              <a:t>02</a:t>
            </a:r>
          </a:p>
        </p:txBody>
      </p:sp>
      <p:sp>
        <p:nvSpPr>
          <p:cNvPr id="50013" name="Text 50013"/>
          <p:cNvSpPr txBox="1"/>
          <p:nvPr/>
        </p:nvSpPr>
        <p:spPr>
          <a:xfrm>
            <a:off x="5920208" y="2744000"/>
            <a:ext cx="5874532" cy="400000"/>
          </a:xfrm>
          <a:prstGeom prst="rect">
            <a:avLst/>
          </a:prstGeom>
          <a:noFill/>
          <a:ln>
            <a:noFill/>
          </a:ln>
        </p:spPr>
        <p:txBody>
          <a:bodyPr wrap="square" lIns="0" tIns="0" rIns="0" bIns="0" rtlCol="0" anchor="t">
            <a:normAutofit/>
          </a:bodyPr>
          <a:lstStyle/>
          <a:p>
            <a:pPr algn="l">
              <a:buNone/>
            </a:pPr>
            <a:r>
              <a:rPr lang="fr-FR" sz="1150" dirty="0">
                <a:solidFill>
                  <a:srgbClr val="073527"/>
                </a:solidFill>
                <a:latin typeface="Jost Medium" pitchFamily="2" charset="77"/>
                <a:ea typeface="Jost Medium" pitchFamily="2" charset="77"/>
                <a:cs typeface="Jost Medium" pitchFamily="2" charset="77"/>
              </a:rPr>
              <a:t>Un risque mutualisé</a:t>
            </a:r>
          </a:p>
        </p:txBody>
      </p:sp>
      <p:sp>
        <p:nvSpPr>
          <p:cNvPr id="50014" name="Text 50014"/>
          <p:cNvSpPr txBox="1"/>
          <p:nvPr/>
        </p:nvSpPr>
        <p:spPr>
          <a:xfrm>
            <a:off x="5920208" y="3084000"/>
            <a:ext cx="5874532" cy="500000"/>
          </a:xfrm>
          <a:prstGeom prst="rect">
            <a:avLst/>
          </a:prstGeom>
          <a:noFill/>
          <a:ln>
            <a:noFill/>
          </a:ln>
        </p:spPr>
        <p:txBody>
          <a:bodyPr wrap="square" lIns="0" tIns="0" rIns="0" bIns="0" rtlCol="0" anchor="t">
            <a:normAutofit/>
          </a:bodyPr>
          <a:lstStyle/>
          <a:p>
            <a:pPr algn="l">
              <a:buNone/>
            </a:pPr>
            <a:r>
              <a:rPr lang="fr-FR" sz="1000" dirty="0">
                <a:solidFill>
                  <a:srgbClr val="6B6B6B"/>
                </a:solidFill>
                <a:latin typeface="Jost Light" pitchFamily="2" charset="77"/>
                <a:ea typeface="Jost Light" pitchFamily="2" charset="77"/>
                <a:cs typeface="Jost Light" pitchFamily="2" charset="77"/>
              </a:rPr>
              <a:t>Des centaines d’immeubles et de locataires, là où un bien en direct dépend d’un seul.</a:t>
            </a:r>
          </a:p>
        </p:txBody>
      </p:sp>
      <p:sp>
        <p:nvSpPr>
          <p:cNvPr id="50015" name="Shape 50015"/>
          <p:cNvSpPr/>
          <p:nvPr/>
        </p:nvSpPr>
        <p:spPr>
          <a:xfrm>
            <a:off x="5300208" y="3438000"/>
            <a:ext cx="6494532" cy="1"/>
          </a:xfrm>
          <a:prstGeom prst="line">
            <a:avLst/>
          </a:prstGeom>
          <a:noFill/>
          <a:ln w="6350">
            <a:solidFill>
              <a:srgbClr val="D9CBA8"/>
            </a:solidFill>
          </a:ln>
        </p:spPr>
        <p:txBody>
          <a:bodyPr rtlCol="0" anchor="ctr"/>
          <a:lstStyle/>
          <a:p>
            <a:endParaRPr lang="fr-FR"/>
          </a:p>
        </p:txBody>
      </p:sp>
      <p:sp>
        <p:nvSpPr>
          <p:cNvPr id="50016" name="Text 50016"/>
          <p:cNvSpPr txBox="1"/>
          <p:nvPr/>
        </p:nvSpPr>
        <p:spPr>
          <a:xfrm>
            <a:off x="5300208" y="3628000"/>
            <a:ext cx="500000" cy="400000"/>
          </a:xfrm>
          <a:prstGeom prst="rect">
            <a:avLst/>
          </a:prstGeom>
          <a:noFill/>
          <a:ln>
            <a:noFill/>
          </a:ln>
        </p:spPr>
        <p:txBody>
          <a:bodyPr wrap="square" lIns="0" tIns="0" rIns="0" bIns="0" rtlCol="0" anchor="t">
            <a:normAutofit/>
          </a:bodyPr>
          <a:lstStyle/>
          <a:p>
            <a:pPr algn="l">
              <a:buNone/>
            </a:pPr>
            <a:r>
              <a:rPr lang="fr-FR" sz="1400" b="1" dirty="0">
                <a:solidFill>
                  <a:srgbClr val="A9853F"/>
                </a:solidFill>
                <a:latin typeface="Cormorant Garamond SemiBold" pitchFamily="2" charset="77"/>
                <a:ea typeface="Cormorant Garamond SemiBold" pitchFamily="2" charset="77"/>
                <a:cs typeface="Cormorant Garamond SemiBold" pitchFamily="2" charset="77"/>
              </a:rPr>
              <a:t>03</a:t>
            </a:r>
          </a:p>
        </p:txBody>
      </p:sp>
      <p:sp>
        <p:nvSpPr>
          <p:cNvPr id="50017" name="Text 50017"/>
          <p:cNvSpPr txBox="1"/>
          <p:nvPr/>
        </p:nvSpPr>
        <p:spPr>
          <a:xfrm>
            <a:off x="5920208" y="3608000"/>
            <a:ext cx="5874532" cy="400000"/>
          </a:xfrm>
          <a:prstGeom prst="rect">
            <a:avLst/>
          </a:prstGeom>
          <a:noFill/>
          <a:ln>
            <a:noFill/>
          </a:ln>
        </p:spPr>
        <p:txBody>
          <a:bodyPr wrap="square" lIns="0" tIns="0" rIns="0" bIns="0" rtlCol="0" anchor="t">
            <a:normAutofit/>
          </a:bodyPr>
          <a:lstStyle/>
          <a:p>
            <a:pPr algn="l">
              <a:buNone/>
            </a:pPr>
            <a:r>
              <a:rPr lang="fr-FR" sz="1150" dirty="0">
                <a:solidFill>
                  <a:srgbClr val="073527"/>
                </a:solidFill>
                <a:latin typeface="Jost Medium" pitchFamily="2" charset="77"/>
                <a:ea typeface="Jost Medium" pitchFamily="2" charset="77"/>
                <a:cs typeface="Jost Medium" pitchFamily="2" charset="77"/>
              </a:rPr>
              <a:t>Aucune gestion</a:t>
            </a:r>
          </a:p>
        </p:txBody>
      </p:sp>
      <p:sp>
        <p:nvSpPr>
          <p:cNvPr id="50018" name="Text 50018"/>
          <p:cNvSpPr txBox="1"/>
          <p:nvPr/>
        </p:nvSpPr>
        <p:spPr>
          <a:xfrm>
            <a:off x="5920208" y="3948000"/>
            <a:ext cx="5874532" cy="500000"/>
          </a:xfrm>
          <a:prstGeom prst="rect">
            <a:avLst/>
          </a:prstGeom>
          <a:noFill/>
          <a:ln>
            <a:noFill/>
          </a:ln>
        </p:spPr>
        <p:txBody>
          <a:bodyPr wrap="square" lIns="0" tIns="0" rIns="0" bIns="0" rtlCol="0" anchor="t">
            <a:normAutofit/>
          </a:bodyPr>
          <a:lstStyle/>
          <a:p>
            <a:pPr algn="l">
              <a:buNone/>
            </a:pPr>
            <a:r>
              <a:rPr lang="fr-FR" sz="1000" dirty="0">
                <a:solidFill>
                  <a:srgbClr val="6B6B6B"/>
                </a:solidFill>
                <a:latin typeface="Jost Light" pitchFamily="2" charset="77"/>
                <a:ea typeface="Jost Light" pitchFamily="2" charset="77"/>
                <a:cs typeface="Jost Light" pitchFamily="2" charset="77"/>
              </a:rPr>
              <a:t>Travaux, locataires, quittances, vacances : tout est pris en charge par la société de gestion.</a:t>
            </a:r>
          </a:p>
        </p:txBody>
      </p:sp>
      <p:sp>
        <p:nvSpPr>
          <p:cNvPr id="50019" name="Shape 50019"/>
          <p:cNvSpPr/>
          <p:nvPr/>
        </p:nvSpPr>
        <p:spPr>
          <a:xfrm>
            <a:off x="5300208" y="4302000"/>
            <a:ext cx="6494532" cy="1"/>
          </a:xfrm>
          <a:prstGeom prst="line">
            <a:avLst/>
          </a:prstGeom>
          <a:noFill/>
          <a:ln w="6350">
            <a:solidFill>
              <a:srgbClr val="D9CBA8"/>
            </a:solidFill>
          </a:ln>
        </p:spPr>
        <p:txBody>
          <a:bodyPr rtlCol="0" anchor="ctr"/>
          <a:lstStyle/>
          <a:p>
            <a:endParaRPr lang="fr-FR"/>
          </a:p>
        </p:txBody>
      </p:sp>
      <p:sp>
        <p:nvSpPr>
          <p:cNvPr id="50020" name="Text 50020"/>
          <p:cNvSpPr txBox="1"/>
          <p:nvPr/>
        </p:nvSpPr>
        <p:spPr>
          <a:xfrm>
            <a:off x="5300208" y="4492000"/>
            <a:ext cx="500000" cy="400000"/>
          </a:xfrm>
          <a:prstGeom prst="rect">
            <a:avLst/>
          </a:prstGeom>
          <a:noFill/>
          <a:ln>
            <a:noFill/>
          </a:ln>
        </p:spPr>
        <p:txBody>
          <a:bodyPr wrap="square" lIns="0" tIns="0" rIns="0" bIns="0" rtlCol="0" anchor="t">
            <a:normAutofit/>
          </a:bodyPr>
          <a:lstStyle/>
          <a:p>
            <a:pPr algn="l">
              <a:buNone/>
            </a:pPr>
            <a:r>
              <a:rPr lang="fr-FR" sz="1400" b="1" dirty="0">
                <a:solidFill>
                  <a:srgbClr val="A9853F"/>
                </a:solidFill>
                <a:latin typeface="Cormorant Garamond SemiBold" pitchFamily="2" charset="77"/>
                <a:ea typeface="Cormorant Garamond SemiBold" pitchFamily="2" charset="77"/>
                <a:cs typeface="Cormorant Garamond SemiBold" pitchFamily="2" charset="77"/>
              </a:rPr>
              <a:t>04</a:t>
            </a:r>
          </a:p>
        </p:txBody>
      </p:sp>
      <p:sp>
        <p:nvSpPr>
          <p:cNvPr id="50021" name="Text 50021"/>
          <p:cNvSpPr txBox="1"/>
          <p:nvPr/>
        </p:nvSpPr>
        <p:spPr>
          <a:xfrm>
            <a:off x="5920208" y="4472000"/>
            <a:ext cx="5874532" cy="400000"/>
          </a:xfrm>
          <a:prstGeom prst="rect">
            <a:avLst/>
          </a:prstGeom>
          <a:noFill/>
          <a:ln>
            <a:noFill/>
          </a:ln>
        </p:spPr>
        <p:txBody>
          <a:bodyPr wrap="square" lIns="0" tIns="0" rIns="0" bIns="0" rtlCol="0" anchor="t">
            <a:normAutofit/>
          </a:bodyPr>
          <a:lstStyle/>
          <a:p>
            <a:pPr algn="l">
              <a:buNone/>
            </a:pPr>
            <a:r>
              <a:rPr lang="fr-FR" sz="1150" dirty="0">
                <a:solidFill>
                  <a:srgbClr val="073527"/>
                </a:solidFill>
                <a:latin typeface="Jost Medium" pitchFamily="2" charset="77"/>
                <a:ea typeface="Jost Medium" pitchFamily="2" charset="77"/>
                <a:cs typeface="Jost Medium" pitchFamily="2" charset="77"/>
              </a:rPr>
              <a:t>Un ticket accessible</a:t>
            </a:r>
          </a:p>
        </p:txBody>
      </p:sp>
      <p:sp>
        <p:nvSpPr>
          <p:cNvPr id="50022" name="Text 50022"/>
          <p:cNvSpPr txBox="1"/>
          <p:nvPr/>
        </p:nvSpPr>
        <p:spPr>
          <a:xfrm>
            <a:off x="5920208" y="4812000"/>
            <a:ext cx="5874532" cy="500000"/>
          </a:xfrm>
          <a:prstGeom prst="rect">
            <a:avLst/>
          </a:prstGeom>
          <a:noFill/>
          <a:ln>
            <a:noFill/>
          </a:ln>
        </p:spPr>
        <p:txBody>
          <a:bodyPr wrap="square" lIns="0" tIns="0" rIns="0" bIns="0" rtlCol="0" anchor="t">
            <a:normAutofit/>
          </a:bodyPr>
          <a:lstStyle/>
          <a:p>
            <a:pPr algn="l">
              <a:buNone/>
            </a:pPr>
            <a:r>
              <a:rPr lang="fr-FR" sz="1000" dirty="0">
                <a:solidFill>
                  <a:srgbClr val="6B6B6B"/>
                </a:solidFill>
                <a:latin typeface="Jost Light" pitchFamily="2" charset="77"/>
                <a:ea typeface="Jost Light" pitchFamily="2" charset="77"/>
                <a:cs typeface="Jost Light" pitchFamily="2" charset="77"/>
              </a:rPr>
              <a:t>Quelques milliers d’euros suffisent, et vous pouvez compléter à votre rythme.</a:t>
            </a:r>
          </a:p>
        </p:txBody>
      </p:sp>
      <p:sp>
        <p:nvSpPr>
          <p:cNvPr id="50023" name="Shape 50023"/>
          <p:cNvSpPr/>
          <p:nvPr/>
        </p:nvSpPr>
        <p:spPr>
          <a:xfrm>
            <a:off x="5300208" y="5166000"/>
            <a:ext cx="6494532" cy="1"/>
          </a:xfrm>
          <a:prstGeom prst="line">
            <a:avLst/>
          </a:prstGeom>
          <a:noFill/>
          <a:ln w="6350">
            <a:solidFill>
              <a:srgbClr val="D9CBA8"/>
            </a:solidFill>
          </a:ln>
        </p:spPr>
        <p:txBody>
          <a:bodyPr rtlCol="0" anchor="ctr"/>
          <a:lstStyle/>
          <a:p>
            <a:endParaRPr lang="fr-FR"/>
          </a:p>
        </p:txBody>
      </p:sp>
      <p:sp>
        <p:nvSpPr>
          <p:cNvPr id="50024" name="Text 50024"/>
          <p:cNvSpPr txBox="1"/>
          <p:nvPr/>
        </p:nvSpPr>
        <p:spPr>
          <a:xfrm>
            <a:off x="5300208" y="5356000"/>
            <a:ext cx="500000" cy="400000"/>
          </a:xfrm>
          <a:prstGeom prst="rect">
            <a:avLst/>
          </a:prstGeom>
          <a:noFill/>
          <a:ln>
            <a:noFill/>
          </a:ln>
        </p:spPr>
        <p:txBody>
          <a:bodyPr wrap="square" lIns="0" tIns="0" rIns="0" bIns="0" rtlCol="0" anchor="t">
            <a:normAutofit/>
          </a:bodyPr>
          <a:lstStyle/>
          <a:p>
            <a:pPr algn="l">
              <a:buNone/>
            </a:pPr>
            <a:r>
              <a:rPr lang="fr-FR" sz="1400" b="1" dirty="0">
                <a:solidFill>
                  <a:srgbClr val="A9853F"/>
                </a:solidFill>
                <a:latin typeface="Cormorant Garamond SemiBold" pitchFamily="2" charset="77"/>
                <a:ea typeface="Cormorant Garamond SemiBold" pitchFamily="2" charset="77"/>
                <a:cs typeface="Cormorant Garamond SemiBold" pitchFamily="2" charset="77"/>
              </a:rPr>
              <a:t>05</a:t>
            </a:r>
          </a:p>
        </p:txBody>
      </p:sp>
      <p:sp>
        <p:nvSpPr>
          <p:cNvPr id="50025" name="Text 50025"/>
          <p:cNvSpPr txBox="1"/>
          <p:nvPr/>
        </p:nvSpPr>
        <p:spPr>
          <a:xfrm>
            <a:off x="5920208" y="5336000"/>
            <a:ext cx="5874532" cy="400000"/>
          </a:xfrm>
          <a:prstGeom prst="rect">
            <a:avLst/>
          </a:prstGeom>
          <a:noFill/>
          <a:ln>
            <a:noFill/>
          </a:ln>
        </p:spPr>
        <p:txBody>
          <a:bodyPr wrap="square" lIns="0" tIns="0" rIns="0" bIns="0" rtlCol="0" anchor="t">
            <a:normAutofit/>
          </a:bodyPr>
          <a:lstStyle/>
          <a:p>
            <a:pPr algn="l">
              <a:buNone/>
            </a:pPr>
            <a:r>
              <a:rPr lang="fr-FR" sz="1150" dirty="0">
                <a:solidFill>
                  <a:srgbClr val="073527"/>
                </a:solidFill>
                <a:latin typeface="Jost Medium" pitchFamily="2" charset="77"/>
                <a:ea typeface="Jost Medium" pitchFamily="2" charset="77"/>
                <a:cs typeface="Jost Medium" pitchFamily="2" charset="77"/>
              </a:rPr>
              <a:t>Une détention souple</a:t>
            </a:r>
          </a:p>
        </p:txBody>
      </p:sp>
      <p:sp>
        <p:nvSpPr>
          <p:cNvPr id="50026" name="Text 50026"/>
          <p:cNvSpPr txBox="1"/>
          <p:nvPr/>
        </p:nvSpPr>
        <p:spPr>
          <a:xfrm>
            <a:off x="5920208" y="5676000"/>
            <a:ext cx="5874532" cy="500000"/>
          </a:xfrm>
          <a:prstGeom prst="rect">
            <a:avLst/>
          </a:prstGeom>
          <a:noFill/>
          <a:ln>
            <a:noFill/>
          </a:ln>
        </p:spPr>
        <p:txBody>
          <a:bodyPr wrap="square" lIns="0" tIns="0" rIns="0" bIns="0" rtlCol="0" anchor="t">
            <a:normAutofit/>
          </a:bodyPr>
          <a:lstStyle/>
          <a:p>
            <a:pPr algn="l">
              <a:buNone/>
            </a:pPr>
            <a:r>
              <a:rPr lang="fr-FR" sz="1000" dirty="0">
                <a:solidFill>
                  <a:srgbClr val="6B6B6B"/>
                </a:solidFill>
                <a:latin typeface="Jost Light" pitchFamily="2" charset="77"/>
                <a:ea typeface="Jost Light" pitchFamily="2" charset="77"/>
                <a:cs typeface="Jost Light" pitchFamily="2" charset="77"/>
              </a:rPr>
              <a:t>Au comptant et en direct, à crédit, ou en nue-propriété.</a:t>
            </a:r>
          </a:p>
        </p:txBody>
      </p:sp>
    </p:spTree>
    <p:extLst>
      <p:ext uri="{BB962C8B-B14F-4D97-AF65-F5344CB8AC3E}">
        <p14:creationId xmlns:p14="http://schemas.microsoft.com/office/powerpoint/2010/main" val="1465401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20178"/>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 entonnoir en trois étapes, puis un suivi permanent</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Comment nous sélectionnons les SCPI de nos portefeuilles</a:t>
            </a:r>
          </a:p>
        </p:txBody>
      </p:sp>
      <p:sp>
        <p:nvSpPr>
          <p:cNvPr id="65002" name="Shape 65002"/>
          <p:cNvSpPr/>
          <p:nvPr/>
        </p:nvSpPr>
        <p:spPr>
          <a:xfrm>
            <a:off x="1000000" y="2030000"/>
            <a:ext cx="5100000" cy="780000"/>
          </a:xfrm>
          <a:prstGeom prst="rect">
            <a:avLst/>
          </a:prstGeom>
          <a:solidFill>
            <a:srgbClr val="001B00"/>
          </a:solidFill>
          <a:ln>
            <a:noFill/>
          </a:ln>
        </p:spPr>
        <p:txBody>
          <a:bodyPr rtlCol="0" anchor="ctr"/>
          <a:lstStyle/>
          <a:p>
            <a:endParaRPr lang="fr-FR" dirty="0">
              <a:solidFill>
                <a:schemeClr val="tx2">
                  <a:lumMod val="40000"/>
                  <a:lumOff val="60000"/>
                </a:schemeClr>
              </a:solidFill>
              <a:highlight>
                <a:srgbClr val="6A6A6A"/>
              </a:highlight>
            </a:endParaRPr>
          </a:p>
        </p:txBody>
      </p:sp>
      <p:sp>
        <p:nvSpPr>
          <p:cNvPr id="65003" name="Text 65003"/>
          <p:cNvSpPr txBox="1"/>
          <p:nvPr/>
        </p:nvSpPr>
        <p:spPr>
          <a:xfrm>
            <a:off x="1200000" y="2030000"/>
            <a:ext cx="4700000" cy="780000"/>
          </a:xfrm>
          <a:prstGeom prst="rect">
            <a:avLst/>
          </a:prstGeom>
          <a:noFill/>
          <a:ln>
            <a:noFill/>
          </a:ln>
        </p:spPr>
        <p:txBody>
          <a:bodyPr wrap="square" lIns="0" tIns="0" rIns="0" bIns="0" rtlCol="0" anchor="ctr">
            <a:normAutofit/>
          </a:bodyPr>
          <a:lstStyle/>
          <a:p>
            <a:pPr algn="ctr">
              <a:spcAft>
                <a:spcPts val="120"/>
              </a:spcAft>
              <a:buNone/>
            </a:pPr>
            <a:r>
              <a:rPr lang="fr-FR" sz="1200" dirty="0">
                <a:solidFill>
                  <a:srgbClr val="FFFFFF"/>
                </a:solidFill>
                <a:latin typeface="Jost Medium" pitchFamily="2" charset="77"/>
                <a:ea typeface="Jost Medium" pitchFamily="2" charset="77"/>
                <a:cs typeface="Jost Medium" pitchFamily="2" charset="77"/>
              </a:rPr>
              <a:t>Plus de 200 SCPI</a:t>
            </a:r>
          </a:p>
          <a:p>
            <a:pPr algn="ctr">
              <a:buNone/>
            </a:pPr>
            <a:r>
              <a:rPr lang="fr-FR" sz="900" dirty="0">
                <a:solidFill>
                  <a:srgbClr val="A9853F"/>
                </a:solidFill>
                <a:latin typeface="Jost Light" pitchFamily="2" charset="77"/>
                <a:ea typeface="Jost Light" pitchFamily="2" charset="77"/>
                <a:cs typeface="Jost Light" pitchFamily="2" charset="77"/>
              </a:rPr>
              <a:t>Le marché français et européen.</a:t>
            </a:r>
          </a:p>
        </p:txBody>
      </p:sp>
      <p:sp>
        <p:nvSpPr>
          <p:cNvPr id="65004" name="Text 65004"/>
          <p:cNvSpPr txBox="1"/>
          <p:nvPr/>
        </p:nvSpPr>
        <p:spPr>
          <a:xfrm>
            <a:off x="3350000" y="2780000"/>
            <a:ext cx="400000" cy="260000"/>
          </a:xfrm>
          <a:prstGeom prst="rect">
            <a:avLst/>
          </a:prstGeom>
          <a:noFill/>
          <a:ln>
            <a:noFill/>
          </a:ln>
        </p:spPr>
        <p:txBody>
          <a:bodyPr wrap="square" lIns="0" tIns="0" rIns="0" bIns="0" rtlCol="0" anchor="ctr">
            <a:normAutofit/>
          </a:bodyPr>
          <a:lstStyle/>
          <a:p>
            <a:pPr algn="ctr">
              <a:buNone/>
            </a:pPr>
            <a:r>
              <a:rPr lang="fr-FR" sz="1000" dirty="0">
                <a:solidFill>
                  <a:srgbClr val="A9853F"/>
                </a:solidFill>
                <a:latin typeface="Arial" pitchFamily="2" charset="77"/>
                <a:ea typeface="Arial" pitchFamily="2" charset="77"/>
                <a:cs typeface="Arial" pitchFamily="2" charset="77"/>
              </a:rPr>
              <a:t>▼</a:t>
            </a:r>
          </a:p>
        </p:txBody>
      </p:sp>
      <p:sp>
        <p:nvSpPr>
          <p:cNvPr id="65005" name="Shape 65005"/>
          <p:cNvSpPr/>
          <p:nvPr/>
        </p:nvSpPr>
        <p:spPr>
          <a:xfrm>
            <a:off x="1425000" y="3030000"/>
            <a:ext cx="4250000" cy="780000"/>
          </a:xfrm>
          <a:prstGeom prst="rect">
            <a:avLst/>
          </a:prstGeom>
          <a:solidFill>
            <a:srgbClr val="122610"/>
          </a:solidFill>
          <a:ln>
            <a:noFill/>
          </a:ln>
        </p:spPr>
        <p:txBody>
          <a:bodyPr rtlCol="0" anchor="ctr"/>
          <a:lstStyle/>
          <a:p>
            <a:endParaRPr lang="fr-FR"/>
          </a:p>
        </p:txBody>
      </p:sp>
      <p:sp>
        <p:nvSpPr>
          <p:cNvPr id="65006" name="Text 65006"/>
          <p:cNvSpPr txBox="1"/>
          <p:nvPr/>
        </p:nvSpPr>
        <p:spPr>
          <a:xfrm>
            <a:off x="1625000" y="3030000"/>
            <a:ext cx="3850000" cy="780000"/>
          </a:xfrm>
          <a:prstGeom prst="rect">
            <a:avLst/>
          </a:prstGeom>
          <a:noFill/>
          <a:ln>
            <a:noFill/>
          </a:ln>
        </p:spPr>
        <p:txBody>
          <a:bodyPr wrap="square" lIns="0" tIns="0" rIns="0" bIns="0" rtlCol="0" anchor="ctr">
            <a:normAutofit/>
          </a:bodyPr>
          <a:lstStyle/>
          <a:p>
            <a:pPr algn="ctr">
              <a:spcAft>
                <a:spcPts val="120"/>
              </a:spcAft>
              <a:buNone/>
            </a:pPr>
            <a:r>
              <a:rPr lang="fr-FR" sz="1200" dirty="0">
                <a:solidFill>
                  <a:srgbClr val="FFFFFF"/>
                </a:solidFill>
                <a:latin typeface="Jost Medium" pitchFamily="2" charset="77"/>
                <a:ea typeface="Jost Medium" pitchFamily="2" charset="77"/>
                <a:cs typeface="Jost Medium" pitchFamily="2" charset="77"/>
              </a:rPr>
              <a:t>Filtres quantitatifs</a:t>
            </a:r>
          </a:p>
          <a:p>
            <a:pPr algn="ctr">
              <a:buNone/>
            </a:pPr>
            <a:r>
              <a:rPr lang="fr-FR" sz="900" dirty="0">
                <a:solidFill>
                  <a:srgbClr val="A9853F"/>
                </a:solidFill>
                <a:latin typeface="Jost Light" pitchFamily="2" charset="77"/>
                <a:ea typeface="Jost Light" pitchFamily="2" charset="77"/>
                <a:cs typeface="Jost Light" pitchFamily="2" charset="77"/>
              </a:rPr>
              <a:t>Les chiffres du bulletin trimestriel.</a:t>
            </a:r>
          </a:p>
        </p:txBody>
      </p:sp>
      <p:sp>
        <p:nvSpPr>
          <p:cNvPr id="65007" name="Text 65007"/>
          <p:cNvSpPr txBox="1"/>
          <p:nvPr/>
        </p:nvSpPr>
        <p:spPr>
          <a:xfrm>
            <a:off x="3350000" y="3780000"/>
            <a:ext cx="400000" cy="260000"/>
          </a:xfrm>
          <a:prstGeom prst="rect">
            <a:avLst/>
          </a:prstGeom>
          <a:noFill/>
          <a:ln>
            <a:noFill/>
          </a:ln>
        </p:spPr>
        <p:txBody>
          <a:bodyPr wrap="square" lIns="0" tIns="0" rIns="0" bIns="0" rtlCol="0" anchor="ctr">
            <a:normAutofit/>
          </a:bodyPr>
          <a:lstStyle/>
          <a:p>
            <a:pPr algn="ctr">
              <a:buNone/>
            </a:pPr>
            <a:r>
              <a:rPr lang="fr-FR" sz="1000" dirty="0">
                <a:solidFill>
                  <a:srgbClr val="A9853F"/>
                </a:solidFill>
                <a:latin typeface="Arial" pitchFamily="2" charset="77"/>
                <a:ea typeface="Arial" pitchFamily="2" charset="77"/>
                <a:cs typeface="Arial" pitchFamily="2" charset="77"/>
              </a:rPr>
              <a:t>▼</a:t>
            </a:r>
          </a:p>
        </p:txBody>
      </p:sp>
      <p:sp>
        <p:nvSpPr>
          <p:cNvPr id="65008" name="Shape 65008"/>
          <p:cNvSpPr/>
          <p:nvPr/>
        </p:nvSpPr>
        <p:spPr>
          <a:xfrm>
            <a:off x="1850000" y="4030000"/>
            <a:ext cx="3400000" cy="780000"/>
          </a:xfrm>
          <a:prstGeom prst="rect">
            <a:avLst/>
          </a:prstGeom>
          <a:solidFill>
            <a:srgbClr val="3B3C10"/>
          </a:solidFill>
          <a:ln>
            <a:noFill/>
          </a:ln>
        </p:spPr>
        <p:txBody>
          <a:bodyPr rtlCol="0" anchor="ctr"/>
          <a:lstStyle/>
          <a:p>
            <a:endParaRPr lang="fr-FR"/>
          </a:p>
        </p:txBody>
      </p:sp>
      <p:sp>
        <p:nvSpPr>
          <p:cNvPr id="65009" name="Text 65009"/>
          <p:cNvSpPr txBox="1"/>
          <p:nvPr/>
        </p:nvSpPr>
        <p:spPr>
          <a:xfrm>
            <a:off x="2050000" y="4030000"/>
            <a:ext cx="3000000" cy="780000"/>
          </a:xfrm>
          <a:prstGeom prst="rect">
            <a:avLst/>
          </a:prstGeom>
          <a:noFill/>
          <a:ln>
            <a:noFill/>
          </a:ln>
        </p:spPr>
        <p:txBody>
          <a:bodyPr wrap="square" lIns="0" tIns="0" rIns="0" bIns="0" rtlCol="0" anchor="ctr">
            <a:normAutofit/>
          </a:bodyPr>
          <a:lstStyle/>
          <a:p>
            <a:pPr algn="ctr">
              <a:spcAft>
                <a:spcPts val="120"/>
              </a:spcAft>
              <a:buNone/>
            </a:pPr>
            <a:r>
              <a:rPr lang="fr-FR" sz="1200" dirty="0">
                <a:solidFill>
                  <a:srgbClr val="FFFFFF"/>
                </a:solidFill>
                <a:latin typeface="Jost Medium" pitchFamily="2" charset="77"/>
                <a:ea typeface="Jost Medium" pitchFamily="2" charset="77"/>
                <a:cs typeface="Jost Medium" pitchFamily="2" charset="77"/>
              </a:rPr>
              <a:t>Analyse qualitative</a:t>
            </a:r>
          </a:p>
          <a:p>
            <a:pPr algn="ctr">
              <a:buNone/>
            </a:pPr>
            <a:r>
              <a:rPr lang="fr-FR" sz="900" dirty="0">
                <a:solidFill>
                  <a:srgbClr val="A9853F"/>
                </a:solidFill>
                <a:latin typeface="Jost Light" pitchFamily="2" charset="77"/>
                <a:ea typeface="Jost Light" pitchFamily="2" charset="77"/>
                <a:cs typeface="Jost Light" pitchFamily="2" charset="77"/>
              </a:rPr>
              <a:t>La société de gestion et son parc.</a:t>
            </a:r>
          </a:p>
        </p:txBody>
      </p:sp>
      <p:sp>
        <p:nvSpPr>
          <p:cNvPr id="65010" name="Text 65010"/>
          <p:cNvSpPr txBox="1"/>
          <p:nvPr/>
        </p:nvSpPr>
        <p:spPr>
          <a:xfrm>
            <a:off x="3350000" y="4780000"/>
            <a:ext cx="400000" cy="260000"/>
          </a:xfrm>
          <a:prstGeom prst="rect">
            <a:avLst/>
          </a:prstGeom>
          <a:noFill/>
          <a:ln>
            <a:noFill/>
          </a:ln>
        </p:spPr>
        <p:txBody>
          <a:bodyPr wrap="square" lIns="0" tIns="0" rIns="0" bIns="0" rtlCol="0" anchor="ctr">
            <a:normAutofit/>
          </a:bodyPr>
          <a:lstStyle/>
          <a:p>
            <a:pPr algn="ctr">
              <a:buNone/>
            </a:pPr>
            <a:r>
              <a:rPr lang="fr-FR" sz="1000" dirty="0">
                <a:solidFill>
                  <a:srgbClr val="A9853F"/>
                </a:solidFill>
                <a:latin typeface="Arial" pitchFamily="2" charset="77"/>
                <a:ea typeface="Arial" pitchFamily="2" charset="77"/>
                <a:cs typeface="Arial" pitchFamily="2" charset="77"/>
              </a:rPr>
              <a:t>▼</a:t>
            </a:r>
          </a:p>
        </p:txBody>
      </p:sp>
      <p:sp>
        <p:nvSpPr>
          <p:cNvPr id="65011" name="Shape 65011"/>
          <p:cNvSpPr/>
          <p:nvPr/>
        </p:nvSpPr>
        <p:spPr>
          <a:xfrm>
            <a:off x="2275000" y="5030000"/>
            <a:ext cx="2550000" cy="780000"/>
          </a:xfrm>
          <a:prstGeom prst="rect">
            <a:avLst/>
          </a:prstGeom>
          <a:solidFill>
            <a:srgbClr val="A9853F"/>
          </a:solidFill>
          <a:ln>
            <a:noFill/>
          </a:ln>
        </p:spPr>
        <p:txBody>
          <a:bodyPr rtlCol="0" anchor="ctr"/>
          <a:lstStyle/>
          <a:p>
            <a:endParaRPr lang="fr-FR"/>
          </a:p>
        </p:txBody>
      </p:sp>
      <p:sp>
        <p:nvSpPr>
          <p:cNvPr id="65012" name="Text 65012"/>
          <p:cNvSpPr txBox="1"/>
          <p:nvPr/>
        </p:nvSpPr>
        <p:spPr>
          <a:xfrm>
            <a:off x="2475000" y="5030000"/>
            <a:ext cx="2150000" cy="780000"/>
          </a:xfrm>
          <a:prstGeom prst="rect">
            <a:avLst/>
          </a:prstGeom>
          <a:noFill/>
          <a:ln>
            <a:noFill/>
          </a:ln>
        </p:spPr>
        <p:txBody>
          <a:bodyPr wrap="square" lIns="0" tIns="0" rIns="0" bIns="0" rtlCol="0" anchor="ctr">
            <a:normAutofit/>
          </a:bodyPr>
          <a:lstStyle/>
          <a:p>
            <a:pPr algn="ctr">
              <a:spcAft>
                <a:spcPts val="120"/>
              </a:spcAft>
              <a:buNone/>
            </a:pPr>
            <a:r>
              <a:rPr lang="fr-FR" sz="1200" dirty="0">
                <a:solidFill>
                  <a:srgbClr val="001B00"/>
                </a:solidFill>
                <a:latin typeface="Jost Medium" pitchFamily="2" charset="77"/>
                <a:ea typeface="Jost Medium" pitchFamily="2" charset="77"/>
                <a:cs typeface="Jost Medium" pitchFamily="2" charset="77"/>
              </a:rPr>
              <a:t>Une dizaine retenue</a:t>
            </a:r>
          </a:p>
          <a:p>
            <a:pPr algn="ctr">
              <a:buNone/>
            </a:pPr>
            <a:r>
              <a:rPr lang="fr-FR" sz="900" dirty="0">
                <a:solidFill>
                  <a:srgbClr val="073527"/>
                </a:solidFill>
                <a:latin typeface="Jost Light" pitchFamily="2" charset="77"/>
                <a:ea typeface="Jost Light" pitchFamily="2" charset="77"/>
                <a:cs typeface="Jost Light" pitchFamily="2" charset="77"/>
              </a:rPr>
              <a:t>Les SCPI que nous proposons.</a:t>
            </a:r>
          </a:p>
        </p:txBody>
      </p:sp>
      <p:sp>
        <p:nvSpPr>
          <p:cNvPr id="65013" name="Text 65013"/>
          <p:cNvSpPr txBox="1"/>
          <p:nvPr/>
        </p:nvSpPr>
        <p:spPr>
          <a:xfrm>
            <a:off x="6900000" y="1860000"/>
            <a:ext cx="4792000" cy="400000"/>
          </a:xfrm>
          <a:prstGeom prst="rect">
            <a:avLst/>
          </a:prstGeom>
          <a:noFill/>
          <a:ln>
            <a:noFill/>
          </a:ln>
        </p:spPr>
        <p:txBody>
          <a:bodyPr wrap="square" lIns="0" tIns="0" rIns="0" bIns="0" rtlCol="0" anchor="t">
            <a:normAutofit/>
          </a:bodyPr>
          <a:lstStyle/>
          <a:p>
            <a:pPr algn="l">
              <a:buNone/>
            </a:pPr>
            <a:r>
              <a:rPr lang="fr-FR" sz="1600" b="1" dirty="0">
                <a:solidFill>
                  <a:srgbClr val="073527"/>
                </a:solidFill>
                <a:latin typeface="Cormorant Garamond SemiBold" pitchFamily="2" charset="77"/>
                <a:ea typeface="Cormorant Garamond SemiBold" pitchFamily="2" charset="77"/>
                <a:cs typeface="Cormorant Garamond SemiBold" pitchFamily="2" charset="77"/>
              </a:rPr>
              <a:t>Les filtres quantitatifs</a:t>
            </a:r>
          </a:p>
        </p:txBody>
      </p:sp>
      <p:sp>
        <p:nvSpPr>
          <p:cNvPr id="65014" name="Text 65014"/>
          <p:cNvSpPr txBox="1"/>
          <p:nvPr/>
        </p:nvSpPr>
        <p:spPr>
          <a:xfrm>
            <a:off x="6900000" y="2340000"/>
            <a:ext cx="4792000" cy="896666"/>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Taux d’occupation financier au dessus de 90% pour une SCPI.</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Endettement, collecte et parts en attente de retrait.</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Prix de part comparé à la valeur de reconstitution.</a:t>
            </a:r>
          </a:p>
        </p:txBody>
      </p:sp>
      <p:sp>
        <p:nvSpPr>
          <p:cNvPr id="65015" name="Shape 65015"/>
          <p:cNvSpPr/>
          <p:nvPr/>
        </p:nvSpPr>
        <p:spPr>
          <a:xfrm>
            <a:off x="6900000" y="3206666"/>
            <a:ext cx="4792000" cy="1"/>
          </a:xfrm>
          <a:prstGeom prst="line">
            <a:avLst/>
          </a:prstGeom>
          <a:noFill/>
          <a:ln w="6350">
            <a:solidFill>
              <a:srgbClr val="D9CBA8"/>
            </a:solidFill>
          </a:ln>
        </p:spPr>
        <p:txBody>
          <a:bodyPr rtlCol="0" anchor="ctr"/>
          <a:lstStyle/>
          <a:p>
            <a:endParaRPr lang="fr-FR"/>
          </a:p>
        </p:txBody>
      </p:sp>
      <p:sp>
        <p:nvSpPr>
          <p:cNvPr id="65016" name="Text 65016"/>
          <p:cNvSpPr txBox="1"/>
          <p:nvPr/>
        </p:nvSpPr>
        <p:spPr>
          <a:xfrm>
            <a:off x="6900000" y="3406666"/>
            <a:ext cx="4792000" cy="400000"/>
          </a:xfrm>
          <a:prstGeom prst="rect">
            <a:avLst/>
          </a:prstGeom>
          <a:noFill/>
          <a:ln>
            <a:noFill/>
          </a:ln>
        </p:spPr>
        <p:txBody>
          <a:bodyPr wrap="square" lIns="0" tIns="0" rIns="0" bIns="0" rtlCol="0" anchor="t">
            <a:normAutofit/>
          </a:bodyPr>
          <a:lstStyle/>
          <a:p>
            <a:pPr algn="l">
              <a:buNone/>
            </a:pPr>
            <a:r>
              <a:rPr lang="fr-FR" sz="1600" b="1" dirty="0">
                <a:solidFill>
                  <a:srgbClr val="073527"/>
                </a:solidFill>
                <a:latin typeface="Cormorant Garamond SemiBold" pitchFamily="2" charset="77"/>
                <a:ea typeface="Cormorant Garamond SemiBold" pitchFamily="2" charset="77"/>
                <a:cs typeface="Cormorant Garamond SemiBold" pitchFamily="2" charset="77"/>
              </a:rPr>
              <a:t>L’analyse qualitative</a:t>
            </a:r>
          </a:p>
        </p:txBody>
      </p:sp>
      <p:sp>
        <p:nvSpPr>
          <p:cNvPr id="65017" name="Text 65017"/>
          <p:cNvSpPr txBox="1"/>
          <p:nvPr/>
        </p:nvSpPr>
        <p:spPr>
          <a:xfrm>
            <a:off x="6900000" y="3886666"/>
            <a:ext cx="4792000" cy="896666"/>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Actionnariat, ancienneté, Curriculum Vitae, et stabilité de la société de gestion.</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Cohérence de la stratégie avec le cycle immobilier actuel.</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Qualité du parc, des locataires et durée résiduelle des baux d’un minima de 6 ans.</a:t>
            </a:r>
          </a:p>
        </p:txBody>
      </p:sp>
      <p:sp>
        <p:nvSpPr>
          <p:cNvPr id="65018" name="Shape 65018"/>
          <p:cNvSpPr/>
          <p:nvPr/>
        </p:nvSpPr>
        <p:spPr>
          <a:xfrm>
            <a:off x="6900000" y="4753333"/>
            <a:ext cx="4792000" cy="1"/>
          </a:xfrm>
          <a:prstGeom prst="line">
            <a:avLst/>
          </a:prstGeom>
          <a:noFill/>
          <a:ln w="6350">
            <a:solidFill>
              <a:srgbClr val="D9CBA8"/>
            </a:solidFill>
          </a:ln>
        </p:spPr>
        <p:txBody>
          <a:bodyPr rtlCol="0" anchor="ctr"/>
          <a:lstStyle/>
          <a:p>
            <a:endParaRPr lang="fr-FR"/>
          </a:p>
        </p:txBody>
      </p:sp>
      <p:sp>
        <p:nvSpPr>
          <p:cNvPr id="65019" name="Text 65019"/>
          <p:cNvSpPr txBox="1"/>
          <p:nvPr/>
        </p:nvSpPr>
        <p:spPr>
          <a:xfrm>
            <a:off x="6900000" y="4953333"/>
            <a:ext cx="4792000" cy="400000"/>
          </a:xfrm>
          <a:prstGeom prst="rect">
            <a:avLst/>
          </a:prstGeom>
          <a:noFill/>
          <a:ln>
            <a:noFill/>
          </a:ln>
        </p:spPr>
        <p:txBody>
          <a:bodyPr wrap="square" lIns="0" tIns="0" rIns="0" bIns="0" rtlCol="0" anchor="t">
            <a:normAutofit/>
          </a:bodyPr>
          <a:lstStyle/>
          <a:p>
            <a:pPr algn="l">
              <a:buNone/>
            </a:pPr>
            <a:r>
              <a:rPr lang="fr-FR" sz="1600" b="1" dirty="0">
                <a:solidFill>
                  <a:srgbClr val="073527"/>
                </a:solidFill>
                <a:latin typeface="Cormorant Garamond SemiBold" pitchFamily="2" charset="77"/>
                <a:ea typeface="Cormorant Garamond SemiBold" pitchFamily="2" charset="77"/>
                <a:cs typeface="Cormorant Garamond SemiBold" pitchFamily="2" charset="77"/>
              </a:rPr>
              <a:t>Le suivi dans le temps</a:t>
            </a:r>
          </a:p>
        </p:txBody>
      </p:sp>
      <p:sp>
        <p:nvSpPr>
          <p:cNvPr id="65020" name="Text 65020"/>
          <p:cNvSpPr txBox="1"/>
          <p:nvPr/>
        </p:nvSpPr>
        <p:spPr>
          <a:xfrm>
            <a:off x="6900000" y="5433333"/>
            <a:ext cx="4792000" cy="896666"/>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Lecture de chaque bulletin trimestriel et des expertises annuelles pour nos clients.</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Arbitrage proposé si la thèse d’investissement ne tient plus.</a:t>
            </a:r>
          </a:p>
          <a:p>
            <a:pPr marL="182880" indent="-182880">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Un accompagnement dans la lecture du PFU transmis par la maison de gestion.</a:t>
            </a:r>
          </a:p>
          <a:p>
            <a:pPr marL="182880" indent="-182880" algn="l">
              <a:spcAft>
                <a:spcPts val="350"/>
              </a:spcAft>
              <a:buFont typeface="Arial" pitchFamily="34" charset="0"/>
              <a:buChar char="▪"/>
            </a:pPr>
            <a:endParaRPr lang="fr-FR" sz="950" dirty="0">
              <a:solidFill>
                <a:srgbClr val="6B6B6B"/>
              </a:solidFill>
              <a:latin typeface="Jost Light" pitchFamily="2" charset="77"/>
              <a:ea typeface="Jost Light" pitchFamily="2" charset="77"/>
              <a:cs typeface="Jost Light" pitchFamily="2" charset="77"/>
            </a:endParaRPr>
          </a:p>
        </p:txBody>
      </p:sp>
    </p:spTree>
    <p:extLst>
      <p:ext uri="{BB962C8B-B14F-4D97-AF65-F5344CB8AC3E}">
        <p14:creationId xmlns:p14="http://schemas.microsoft.com/office/powerpoint/2010/main" val="3900284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20178"/>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Une fiscalité très allégée et une diversification hors du marché français</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L’intérêt des SCPI européennes diversifiées</a:t>
            </a:r>
          </a:p>
        </p:txBody>
      </p:sp>
      <p:sp>
        <p:nvSpPr>
          <p:cNvPr id="60002" name="Shape 60002"/>
          <p:cNvSpPr/>
          <p:nvPr/>
        </p:nvSpPr>
        <p:spPr>
          <a:xfrm>
            <a:off x="3347468" y="2121643"/>
            <a:ext cx="2050000" cy="520000"/>
          </a:xfrm>
          <a:prstGeom prst="rect">
            <a:avLst/>
          </a:prstGeom>
          <a:solidFill>
            <a:srgbClr val="073527"/>
          </a:solidFill>
          <a:ln>
            <a:noFill/>
          </a:ln>
        </p:spPr>
        <p:txBody>
          <a:bodyPr rtlCol="0" anchor="ctr"/>
          <a:lstStyle/>
          <a:p>
            <a:endParaRPr lang="fr-FR"/>
          </a:p>
        </p:txBody>
      </p:sp>
      <p:sp>
        <p:nvSpPr>
          <p:cNvPr id="60003" name="Text 60003"/>
          <p:cNvSpPr txBox="1"/>
          <p:nvPr/>
        </p:nvSpPr>
        <p:spPr>
          <a:xfrm>
            <a:off x="3347468" y="2121643"/>
            <a:ext cx="2050000" cy="520000"/>
          </a:xfrm>
          <a:prstGeom prst="rect">
            <a:avLst/>
          </a:prstGeom>
          <a:solidFill>
            <a:srgbClr val="3B3C10"/>
          </a:solidFill>
          <a:ln>
            <a:noFill/>
          </a:ln>
        </p:spPr>
        <p:txBody>
          <a:bodyPr wrap="square" lIns="0" tIns="0" rIns="0" bIns="0" rtlCol="0" anchor="ctr">
            <a:normAutofit/>
          </a:bodyPr>
          <a:lstStyle/>
          <a:p>
            <a:pPr algn="ctr">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SCPI française</a:t>
            </a:r>
          </a:p>
        </p:txBody>
      </p:sp>
      <p:sp>
        <p:nvSpPr>
          <p:cNvPr id="60004" name="Shape 60004"/>
          <p:cNvSpPr/>
          <p:nvPr/>
        </p:nvSpPr>
        <p:spPr>
          <a:xfrm>
            <a:off x="5397468" y="2121643"/>
            <a:ext cx="2050000" cy="520000"/>
          </a:xfrm>
          <a:prstGeom prst="rect">
            <a:avLst/>
          </a:prstGeom>
          <a:solidFill>
            <a:srgbClr val="001B00"/>
          </a:solidFill>
          <a:ln>
            <a:noFill/>
          </a:ln>
        </p:spPr>
        <p:txBody>
          <a:bodyPr rtlCol="0" anchor="ctr"/>
          <a:lstStyle/>
          <a:p>
            <a:endParaRPr lang="fr-FR"/>
          </a:p>
        </p:txBody>
      </p:sp>
      <p:sp>
        <p:nvSpPr>
          <p:cNvPr id="60005" name="Text 60005"/>
          <p:cNvSpPr txBox="1"/>
          <p:nvPr/>
        </p:nvSpPr>
        <p:spPr>
          <a:xfrm>
            <a:off x="5397468" y="2121643"/>
            <a:ext cx="2050000" cy="520000"/>
          </a:xfrm>
          <a:prstGeom prst="rect">
            <a:avLst/>
          </a:prstGeom>
          <a:solidFill>
            <a:srgbClr val="A9853F"/>
          </a:solidFill>
          <a:ln>
            <a:noFill/>
          </a:ln>
        </p:spPr>
        <p:txBody>
          <a:bodyPr wrap="square" lIns="0" tIns="0" rIns="0" bIns="0" rtlCol="0" anchor="ctr">
            <a:normAutofit/>
          </a:bodyPr>
          <a:lstStyle/>
          <a:p>
            <a:pPr algn="ctr">
              <a:buNone/>
            </a:pPr>
            <a:r>
              <a:rPr lang="fr-FR" sz="1300" b="1" dirty="0">
                <a:latin typeface="Cormorant Garamond SemiBold" pitchFamily="2" charset="77"/>
                <a:ea typeface="Cormorant Garamond SemiBold" pitchFamily="2" charset="77"/>
                <a:cs typeface="Cormorant Garamond SemiBold" pitchFamily="2" charset="77"/>
              </a:rPr>
              <a:t>SCPI européenne</a:t>
            </a:r>
          </a:p>
        </p:txBody>
      </p:sp>
      <p:sp>
        <p:nvSpPr>
          <p:cNvPr id="60006" name="Shape 60006"/>
          <p:cNvSpPr/>
          <p:nvPr/>
        </p:nvSpPr>
        <p:spPr>
          <a:xfrm>
            <a:off x="5397468" y="2641643"/>
            <a:ext cx="2050000" cy="2550000"/>
          </a:xfrm>
          <a:prstGeom prst="rect">
            <a:avLst/>
          </a:prstGeom>
          <a:solidFill>
            <a:srgbClr val="FCF9EF"/>
          </a:solidFill>
          <a:ln>
            <a:noFill/>
          </a:ln>
        </p:spPr>
        <p:txBody>
          <a:bodyPr rtlCol="0" anchor="ctr"/>
          <a:lstStyle/>
          <a:p>
            <a:endParaRPr lang="fr-FR"/>
          </a:p>
        </p:txBody>
      </p:sp>
      <p:sp>
        <p:nvSpPr>
          <p:cNvPr id="60007" name="Text 60007"/>
          <p:cNvSpPr txBox="1"/>
          <p:nvPr/>
        </p:nvSpPr>
        <p:spPr>
          <a:xfrm>
            <a:off x="947468" y="2641643"/>
            <a:ext cx="2250000" cy="637500"/>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Prélèvements sociaux</a:t>
            </a:r>
          </a:p>
        </p:txBody>
      </p:sp>
      <p:sp>
        <p:nvSpPr>
          <p:cNvPr id="60008" name="Text 60008"/>
          <p:cNvSpPr txBox="1"/>
          <p:nvPr/>
        </p:nvSpPr>
        <p:spPr>
          <a:xfrm>
            <a:off x="3527468" y="2641643"/>
            <a:ext cx="1690000" cy="637500"/>
          </a:xfrm>
          <a:prstGeom prst="rect">
            <a:avLst/>
          </a:prstGeom>
          <a:noFill/>
          <a:ln>
            <a:noFill/>
          </a:ln>
        </p:spPr>
        <p:txBody>
          <a:bodyPr wrap="square" lIns="0" tIns="0" rIns="0" bIns="0" rtlCol="0" anchor="ctr">
            <a:normAutofit/>
          </a:bodyPr>
          <a:lstStyle/>
          <a:p>
            <a:pPr algn="ctr">
              <a:buNone/>
            </a:pPr>
            <a:r>
              <a:rPr lang="fr-FR" sz="1000" dirty="0">
                <a:solidFill>
                  <a:srgbClr val="6B6B6B"/>
                </a:solidFill>
                <a:latin typeface="Jost Light" pitchFamily="2" charset="77"/>
                <a:ea typeface="Jost Light" pitchFamily="2" charset="77"/>
                <a:cs typeface="Jost Light" pitchFamily="2" charset="77"/>
              </a:rPr>
              <a:t>17,2 %</a:t>
            </a:r>
          </a:p>
        </p:txBody>
      </p:sp>
      <p:sp>
        <p:nvSpPr>
          <p:cNvPr id="60009" name="Text 60009"/>
          <p:cNvSpPr txBox="1"/>
          <p:nvPr/>
        </p:nvSpPr>
        <p:spPr>
          <a:xfrm>
            <a:off x="5577468" y="2641643"/>
            <a:ext cx="1690000" cy="637500"/>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0 %</a:t>
            </a:r>
          </a:p>
        </p:txBody>
      </p:sp>
      <p:sp>
        <p:nvSpPr>
          <p:cNvPr id="60010" name="Shape 60010"/>
          <p:cNvSpPr/>
          <p:nvPr/>
        </p:nvSpPr>
        <p:spPr>
          <a:xfrm>
            <a:off x="947468" y="3279143"/>
            <a:ext cx="6500000" cy="1"/>
          </a:xfrm>
          <a:prstGeom prst="line">
            <a:avLst/>
          </a:prstGeom>
          <a:noFill/>
          <a:ln w="6350">
            <a:solidFill>
              <a:srgbClr val="D9CBA8"/>
            </a:solidFill>
          </a:ln>
        </p:spPr>
        <p:txBody>
          <a:bodyPr rtlCol="0" anchor="ctr"/>
          <a:lstStyle/>
          <a:p>
            <a:endParaRPr lang="fr-FR"/>
          </a:p>
        </p:txBody>
      </p:sp>
      <p:sp>
        <p:nvSpPr>
          <p:cNvPr id="60011" name="Text 60011"/>
          <p:cNvSpPr txBox="1"/>
          <p:nvPr/>
        </p:nvSpPr>
        <p:spPr>
          <a:xfrm>
            <a:off x="947468" y="3279143"/>
            <a:ext cx="2250000" cy="637500"/>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Imposition des loyers</a:t>
            </a:r>
          </a:p>
        </p:txBody>
      </p:sp>
      <p:sp>
        <p:nvSpPr>
          <p:cNvPr id="60012" name="Text 60012"/>
          <p:cNvSpPr txBox="1"/>
          <p:nvPr/>
        </p:nvSpPr>
        <p:spPr>
          <a:xfrm>
            <a:off x="3527468" y="3279143"/>
            <a:ext cx="1690000" cy="637500"/>
          </a:xfrm>
          <a:prstGeom prst="rect">
            <a:avLst/>
          </a:prstGeom>
          <a:noFill/>
          <a:ln>
            <a:noFill/>
          </a:ln>
        </p:spPr>
        <p:txBody>
          <a:bodyPr wrap="square" lIns="0" tIns="0" rIns="0" bIns="0" rtlCol="0" anchor="ctr">
            <a:normAutofit/>
          </a:bodyPr>
          <a:lstStyle/>
          <a:p>
            <a:pPr algn="ctr">
              <a:buNone/>
            </a:pPr>
            <a:r>
              <a:rPr lang="fr-FR" sz="1000" dirty="0">
                <a:solidFill>
                  <a:srgbClr val="6B6B6B"/>
                </a:solidFill>
                <a:latin typeface="Jost Light" pitchFamily="2" charset="77"/>
                <a:ea typeface="Jost Light" pitchFamily="2" charset="77"/>
                <a:cs typeface="Jost Light" pitchFamily="2" charset="77"/>
              </a:rPr>
              <a:t>Barème de l’impôt sur le revenu</a:t>
            </a:r>
          </a:p>
        </p:txBody>
      </p:sp>
      <p:sp>
        <p:nvSpPr>
          <p:cNvPr id="60013" name="Text 60013"/>
          <p:cNvSpPr txBox="1"/>
          <p:nvPr/>
        </p:nvSpPr>
        <p:spPr>
          <a:xfrm>
            <a:off x="5577468" y="3279143"/>
            <a:ext cx="1690000" cy="637500"/>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Impôts locaux des actifs</a:t>
            </a:r>
          </a:p>
        </p:txBody>
      </p:sp>
      <p:sp>
        <p:nvSpPr>
          <p:cNvPr id="60014" name="Shape 60014"/>
          <p:cNvSpPr/>
          <p:nvPr/>
        </p:nvSpPr>
        <p:spPr>
          <a:xfrm>
            <a:off x="947468" y="3916643"/>
            <a:ext cx="6500000" cy="1"/>
          </a:xfrm>
          <a:prstGeom prst="line">
            <a:avLst/>
          </a:prstGeom>
          <a:noFill/>
          <a:ln w="6350">
            <a:solidFill>
              <a:srgbClr val="D9CBA8"/>
            </a:solidFill>
          </a:ln>
        </p:spPr>
        <p:txBody>
          <a:bodyPr rtlCol="0" anchor="ctr"/>
          <a:lstStyle/>
          <a:p>
            <a:endParaRPr lang="fr-FR"/>
          </a:p>
        </p:txBody>
      </p:sp>
      <p:sp>
        <p:nvSpPr>
          <p:cNvPr id="60015" name="Text 60015"/>
          <p:cNvSpPr txBox="1"/>
          <p:nvPr/>
        </p:nvSpPr>
        <p:spPr>
          <a:xfrm>
            <a:off x="947468" y="3916643"/>
            <a:ext cx="2250000" cy="637500"/>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Mécanisme fiscal</a:t>
            </a:r>
          </a:p>
        </p:txBody>
      </p:sp>
      <p:sp>
        <p:nvSpPr>
          <p:cNvPr id="60016" name="Text 60016"/>
          <p:cNvSpPr txBox="1"/>
          <p:nvPr/>
        </p:nvSpPr>
        <p:spPr>
          <a:xfrm>
            <a:off x="3527468" y="3916643"/>
            <a:ext cx="1690000" cy="637500"/>
          </a:xfrm>
          <a:prstGeom prst="rect">
            <a:avLst/>
          </a:prstGeom>
          <a:noFill/>
          <a:ln>
            <a:noFill/>
          </a:ln>
        </p:spPr>
        <p:txBody>
          <a:bodyPr wrap="square" lIns="0" tIns="0" rIns="0" bIns="0" rtlCol="0" anchor="ctr">
            <a:normAutofit/>
          </a:bodyPr>
          <a:lstStyle/>
          <a:p>
            <a:pPr algn="ctr">
              <a:buNone/>
            </a:pPr>
            <a:r>
              <a:rPr lang="fr-FR" sz="1000" dirty="0">
                <a:solidFill>
                  <a:srgbClr val="6B6B6B"/>
                </a:solidFill>
                <a:latin typeface="Jost Light" pitchFamily="2" charset="77"/>
                <a:ea typeface="Jost Light" pitchFamily="2" charset="77"/>
                <a:cs typeface="Jost Light" pitchFamily="2" charset="77"/>
              </a:rPr>
              <a:t>Aucun</a:t>
            </a:r>
          </a:p>
        </p:txBody>
      </p:sp>
      <p:sp>
        <p:nvSpPr>
          <p:cNvPr id="60017" name="Text 60017"/>
          <p:cNvSpPr txBox="1"/>
          <p:nvPr/>
        </p:nvSpPr>
        <p:spPr>
          <a:xfrm>
            <a:off x="5577468" y="3916643"/>
            <a:ext cx="1690000" cy="637500"/>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Crédit d’impôt ou taux effectif, selon la convention</a:t>
            </a:r>
          </a:p>
        </p:txBody>
      </p:sp>
      <p:sp>
        <p:nvSpPr>
          <p:cNvPr id="60018" name="Shape 60018"/>
          <p:cNvSpPr/>
          <p:nvPr/>
        </p:nvSpPr>
        <p:spPr>
          <a:xfrm>
            <a:off x="947468" y="4554143"/>
            <a:ext cx="6500000" cy="1"/>
          </a:xfrm>
          <a:prstGeom prst="line">
            <a:avLst/>
          </a:prstGeom>
          <a:noFill/>
          <a:ln w="6350">
            <a:solidFill>
              <a:srgbClr val="D9CBA8"/>
            </a:solidFill>
          </a:ln>
        </p:spPr>
        <p:txBody>
          <a:bodyPr rtlCol="0" anchor="ctr"/>
          <a:lstStyle/>
          <a:p>
            <a:endParaRPr lang="fr-FR"/>
          </a:p>
        </p:txBody>
      </p:sp>
      <p:sp>
        <p:nvSpPr>
          <p:cNvPr id="60019" name="Text 60019"/>
          <p:cNvSpPr txBox="1"/>
          <p:nvPr/>
        </p:nvSpPr>
        <p:spPr>
          <a:xfrm>
            <a:off x="947468" y="4554143"/>
            <a:ext cx="2250000" cy="637500"/>
          </a:xfrm>
          <a:prstGeom prst="rect">
            <a:avLst/>
          </a:prstGeom>
          <a:noFill/>
          <a:ln>
            <a:noFill/>
          </a:ln>
        </p:spPr>
        <p:txBody>
          <a:bodyPr wrap="square" lIns="0" tIns="0" rIns="0" bIns="0" rtlCol="0" anchor="ctr">
            <a:normAutofit/>
          </a:bodyPr>
          <a:lstStyle/>
          <a:p>
            <a:pPr algn="l">
              <a:buNone/>
            </a:pPr>
            <a:r>
              <a:rPr lang="fr-FR" sz="1000" dirty="0">
                <a:solidFill>
                  <a:srgbClr val="073527"/>
                </a:solidFill>
                <a:latin typeface="Jost Medium" pitchFamily="2" charset="77"/>
                <a:ea typeface="Jost Medium" pitchFamily="2" charset="77"/>
                <a:cs typeface="Jost Medium" pitchFamily="2" charset="77"/>
              </a:rPr>
              <a:t>Déclaration</a:t>
            </a:r>
          </a:p>
        </p:txBody>
      </p:sp>
      <p:sp>
        <p:nvSpPr>
          <p:cNvPr id="60020" name="Text 60020"/>
          <p:cNvSpPr txBox="1"/>
          <p:nvPr/>
        </p:nvSpPr>
        <p:spPr>
          <a:xfrm>
            <a:off x="3527468" y="4554143"/>
            <a:ext cx="1690000" cy="637500"/>
          </a:xfrm>
          <a:prstGeom prst="rect">
            <a:avLst/>
          </a:prstGeom>
          <a:noFill/>
          <a:ln>
            <a:noFill/>
          </a:ln>
        </p:spPr>
        <p:txBody>
          <a:bodyPr wrap="square" lIns="0" tIns="0" rIns="0" bIns="0" rtlCol="0" anchor="ctr">
            <a:normAutofit/>
          </a:bodyPr>
          <a:lstStyle/>
          <a:p>
            <a:pPr algn="ctr">
              <a:buNone/>
            </a:pPr>
            <a:r>
              <a:rPr lang="fr-FR" sz="1000" dirty="0">
                <a:solidFill>
                  <a:srgbClr val="6B6B6B"/>
                </a:solidFill>
                <a:latin typeface="Jost Light" pitchFamily="2" charset="77"/>
                <a:ea typeface="Jost Light" pitchFamily="2" charset="77"/>
                <a:cs typeface="Jost Light" pitchFamily="2" charset="77"/>
              </a:rPr>
              <a:t>Formulaire 2044</a:t>
            </a:r>
          </a:p>
        </p:txBody>
      </p:sp>
      <p:sp>
        <p:nvSpPr>
          <p:cNvPr id="60021" name="Text 60021"/>
          <p:cNvSpPr txBox="1"/>
          <p:nvPr/>
        </p:nvSpPr>
        <p:spPr>
          <a:xfrm>
            <a:off x="5577468" y="4554143"/>
            <a:ext cx="1690000" cy="637500"/>
          </a:xfrm>
          <a:prstGeom prst="rect">
            <a:avLst/>
          </a:prstGeom>
          <a:noFill/>
          <a:ln>
            <a:noFill/>
          </a:ln>
        </p:spPr>
        <p:txBody>
          <a:bodyPr wrap="square" lIns="0" tIns="0" rIns="0" bIns="0" rtlCol="0" anchor="ctr">
            <a:normAutofit/>
          </a:bodyPr>
          <a:lstStyle/>
          <a:p>
            <a:pPr algn="ctr">
              <a:buNone/>
            </a:pPr>
            <a:r>
              <a:rPr lang="fr-FR" sz="1000" dirty="0">
                <a:solidFill>
                  <a:srgbClr val="073527"/>
                </a:solidFill>
                <a:latin typeface="Jost Medium" pitchFamily="2" charset="77"/>
                <a:ea typeface="Jost Medium" pitchFamily="2" charset="77"/>
                <a:cs typeface="Jost Medium" pitchFamily="2" charset="77"/>
              </a:rPr>
              <a:t>Formulaire 2047, puis report sur la 2042</a:t>
            </a:r>
          </a:p>
        </p:txBody>
      </p:sp>
      <p:sp>
        <p:nvSpPr>
          <p:cNvPr id="60022" name="Shape 60022"/>
          <p:cNvSpPr/>
          <p:nvPr/>
        </p:nvSpPr>
        <p:spPr>
          <a:xfrm>
            <a:off x="947468" y="5191643"/>
            <a:ext cx="6500000" cy="1"/>
          </a:xfrm>
          <a:prstGeom prst="line">
            <a:avLst/>
          </a:prstGeom>
          <a:noFill/>
          <a:ln w="9525">
            <a:solidFill>
              <a:srgbClr val="A9853F"/>
            </a:solidFill>
          </a:ln>
        </p:spPr>
        <p:txBody>
          <a:bodyPr rtlCol="0" anchor="ctr"/>
          <a:lstStyle/>
          <a:p>
            <a:endParaRPr lang="fr-FR"/>
          </a:p>
        </p:txBody>
      </p:sp>
      <p:sp>
        <p:nvSpPr>
          <p:cNvPr id="60023" name="Text 60023"/>
          <p:cNvSpPr txBox="1"/>
          <p:nvPr/>
        </p:nvSpPr>
        <p:spPr>
          <a:xfrm>
            <a:off x="7947468" y="2103135"/>
            <a:ext cx="3744532"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CE QUE CELA CHANGE POUR VOUS </a:t>
            </a:r>
          </a:p>
        </p:txBody>
      </p:sp>
      <p:sp>
        <p:nvSpPr>
          <p:cNvPr id="60024" name="Text 60024"/>
          <p:cNvSpPr txBox="1"/>
          <p:nvPr/>
        </p:nvSpPr>
        <p:spPr>
          <a:xfrm>
            <a:off x="7947468" y="2433135"/>
            <a:ext cx="3744532" cy="400000"/>
          </a:xfrm>
          <a:prstGeom prst="rect">
            <a:avLst/>
          </a:prstGeom>
          <a:noFill/>
          <a:ln>
            <a:noFill/>
          </a:ln>
        </p:spPr>
        <p:txBody>
          <a:bodyPr wrap="square" lIns="0" tIns="0" rIns="0" bIns="0" rtlCol="0" anchor="t">
            <a:normAutofit/>
          </a:bodyPr>
          <a:lstStyle/>
          <a:p>
            <a:pPr algn="l">
              <a:buNone/>
            </a:pPr>
            <a:r>
              <a:rPr lang="fr-FR" sz="1600" b="1" dirty="0">
                <a:solidFill>
                  <a:srgbClr val="073527"/>
                </a:solidFill>
                <a:latin typeface="Cormorant Garamond SemiBold" pitchFamily="2" charset="77"/>
                <a:ea typeface="Cormorant Garamond SemiBold" pitchFamily="2" charset="77"/>
                <a:cs typeface="Cormorant Garamond SemiBold" pitchFamily="2" charset="77"/>
              </a:rPr>
              <a:t>Un rendement net supérieur</a:t>
            </a:r>
          </a:p>
        </p:txBody>
      </p:sp>
      <p:sp>
        <p:nvSpPr>
          <p:cNvPr id="60025" name="Text 60025"/>
          <p:cNvSpPr txBox="1"/>
          <p:nvPr/>
        </p:nvSpPr>
        <p:spPr>
          <a:xfrm>
            <a:off x="7947468" y="2913135"/>
            <a:ext cx="3744532" cy="900000"/>
          </a:xfrm>
          <a:prstGeom prst="rect">
            <a:avLst/>
          </a:prstGeom>
          <a:noFill/>
          <a:ln>
            <a:noFill/>
          </a:ln>
        </p:spPr>
        <p:txBody>
          <a:bodyPr wrap="square" lIns="0" tIns="0" rIns="0" bIns="0" rtlCol="0" anchor="t">
            <a:normAutofit/>
          </a:bodyPr>
          <a:lstStyle/>
          <a:p>
            <a:pPr algn="l">
              <a:buNone/>
            </a:pPr>
            <a:r>
              <a:rPr lang="fr-FR" sz="1000" dirty="0">
                <a:solidFill>
                  <a:srgbClr val="6B6B6B"/>
                </a:solidFill>
                <a:latin typeface="Jost Light" pitchFamily="2" charset="77"/>
                <a:ea typeface="Jost Light" pitchFamily="2" charset="77"/>
                <a:cs typeface="Jost Light" pitchFamily="2" charset="77"/>
              </a:rPr>
              <a:t>À taux de distribution identique, l’absence de prélèvements sociaux améliore nettement ce qui vous reste.</a:t>
            </a:r>
          </a:p>
        </p:txBody>
      </p:sp>
      <p:sp>
        <p:nvSpPr>
          <p:cNvPr id="60026" name="Text 60026"/>
          <p:cNvSpPr txBox="1"/>
          <p:nvPr/>
        </p:nvSpPr>
        <p:spPr>
          <a:xfrm>
            <a:off x="7947468" y="3456468"/>
            <a:ext cx="3744532" cy="400000"/>
          </a:xfrm>
          <a:prstGeom prst="rect">
            <a:avLst/>
          </a:prstGeom>
          <a:noFill/>
          <a:ln>
            <a:noFill/>
          </a:ln>
        </p:spPr>
        <p:txBody>
          <a:bodyPr wrap="square" lIns="0" tIns="0" rIns="0" bIns="0" rtlCol="0" anchor="t">
            <a:normAutofit/>
          </a:bodyPr>
          <a:lstStyle/>
          <a:p>
            <a:pPr algn="l">
              <a:buNone/>
            </a:pPr>
            <a:r>
              <a:rPr lang="fr-FR" sz="1600" b="1" dirty="0">
                <a:solidFill>
                  <a:srgbClr val="073527"/>
                </a:solidFill>
                <a:latin typeface="Cormorant Garamond SemiBold" pitchFamily="2" charset="77"/>
                <a:ea typeface="Cormorant Garamond SemiBold" pitchFamily="2" charset="77"/>
                <a:cs typeface="Cormorant Garamond SemiBold" pitchFamily="2" charset="77"/>
              </a:rPr>
              <a:t>Une diversification réelle</a:t>
            </a:r>
          </a:p>
        </p:txBody>
      </p:sp>
      <p:sp>
        <p:nvSpPr>
          <p:cNvPr id="60027" name="Text 60027"/>
          <p:cNvSpPr txBox="1"/>
          <p:nvPr/>
        </p:nvSpPr>
        <p:spPr>
          <a:xfrm>
            <a:off x="7947468" y="3936468"/>
            <a:ext cx="3744532" cy="900000"/>
          </a:xfrm>
          <a:prstGeom prst="rect">
            <a:avLst/>
          </a:prstGeom>
          <a:noFill/>
          <a:ln>
            <a:noFill/>
          </a:ln>
        </p:spPr>
        <p:txBody>
          <a:bodyPr wrap="square" lIns="0" tIns="0" rIns="0" bIns="0" rtlCol="0" anchor="t">
            <a:normAutofit/>
          </a:bodyPr>
          <a:lstStyle/>
          <a:p>
            <a:pPr algn="l">
              <a:buNone/>
            </a:pPr>
            <a:r>
              <a:rPr lang="fr-FR" sz="1000" dirty="0">
                <a:solidFill>
                  <a:srgbClr val="6B6B6B"/>
                </a:solidFill>
                <a:latin typeface="Jost Light" pitchFamily="2" charset="77"/>
                <a:ea typeface="Jost Light" pitchFamily="2" charset="77"/>
                <a:cs typeface="Jost Light" pitchFamily="2" charset="77"/>
              </a:rPr>
              <a:t>Des marchés locatifs et des cycles différents de ceux de l’immobilier français.</a:t>
            </a:r>
          </a:p>
        </p:txBody>
      </p:sp>
      <p:sp>
        <p:nvSpPr>
          <p:cNvPr id="60028" name="Text 60028"/>
          <p:cNvSpPr txBox="1"/>
          <p:nvPr/>
        </p:nvSpPr>
        <p:spPr>
          <a:xfrm>
            <a:off x="7947468" y="4479801"/>
            <a:ext cx="3744532" cy="400000"/>
          </a:xfrm>
          <a:prstGeom prst="rect">
            <a:avLst/>
          </a:prstGeom>
          <a:noFill/>
          <a:ln>
            <a:noFill/>
          </a:ln>
        </p:spPr>
        <p:txBody>
          <a:bodyPr wrap="square" lIns="0" tIns="0" rIns="0" bIns="0" rtlCol="0" anchor="t">
            <a:normAutofit/>
          </a:bodyPr>
          <a:lstStyle/>
          <a:p>
            <a:pPr algn="l">
              <a:buNone/>
            </a:pPr>
            <a:r>
              <a:rPr lang="fr-FR" sz="1600" b="1" dirty="0">
                <a:solidFill>
                  <a:srgbClr val="073527"/>
                </a:solidFill>
                <a:latin typeface="Cormorant Garamond SemiBold" pitchFamily="2" charset="77"/>
                <a:ea typeface="Cormorant Garamond SemiBold" pitchFamily="2" charset="77"/>
                <a:cs typeface="Cormorant Garamond SemiBold" pitchFamily="2" charset="77"/>
              </a:rPr>
              <a:t>Des actifs plus variés</a:t>
            </a:r>
          </a:p>
        </p:txBody>
      </p:sp>
      <p:sp>
        <p:nvSpPr>
          <p:cNvPr id="60029" name="Text 60029"/>
          <p:cNvSpPr txBox="1"/>
          <p:nvPr/>
        </p:nvSpPr>
        <p:spPr>
          <a:xfrm>
            <a:off x="7947468" y="4959801"/>
            <a:ext cx="3744532" cy="900000"/>
          </a:xfrm>
          <a:prstGeom prst="rect">
            <a:avLst/>
          </a:prstGeom>
          <a:noFill/>
          <a:ln>
            <a:noFill/>
          </a:ln>
        </p:spPr>
        <p:txBody>
          <a:bodyPr wrap="square" lIns="0" tIns="0" rIns="0" bIns="0" rtlCol="0" anchor="t">
            <a:normAutofit/>
          </a:bodyPr>
          <a:lstStyle/>
          <a:p>
            <a:pPr algn="l">
              <a:buNone/>
            </a:pPr>
            <a:r>
              <a:rPr lang="fr-FR" sz="1000" dirty="0">
                <a:solidFill>
                  <a:srgbClr val="6B6B6B"/>
                </a:solidFill>
                <a:latin typeface="Jost Light" pitchFamily="2" charset="77"/>
                <a:ea typeface="Jost Light" pitchFamily="2" charset="77"/>
                <a:cs typeface="Jost Light" pitchFamily="2" charset="77"/>
              </a:rPr>
              <a:t>Logistique, santé, commerces et bureaux récents, dans plusieurs pays de la zone euro.</a:t>
            </a:r>
          </a:p>
        </p:txBody>
      </p:sp>
    </p:spTree>
    <p:extLst>
      <p:ext uri="{BB962C8B-B14F-4D97-AF65-F5344CB8AC3E}">
        <p14:creationId xmlns:p14="http://schemas.microsoft.com/office/powerpoint/2010/main" val="3780382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5A6FD189-3685-3C92-C353-B9883B97626F}"/>
              </a:ext>
            </a:extLst>
          </p:cNvPr>
          <p:cNvPicPr>
            <a:picLocks noChangeAspect="1"/>
          </p:cNvPicPr>
          <p:nvPr/>
        </p:nvPicPr>
        <p:blipFill>
          <a:blip r:embed="rId2">
            <a:alphaModFix amt="5000"/>
          </a:blip>
          <a:srcRect l="6207" b="6232"/>
          <a:stretch>
            <a:fillRect/>
          </a:stretch>
        </p:blipFill>
        <p:spPr>
          <a:xfrm>
            <a:off x="0" y="-1822"/>
            <a:ext cx="12191999" cy="6859822"/>
          </a:xfrm>
          <a:prstGeom prst="rect">
            <a:avLst/>
          </a:prstGeom>
        </p:spPr>
      </p:pic>
      <p:sp>
        <p:nvSpPr>
          <p:cNvPr id="29" name="Rectangle 28">
            <a:extLst>
              <a:ext uri="{FF2B5EF4-FFF2-40B4-BE49-F238E27FC236}">
                <a16:creationId xmlns:a16="http://schemas.microsoft.com/office/drawing/2014/main" id="{230A04BE-F296-333E-13AB-C78F444054F5}"/>
              </a:ext>
            </a:extLst>
          </p:cNvPr>
          <p:cNvSpPr/>
          <p:nvPr/>
        </p:nvSpPr>
        <p:spPr>
          <a:xfrm>
            <a:off x="8187915" y="2147869"/>
            <a:ext cx="3189250" cy="2241395"/>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5763D36D-43C5-4F6B-4689-2713DB6666AB}"/>
              </a:ext>
            </a:extLst>
          </p:cNvPr>
          <p:cNvSpPr/>
          <p:nvPr/>
        </p:nvSpPr>
        <p:spPr>
          <a:xfrm>
            <a:off x="4920539" y="2165903"/>
            <a:ext cx="3189250" cy="2241395"/>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A3ED26E1-A186-CCD0-906A-961BF46DF0E1}"/>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9">
            <a:extLst>
              <a:ext uri="{FF2B5EF4-FFF2-40B4-BE49-F238E27FC236}">
                <a16:creationId xmlns:a16="http://schemas.microsoft.com/office/drawing/2014/main" id="{20607447-D40D-C53F-4435-116146F48C54}"/>
              </a:ext>
            </a:extLst>
          </p:cNvPr>
          <p:cNvSpPr/>
          <p:nvPr/>
        </p:nvSpPr>
        <p:spPr>
          <a:xfrm>
            <a:off x="947468" y="578772"/>
            <a:ext cx="5362797" cy="394243"/>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SCPI </a:t>
            </a:r>
            <a:r>
              <a:rPr lang="fr-FR" noProof="0" dirty="0">
                <a:solidFill>
                  <a:srgbClr val="A9853F"/>
                </a:solidFill>
                <a:ea typeface="Cormorant Garamond SemiBold" pitchFamily="2" charset="77"/>
                <a:cs typeface="Cormorant Garamond SemiBold" pitchFamily="2" charset="77"/>
              </a:rPr>
              <a:t>-</a:t>
            </a:r>
            <a:r>
              <a:rPr lang="fr-FR" b="1" noProof="0" dirty="0">
                <a:solidFill>
                  <a:srgbClr val="A9853F"/>
                </a:solidFill>
                <a:latin typeface="Cormorant Garamond SemiBold" pitchFamily="2" charset="77"/>
                <a:ea typeface="Cormorant Garamond SemiBold" pitchFamily="2" charset="77"/>
                <a:cs typeface="Cormorant Garamond SemiBold" pitchFamily="2" charset="77"/>
              </a:rPr>
              <a:t> Société Civile de Placement Immobilier</a:t>
            </a:r>
          </a:p>
        </p:txBody>
      </p:sp>
      <p:sp>
        <p:nvSpPr>
          <p:cNvPr id="6" name="Text 9">
            <a:extLst>
              <a:ext uri="{FF2B5EF4-FFF2-40B4-BE49-F238E27FC236}">
                <a16:creationId xmlns:a16="http://schemas.microsoft.com/office/drawing/2014/main" id="{BAA41BB3-80FB-69D5-BE6A-DC45923DB84A}"/>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Conseil en Investissement immobilier : Corum Origin </a:t>
            </a:r>
          </a:p>
          <a:p>
            <a:endParaRPr lang="fr-FR" sz="1200" noProof="0" dirty="0">
              <a:solidFill>
                <a:srgbClr val="073527"/>
              </a:solidFill>
              <a:latin typeface="Jost Medium" pitchFamily="2" charset="77"/>
              <a:ea typeface="Jost Medium" pitchFamily="2" charset="77"/>
              <a:cs typeface="Futura Medium" panose="020B0602020204020303" pitchFamily="34" charset="-79"/>
            </a:endParaRPr>
          </a:p>
        </p:txBody>
      </p:sp>
      <p:sp>
        <p:nvSpPr>
          <p:cNvPr id="8" name="Rectangle : avec coins arrondis en haut 7">
            <a:extLst>
              <a:ext uri="{FF2B5EF4-FFF2-40B4-BE49-F238E27FC236}">
                <a16:creationId xmlns:a16="http://schemas.microsoft.com/office/drawing/2014/main" id="{A89956FB-F933-5FB6-0C00-155ECFB5D9C6}"/>
              </a:ext>
            </a:extLst>
          </p:cNvPr>
          <p:cNvSpPr/>
          <p:nvPr/>
        </p:nvSpPr>
        <p:spPr>
          <a:xfrm>
            <a:off x="1403716" y="1767875"/>
            <a:ext cx="2932540"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Indicateurs clés</a:t>
            </a:r>
          </a:p>
        </p:txBody>
      </p:sp>
      <p:sp>
        <p:nvSpPr>
          <p:cNvPr id="9" name="Rectangle 8">
            <a:extLst>
              <a:ext uri="{FF2B5EF4-FFF2-40B4-BE49-F238E27FC236}">
                <a16:creationId xmlns:a16="http://schemas.microsoft.com/office/drawing/2014/main" id="{A1AE0ED7-FBA2-8734-AC5D-941BB58A448C}"/>
              </a:ext>
            </a:extLst>
          </p:cNvPr>
          <p:cNvSpPr/>
          <p:nvPr/>
        </p:nvSpPr>
        <p:spPr>
          <a:xfrm>
            <a:off x="1397642" y="2168305"/>
            <a:ext cx="2945758" cy="1260695"/>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5ACCE7D5-22CB-D551-198B-7CABA38928BF}"/>
              </a:ext>
            </a:extLst>
          </p:cNvPr>
          <p:cNvSpPr/>
          <p:nvPr/>
        </p:nvSpPr>
        <p:spPr>
          <a:xfrm>
            <a:off x="1398321" y="3988159"/>
            <a:ext cx="2930052" cy="203908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r>
              <a:rPr lang="fr-FR" sz="900" b="1" dirty="0">
                <a:solidFill>
                  <a:schemeClr val="tx1"/>
                </a:solidFill>
                <a:latin typeface="Jost Light" pitchFamily="2" charset="77"/>
                <a:ea typeface="Jost Light" pitchFamily="2" charset="77"/>
              </a:rPr>
              <a:t>Maison de Gestion </a:t>
            </a:r>
            <a:r>
              <a:rPr lang="fr-FR" sz="900" dirty="0">
                <a:solidFill>
                  <a:schemeClr val="tx1"/>
                </a:solidFill>
                <a:latin typeface="Jost Light" pitchFamily="2" charset="77"/>
                <a:ea typeface="Jost Light" pitchFamily="2" charset="77"/>
              </a:rPr>
              <a:t>: Corum L’Épargne - AM</a:t>
            </a:r>
          </a:p>
          <a:p>
            <a:pPr algn="ctr">
              <a:spcAft>
                <a:spcPts val="400"/>
              </a:spcAft>
            </a:pPr>
            <a:r>
              <a:rPr lang="fr-FR" sz="900" b="1" dirty="0">
                <a:solidFill>
                  <a:schemeClr val="tx1"/>
                </a:solidFill>
                <a:latin typeface="Jost Light" pitchFamily="2" charset="77"/>
                <a:ea typeface="Jost Light" pitchFamily="2" charset="77"/>
              </a:rPr>
              <a:t>Prix de part </a:t>
            </a:r>
            <a:r>
              <a:rPr lang="fr-FR" sz="900" dirty="0">
                <a:solidFill>
                  <a:schemeClr val="tx1"/>
                </a:solidFill>
                <a:latin typeface="Jost Light" pitchFamily="2" charset="77"/>
                <a:ea typeface="Jost Light" pitchFamily="2" charset="77"/>
              </a:rPr>
              <a:t>: 2012 : 1 000 EUR</a:t>
            </a:r>
          </a:p>
          <a:p>
            <a:pPr algn="ctr">
              <a:spcAft>
                <a:spcPts val="400"/>
              </a:spcAft>
            </a:pPr>
            <a:r>
              <a:rPr lang="fr-FR" sz="900" dirty="0">
                <a:solidFill>
                  <a:schemeClr val="tx1"/>
                </a:solidFill>
                <a:latin typeface="Jost Light" pitchFamily="2" charset="77"/>
                <a:ea typeface="Jost Light" pitchFamily="2" charset="77"/>
              </a:rPr>
              <a:t>Aujourd’hui : 1 135 EUR</a:t>
            </a:r>
          </a:p>
          <a:p>
            <a:pPr algn="ctr">
              <a:spcAft>
                <a:spcPts val="400"/>
              </a:spcAft>
            </a:pPr>
            <a:r>
              <a:rPr lang="fr-FR" sz="900" b="1" dirty="0">
                <a:solidFill>
                  <a:schemeClr val="tx1"/>
                </a:solidFill>
                <a:latin typeface="Jost Light" pitchFamily="2" charset="77"/>
                <a:ea typeface="Jost Light" pitchFamily="2" charset="77"/>
              </a:rPr>
              <a:t>Valeur de reconstitution </a:t>
            </a:r>
            <a:r>
              <a:rPr lang="fr-FR" sz="900" dirty="0">
                <a:solidFill>
                  <a:schemeClr val="tx1"/>
                </a:solidFill>
                <a:latin typeface="Jost Light" pitchFamily="2" charset="77"/>
                <a:ea typeface="Jost Light" pitchFamily="2" charset="77"/>
              </a:rPr>
              <a:t>: 1 176 EUR</a:t>
            </a:r>
          </a:p>
          <a:p>
            <a:pPr algn="ctr">
              <a:spcAft>
                <a:spcPts val="400"/>
              </a:spcAft>
            </a:pPr>
            <a:endParaRPr lang="fr-FR" sz="900" dirty="0">
              <a:solidFill>
                <a:schemeClr val="tx1"/>
              </a:solidFill>
              <a:latin typeface="Jost Light" pitchFamily="2" charset="77"/>
              <a:ea typeface="Jost Light" pitchFamily="2" charset="77"/>
            </a:endParaRPr>
          </a:p>
          <a:p>
            <a:pPr algn="just">
              <a:spcAft>
                <a:spcPts val="400"/>
              </a:spcAft>
            </a:pPr>
            <a:r>
              <a:rPr lang="fr-FR" sz="900" b="1" dirty="0">
                <a:solidFill>
                  <a:schemeClr val="tx1"/>
                </a:solidFill>
                <a:latin typeface="Jost Light" pitchFamily="2" charset="77"/>
                <a:ea typeface="Jost Light" pitchFamily="2" charset="77"/>
              </a:rPr>
              <a:t>Délai de jouissance </a:t>
            </a:r>
            <a:r>
              <a:rPr lang="fr-FR" sz="900" dirty="0">
                <a:solidFill>
                  <a:schemeClr val="tx1"/>
                </a:solidFill>
                <a:latin typeface="Jost Light" pitchFamily="2" charset="77"/>
                <a:ea typeface="Jost Light" pitchFamily="2" charset="77"/>
              </a:rPr>
              <a:t>: au 1er jour du sixième mois suivant la date d’encaissement de la souscription part la maison de gestion.</a:t>
            </a:r>
          </a:p>
          <a:p>
            <a:pPr algn="ctr">
              <a:spcAft>
                <a:spcPts val="400"/>
              </a:spcAft>
            </a:pPr>
            <a:endParaRPr lang="fr-FR" sz="900" dirty="0">
              <a:solidFill>
                <a:schemeClr val="tx1"/>
              </a:solidFill>
              <a:latin typeface="Jost Light" pitchFamily="2" charset="77"/>
              <a:ea typeface="Jost Light" pitchFamily="2" charset="77"/>
            </a:endParaRPr>
          </a:p>
          <a:p>
            <a:pPr algn="ctr">
              <a:spcAft>
                <a:spcPts val="400"/>
              </a:spcAft>
            </a:pPr>
            <a:r>
              <a:rPr lang="fr-FR" sz="900" b="1" dirty="0">
                <a:solidFill>
                  <a:srgbClr val="1A1A1A"/>
                </a:solidFill>
                <a:latin typeface="Jost Light" pitchFamily="2" charset="77"/>
                <a:ea typeface="Jost Light" pitchFamily="2" charset="77"/>
              </a:rPr>
              <a:t>SCPI européenne : avantages fiscaux.</a:t>
            </a:r>
            <a:endParaRPr lang="fr-FR" sz="900" b="1" dirty="0">
              <a:solidFill>
                <a:schemeClr val="tx1"/>
              </a:solidFill>
              <a:latin typeface="Jost Light" pitchFamily="2" charset="77"/>
              <a:ea typeface="Jost Light" pitchFamily="2" charset="77"/>
            </a:endParaRPr>
          </a:p>
        </p:txBody>
      </p:sp>
      <p:sp>
        <p:nvSpPr>
          <p:cNvPr id="15" name="Rectangle 14">
            <a:extLst>
              <a:ext uri="{FF2B5EF4-FFF2-40B4-BE49-F238E27FC236}">
                <a16:creationId xmlns:a16="http://schemas.microsoft.com/office/drawing/2014/main" id="{F9A8C4E8-9504-7871-4F83-F87FA2F50EC7}"/>
              </a:ext>
            </a:extLst>
          </p:cNvPr>
          <p:cNvSpPr/>
          <p:nvPr/>
        </p:nvSpPr>
        <p:spPr>
          <a:xfrm>
            <a:off x="1406580" y="3484180"/>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Distribution mensuelle</a:t>
            </a:r>
          </a:p>
        </p:txBody>
      </p:sp>
      <p:graphicFrame>
        <p:nvGraphicFramePr>
          <p:cNvPr id="16" name="Chart 1">
            <a:extLst>
              <a:ext uri="{FF2B5EF4-FFF2-40B4-BE49-F238E27FC236}">
                <a16:creationId xmlns:a16="http://schemas.microsoft.com/office/drawing/2014/main" id="{A6BA405B-3901-28CF-82D4-2085D44DBD38}"/>
              </a:ext>
            </a:extLst>
          </p:cNvPr>
          <p:cNvGraphicFramePr>
            <a:graphicFrameLocks/>
          </p:cNvGraphicFramePr>
          <p:nvPr/>
        </p:nvGraphicFramePr>
        <p:xfrm>
          <a:off x="4916058" y="2154751"/>
          <a:ext cx="3183317" cy="217613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a:extLst>
              <a:ext uri="{FF2B5EF4-FFF2-40B4-BE49-F238E27FC236}">
                <a16:creationId xmlns:a16="http://schemas.microsoft.com/office/drawing/2014/main" id="{B7BF8024-0D5E-1C3E-9EF9-3692E89A06CB}"/>
              </a:ext>
            </a:extLst>
          </p:cNvPr>
          <p:cNvGraphicFramePr>
            <a:graphicFrameLocks/>
          </p:cNvGraphicFramePr>
          <p:nvPr/>
        </p:nvGraphicFramePr>
        <p:xfrm>
          <a:off x="8190493" y="2175560"/>
          <a:ext cx="3198079" cy="2231737"/>
        </p:xfrm>
        <a:graphic>
          <a:graphicData uri="http://schemas.openxmlformats.org/drawingml/2006/chart">
            <c:chart xmlns:c="http://schemas.openxmlformats.org/drawingml/2006/chart" xmlns:r="http://schemas.openxmlformats.org/officeDocument/2006/relationships" r:id="rId4"/>
          </a:graphicData>
        </a:graphic>
      </p:graphicFrame>
      <p:sp>
        <p:nvSpPr>
          <p:cNvPr id="19" name="Rectangle : avec coins arrondis en haut 18">
            <a:extLst>
              <a:ext uri="{FF2B5EF4-FFF2-40B4-BE49-F238E27FC236}">
                <a16:creationId xmlns:a16="http://schemas.microsoft.com/office/drawing/2014/main" id="{720A34E1-4CE7-2BF2-E7D8-557A18E09523}"/>
              </a:ext>
            </a:extLst>
          </p:cNvPr>
          <p:cNvSpPr/>
          <p:nvPr/>
        </p:nvSpPr>
        <p:spPr>
          <a:xfrm>
            <a:off x="4935731" y="1767875"/>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géographique</a:t>
            </a:r>
          </a:p>
        </p:txBody>
      </p:sp>
      <p:sp>
        <p:nvSpPr>
          <p:cNvPr id="21" name="Rectangle 20">
            <a:extLst>
              <a:ext uri="{FF2B5EF4-FFF2-40B4-BE49-F238E27FC236}">
                <a16:creationId xmlns:a16="http://schemas.microsoft.com/office/drawing/2014/main" id="{14175EB3-22BC-258E-67E6-3BB2D8317FF2}"/>
              </a:ext>
            </a:extLst>
          </p:cNvPr>
          <p:cNvSpPr/>
          <p:nvPr/>
        </p:nvSpPr>
        <p:spPr>
          <a:xfrm>
            <a:off x="1395563" y="6027239"/>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Taux distribué en 2025 : 6.50% p.a.</a:t>
            </a:r>
          </a:p>
        </p:txBody>
      </p:sp>
      <p:sp>
        <p:nvSpPr>
          <p:cNvPr id="22" name="Stat 0 108">
            <a:extLst>
              <a:ext uri="{FF2B5EF4-FFF2-40B4-BE49-F238E27FC236}">
                <a16:creationId xmlns:a16="http://schemas.microsoft.com/office/drawing/2014/main" id="{D80D882D-26EF-25D9-379C-570ACDFC13CF}"/>
              </a:ext>
            </a:extLst>
          </p:cNvPr>
          <p:cNvSpPr txBox="1"/>
          <p:nvPr/>
        </p:nvSpPr>
        <p:spPr>
          <a:xfrm>
            <a:off x="9286899" y="4773747"/>
            <a:ext cx="2073117" cy="473571"/>
          </a:xfrm>
          <a:prstGeom prst="rect">
            <a:avLst/>
          </a:prstGeom>
          <a:solidFill>
            <a:srgbClr val="15462A"/>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Taux d’occupation financière</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97.3%</a:t>
            </a:r>
          </a:p>
        </p:txBody>
      </p:sp>
      <p:sp>
        <p:nvSpPr>
          <p:cNvPr id="24" name="Stat 0 108">
            <a:extLst>
              <a:ext uri="{FF2B5EF4-FFF2-40B4-BE49-F238E27FC236}">
                <a16:creationId xmlns:a16="http://schemas.microsoft.com/office/drawing/2014/main" id="{3C8F453B-8820-7FEB-ED7F-17D2F5750FB2}"/>
              </a:ext>
            </a:extLst>
          </p:cNvPr>
          <p:cNvSpPr txBox="1"/>
          <p:nvPr/>
        </p:nvSpPr>
        <p:spPr>
          <a:xfrm>
            <a:off x="7111315" y="4775194"/>
            <a:ext cx="2106826" cy="473571"/>
          </a:xfrm>
          <a:prstGeom prst="rect">
            <a:avLst/>
          </a:prstGeom>
          <a:solidFill>
            <a:srgbClr val="AA853F"/>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Capitalisation</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3.9Mds EUR</a:t>
            </a:r>
          </a:p>
        </p:txBody>
      </p:sp>
      <p:sp>
        <p:nvSpPr>
          <p:cNvPr id="25" name="Stat 0 108">
            <a:extLst>
              <a:ext uri="{FF2B5EF4-FFF2-40B4-BE49-F238E27FC236}">
                <a16:creationId xmlns:a16="http://schemas.microsoft.com/office/drawing/2014/main" id="{0DFFA214-698F-9223-2130-5BAB18D7EE98}"/>
              </a:ext>
            </a:extLst>
          </p:cNvPr>
          <p:cNvSpPr txBox="1"/>
          <p:nvPr/>
        </p:nvSpPr>
        <p:spPr>
          <a:xfrm>
            <a:off x="4935731" y="4775193"/>
            <a:ext cx="2106826" cy="472125"/>
          </a:xfrm>
          <a:prstGeom prst="rect">
            <a:avLst/>
          </a:prstGeom>
          <a:solidFill>
            <a:srgbClr val="E6C989"/>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Risque SRRI</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3/7</a:t>
            </a:r>
          </a:p>
        </p:txBody>
      </p:sp>
      <p:pic>
        <p:nvPicPr>
          <p:cNvPr id="31" name="Image 30">
            <a:extLst>
              <a:ext uri="{FF2B5EF4-FFF2-40B4-BE49-F238E27FC236}">
                <a16:creationId xmlns:a16="http://schemas.microsoft.com/office/drawing/2014/main" id="{3E045C65-D1DB-9D8E-4E3F-D5AC4BA0B129}"/>
              </a:ext>
            </a:extLst>
          </p:cNvPr>
          <p:cNvPicPr>
            <a:picLocks noChangeAspect="1"/>
          </p:cNvPicPr>
          <p:nvPr/>
        </p:nvPicPr>
        <p:blipFill>
          <a:blip r:embed="rId5">
            <a:duotone>
              <a:prstClr val="black"/>
              <a:srgbClr val="063527">
                <a:tint val="45000"/>
                <a:satMod val="400000"/>
              </a:srgbClr>
            </a:duotone>
          </a:blip>
          <a:stretch>
            <a:fillRect/>
          </a:stretch>
        </p:blipFill>
        <p:spPr>
          <a:xfrm>
            <a:off x="11005640" y="374477"/>
            <a:ext cx="792892" cy="264297"/>
          </a:xfrm>
          <a:prstGeom prst="rect">
            <a:avLst/>
          </a:prstGeom>
        </p:spPr>
      </p:pic>
      <p:sp>
        <p:nvSpPr>
          <p:cNvPr id="32" name="ZoneTexte 31">
            <a:extLst>
              <a:ext uri="{FF2B5EF4-FFF2-40B4-BE49-F238E27FC236}">
                <a16:creationId xmlns:a16="http://schemas.microsoft.com/office/drawing/2014/main" id="{48CDB590-9DB7-1F91-D63E-90760C5B74FC}"/>
              </a:ext>
            </a:extLst>
          </p:cNvPr>
          <p:cNvSpPr txBox="1"/>
          <p:nvPr/>
        </p:nvSpPr>
        <p:spPr>
          <a:xfrm>
            <a:off x="7196497" y="2664966"/>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Pays-Bas</a:t>
            </a:r>
            <a:endParaRPr lang="fr-FR" dirty="0">
              <a:latin typeface="Jost Medium" pitchFamily="2" charset="77"/>
              <a:ea typeface="Jost Medium" pitchFamily="2" charset="77"/>
            </a:endParaRPr>
          </a:p>
        </p:txBody>
      </p:sp>
      <p:sp>
        <p:nvSpPr>
          <p:cNvPr id="33" name="ZoneTexte 32">
            <a:extLst>
              <a:ext uri="{FF2B5EF4-FFF2-40B4-BE49-F238E27FC236}">
                <a16:creationId xmlns:a16="http://schemas.microsoft.com/office/drawing/2014/main" id="{428801CC-073B-6DC3-A009-F27F6F272A9F}"/>
              </a:ext>
            </a:extLst>
          </p:cNvPr>
          <p:cNvSpPr txBox="1"/>
          <p:nvPr/>
        </p:nvSpPr>
        <p:spPr>
          <a:xfrm>
            <a:off x="7202847" y="3649216"/>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Italie</a:t>
            </a:r>
            <a:endParaRPr lang="fr-FR" dirty="0">
              <a:latin typeface="Jost Medium" pitchFamily="2" charset="77"/>
              <a:ea typeface="Jost Medium" pitchFamily="2" charset="77"/>
            </a:endParaRPr>
          </a:p>
        </p:txBody>
      </p:sp>
      <p:sp>
        <p:nvSpPr>
          <p:cNvPr id="36" name="ZoneTexte 35">
            <a:extLst>
              <a:ext uri="{FF2B5EF4-FFF2-40B4-BE49-F238E27FC236}">
                <a16:creationId xmlns:a16="http://schemas.microsoft.com/office/drawing/2014/main" id="{40B0A343-5E92-025C-E2E7-9419EFD266F6}"/>
              </a:ext>
            </a:extLst>
          </p:cNvPr>
          <p:cNvSpPr txBox="1"/>
          <p:nvPr/>
        </p:nvSpPr>
        <p:spPr>
          <a:xfrm>
            <a:off x="6386418" y="4122745"/>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Irlande</a:t>
            </a:r>
            <a:endParaRPr lang="fr-FR" dirty="0">
              <a:latin typeface="Jost Medium" pitchFamily="2" charset="77"/>
              <a:ea typeface="Jost Medium" pitchFamily="2" charset="77"/>
            </a:endParaRPr>
          </a:p>
        </p:txBody>
      </p:sp>
      <p:sp>
        <p:nvSpPr>
          <p:cNvPr id="37" name="ZoneTexte 36">
            <a:extLst>
              <a:ext uri="{FF2B5EF4-FFF2-40B4-BE49-F238E27FC236}">
                <a16:creationId xmlns:a16="http://schemas.microsoft.com/office/drawing/2014/main" id="{8119F168-68AB-A807-521E-8664FE8D3568}"/>
              </a:ext>
            </a:extLst>
          </p:cNvPr>
          <p:cNvSpPr txBox="1"/>
          <p:nvPr/>
        </p:nvSpPr>
        <p:spPr>
          <a:xfrm>
            <a:off x="5542776" y="3954636"/>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Espagne</a:t>
            </a:r>
            <a:endParaRPr lang="fr-FR" dirty="0">
              <a:latin typeface="Jost Medium" pitchFamily="2" charset="77"/>
              <a:ea typeface="Jost Medium" pitchFamily="2" charset="77"/>
            </a:endParaRPr>
          </a:p>
        </p:txBody>
      </p:sp>
      <p:sp>
        <p:nvSpPr>
          <p:cNvPr id="38" name="ZoneTexte 37">
            <a:extLst>
              <a:ext uri="{FF2B5EF4-FFF2-40B4-BE49-F238E27FC236}">
                <a16:creationId xmlns:a16="http://schemas.microsoft.com/office/drawing/2014/main" id="{9DC42425-784D-E613-2C36-74F82401AB91}"/>
              </a:ext>
            </a:extLst>
          </p:cNvPr>
          <p:cNvSpPr txBox="1"/>
          <p:nvPr/>
        </p:nvSpPr>
        <p:spPr>
          <a:xfrm>
            <a:off x="5158302" y="3519206"/>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Finlande</a:t>
            </a:r>
            <a:endParaRPr lang="fr-FR" dirty="0">
              <a:latin typeface="Jost Medium" pitchFamily="2" charset="77"/>
              <a:ea typeface="Jost Medium" pitchFamily="2" charset="77"/>
            </a:endParaRPr>
          </a:p>
        </p:txBody>
      </p:sp>
      <p:sp>
        <p:nvSpPr>
          <p:cNvPr id="39" name="ZoneTexte 38">
            <a:extLst>
              <a:ext uri="{FF2B5EF4-FFF2-40B4-BE49-F238E27FC236}">
                <a16:creationId xmlns:a16="http://schemas.microsoft.com/office/drawing/2014/main" id="{9F88CD20-AD23-D32D-C819-E5665CFE582B}"/>
              </a:ext>
            </a:extLst>
          </p:cNvPr>
          <p:cNvSpPr txBox="1"/>
          <p:nvPr/>
        </p:nvSpPr>
        <p:spPr>
          <a:xfrm>
            <a:off x="5109316" y="3083778"/>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Belgique</a:t>
            </a:r>
            <a:endParaRPr lang="fr-FR" dirty="0">
              <a:latin typeface="Jost Medium" pitchFamily="2" charset="77"/>
              <a:ea typeface="Jost Medium" pitchFamily="2" charset="77"/>
            </a:endParaRPr>
          </a:p>
        </p:txBody>
      </p:sp>
      <p:sp>
        <p:nvSpPr>
          <p:cNvPr id="40" name="ZoneTexte 39">
            <a:extLst>
              <a:ext uri="{FF2B5EF4-FFF2-40B4-BE49-F238E27FC236}">
                <a16:creationId xmlns:a16="http://schemas.microsoft.com/office/drawing/2014/main" id="{DF420F97-8581-088A-645C-0A3CD405CA0F}"/>
              </a:ext>
            </a:extLst>
          </p:cNvPr>
          <p:cNvSpPr txBox="1"/>
          <p:nvPr/>
        </p:nvSpPr>
        <p:spPr>
          <a:xfrm>
            <a:off x="5234502" y="268644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France</a:t>
            </a:r>
            <a:endParaRPr lang="fr-FR" dirty="0">
              <a:latin typeface="Jost Medium" pitchFamily="2" charset="77"/>
              <a:ea typeface="Jost Medium" pitchFamily="2" charset="77"/>
            </a:endParaRPr>
          </a:p>
        </p:txBody>
      </p:sp>
      <p:sp>
        <p:nvSpPr>
          <p:cNvPr id="41" name="ZoneTexte 40">
            <a:extLst>
              <a:ext uri="{FF2B5EF4-FFF2-40B4-BE49-F238E27FC236}">
                <a16:creationId xmlns:a16="http://schemas.microsoft.com/office/drawing/2014/main" id="{E565BA12-1EC9-F39A-592F-103A533B4289}"/>
              </a:ext>
            </a:extLst>
          </p:cNvPr>
          <p:cNvSpPr txBox="1"/>
          <p:nvPr/>
        </p:nvSpPr>
        <p:spPr>
          <a:xfrm>
            <a:off x="5370646" y="243244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Allemagne</a:t>
            </a:r>
            <a:endParaRPr lang="fr-FR" dirty="0">
              <a:latin typeface="Jost Medium" pitchFamily="2" charset="77"/>
              <a:ea typeface="Jost Medium" pitchFamily="2" charset="77"/>
            </a:endParaRPr>
          </a:p>
        </p:txBody>
      </p:sp>
      <p:sp>
        <p:nvSpPr>
          <p:cNvPr id="42" name="ZoneTexte 41">
            <a:extLst>
              <a:ext uri="{FF2B5EF4-FFF2-40B4-BE49-F238E27FC236}">
                <a16:creationId xmlns:a16="http://schemas.microsoft.com/office/drawing/2014/main" id="{3347AE6C-7596-85E2-9AD2-B1DA2F93A0EE}"/>
              </a:ext>
            </a:extLst>
          </p:cNvPr>
          <p:cNvSpPr txBox="1"/>
          <p:nvPr/>
        </p:nvSpPr>
        <p:spPr>
          <a:xfrm>
            <a:off x="10256893" y="3961145"/>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Bureaux</a:t>
            </a:r>
            <a:endParaRPr lang="fr-FR" dirty="0">
              <a:latin typeface="Jost Medium" pitchFamily="2" charset="77"/>
              <a:ea typeface="Jost Medium" pitchFamily="2" charset="77"/>
            </a:endParaRPr>
          </a:p>
        </p:txBody>
      </p:sp>
      <p:sp>
        <p:nvSpPr>
          <p:cNvPr id="43" name="ZoneTexte 42">
            <a:extLst>
              <a:ext uri="{FF2B5EF4-FFF2-40B4-BE49-F238E27FC236}">
                <a16:creationId xmlns:a16="http://schemas.microsoft.com/office/drawing/2014/main" id="{30E015B5-6010-CD64-10F6-CCB82B6BCF59}"/>
              </a:ext>
            </a:extLst>
          </p:cNvPr>
          <p:cNvSpPr txBox="1"/>
          <p:nvPr/>
        </p:nvSpPr>
        <p:spPr>
          <a:xfrm>
            <a:off x="8292821" y="344785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Commerces</a:t>
            </a:r>
            <a:endParaRPr lang="fr-FR" dirty="0">
              <a:latin typeface="Jost Medium" pitchFamily="2" charset="77"/>
              <a:ea typeface="Jost Medium" pitchFamily="2" charset="77"/>
            </a:endParaRPr>
          </a:p>
        </p:txBody>
      </p:sp>
      <p:sp>
        <p:nvSpPr>
          <p:cNvPr id="44" name="ZoneTexte 43">
            <a:extLst>
              <a:ext uri="{FF2B5EF4-FFF2-40B4-BE49-F238E27FC236}">
                <a16:creationId xmlns:a16="http://schemas.microsoft.com/office/drawing/2014/main" id="{95F4696E-2234-4613-30B3-1DF6C6027D3E}"/>
              </a:ext>
            </a:extLst>
          </p:cNvPr>
          <p:cNvSpPr txBox="1"/>
          <p:nvPr/>
        </p:nvSpPr>
        <p:spPr>
          <a:xfrm>
            <a:off x="8498616" y="250564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Hôtellerie</a:t>
            </a:r>
            <a:endParaRPr lang="fr-FR" dirty="0">
              <a:latin typeface="Jost Medium" pitchFamily="2" charset="77"/>
              <a:ea typeface="Jost Medium" pitchFamily="2" charset="77"/>
            </a:endParaRPr>
          </a:p>
        </p:txBody>
      </p:sp>
      <p:sp>
        <p:nvSpPr>
          <p:cNvPr id="45" name="ZoneTexte 44">
            <a:extLst>
              <a:ext uri="{FF2B5EF4-FFF2-40B4-BE49-F238E27FC236}">
                <a16:creationId xmlns:a16="http://schemas.microsoft.com/office/drawing/2014/main" id="{2EECDC72-DEC3-8601-5145-5722AA308140}"/>
              </a:ext>
            </a:extLst>
          </p:cNvPr>
          <p:cNvSpPr txBox="1"/>
          <p:nvPr/>
        </p:nvSpPr>
        <p:spPr>
          <a:xfrm>
            <a:off x="8864598" y="228427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Logistique</a:t>
            </a:r>
            <a:endParaRPr lang="fr-FR" dirty="0">
              <a:latin typeface="Jost Medium" pitchFamily="2" charset="77"/>
              <a:ea typeface="Jost Medium" pitchFamily="2" charset="77"/>
            </a:endParaRPr>
          </a:p>
        </p:txBody>
      </p:sp>
      <p:sp>
        <p:nvSpPr>
          <p:cNvPr id="4" name="Rectangle : avec coins arrondis en haut 3">
            <a:extLst>
              <a:ext uri="{FF2B5EF4-FFF2-40B4-BE49-F238E27FC236}">
                <a16:creationId xmlns:a16="http://schemas.microsoft.com/office/drawing/2014/main" id="{22AFA545-4541-156D-712C-3132AE396C76}"/>
              </a:ext>
            </a:extLst>
          </p:cNvPr>
          <p:cNvSpPr/>
          <p:nvPr/>
        </p:nvSpPr>
        <p:spPr>
          <a:xfrm>
            <a:off x="8187915" y="1774963"/>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sectorielle</a:t>
            </a:r>
          </a:p>
        </p:txBody>
      </p:sp>
      <p:sp>
        <p:nvSpPr>
          <p:cNvPr id="13" name="Rectangle 12">
            <a:extLst>
              <a:ext uri="{FF2B5EF4-FFF2-40B4-BE49-F238E27FC236}">
                <a16:creationId xmlns:a16="http://schemas.microsoft.com/office/drawing/2014/main" id="{34876F77-63B9-63E8-789A-36A47AEFD040}"/>
              </a:ext>
            </a:extLst>
          </p:cNvPr>
          <p:cNvSpPr/>
          <p:nvPr/>
        </p:nvSpPr>
        <p:spPr>
          <a:xfrm>
            <a:off x="4935731" y="5412415"/>
            <a:ext cx="6441434" cy="1007572"/>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sz="800" dirty="0">
                <a:solidFill>
                  <a:srgbClr val="1A1A1A"/>
                </a:solidFill>
                <a:latin typeface="Jost Light" pitchFamily="2" charset="77"/>
                <a:ea typeface="Jost Light" pitchFamily="2" charset="77"/>
              </a:rPr>
              <a:t>Lancée en 2012, CORUM Origin a été la première SCPI à investir majoritairement hors de France, au cœur de la zone euro. Elle réunit aujourd'hui un patrimoine immobilier particulièrement bien diversifié. Cette diversification géographique et sectorielle lui permet d'afficher un rendement supérieur à son objectif annuel chaque année depuis sa création, avec un taux de rentabilité interne de 6,94% depuis son lancement. </a:t>
            </a:r>
          </a:p>
          <a:p>
            <a:pPr algn="just"/>
            <a:endParaRPr lang="fr-FR" sz="800" dirty="0">
              <a:solidFill>
                <a:srgbClr val="1A1A1A"/>
              </a:solidFill>
              <a:latin typeface="Jost Light" pitchFamily="2" charset="77"/>
              <a:ea typeface="Jost Light" pitchFamily="2" charset="77"/>
            </a:endParaRPr>
          </a:p>
          <a:p>
            <a:pPr algn="just"/>
            <a:r>
              <a:rPr lang="fr-FR" sz="800" dirty="0">
                <a:solidFill>
                  <a:srgbClr val="1A1A1A"/>
                </a:solidFill>
                <a:latin typeface="Jost Light" pitchFamily="2" charset="77"/>
                <a:ea typeface="Jost Light" pitchFamily="2" charset="77"/>
              </a:rPr>
              <a:t>C'est la toute première SCPI à avoir osé sortir de France, avec 14 ans de recul et un objectif de rendement tenu, mais surtout dépassé chaque année (y compris pendant le Covid et la remontée des taux de 2022/2023), deux périodes où beaucoup de SCPI 100% françaises ont souffert. </a:t>
            </a:r>
            <a:endParaRPr lang="fr-FR" sz="900" dirty="0">
              <a:solidFill>
                <a:srgbClr val="1A1A1A"/>
              </a:solidFill>
              <a:latin typeface="Jost Light" pitchFamily="2" charset="77"/>
              <a:ea typeface="Jost Light" pitchFamily="2" charset="77"/>
            </a:endParaRPr>
          </a:p>
        </p:txBody>
      </p:sp>
      <p:sp>
        <p:nvSpPr>
          <p:cNvPr id="28" name="Rectangle 27">
            <a:extLst>
              <a:ext uri="{FF2B5EF4-FFF2-40B4-BE49-F238E27FC236}">
                <a16:creationId xmlns:a16="http://schemas.microsoft.com/office/drawing/2014/main" id="{4E698BDA-425C-E400-A959-7E7C9550BE6E}"/>
              </a:ext>
            </a:extLst>
          </p:cNvPr>
          <p:cNvSpPr/>
          <p:nvPr/>
        </p:nvSpPr>
        <p:spPr>
          <a:xfrm>
            <a:off x="4953164" y="4426836"/>
            <a:ext cx="3155652" cy="191097"/>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r>
              <a:rPr lang="fr-FR" sz="700" i="1" dirty="0">
                <a:solidFill>
                  <a:schemeClr val="tx1"/>
                </a:solidFill>
                <a:latin typeface="Jost Light" pitchFamily="2" charset="77"/>
                <a:ea typeface="Jost Light" pitchFamily="2" charset="77"/>
                <a:cs typeface="Cormorant Garamond" pitchFamily="2" charset="77"/>
              </a:rPr>
              <a:t>Autres : Lituanie, Slovénie, Portugal, Estonie, Lettonie</a:t>
            </a:r>
          </a:p>
        </p:txBody>
      </p:sp>
      <p:sp>
        <p:nvSpPr>
          <p:cNvPr id="30" name="ZoneTexte 29">
            <a:extLst>
              <a:ext uri="{FF2B5EF4-FFF2-40B4-BE49-F238E27FC236}">
                <a16:creationId xmlns:a16="http://schemas.microsoft.com/office/drawing/2014/main" id="{3B3448B1-7E7B-0405-FF37-C1EE0FD3939C}"/>
              </a:ext>
            </a:extLst>
          </p:cNvPr>
          <p:cNvSpPr txBox="1"/>
          <p:nvPr/>
        </p:nvSpPr>
        <p:spPr>
          <a:xfrm>
            <a:off x="5988504" y="222430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Autres</a:t>
            </a:r>
            <a:endParaRPr lang="fr-FR" dirty="0">
              <a:latin typeface="Jost Medium" pitchFamily="2" charset="77"/>
              <a:ea typeface="Jost Medium" pitchFamily="2" charset="77"/>
            </a:endParaRPr>
          </a:p>
        </p:txBody>
      </p:sp>
      <p:sp>
        <p:nvSpPr>
          <p:cNvPr id="34" name="ZoneTexte 33">
            <a:extLst>
              <a:ext uri="{FF2B5EF4-FFF2-40B4-BE49-F238E27FC236}">
                <a16:creationId xmlns:a16="http://schemas.microsoft.com/office/drawing/2014/main" id="{78E72470-AF45-3A52-A35D-30246091D11A}"/>
              </a:ext>
            </a:extLst>
          </p:cNvPr>
          <p:cNvSpPr txBox="1"/>
          <p:nvPr/>
        </p:nvSpPr>
        <p:spPr>
          <a:xfrm>
            <a:off x="9453476" y="222430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Autres</a:t>
            </a:r>
            <a:endParaRPr lang="fr-FR" dirty="0">
              <a:latin typeface="Jost Medium" pitchFamily="2" charset="77"/>
              <a:ea typeface="Jost Medium" pitchFamily="2" charset="77"/>
            </a:endParaRPr>
          </a:p>
        </p:txBody>
      </p:sp>
      <p:sp>
        <p:nvSpPr>
          <p:cNvPr id="47" name="Rectangle 46">
            <a:extLst>
              <a:ext uri="{FF2B5EF4-FFF2-40B4-BE49-F238E27FC236}">
                <a16:creationId xmlns:a16="http://schemas.microsoft.com/office/drawing/2014/main" id="{1D3BFD85-CC59-1001-6109-4C138D499CED}"/>
              </a:ext>
            </a:extLst>
          </p:cNvPr>
          <p:cNvSpPr/>
          <p:nvPr/>
        </p:nvSpPr>
        <p:spPr>
          <a:xfrm>
            <a:off x="8203585" y="4429115"/>
            <a:ext cx="3155652" cy="191097"/>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r>
              <a:rPr lang="fr-FR" sz="700" i="1" dirty="0">
                <a:solidFill>
                  <a:schemeClr val="tx1"/>
                </a:solidFill>
                <a:latin typeface="Jost Light" pitchFamily="2" charset="77"/>
                <a:ea typeface="Jost Light" pitchFamily="2" charset="77"/>
                <a:cs typeface="Cormorant Garamond" pitchFamily="2" charset="77"/>
              </a:rPr>
              <a:t>Autres : Locaux d’activité, Santé, Éducation et Loisirs</a:t>
            </a:r>
          </a:p>
        </p:txBody>
      </p:sp>
      <p:pic>
        <p:nvPicPr>
          <p:cNvPr id="49" name="Image 48">
            <a:extLst>
              <a:ext uri="{FF2B5EF4-FFF2-40B4-BE49-F238E27FC236}">
                <a16:creationId xmlns:a16="http://schemas.microsoft.com/office/drawing/2014/main" id="{ABFFC48C-A0EB-537D-2B2F-51A5309918B6}"/>
              </a:ext>
            </a:extLst>
          </p:cNvPr>
          <p:cNvPicPr>
            <a:picLocks noChangeAspect="1"/>
          </p:cNvPicPr>
          <p:nvPr/>
        </p:nvPicPr>
        <p:blipFill>
          <a:blip r:embed="rId6"/>
          <a:stretch>
            <a:fillRect/>
          </a:stretch>
        </p:blipFill>
        <p:spPr>
          <a:xfrm>
            <a:off x="2099436" y="2224304"/>
            <a:ext cx="1459950" cy="1094963"/>
          </a:xfrm>
          <a:prstGeom prst="rect">
            <a:avLst/>
          </a:prstGeom>
        </p:spPr>
      </p:pic>
    </p:spTree>
    <p:extLst>
      <p:ext uri="{BB962C8B-B14F-4D97-AF65-F5344CB8AC3E}">
        <p14:creationId xmlns:p14="http://schemas.microsoft.com/office/powerpoint/2010/main" val="33224257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69FF2-0494-28D3-038F-8D02B1CC65A3}"/>
            </a:ext>
          </a:extLst>
        </p:cNvPr>
        <p:cNvGrpSpPr/>
        <p:nvPr/>
      </p:nvGrpSpPr>
      <p:grpSpPr>
        <a:xfrm>
          <a:off x="0" y="0"/>
          <a:ext cx="0" cy="0"/>
          <a:chOff x="0" y="0"/>
          <a:chExt cx="0" cy="0"/>
        </a:xfrm>
      </p:grpSpPr>
      <p:pic>
        <p:nvPicPr>
          <p:cNvPr id="75" name="Image 74">
            <a:extLst>
              <a:ext uri="{FF2B5EF4-FFF2-40B4-BE49-F238E27FC236}">
                <a16:creationId xmlns:a16="http://schemas.microsoft.com/office/drawing/2014/main" id="{7D01735C-5A3B-CC5E-35E5-4C4E379D36A0}"/>
              </a:ext>
            </a:extLst>
          </p:cNvPr>
          <p:cNvPicPr>
            <a:picLocks noChangeAspect="1"/>
          </p:cNvPicPr>
          <p:nvPr/>
        </p:nvPicPr>
        <p:blipFill>
          <a:blip r:embed="rId2">
            <a:alphaModFix amt="5000"/>
          </a:blip>
          <a:srcRect l="6207" b="6232"/>
          <a:stretch>
            <a:fillRect/>
          </a:stretch>
        </p:blipFill>
        <p:spPr>
          <a:xfrm>
            <a:off x="0" y="-1822"/>
            <a:ext cx="12191999" cy="6859822"/>
          </a:xfrm>
          <a:prstGeom prst="rect">
            <a:avLst/>
          </a:prstGeom>
        </p:spPr>
      </p:pic>
      <p:sp>
        <p:nvSpPr>
          <p:cNvPr id="7" name="Rectangle 6">
            <a:extLst>
              <a:ext uri="{FF2B5EF4-FFF2-40B4-BE49-F238E27FC236}">
                <a16:creationId xmlns:a16="http://schemas.microsoft.com/office/drawing/2014/main" id="{29908D55-2486-1906-7D02-AE4F16E8AABB}"/>
              </a:ext>
            </a:extLst>
          </p:cNvPr>
          <p:cNvSpPr/>
          <p:nvPr/>
        </p:nvSpPr>
        <p:spPr>
          <a:xfrm>
            <a:off x="8187915" y="2147869"/>
            <a:ext cx="3189250" cy="2241395"/>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71" name="Chart 1">
            <a:extLst>
              <a:ext uri="{FF2B5EF4-FFF2-40B4-BE49-F238E27FC236}">
                <a16:creationId xmlns:a16="http://schemas.microsoft.com/office/drawing/2014/main" id="{9573D820-2B72-C319-83F0-C1A19055EE9D}"/>
              </a:ext>
            </a:extLst>
          </p:cNvPr>
          <p:cNvGraphicFramePr>
            <a:graphicFrameLocks/>
          </p:cNvGraphicFramePr>
          <p:nvPr/>
        </p:nvGraphicFramePr>
        <p:xfrm>
          <a:off x="8156111" y="2352601"/>
          <a:ext cx="3297795" cy="2119357"/>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1">
            <a:extLst>
              <a:ext uri="{FF2B5EF4-FFF2-40B4-BE49-F238E27FC236}">
                <a16:creationId xmlns:a16="http://schemas.microsoft.com/office/drawing/2014/main" id="{7C4AFFA4-6A0D-83E2-7380-B5937AFCE47C}"/>
              </a:ext>
            </a:extLst>
          </p:cNvPr>
          <p:cNvSpPr/>
          <p:nvPr/>
        </p:nvSpPr>
        <p:spPr>
          <a:xfrm>
            <a:off x="4919566" y="2138211"/>
            <a:ext cx="3189250" cy="2241395"/>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68" name="Chart 1">
            <a:extLst>
              <a:ext uri="{FF2B5EF4-FFF2-40B4-BE49-F238E27FC236}">
                <a16:creationId xmlns:a16="http://schemas.microsoft.com/office/drawing/2014/main" id="{256C758F-B0BF-6AD9-2585-C02A7EBA0BCB}"/>
              </a:ext>
            </a:extLst>
          </p:cNvPr>
          <p:cNvGraphicFramePr>
            <a:graphicFrameLocks/>
          </p:cNvGraphicFramePr>
          <p:nvPr/>
        </p:nvGraphicFramePr>
        <p:xfrm>
          <a:off x="5145030" y="2377684"/>
          <a:ext cx="2885999" cy="2109077"/>
        </p:xfrm>
        <a:graphic>
          <a:graphicData uri="http://schemas.openxmlformats.org/drawingml/2006/chart">
            <c:chart xmlns:c="http://schemas.openxmlformats.org/drawingml/2006/chart" xmlns:r="http://schemas.openxmlformats.org/officeDocument/2006/relationships" r:id="rId4"/>
          </a:graphicData>
        </a:graphic>
      </p:graphicFrame>
      <p:sp>
        <p:nvSpPr>
          <p:cNvPr id="2" name="Rectangle 1">
            <a:extLst>
              <a:ext uri="{FF2B5EF4-FFF2-40B4-BE49-F238E27FC236}">
                <a16:creationId xmlns:a16="http://schemas.microsoft.com/office/drawing/2014/main" id="{932C6C0A-128E-6BB6-BD01-4AF90257E8AE}"/>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9">
            <a:extLst>
              <a:ext uri="{FF2B5EF4-FFF2-40B4-BE49-F238E27FC236}">
                <a16:creationId xmlns:a16="http://schemas.microsoft.com/office/drawing/2014/main" id="{56C9CD9D-38CF-85EB-7C00-0B951A406B71}"/>
              </a:ext>
            </a:extLst>
          </p:cNvPr>
          <p:cNvSpPr/>
          <p:nvPr/>
        </p:nvSpPr>
        <p:spPr>
          <a:xfrm>
            <a:off x="947468" y="578772"/>
            <a:ext cx="5362797" cy="394243"/>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SCPI </a:t>
            </a:r>
            <a:r>
              <a:rPr lang="fr-FR" noProof="0" dirty="0">
                <a:solidFill>
                  <a:srgbClr val="A9853F"/>
                </a:solidFill>
                <a:ea typeface="Cormorant Garamond SemiBold" pitchFamily="2" charset="77"/>
                <a:cs typeface="Cormorant Garamond SemiBold" pitchFamily="2" charset="77"/>
              </a:rPr>
              <a:t>-</a:t>
            </a:r>
            <a:r>
              <a:rPr lang="fr-FR" b="1" noProof="0" dirty="0">
                <a:solidFill>
                  <a:srgbClr val="A9853F"/>
                </a:solidFill>
                <a:latin typeface="Cormorant Garamond SemiBold" pitchFamily="2" charset="77"/>
                <a:ea typeface="Cormorant Garamond SemiBold" pitchFamily="2" charset="77"/>
                <a:cs typeface="Cormorant Garamond SemiBold" pitchFamily="2" charset="77"/>
              </a:rPr>
              <a:t> Société Civile de Placement Immobilier</a:t>
            </a:r>
          </a:p>
        </p:txBody>
      </p:sp>
      <p:sp>
        <p:nvSpPr>
          <p:cNvPr id="6" name="Text 9">
            <a:extLst>
              <a:ext uri="{FF2B5EF4-FFF2-40B4-BE49-F238E27FC236}">
                <a16:creationId xmlns:a16="http://schemas.microsoft.com/office/drawing/2014/main" id="{906DEB5F-561F-AEEF-FE2F-08E63306E80A}"/>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Conseil en Investissement immobilier : Transition Europe</a:t>
            </a:r>
          </a:p>
          <a:p>
            <a:endParaRPr lang="fr-FR" sz="1200" noProof="0" dirty="0">
              <a:solidFill>
                <a:srgbClr val="073527"/>
              </a:solidFill>
              <a:latin typeface="Jost Medium" pitchFamily="2" charset="77"/>
              <a:ea typeface="Jost Medium" pitchFamily="2" charset="77"/>
              <a:cs typeface="Futura Medium" panose="020B0602020204020303" pitchFamily="34" charset="-79"/>
            </a:endParaRPr>
          </a:p>
        </p:txBody>
      </p:sp>
      <p:sp>
        <p:nvSpPr>
          <p:cNvPr id="8" name="Rectangle : avec coins arrondis en haut 7">
            <a:extLst>
              <a:ext uri="{FF2B5EF4-FFF2-40B4-BE49-F238E27FC236}">
                <a16:creationId xmlns:a16="http://schemas.microsoft.com/office/drawing/2014/main" id="{73B1A7D5-2012-5DBF-A17E-5B5C4D89E8E9}"/>
              </a:ext>
            </a:extLst>
          </p:cNvPr>
          <p:cNvSpPr/>
          <p:nvPr/>
        </p:nvSpPr>
        <p:spPr>
          <a:xfrm>
            <a:off x="1403716" y="1767875"/>
            <a:ext cx="2932540"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Indicateurs clés</a:t>
            </a:r>
          </a:p>
        </p:txBody>
      </p:sp>
      <p:sp>
        <p:nvSpPr>
          <p:cNvPr id="9" name="Rectangle 8">
            <a:extLst>
              <a:ext uri="{FF2B5EF4-FFF2-40B4-BE49-F238E27FC236}">
                <a16:creationId xmlns:a16="http://schemas.microsoft.com/office/drawing/2014/main" id="{C617C0A3-7CDC-698D-31A5-166F105FCB21}"/>
              </a:ext>
            </a:extLst>
          </p:cNvPr>
          <p:cNvSpPr/>
          <p:nvPr/>
        </p:nvSpPr>
        <p:spPr>
          <a:xfrm>
            <a:off x="1397642" y="2168305"/>
            <a:ext cx="2945758" cy="1260695"/>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60A7666C-9FC5-C555-BD17-3A855184B232}"/>
              </a:ext>
            </a:extLst>
          </p:cNvPr>
          <p:cNvSpPr/>
          <p:nvPr/>
        </p:nvSpPr>
        <p:spPr>
          <a:xfrm>
            <a:off x="1398321" y="3998460"/>
            <a:ext cx="2930052" cy="201784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r>
              <a:rPr lang="fr-FR" sz="900" b="1" dirty="0">
                <a:solidFill>
                  <a:schemeClr val="tx1"/>
                </a:solidFill>
                <a:latin typeface="Jost Light" pitchFamily="2" charset="77"/>
                <a:ea typeface="Jost Light" pitchFamily="2" charset="77"/>
              </a:rPr>
              <a:t>Maison de Gestion </a:t>
            </a:r>
            <a:r>
              <a:rPr lang="fr-FR" sz="900" dirty="0">
                <a:solidFill>
                  <a:schemeClr val="tx1"/>
                </a:solidFill>
                <a:latin typeface="Jost Light" pitchFamily="2" charset="77"/>
                <a:ea typeface="Jost Light" pitchFamily="2" charset="77"/>
              </a:rPr>
              <a:t>: Arkea Reim - AM</a:t>
            </a:r>
          </a:p>
          <a:p>
            <a:pPr algn="ctr">
              <a:spcAft>
                <a:spcPts val="400"/>
              </a:spcAft>
            </a:pPr>
            <a:r>
              <a:rPr lang="fr-FR" sz="900" b="1" dirty="0">
                <a:solidFill>
                  <a:schemeClr val="tx1"/>
                </a:solidFill>
                <a:latin typeface="Jost Light" pitchFamily="2" charset="77"/>
                <a:ea typeface="Jost Light" pitchFamily="2" charset="77"/>
              </a:rPr>
              <a:t>Prix de part </a:t>
            </a:r>
            <a:r>
              <a:rPr lang="fr-FR" sz="900" dirty="0">
                <a:solidFill>
                  <a:schemeClr val="tx1"/>
                </a:solidFill>
                <a:latin typeface="Jost Light" pitchFamily="2" charset="77"/>
                <a:ea typeface="Jost Light" pitchFamily="2" charset="77"/>
              </a:rPr>
              <a:t>: 2022 : 190 EUR</a:t>
            </a:r>
          </a:p>
          <a:p>
            <a:pPr algn="ctr">
              <a:spcAft>
                <a:spcPts val="400"/>
              </a:spcAft>
            </a:pPr>
            <a:r>
              <a:rPr lang="fr-FR" sz="900" dirty="0">
                <a:solidFill>
                  <a:schemeClr val="tx1"/>
                </a:solidFill>
                <a:latin typeface="Jost Light" pitchFamily="2" charset="77"/>
                <a:ea typeface="Jost Light" pitchFamily="2" charset="77"/>
              </a:rPr>
              <a:t>Aujourd’hui : 202 EUR</a:t>
            </a:r>
          </a:p>
          <a:p>
            <a:pPr algn="ctr">
              <a:spcAft>
                <a:spcPts val="400"/>
              </a:spcAft>
            </a:pPr>
            <a:r>
              <a:rPr lang="fr-FR" sz="900" b="1" dirty="0">
                <a:solidFill>
                  <a:schemeClr val="tx1"/>
                </a:solidFill>
                <a:latin typeface="Jost Light" pitchFamily="2" charset="77"/>
                <a:ea typeface="Jost Light" pitchFamily="2" charset="77"/>
              </a:rPr>
              <a:t>Valeur de reconstitution </a:t>
            </a:r>
            <a:r>
              <a:rPr lang="fr-FR" sz="900" dirty="0">
                <a:solidFill>
                  <a:schemeClr val="tx1"/>
                </a:solidFill>
                <a:latin typeface="Jost Light" pitchFamily="2" charset="77"/>
                <a:ea typeface="Jost Light" pitchFamily="2" charset="77"/>
              </a:rPr>
              <a:t>: 208 EUR</a:t>
            </a:r>
          </a:p>
          <a:p>
            <a:pPr algn="ctr">
              <a:spcAft>
                <a:spcPts val="400"/>
              </a:spcAft>
            </a:pPr>
            <a:endParaRPr lang="fr-FR" sz="900" dirty="0">
              <a:solidFill>
                <a:schemeClr val="tx1"/>
              </a:solidFill>
              <a:latin typeface="Jost Light" pitchFamily="2" charset="77"/>
              <a:ea typeface="Jost Light" pitchFamily="2" charset="77"/>
            </a:endParaRPr>
          </a:p>
          <a:p>
            <a:pPr algn="just">
              <a:spcAft>
                <a:spcPts val="400"/>
              </a:spcAft>
            </a:pPr>
            <a:r>
              <a:rPr lang="fr-FR" sz="900" b="1" dirty="0">
                <a:solidFill>
                  <a:schemeClr val="tx1"/>
                </a:solidFill>
                <a:latin typeface="Jost Light" pitchFamily="2" charset="77"/>
                <a:ea typeface="Jost Light" pitchFamily="2" charset="77"/>
              </a:rPr>
              <a:t>Délai de jouissance </a:t>
            </a:r>
            <a:r>
              <a:rPr lang="fr-FR" sz="900" dirty="0">
                <a:solidFill>
                  <a:schemeClr val="tx1"/>
                </a:solidFill>
                <a:latin typeface="Jost Light" pitchFamily="2" charset="77"/>
                <a:ea typeface="Jost Light" pitchFamily="2" charset="77"/>
              </a:rPr>
              <a:t>: au 1er jour du cinquième mois suivant la date d’encaissement de la souscription part la maison de gestion.</a:t>
            </a:r>
          </a:p>
          <a:p>
            <a:pPr algn="ctr">
              <a:spcAft>
                <a:spcPts val="400"/>
              </a:spcAft>
            </a:pPr>
            <a:endParaRPr lang="fr-FR" sz="900" dirty="0">
              <a:solidFill>
                <a:schemeClr val="tx1"/>
              </a:solidFill>
              <a:latin typeface="Jost Light" pitchFamily="2" charset="77"/>
              <a:ea typeface="Jost Light" pitchFamily="2" charset="77"/>
            </a:endParaRPr>
          </a:p>
          <a:p>
            <a:pPr algn="ctr">
              <a:spcAft>
                <a:spcPts val="400"/>
              </a:spcAft>
            </a:pPr>
            <a:r>
              <a:rPr lang="fr-FR" sz="900" b="1" dirty="0">
                <a:solidFill>
                  <a:srgbClr val="1A1A1A"/>
                </a:solidFill>
                <a:latin typeface="Jost Light" pitchFamily="2" charset="77"/>
                <a:ea typeface="Jost Light" pitchFamily="2" charset="77"/>
              </a:rPr>
              <a:t>SCPI 100% européenne : avantages fiscaux.</a:t>
            </a:r>
            <a:endParaRPr lang="fr-FR" sz="900" b="1" dirty="0">
              <a:solidFill>
                <a:schemeClr val="tx1"/>
              </a:solidFill>
              <a:latin typeface="Jost Light" pitchFamily="2" charset="77"/>
              <a:ea typeface="Jost Light" pitchFamily="2" charset="77"/>
            </a:endParaRPr>
          </a:p>
        </p:txBody>
      </p:sp>
      <p:sp>
        <p:nvSpPr>
          <p:cNvPr id="15" name="Rectangle 14">
            <a:extLst>
              <a:ext uri="{FF2B5EF4-FFF2-40B4-BE49-F238E27FC236}">
                <a16:creationId xmlns:a16="http://schemas.microsoft.com/office/drawing/2014/main" id="{472238D6-DF16-7132-9A07-B20A4D55BCD5}"/>
              </a:ext>
            </a:extLst>
          </p:cNvPr>
          <p:cNvSpPr/>
          <p:nvPr/>
        </p:nvSpPr>
        <p:spPr>
          <a:xfrm>
            <a:off x="1406580" y="3484180"/>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Distribution trimestrielle</a:t>
            </a:r>
          </a:p>
        </p:txBody>
      </p:sp>
      <p:sp>
        <p:nvSpPr>
          <p:cNvPr id="21" name="Rectangle 20">
            <a:extLst>
              <a:ext uri="{FF2B5EF4-FFF2-40B4-BE49-F238E27FC236}">
                <a16:creationId xmlns:a16="http://schemas.microsoft.com/office/drawing/2014/main" id="{7C0F91A8-2857-40DD-71CA-4B1DFF2957A7}"/>
              </a:ext>
            </a:extLst>
          </p:cNvPr>
          <p:cNvSpPr/>
          <p:nvPr/>
        </p:nvSpPr>
        <p:spPr>
          <a:xfrm>
            <a:off x="1393442" y="6016300"/>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Taux distribué en 2025 : 7.60% </a:t>
            </a:r>
            <a:r>
              <a:rPr lang="fr-FR" sz="1200" dirty="0" err="1">
                <a:solidFill>
                  <a:schemeClr val="bg1"/>
                </a:solidFill>
                <a:latin typeface="Jost Medium" pitchFamily="2" charset="77"/>
                <a:ea typeface="Jost Medium" pitchFamily="2" charset="77"/>
              </a:rPr>
              <a:t>p.a</a:t>
            </a:r>
            <a:r>
              <a:rPr lang="fr-FR" sz="1200" dirty="0">
                <a:solidFill>
                  <a:schemeClr val="bg1"/>
                </a:solidFill>
                <a:latin typeface="Jost Medium" pitchFamily="2" charset="77"/>
                <a:ea typeface="Jost Medium" pitchFamily="2" charset="77"/>
              </a:rPr>
              <a:t>.</a:t>
            </a:r>
          </a:p>
        </p:txBody>
      </p:sp>
      <p:pic>
        <p:nvPicPr>
          <p:cNvPr id="31" name="Image 30">
            <a:extLst>
              <a:ext uri="{FF2B5EF4-FFF2-40B4-BE49-F238E27FC236}">
                <a16:creationId xmlns:a16="http://schemas.microsoft.com/office/drawing/2014/main" id="{1F86D61F-C481-CDEC-DDD7-CB0214362E35}"/>
              </a:ext>
            </a:extLst>
          </p:cNvPr>
          <p:cNvPicPr>
            <a:picLocks noChangeAspect="1"/>
          </p:cNvPicPr>
          <p:nvPr/>
        </p:nvPicPr>
        <p:blipFill>
          <a:blip r:embed="rId5">
            <a:duotone>
              <a:prstClr val="black"/>
              <a:srgbClr val="063527">
                <a:tint val="45000"/>
                <a:satMod val="400000"/>
              </a:srgbClr>
            </a:duotone>
          </a:blip>
          <a:stretch>
            <a:fillRect/>
          </a:stretch>
        </p:blipFill>
        <p:spPr>
          <a:xfrm>
            <a:off x="11005640" y="374477"/>
            <a:ext cx="792892" cy="264297"/>
          </a:xfrm>
          <a:prstGeom prst="rect">
            <a:avLst/>
          </a:prstGeom>
        </p:spPr>
      </p:pic>
      <p:pic>
        <p:nvPicPr>
          <p:cNvPr id="5" name="Image 4">
            <a:extLst>
              <a:ext uri="{FF2B5EF4-FFF2-40B4-BE49-F238E27FC236}">
                <a16:creationId xmlns:a16="http://schemas.microsoft.com/office/drawing/2014/main" id="{1B0FB9E7-5346-DB35-FCB7-9BA0E0D7741A}"/>
              </a:ext>
            </a:extLst>
          </p:cNvPr>
          <p:cNvPicPr>
            <a:picLocks noChangeAspect="1"/>
          </p:cNvPicPr>
          <p:nvPr/>
        </p:nvPicPr>
        <p:blipFill>
          <a:blip r:embed="rId6"/>
          <a:stretch>
            <a:fillRect/>
          </a:stretch>
        </p:blipFill>
        <p:spPr>
          <a:xfrm>
            <a:off x="1834638" y="2405121"/>
            <a:ext cx="2041226" cy="733072"/>
          </a:xfrm>
          <a:prstGeom prst="rect">
            <a:avLst/>
          </a:prstGeom>
        </p:spPr>
      </p:pic>
      <p:sp>
        <p:nvSpPr>
          <p:cNvPr id="26" name="Rectangle : avec coins arrondis en haut 25">
            <a:extLst>
              <a:ext uri="{FF2B5EF4-FFF2-40B4-BE49-F238E27FC236}">
                <a16:creationId xmlns:a16="http://schemas.microsoft.com/office/drawing/2014/main" id="{20CF9DBE-8B08-E2D5-4B75-95108235FD5B}"/>
              </a:ext>
            </a:extLst>
          </p:cNvPr>
          <p:cNvSpPr/>
          <p:nvPr/>
        </p:nvSpPr>
        <p:spPr>
          <a:xfrm>
            <a:off x="4935731" y="1767875"/>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géographique</a:t>
            </a:r>
          </a:p>
        </p:txBody>
      </p:sp>
      <p:sp>
        <p:nvSpPr>
          <p:cNvPr id="46" name="Stat 0 108">
            <a:extLst>
              <a:ext uri="{FF2B5EF4-FFF2-40B4-BE49-F238E27FC236}">
                <a16:creationId xmlns:a16="http://schemas.microsoft.com/office/drawing/2014/main" id="{870BB427-70D4-73BD-E456-32CBA4FFED59}"/>
              </a:ext>
            </a:extLst>
          </p:cNvPr>
          <p:cNvSpPr txBox="1"/>
          <p:nvPr/>
        </p:nvSpPr>
        <p:spPr>
          <a:xfrm>
            <a:off x="9286899" y="4769991"/>
            <a:ext cx="2073117" cy="483888"/>
          </a:xfrm>
          <a:prstGeom prst="rect">
            <a:avLst/>
          </a:prstGeom>
          <a:solidFill>
            <a:srgbClr val="15462A"/>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Taux d’occupation financière</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99.0%</a:t>
            </a:r>
          </a:p>
        </p:txBody>
      </p:sp>
      <p:sp>
        <p:nvSpPr>
          <p:cNvPr id="48" name="Stat 0 108">
            <a:extLst>
              <a:ext uri="{FF2B5EF4-FFF2-40B4-BE49-F238E27FC236}">
                <a16:creationId xmlns:a16="http://schemas.microsoft.com/office/drawing/2014/main" id="{5D135FF0-9ACE-F1D0-8F2E-E6B8CC1A5E66}"/>
              </a:ext>
            </a:extLst>
          </p:cNvPr>
          <p:cNvSpPr txBox="1"/>
          <p:nvPr/>
        </p:nvSpPr>
        <p:spPr>
          <a:xfrm>
            <a:off x="7111315" y="4771438"/>
            <a:ext cx="2106826" cy="483888"/>
          </a:xfrm>
          <a:prstGeom prst="rect">
            <a:avLst/>
          </a:prstGeom>
          <a:solidFill>
            <a:srgbClr val="AA853F"/>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Capitalisation</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1.3Mds EUR</a:t>
            </a:r>
          </a:p>
        </p:txBody>
      </p:sp>
      <p:sp>
        <p:nvSpPr>
          <p:cNvPr id="49" name="Stat 0 108">
            <a:extLst>
              <a:ext uri="{FF2B5EF4-FFF2-40B4-BE49-F238E27FC236}">
                <a16:creationId xmlns:a16="http://schemas.microsoft.com/office/drawing/2014/main" id="{287F2309-BCA2-1472-B4BF-24341EDA4A8C}"/>
              </a:ext>
            </a:extLst>
          </p:cNvPr>
          <p:cNvSpPr txBox="1"/>
          <p:nvPr/>
        </p:nvSpPr>
        <p:spPr>
          <a:xfrm>
            <a:off x="4935731" y="4775194"/>
            <a:ext cx="2106826" cy="483888"/>
          </a:xfrm>
          <a:prstGeom prst="rect">
            <a:avLst/>
          </a:prstGeom>
          <a:solidFill>
            <a:srgbClr val="E6C989"/>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Risque SRRI</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3/7</a:t>
            </a:r>
          </a:p>
        </p:txBody>
      </p:sp>
      <p:sp>
        <p:nvSpPr>
          <p:cNvPr id="50" name="ZoneTexte 49">
            <a:extLst>
              <a:ext uri="{FF2B5EF4-FFF2-40B4-BE49-F238E27FC236}">
                <a16:creationId xmlns:a16="http://schemas.microsoft.com/office/drawing/2014/main" id="{BBC66EC9-0241-1706-DD22-DD90B4652BBE}"/>
              </a:ext>
            </a:extLst>
          </p:cNvPr>
          <p:cNvSpPr txBox="1"/>
          <p:nvPr/>
        </p:nvSpPr>
        <p:spPr>
          <a:xfrm>
            <a:off x="5692515" y="4063850"/>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Pays-Bas</a:t>
            </a:r>
            <a:endParaRPr lang="fr-FR" dirty="0">
              <a:latin typeface="Jost Medium" pitchFamily="2" charset="77"/>
              <a:ea typeface="Jost Medium" pitchFamily="2" charset="77"/>
            </a:endParaRPr>
          </a:p>
        </p:txBody>
      </p:sp>
      <p:sp>
        <p:nvSpPr>
          <p:cNvPr id="51" name="ZoneTexte 50">
            <a:extLst>
              <a:ext uri="{FF2B5EF4-FFF2-40B4-BE49-F238E27FC236}">
                <a16:creationId xmlns:a16="http://schemas.microsoft.com/office/drawing/2014/main" id="{84073868-EB19-7F3A-161B-29E7CF110055}"/>
              </a:ext>
            </a:extLst>
          </p:cNvPr>
          <p:cNvSpPr txBox="1"/>
          <p:nvPr/>
        </p:nvSpPr>
        <p:spPr>
          <a:xfrm>
            <a:off x="5286304" y="3450493"/>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Italie</a:t>
            </a:r>
            <a:endParaRPr lang="fr-FR" dirty="0">
              <a:latin typeface="Jost Medium" pitchFamily="2" charset="77"/>
              <a:ea typeface="Jost Medium" pitchFamily="2" charset="77"/>
            </a:endParaRPr>
          </a:p>
        </p:txBody>
      </p:sp>
      <p:sp>
        <p:nvSpPr>
          <p:cNvPr id="52" name="ZoneTexte 51">
            <a:extLst>
              <a:ext uri="{FF2B5EF4-FFF2-40B4-BE49-F238E27FC236}">
                <a16:creationId xmlns:a16="http://schemas.microsoft.com/office/drawing/2014/main" id="{F00DDED9-881E-902D-EF9B-CB1059599176}"/>
              </a:ext>
            </a:extLst>
          </p:cNvPr>
          <p:cNvSpPr txBox="1"/>
          <p:nvPr/>
        </p:nvSpPr>
        <p:spPr>
          <a:xfrm>
            <a:off x="5406415" y="2825941"/>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Irlande</a:t>
            </a:r>
            <a:endParaRPr lang="fr-FR" dirty="0">
              <a:latin typeface="Jost Medium" pitchFamily="2" charset="77"/>
              <a:ea typeface="Jost Medium" pitchFamily="2" charset="77"/>
            </a:endParaRPr>
          </a:p>
        </p:txBody>
      </p:sp>
      <p:sp>
        <p:nvSpPr>
          <p:cNvPr id="53" name="ZoneTexte 52">
            <a:extLst>
              <a:ext uri="{FF2B5EF4-FFF2-40B4-BE49-F238E27FC236}">
                <a16:creationId xmlns:a16="http://schemas.microsoft.com/office/drawing/2014/main" id="{35D5C60F-A473-32D1-F04A-9648584E2507}"/>
              </a:ext>
            </a:extLst>
          </p:cNvPr>
          <p:cNvSpPr txBox="1"/>
          <p:nvPr/>
        </p:nvSpPr>
        <p:spPr>
          <a:xfrm>
            <a:off x="7346728" y="3072323"/>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Espagne</a:t>
            </a:r>
            <a:endParaRPr lang="fr-FR" dirty="0">
              <a:latin typeface="Jost Medium" pitchFamily="2" charset="77"/>
              <a:ea typeface="Jost Medium" pitchFamily="2" charset="77"/>
            </a:endParaRPr>
          </a:p>
        </p:txBody>
      </p:sp>
      <p:sp>
        <p:nvSpPr>
          <p:cNvPr id="57" name="ZoneTexte 56">
            <a:extLst>
              <a:ext uri="{FF2B5EF4-FFF2-40B4-BE49-F238E27FC236}">
                <a16:creationId xmlns:a16="http://schemas.microsoft.com/office/drawing/2014/main" id="{1E0D115B-2839-9BC3-1765-1E36B2E0FC4A}"/>
              </a:ext>
            </a:extLst>
          </p:cNvPr>
          <p:cNvSpPr txBox="1"/>
          <p:nvPr/>
        </p:nvSpPr>
        <p:spPr>
          <a:xfrm>
            <a:off x="6739834" y="4211633"/>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Allemagne</a:t>
            </a:r>
            <a:endParaRPr lang="fr-FR" dirty="0">
              <a:latin typeface="Jost Medium" pitchFamily="2" charset="77"/>
              <a:ea typeface="Jost Medium" pitchFamily="2" charset="77"/>
            </a:endParaRPr>
          </a:p>
        </p:txBody>
      </p:sp>
      <p:sp>
        <p:nvSpPr>
          <p:cNvPr id="58" name="ZoneTexte 57">
            <a:extLst>
              <a:ext uri="{FF2B5EF4-FFF2-40B4-BE49-F238E27FC236}">
                <a16:creationId xmlns:a16="http://schemas.microsoft.com/office/drawing/2014/main" id="{F5827CFA-8302-3DF4-EF73-2F0F7B4E9265}"/>
              </a:ext>
            </a:extLst>
          </p:cNvPr>
          <p:cNvSpPr txBox="1"/>
          <p:nvPr/>
        </p:nvSpPr>
        <p:spPr>
          <a:xfrm>
            <a:off x="10567782" y="2929066"/>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Bureaux</a:t>
            </a:r>
            <a:endParaRPr lang="fr-FR" dirty="0">
              <a:latin typeface="Jost Medium" pitchFamily="2" charset="77"/>
              <a:ea typeface="Jost Medium" pitchFamily="2" charset="77"/>
            </a:endParaRPr>
          </a:p>
        </p:txBody>
      </p:sp>
      <p:sp>
        <p:nvSpPr>
          <p:cNvPr id="59" name="ZoneTexte 58">
            <a:extLst>
              <a:ext uri="{FF2B5EF4-FFF2-40B4-BE49-F238E27FC236}">
                <a16:creationId xmlns:a16="http://schemas.microsoft.com/office/drawing/2014/main" id="{559A8950-611E-7042-0F44-39A5B5099BF0}"/>
              </a:ext>
            </a:extLst>
          </p:cNvPr>
          <p:cNvSpPr txBox="1"/>
          <p:nvPr/>
        </p:nvSpPr>
        <p:spPr>
          <a:xfrm>
            <a:off x="8400462" y="3750935"/>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Logistique</a:t>
            </a:r>
            <a:endParaRPr lang="fr-FR" dirty="0">
              <a:latin typeface="Jost Medium" pitchFamily="2" charset="77"/>
              <a:ea typeface="Jost Medium" pitchFamily="2" charset="77"/>
            </a:endParaRPr>
          </a:p>
        </p:txBody>
      </p:sp>
      <p:sp>
        <p:nvSpPr>
          <p:cNvPr id="60" name="ZoneTexte 59">
            <a:extLst>
              <a:ext uri="{FF2B5EF4-FFF2-40B4-BE49-F238E27FC236}">
                <a16:creationId xmlns:a16="http://schemas.microsoft.com/office/drawing/2014/main" id="{B02A763A-F2F1-36CB-16CC-CFECD9ED0FA3}"/>
              </a:ext>
            </a:extLst>
          </p:cNvPr>
          <p:cNvSpPr txBox="1"/>
          <p:nvPr/>
        </p:nvSpPr>
        <p:spPr>
          <a:xfrm>
            <a:off x="8565998" y="2683562"/>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Hôtellerie</a:t>
            </a:r>
            <a:endParaRPr lang="fr-FR" dirty="0">
              <a:latin typeface="Jost Medium" pitchFamily="2" charset="77"/>
              <a:ea typeface="Jost Medium" pitchFamily="2" charset="77"/>
            </a:endParaRPr>
          </a:p>
        </p:txBody>
      </p:sp>
      <p:sp>
        <p:nvSpPr>
          <p:cNvPr id="61" name="ZoneTexte 60">
            <a:extLst>
              <a:ext uri="{FF2B5EF4-FFF2-40B4-BE49-F238E27FC236}">
                <a16:creationId xmlns:a16="http://schemas.microsoft.com/office/drawing/2014/main" id="{4A535016-97BE-5924-1109-27799D2BFEF4}"/>
              </a:ext>
            </a:extLst>
          </p:cNvPr>
          <p:cNvSpPr txBox="1"/>
          <p:nvPr/>
        </p:nvSpPr>
        <p:spPr>
          <a:xfrm>
            <a:off x="8676365" y="2439141"/>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Locaux d’activité</a:t>
            </a:r>
            <a:endParaRPr lang="fr-FR" dirty="0">
              <a:latin typeface="Jost Medium" pitchFamily="2" charset="77"/>
              <a:ea typeface="Jost Medium" pitchFamily="2" charset="77"/>
            </a:endParaRPr>
          </a:p>
        </p:txBody>
      </p:sp>
      <p:sp>
        <p:nvSpPr>
          <p:cNvPr id="62" name="Rectangle : avec coins arrondis en haut 61">
            <a:extLst>
              <a:ext uri="{FF2B5EF4-FFF2-40B4-BE49-F238E27FC236}">
                <a16:creationId xmlns:a16="http://schemas.microsoft.com/office/drawing/2014/main" id="{C9D8679A-C30D-7F3A-DBD7-A4CC847AB156}"/>
              </a:ext>
            </a:extLst>
          </p:cNvPr>
          <p:cNvSpPr/>
          <p:nvPr/>
        </p:nvSpPr>
        <p:spPr>
          <a:xfrm>
            <a:off x="8187915" y="1774963"/>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sectorielle</a:t>
            </a:r>
          </a:p>
        </p:txBody>
      </p:sp>
      <p:sp>
        <p:nvSpPr>
          <p:cNvPr id="64" name="Rectangle 63">
            <a:extLst>
              <a:ext uri="{FF2B5EF4-FFF2-40B4-BE49-F238E27FC236}">
                <a16:creationId xmlns:a16="http://schemas.microsoft.com/office/drawing/2014/main" id="{B6250C2F-707E-E3DF-61B4-EBCC1ED3933D}"/>
              </a:ext>
            </a:extLst>
          </p:cNvPr>
          <p:cNvSpPr/>
          <p:nvPr/>
        </p:nvSpPr>
        <p:spPr>
          <a:xfrm>
            <a:off x="4953164" y="4336178"/>
            <a:ext cx="3155652" cy="281756"/>
          </a:xfrm>
          <a:prstGeom prst="rect">
            <a:avLst/>
          </a:prstGeom>
          <a:solidFill>
            <a:srgbClr val="F7F4E9"/>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endParaRPr lang="fr-FR" sz="700" i="1" dirty="0">
              <a:solidFill>
                <a:schemeClr val="tx1"/>
              </a:solidFill>
              <a:latin typeface="Jost Light" pitchFamily="2" charset="77"/>
              <a:ea typeface="Jost Light" pitchFamily="2" charset="77"/>
              <a:cs typeface="Cormorant Garamond" pitchFamily="2" charset="77"/>
            </a:endParaRPr>
          </a:p>
        </p:txBody>
      </p:sp>
      <p:sp>
        <p:nvSpPr>
          <p:cNvPr id="65" name="ZoneTexte 64">
            <a:extLst>
              <a:ext uri="{FF2B5EF4-FFF2-40B4-BE49-F238E27FC236}">
                <a16:creationId xmlns:a16="http://schemas.microsoft.com/office/drawing/2014/main" id="{71951AB0-1F94-52AA-E707-C4E77C1C8E2F}"/>
              </a:ext>
            </a:extLst>
          </p:cNvPr>
          <p:cNvSpPr txBox="1"/>
          <p:nvPr/>
        </p:nvSpPr>
        <p:spPr>
          <a:xfrm>
            <a:off x="6283290" y="2379848"/>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Belgique</a:t>
            </a:r>
            <a:endParaRPr lang="fr-FR" dirty="0">
              <a:latin typeface="Jost Medium" pitchFamily="2" charset="77"/>
              <a:ea typeface="Jost Medium" pitchFamily="2" charset="77"/>
            </a:endParaRPr>
          </a:p>
        </p:txBody>
      </p:sp>
      <p:sp>
        <p:nvSpPr>
          <p:cNvPr id="66" name="ZoneTexte 65">
            <a:extLst>
              <a:ext uri="{FF2B5EF4-FFF2-40B4-BE49-F238E27FC236}">
                <a16:creationId xmlns:a16="http://schemas.microsoft.com/office/drawing/2014/main" id="{FE784CDA-6980-0374-2869-DC08F74CD0C1}"/>
              </a:ext>
            </a:extLst>
          </p:cNvPr>
          <p:cNvSpPr txBox="1"/>
          <p:nvPr/>
        </p:nvSpPr>
        <p:spPr>
          <a:xfrm>
            <a:off x="8501163" y="3096133"/>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Santé</a:t>
            </a:r>
            <a:endParaRPr lang="fr-FR" dirty="0">
              <a:latin typeface="Jost Medium" pitchFamily="2" charset="77"/>
              <a:ea typeface="Jost Medium" pitchFamily="2" charset="77"/>
            </a:endParaRPr>
          </a:p>
        </p:txBody>
      </p:sp>
      <p:sp>
        <p:nvSpPr>
          <p:cNvPr id="67" name="Rectangle 66">
            <a:extLst>
              <a:ext uri="{FF2B5EF4-FFF2-40B4-BE49-F238E27FC236}">
                <a16:creationId xmlns:a16="http://schemas.microsoft.com/office/drawing/2014/main" id="{9E983C2C-913E-4F6A-03AB-2376E682C7A1}"/>
              </a:ext>
            </a:extLst>
          </p:cNvPr>
          <p:cNvSpPr/>
          <p:nvPr/>
        </p:nvSpPr>
        <p:spPr>
          <a:xfrm>
            <a:off x="8203585" y="4358171"/>
            <a:ext cx="3155652" cy="262042"/>
          </a:xfrm>
          <a:prstGeom prst="rect">
            <a:avLst/>
          </a:prstGeom>
          <a:solidFill>
            <a:srgbClr val="F7F4E9"/>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endParaRPr lang="fr-FR" sz="700" i="1" dirty="0">
              <a:solidFill>
                <a:schemeClr val="tx1"/>
              </a:solidFill>
              <a:latin typeface="Jost Light" pitchFamily="2" charset="77"/>
              <a:ea typeface="Jost Light" pitchFamily="2" charset="77"/>
              <a:cs typeface="Cormorant Garamond" pitchFamily="2" charset="77"/>
            </a:endParaRPr>
          </a:p>
        </p:txBody>
      </p:sp>
      <p:sp>
        <p:nvSpPr>
          <p:cNvPr id="69" name="ZoneTexte 68">
            <a:extLst>
              <a:ext uri="{FF2B5EF4-FFF2-40B4-BE49-F238E27FC236}">
                <a16:creationId xmlns:a16="http://schemas.microsoft.com/office/drawing/2014/main" id="{74C0611E-0324-10E4-9EDA-16DD8FF62BDE}"/>
              </a:ext>
            </a:extLst>
          </p:cNvPr>
          <p:cNvSpPr txBox="1"/>
          <p:nvPr/>
        </p:nvSpPr>
        <p:spPr>
          <a:xfrm>
            <a:off x="5772435" y="2469666"/>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Pologne</a:t>
            </a:r>
            <a:endParaRPr lang="fr-FR" dirty="0">
              <a:latin typeface="Jost Medium" pitchFamily="2" charset="77"/>
              <a:ea typeface="Jost Medium" pitchFamily="2" charset="77"/>
            </a:endParaRPr>
          </a:p>
        </p:txBody>
      </p:sp>
      <p:sp>
        <p:nvSpPr>
          <p:cNvPr id="73" name="ZoneTexte 72">
            <a:extLst>
              <a:ext uri="{FF2B5EF4-FFF2-40B4-BE49-F238E27FC236}">
                <a16:creationId xmlns:a16="http://schemas.microsoft.com/office/drawing/2014/main" id="{D5E497B8-98BC-DAC1-B514-2F4369EC5D96}"/>
              </a:ext>
            </a:extLst>
          </p:cNvPr>
          <p:cNvSpPr txBox="1"/>
          <p:nvPr/>
        </p:nvSpPr>
        <p:spPr>
          <a:xfrm>
            <a:off x="9993351" y="4177646"/>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Commerces</a:t>
            </a:r>
            <a:endParaRPr lang="fr-FR" dirty="0">
              <a:latin typeface="Jost Medium" pitchFamily="2" charset="77"/>
              <a:ea typeface="Jost Medium" pitchFamily="2" charset="77"/>
            </a:endParaRPr>
          </a:p>
        </p:txBody>
      </p:sp>
      <p:sp>
        <p:nvSpPr>
          <p:cNvPr id="74" name="ZoneTexte 73">
            <a:extLst>
              <a:ext uri="{FF2B5EF4-FFF2-40B4-BE49-F238E27FC236}">
                <a16:creationId xmlns:a16="http://schemas.microsoft.com/office/drawing/2014/main" id="{584F5D1C-DBBF-88B2-3603-419847F45BDB}"/>
              </a:ext>
            </a:extLst>
          </p:cNvPr>
          <p:cNvSpPr txBox="1"/>
          <p:nvPr/>
        </p:nvSpPr>
        <p:spPr>
          <a:xfrm>
            <a:off x="9596255" y="239338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Éducation et Loisirs</a:t>
            </a:r>
            <a:endParaRPr lang="fr-FR" dirty="0">
              <a:latin typeface="Jost Medium" pitchFamily="2" charset="77"/>
              <a:ea typeface="Jost Medium" pitchFamily="2" charset="77"/>
            </a:endParaRPr>
          </a:p>
        </p:txBody>
      </p:sp>
      <p:sp>
        <p:nvSpPr>
          <p:cNvPr id="4" name="Rectangle 3">
            <a:extLst>
              <a:ext uri="{FF2B5EF4-FFF2-40B4-BE49-F238E27FC236}">
                <a16:creationId xmlns:a16="http://schemas.microsoft.com/office/drawing/2014/main" id="{25025EA9-0A80-03F2-4FBA-54D77F35D584}"/>
              </a:ext>
            </a:extLst>
          </p:cNvPr>
          <p:cNvSpPr/>
          <p:nvPr/>
        </p:nvSpPr>
        <p:spPr>
          <a:xfrm>
            <a:off x="4926730" y="5432649"/>
            <a:ext cx="6475356" cy="1012605"/>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sz="800" dirty="0">
                <a:solidFill>
                  <a:srgbClr val="1A1A1A"/>
                </a:solidFill>
                <a:latin typeface="Jost Light" pitchFamily="2" charset="77"/>
                <a:ea typeface="Jost Light" pitchFamily="2" charset="77"/>
              </a:rPr>
              <a:t>Lancée en 2022 par Arkéa REIM, Transitions Europe est l'une des SCPI les plus dynamiques du marché ces dernières années. Elle investit dans un patrimoine paneuropéen diversifié, avec une stratégie qui mise sur des acquisitions récentes à fort rendement locatif. Un atout supplémentaire : la quasi-totalité de son patrimoine a été constituée après le Covid, à un moment où les taux d'intérêt étaient encore très bas, ce qui lui a permis d'acheter des actifs à des prix attractifs, avec un fort potentiel de revalorisation à la clé.</a:t>
            </a:r>
          </a:p>
          <a:p>
            <a:pPr algn="just"/>
            <a:endParaRPr lang="fr-FR" sz="800" dirty="0">
              <a:solidFill>
                <a:srgbClr val="1A1A1A"/>
              </a:solidFill>
              <a:latin typeface="Jost Light" pitchFamily="2" charset="77"/>
              <a:ea typeface="Jost Light" pitchFamily="2" charset="77"/>
            </a:endParaRPr>
          </a:p>
          <a:p>
            <a:pPr algn="just"/>
            <a:r>
              <a:rPr lang="fr-FR" sz="800" dirty="0">
                <a:solidFill>
                  <a:srgbClr val="1A1A1A"/>
                </a:solidFill>
                <a:latin typeface="Jost Light" pitchFamily="2" charset="77"/>
                <a:ea typeface="Jost Light" pitchFamily="2" charset="77"/>
              </a:rPr>
              <a:t>Autre signe de sa dynamique : la capitalisation de Transitions Europe a plus que doublé en un an, passant d'environ 677 millions d'euros au premier trimestre 2025 à plus de 1,25 milliard d'euros début 2026, franchissant au passage le cap symbolique du milliard d'euros en cours d'année 2025.</a:t>
            </a:r>
          </a:p>
        </p:txBody>
      </p:sp>
    </p:spTree>
    <p:extLst>
      <p:ext uri="{BB962C8B-B14F-4D97-AF65-F5344CB8AC3E}">
        <p14:creationId xmlns:p14="http://schemas.microsoft.com/office/powerpoint/2010/main" val="7625153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89786-12CB-04F4-5485-28B6D6803B73}"/>
            </a:ext>
          </a:extLst>
        </p:cNvPr>
        <p:cNvGrpSpPr/>
        <p:nvPr/>
      </p:nvGrpSpPr>
      <p:grpSpPr>
        <a:xfrm>
          <a:off x="0" y="0"/>
          <a:ext cx="0" cy="0"/>
          <a:chOff x="0" y="0"/>
          <a:chExt cx="0" cy="0"/>
        </a:xfrm>
      </p:grpSpPr>
      <p:pic>
        <p:nvPicPr>
          <p:cNvPr id="18" name="Image 17">
            <a:extLst>
              <a:ext uri="{FF2B5EF4-FFF2-40B4-BE49-F238E27FC236}">
                <a16:creationId xmlns:a16="http://schemas.microsoft.com/office/drawing/2014/main" id="{E161CA8E-A37A-0793-A951-0DE789A9B565}"/>
              </a:ext>
            </a:extLst>
          </p:cNvPr>
          <p:cNvPicPr>
            <a:picLocks noChangeAspect="1"/>
          </p:cNvPicPr>
          <p:nvPr/>
        </p:nvPicPr>
        <p:blipFill>
          <a:blip r:embed="rId2">
            <a:alphaModFix amt="5000"/>
          </a:blip>
          <a:srcRect l="6207" b="6232"/>
          <a:stretch>
            <a:fillRect/>
          </a:stretch>
        </p:blipFill>
        <p:spPr>
          <a:xfrm>
            <a:off x="0" y="-1841"/>
            <a:ext cx="12191999" cy="6859822"/>
          </a:xfrm>
          <a:prstGeom prst="rect">
            <a:avLst/>
          </a:prstGeom>
        </p:spPr>
      </p:pic>
      <p:sp>
        <p:nvSpPr>
          <p:cNvPr id="7" name="Rectangle 6">
            <a:extLst>
              <a:ext uri="{FF2B5EF4-FFF2-40B4-BE49-F238E27FC236}">
                <a16:creationId xmlns:a16="http://schemas.microsoft.com/office/drawing/2014/main" id="{ABA49108-CFA9-68D2-316C-3493F1E67356}"/>
              </a:ext>
            </a:extLst>
          </p:cNvPr>
          <p:cNvSpPr/>
          <p:nvPr/>
        </p:nvSpPr>
        <p:spPr>
          <a:xfrm>
            <a:off x="8187915" y="2147869"/>
            <a:ext cx="3189250" cy="2457549"/>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3" name="Chart 1">
            <a:extLst>
              <a:ext uri="{FF2B5EF4-FFF2-40B4-BE49-F238E27FC236}">
                <a16:creationId xmlns:a16="http://schemas.microsoft.com/office/drawing/2014/main" id="{7DC7840C-40AA-74D3-E8C4-F21634ADD153}"/>
              </a:ext>
            </a:extLst>
          </p:cNvPr>
          <p:cNvGraphicFramePr>
            <a:graphicFrameLocks/>
          </p:cNvGraphicFramePr>
          <p:nvPr/>
        </p:nvGraphicFramePr>
        <p:xfrm>
          <a:off x="8186931" y="2266995"/>
          <a:ext cx="3173085" cy="2103130"/>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1">
            <a:extLst>
              <a:ext uri="{FF2B5EF4-FFF2-40B4-BE49-F238E27FC236}">
                <a16:creationId xmlns:a16="http://schemas.microsoft.com/office/drawing/2014/main" id="{5A671317-4C44-4A52-6013-DD9E224F9034}"/>
              </a:ext>
            </a:extLst>
          </p:cNvPr>
          <p:cNvSpPr/>
          <p:nvPr/>
        </p:nvSpPr>
        <p:spPr>
          <a:xfrm>
            <a:off x="4919566" y="2138211"/>
            <a:ext cx="3189250" cy="2474762"/>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0" name="Chart 1">
            <a:extLst>
              <a:ext uri="{FF2B5EF4-FFF2-40B4-BE49-F238E27FC236}">
                <a16:creationId xmlns:a16="http://schemas.microsoft.com/office/drawing/2014/main" id="{63B6E07C-D292-78E4-51E7-BD4BCA6EC662}"/>
              </a:ext>
            </a:extLst>
          </p:cNvPr>
          <p:cNvGraphicFramePr>
            <a:graphicFrameLocks/>
          </p:cNvGraphicFramePr>
          <p:nvPr/>
        </p:nvGraphicFramePr>
        <p:xfrm>
          <a:off x="4948470" y="2307342"/>
          <a:ext cx="3160346" cy="2062783"/>
        </p:xfrm>
        <a:graphic>
          <a:graphicData uri="http://schemas.openxmlformats.org/drawingml/2006/chart">
            <c:chart xmlns:c="http://schemas.openxmlformats.org/drawingml/2006/chart" xmlns:r="http://schemas.openxmlformats.org/officeDocument/2006/relationships" r:id="rId4"/>
          </a:graphicData>
        </a:graphic>
      </p:graphicFrame>
      <p:sp>
        <p:nvSpPr>
          <p:cNvPr id="2" name="Rectangle 1">
            <a:extLst>
              <a:ext uri="{FF2B5EF4-FFF2-40B4-BE49-F238E27FC236}">
                <a16:creationId xmlns:a16="http://schemas.microsoft.com/office/drawing/2014/main" id="{14FDC386-8047-CF3B-14B3-DA797C679AC6}"/>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9">
            <a:extLst>
              <a:ext uri="{FF2B5EF4-FFF2-40B4-BE49-F238E27FC236}">
                <a16:creationId xmlns:a16="http://schemas.microsoft.com/office/drawing/2014/main" id="{6BE5085D-70D3-BC8C-9E87-A02D1118640D}"/>
              </a:ext>
            </a:extLst>
          </p:cNvPr>
          <p:cNvSpPr/>
          <p:nvPr/>
        </p:nvSpPr>
        <p:spPr>
          <a:xfrm>
            <a:off x="947468" y="578772"/>
            <a:ext cx="5362797" cy="394243"/>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SCPI </a:t>
            </a:r>
            <a:r>
              <a:rPr lang="fr-FR" noProof="0" dirty="0">
                <a:solidFill>
                  <a:srgbClr val="A9853F"/>
                </a:solidFill>
                <a:ea typeface="Cormorant Garamond SemiBold" pitchFamily="2" charset="77"/>
                <a:cs typeface="Cormorant Garamond SemiBold" pitchFamily="2" charset="77"/>
              </a:rPr>
              <a:t>-</a:t>
            </a:r>
            <a:r>
              <a:rPr lang="fr-FR" b="1" noProof="0" dirty="0">
                <a:solidFill>
                  <a:srgbClr val="A9853F"/>
                </a:solidFill>
                <a:latin typeface="Cormorant Garamond SemiBold" pitchFamily="2" charset="77"/>
                <a:ea typeface="Cormorant Garamond SemiBold" pitchFamily="2" charset="77"/>
                <a:cs typeface="Cormorant Garamond SemiBold" pitchFamily="2" charset="77"/>
              </a:rPr>
              <a:t> Société Civile de Placement Immobilier</a:t>
            </a:r>
          </a:p>
        </p:txBody>
      </p:sp>
      <p:sp>
        <p:nvSpPr>
          <p:cNvPr id="6" name="Text 9">
            <a:extLst>
              <a:ext uri="{FF2B5EF4-FFF2-40B4-BE49-F238E27FC236}">
                <a16:creationId xmlns:a16="http://schemas.microsoft.com/office/drawing/2014/main" id="{00DBEC84-7C09-1983-4502-587614DE5D02}"/>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Conseil en Investissement immobilier : Momentime</a:t>
            </a:r>
          </a:p>
          <a:p>
            <a:endParaRPr lang="fr-FR" sz="1200" noProof="0" dirty="0">
              <a:solidFill>
                <a:srgbClr val="073527"/>
              </a:solidFill>
              <a:latin typeface="Jost Medium" pitchFamily="2" charset="77"/>
              <a:ea typeface="Jost Medium" pitchFamily="2" charset="77"/>
              <a:cs typeface="Futura Medium" panose="020B0602020204020303" pitchFamily="34" charset="-79"/>
            </a:endParaRPr>
          </a:p>
        </p:txBody>
      </p:sp>
      <p:sp>
        <p:nvSpPr>
          <p:cNvPr id="8" name="Rectangle : avec coins arrondis en haut 7">
            <a:extLst>
              <a:ext uri="{FF2B5EF4-FFF2-40B4-BE49-F238E27FC236}">
                <a16:creationId xmlns:a16="http://schemas.microsoft.com/office/drawing/2014/main" id="{5A574CD1-69E6-6395-D483-B0A45258F8ED}"/>
              </a:ext>
            </a:extLst>
          </p:cNvPr>
          <p:cNvSpPr/>
          <p:nvPr/>
        </p:nvSpPr>
        <p:spPr>
          <a:xfrm>
            <a:off x="1403716" y="1767875"/>
            <a:ext cx="2932540"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Indicateurs clés</a:t>
            </a:r>
          </a:p>
        </p:txBody>
      </p:sp>
      <p:sp>
        <p:nvSpPr>
          <p:cNvPr id="9" name="Rectangle 8">
            <a:extLst>
              <a:ext uri="{FF2B5EF4-FFF2-40B4-BE49-F238E27FC236}">
                <a16:creationId xmlns:a16="http://schemas.microsoft.com/office/drawing/2014/main" id="{17A64EC8-1D41-F478-8250-D639904BD7CE}"/>
              </a:ext>
            </a:extLst>
          </p:cNvPr>
          <p:cNvSpPr/>
          <p:nvPr/>
        </p:nvSpPr>
        <p:spPr>
          <a:xfrm>
            <a:off x="1397642" y="2168305"/>
            <a:ext cx="2945758" cy="1260695"/>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74CD29A4-C242-95C7-6E93-7AFEA57F28C3}"/>
              </a:ext>
            </a:extLst>
          </p:cNvPr>
          <p:cNvSpPr/>
          <p:nvPr/>
        </p:nvSpPr>
        <p:spPr>
          <a:xfrm>
            <a:off x="1408170" y="3988159"/>
            <a:ext cx="2930052" cy="1985788"/>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endParaRPr lang="fr-FR" sz="900" b="1" dirty="0">
              <a:solidFill>
                <a:schemeClr val="tx1"/>
              </a:solidFill>
              <a:latin typeface="Jost Light" pitchFamily="2" charset="77"/>
              <a:ea typeface="Jost Light" pitchFamily="2" charset="77"/>
            </a:endParaRPr>
          </a:p>
          <a:p>
            <a:pPr algn="ctr">
              <a:spcAft>
                <a:spcPts val="400"/>
              </a:spcAft>
            </a:pPr>
            <a:r>
              <a:rPr lang="fr-FR" sz="900" b="1" dirty="0">
                <a:solidFill>
                  <a:schemeClr val="tx1"/>
                </a:solidFill>
                <a:latin typeface="Jost Light" pitchFamily="2" charset="77"/>
                <a:ea typeface="Jost Light" pitchFamily="2" charset="77"/>
              </a:rPr>
              <a:t>Maison de Gestion </a:t>
            </a:r>
            <a:r>
              <a:rPr lang="fr-FR" sz="900" dirty="0">
                <a:solidFill>
                  <a:schemeClr val="tx1"/>
                </a:solidFill>
                <a:latin typeface="Jost Light" pitchFamily="2" charset="77"/>
                <a:ea typeface="Jost Light" pitchFamily="2" charset="77"/>
              </a:rPr>
              <a:t>: Arkea Reim - AM</a:t>
            </a:r>
          </a:p>
          <a:p>
            <a:pPr algn="ctr">
              <a:spcAft>
                <a:spcPts val="400"/>
              </a:spcAft>
            </a:pPr>
            <a:r>
              <a:rPr lang="fr-FR" sz="900" b="1" dirty="0">
                <a:solidFill>
                  <a:schemeClr val="tx1"/>
                </a:solidFill>
                <a:latin typeface="Jost Light" pitchFamily="2" charset="77"/>
                <a:ea typeface="Jost Light" pitchFamily="2" charset="77"/>
              </a:rPr>
              <a:t>Prix de part </a:t>
            </a:r>
            <a:r>
              <a:rPr lang="fr-FR" sz="900" dirty="0">
                <a:solidFill>
                  <a:schemeClr val="tx1"/>
                </a:solidFill>
                <a:latin typeface="Jost Light" pitchFamily="2" charset="77"/>
                <a:ea typeface="Jost Light" pitchFamily="2" charset="77"/>
              </a:rPr>
              <a:t>: 2025 : 200 EUR</a:t>
            </a:r>
          </a:p>
          <a:p>
            <a:pPr algn="ctr">
              <a:spcAft>
                <a:spcPts val="400"/>
              </a:spcAft>
            </a:pPr>
            <a:r>
              <a:rPr lang="fr-FR" sz="900" dirty="0">
                <a:solidFill>
                  <a:schemeClr val="tx1"/>
                </a:solidFill>
                <a:latin typeface="Jost Light" pitchFamily="2" charset="77"/>
                <a:ea typeface="Jost Light" pitchFamily="2" charset="77"/>
              </a:rPr>
              <a:t>Aujourd’hui : 200 EUR</a:t>
            </a:r>
          </a:p>
          <a:p>
            <a:pPr algn="ctr">
              <a:spcAft>
                <a:spcPts val="400"/>
              </a:spcAft>
            </a:pPr>
            <a:r>
              <a:rPr lang="fr-FR" sz="900" b="1" dirty="0">
                <a:solidFill>
                  <a:schemeClr val="tx1"/>
                </a:solidFill>
                <a:latin typeface="Jost Light" pitchFamily="2" charset="77"/>
                <a:ea typeface="Jost Light" pitchFamily="2" charset="77"/>
              </a:rPr>
              <a:t>Valeur de reconstitution </a:t>
            </a:r>
            <a:r>
              <a:rPr lang="fr-FR" sz="900" dirty="0">
                <a:solidFill>
                  <a:schemeClr val="tx1"/>
                </a:solidFill>
                <a:latin typeface="Jost Light" pitchFamily="2" charset="77"/>
                <a:ea typeface="Jost Light" pitchFamily="2" charset="77"/>
              </a:rPr>
              <a:t>: 206 EUR</a:t>
            </a:r>
          </a:p>
          <a:p>
            <a:pPr algn="ctr">
              <a:spcAft>
                <a:spcPts val="400"/>
              </a:spcAft>
            </a:pPr>
            <a:endParaRPr lang="fr-FR" sz="900" dirty="0">
              <a:solidFill>
                <a:schemeClr val="tx1"/>
              </a:solidFill>
              <a:latin typeface="Jost Light" pitchFamily="2" charset="77"/>
              <a:ea typeface="Jost Light" pitchFamily="2" charset="77"/>
            </a:endParaRPr>
          </a:p>
          <a:p>
            <a:pPr algn="just">
              <a:spcAft>
                <a:spcPts val="400"/>
              </a:spcAft>
            </a:pPr>
            <a:r>
              <a:rPr lang="fr-FR" sz="900" b="1" dirty="0">
                <a:solidFill>
                  <a:schemeClr val="tx1"/>
                </a:solidFill>
                <a:latin typeface="Jost Light" pitchFamily="2" charset="77"/>
                <a:ea typeface="Jost Light" pitchFamily="2" charset="77"/>
              </a:rPr>
              <a:t>Délai de jouissance </a:t>
            </a:r>
            <a:r>
              <a:rPr lang="fr-FR" sz="900" dirty="0">
                <a:solidFill>
                  <a:schemeClr val="tx1"/>
                </a:solidFill>
                <a:latin typeface="Jost Light" pitchFamily="2" charset="77"/>
                <a:ea typeface="Jost Light" pitchFamily="2" charset="77"/>
              </a:rPr>
              <a:t>: au 1er jour du quatrième mois suivant la date d’encaissement de la souscription part la maison de gestion.</a:t>
            </a:r>
          </a:p>
          <a:p>
            <a:pPr algn="ctr">
              <a:spcAft>
                <a:spcPts val="400"/>
              </a:spcAft>
            </a:pPr>
            <a:endParaRPr lang="fr-FR" sz="900" dirty="0">
              <a:solidFill>
                <a:schemeClr val="tx1"/>
              </a:solidFill>
              <a:latin typeface="Jost Light" pitchFamily="2" charset="77"/>
              <a:ea typeface="Jost Light" pitchFamily="2" charset="77"/>
            </a:endParaRPr>
          </a:p>
          <a:p>
            <a:pPr algn="ctr">
              <a:spcAft>
                <a:spcPts val="400"/>
              </a:spcAft>
            </a:pPr>
            <a:r>
              <a:rPr lang="fr-FR" sz="900" b="1" dirty="0">
                <a:solidFill>
                  <a:srgbClr val="1A1A1A"/>
                </a:solidFill>
                <a:latin typeface="Jost Light" pitchFamily="2" charset="77"/>
                <a:ea typeface="Jost Light" pitchFamily="2" charset="77"/>
              </a:rPr>
              <a:t>SCPI européenne : avantages fiscaux.</a:t>
            </a:r>
            <a:endParaRPr lang="fr-FR" sz="900" b="1" dirty="0">
              <a:solidFill>
                <a:schemeClr val="tx1"/>
              </a:solidFill>
              <a:latin typeface="Jost Light" pitchFamily="2" charset="77"/>
              <a:ea typeface="Jost Light" pitchFamily="2" charset="77"/>
            </a:endParaRPr>
          </a:p>
          <a:p>
            <a:pPr algn="ctr">
              <a:spcAft>
                <a:spcPts val="400"/>
              </a:spcAft>
            </a:pPr>
            <a:endParaRPr lang="fr-FR" sz="900" dirty="0">
              <a:solidFill>
                <a:schemeClr val="tx1"/>
              </a:solidFill>
              <a:latin typeface="Jost Light" pitchFamily="2" charset="77"/>
              <a:ea typeface="Jost Light" pitchFamily="2" charset="77"/>
            </a:endParaRPr>
          </a:p>
        </p:txBody>
      </p:sp>
      <p:sp>
        <p:nvSpPr>
          <p:cNvPr id="15" name="Rectangle 14">
            <a:extLst>
              <a:ext uri="{FF2B5EF4-FFF2-40B4-BE49-F238E27FC236}">
                <a16:creationId xmlns:a16="http://schemas.microsoft.com/office/drawing/2014/main" id="{C18C4686-7A97-4942-A5C3-EE7A0D38D24A}"/>
              </a:ext>
            </a:extLst>
          </p:cNvPr>
          <p:cNvSpPr/>
          <p:nvPr/>
        </p:nvSpPr>
        <p:spPr>
          <a:xfrm>
            <a:off x="1406580" y="3484180"/>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Distribution trimestrielle</a:t>
            </a:r>
          </a:p>
        </p:txBody>
      </p:sp>
      <p:sp>
        <p:nvSpPr>
          <p:cNvPr id="21" name="Rectangle 20">
            <a:extLst>
              <a:ext uri="{FF2B5EF4-FFF2-40B4-BE49-F238E27FC236}">
                <a16:creationId xmlns:a16="http://schemas.microsoft.com/office/drawing/2014/main" id="{2BB800D9-13B1-6B8B-F707-367390C257E0}"/>
              </a:ext>
            </a:extLst>
          </p:cNvPr>
          <p:cNvSpPr/>
          <p:nvPr/>
        </p:nvSpPr>
        <p:spPr>
          <a:xfrm>
            <a:off x="1393442" y="5973965"/>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Taux distribué en 2025 : 9.25% </a:t>
            </a:r>
            <a:r>
              <a:rPr lang="fr-FR" sz="1200" dirty="0" err="1">
                <a:solidFill>
                  <a:schemeClr val="bg1"/>
                </a:solidFill>
                <a:latin typeface="Jost Medium" pitchFamily="2" charset="77"/>
                <a:ea typeface="Jost Medium" pitchFamily="2" charset="77"/>
              </a:rPr>
              <a:t>p.a</a:t>
            </a:r>
            <a:r>
              <a:rPr lang="fr-FR" sz="1200" dirty="0">
                <a:solidFill>
                  <a:schemeClr val="bg1"/>
                </a:solidFill>
                <a:latin typeface="Jost Medium" pitchFamily="2" charset="77"/>
                <a:ea typeface="Jost Medium" pitchFamily="2" charset="77"/>
              </a:rPr>
              <a:t>.</a:t>
            </a:r>
          </a:p>
        </p:txBody>
      </p:sp>
      <p:pic>
        <p:nvPicPr>
          <p:cNvPr id="31" name="Image 30">
            <a:extLst>
              <a:ext uri="{FF2B5EF4-FFF2-40B4-BE49-F238E27FC236}">
                <a16:creationId xmlns:a16="http://schemas.microsoft.com/office/drawing/2014/main" id="{B4FD749C-C58C-3196-540A-985685DFBBA1}"/>
              </a:ext>
            </a:extLst>
          </p:cNvPr>
          <p:cNvPicPr>
            <a:picLocks noChangeAspect="1"/>
          </p:cNvPicPr>
          <p:nvPr/>
        </p:nvPicPr>
        <p:blipFill>
          <a:blip r:embed="rId5">
            <a:duotone>
              <a:prstClr val="black"/>
              <a:srgbClr val="063527">
                <a:tint val="45000"/>
                <a:satMod val="400000"/>
              </a:srgbClr>
            </a:duotone>
          </a:blip>
          <a:stretch>
            <a:fillRect/>
          </a:stretch>
        </p:blipFill>
        <p:spPr>
          <a:xfrm>
            <a:off x="11005640" y="374477"/>
            <a:ext cx="792892" cy="264297"/>
          </a:xfrm>
          <a:prstGeom prst="rect">
            <a:avLst/>
          </a:prstGeom>
        </p:spPr>
      </p:pic>
      <p:sp>
        <p:nvSpPr>
          <p:cNvPr id="26" name="Rectangle : avec coins arrondis en haut 25">
            <a:extLst>
              <a:ext uri="{FF2B5EF4-FFF2-40B4-BE49-F238E27FC236}">
                <a16:creationId xmlns:a16="http://schemas.microsoft.com/office/drawing/2014/main" id="{A0D623B1-2E5B-8B2A-64C6-34D3FB9709F0}"/>
              </a:ext>
            </a:extLst>
          </p:cNvPr>
          <p:cNvSpPr/>
          <p:nvPr/>
        </p:nvSpPr>
        <p:spPr>
          <a:xfrm>
            <a:off x="4935731" y="1767875"/>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géographique</a:t>
            </a:r>
          </a:p>
        </p:txBody>
      </p:sp>
      <p:sp>
        <p:nvSpPr>
          <p:cNvPr id="46" name="Stat 0 108">
            <a:extLst>
              <a:ext uri="{FF2B5EF4-FFF2-40B4-BE49-F238E27FC236}">
                <a16:creationId xmlns:a16="http://schemas.microsoft.com/office/drawing/2014/main" id="{5C0FA05B-E789-6AEF-D527-93068242FEB9}"/>
              </a:ext>
            </a:extLst>
          </p:cNvPr>
          <p:cNvSpPr txBox="1"/>
          <p:nvPr/>
        </p:nvSpPr>
        <p:spPr>
          <a:xfrm>
            <a:off x="9286899" y="4772300"/>
            <a:ext cx="2073117" cy="497514"/>
          </a:xfrm>
          <a:prstGeom prst="rect">
            <a:avLst/>
          </a:prstGeom>
          <a:solidFill>
            <a:srgbClr val="15462A"/>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Taux d’occupation financière</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97.0%</a:t>
            </a:r>
          </a:p>
        </p:txBody>
      </p:sp>
      <p:sp>
        <p:nvSpPr>
          <p:cNvPr id="48" name="Stat 0 108">
            <a:extLst>
              <a:ext uri="{FF2B5EF4-FFF2-40B4-BE49-F238E27FC236}">
                <a16:creationId xmlns:a16="http://schemas.microsoft.com/office/drawing/2014/main" id="{6D94F619-9D38-ACCB-E727-D52CCA9BDC00}"/>
              </a:ext>
            </a:extLst>
          </p:cNvPr>
          <p:cNvSpPr txBox="1"/>
          <p:nvPr/>
        </p:nvSpPr>
        <p:spPr>
          <a:xfrm>
            <a:off x="7111315" y="4773748"/>
            <a:ext cx="2106826" cy="497514"/>
          </a:xfrm>
          <a:prstGeom prst="rect">
            <a:avLst/>
          </a:prstGeom>
          <a:solidFill>
            <a:srgbClr val="AA853F"/>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Capitalisation</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49M EUR</a:t>
            </a:r>
          </a:p>
        </p:txBody>
      </p:sp>
      <p:sp>
        <p:nvSpPr>
          <p:cNvPr id="49" name="Stat 0 108">
            <a:extLst>
              <a:ext uri="{FF2B5EF4-FFF2-40B4-BE49-F238E27FC236}">
                <a16:creationId xmlns:a16="http://schemas.microsoft.com/office/drawing/2014/main" id="{24B4C328-ABA3-0F8B-4DF4-B253CE417658}"/>
              </a:ext>
            </a:extLst>
          </p:cNvPr>
          <p:cNvSpPr txBox="1"/>
          <p:nvPr/>
        </p:nvSpPr>
        <p:spPr>
          <a:xfrm>
            <a:off x="4935731" y="4775194"/>
            <a:ext cx="2106826" cy="488512"/>
          </a:xfrm>
          <a:prstGeom prst="rect">
            <a:avLst/>
          </a:prstGeom>
          <a:solidFill>
            <a:srgbClr val="E6C989"/>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Risque SRRI</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3/7</a:t>
            </a:r>
          </a:p>
        </p:txBody>
      </p:sp>
      <p:sp>
        <p:nvSpPr>
          <p:cNvPr id="53" name="ZoneTexte 52">
            <a:extLst>
              <a:ext uri="{FF2B5EF4-FFF2-40B4-BE49-F238E27FC236}">
                <a16:creationId xmlns:a16="http://schemas.microsoft.com/office/drawing/2014/main" id="{E2D21699-E918-A85A-4FA3-BEFA4D7C2229}"/>
              </a:ext>
            </a:extLst>
          </p:cNvPr>
          <p:cNvSpPr txBox="1"/>
          <p:nvPr/>
        </p:nvSpPr>
        <p:spPr>
          <a:xfrm>
            <a:off x="6894373" y="405910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Royaume-Uni</a:t>
            </a:r>
            <a:endParaRPr lang="fr-FR" dirty="0">
              <a:latin typeface="Jost Medium" pitchFamily="2" charset="77"/>
              <a:ea typeface="Jost Medium" pitchFamily="2" charset="77"/>
            </a:endParaRPr>
          </a:p>
        </p:txBody>
      </p:sp>
      <p:sp>
        <p:nvSpPr>
          <p:cNvPr id="62" name="Rectangle : avec coins arrondis en haut 61">
            <a:extLst>
              <a:ext uri="{FF2B5EF4-FFF2-40B4-BE49-F238E27FC236}">
                <a16:creationId xmlns:a16="http://schemas.microsoft.com/office/drawing/2014/main" id="{1968C158-C023-D73B-641A-483E4FEB5F6C}"/>
              </a:ext>
            </a:extLst>
          </p:cNvPr>
          <p:cNvSpPr/>
          <p:nvPr/>
        </p:nvSpPr>
        <p:spPr>
          <a:xfrm>
            <a:off x="8187915" y="1774963"/>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sectorielle</a:t>
            </a:r>
          </a:p>
        </p:txBody>
      </p:sp>
      <p:sp>
        <p:nvSpPr>
          <p:cNvPr id="63" name="Rectangle 62">
            <a:extLst>
              <a:ext uri="{FF2B5EF4-FFF2-40B4-BE49-F238E27FC236}">
                <a16:creationId xmlns:a16="http://schemas.microsoft.com/office/drawing/2014/main" id="{F84106EC-0974-D80F-B870-D02B4659CA4F}"/>
              </a:ext>
            </a:extLst>
          </p:cNvPr>
          <p:cNvSpPr/>
          <p:nvPr/>
        </p:nvSpPr>
        <p:spPr>
          <a:xfrm>
            <a:off x="4935730" y="5425927"/>
            <a:ext cx="6424285" cy="1202218"/>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sz="800" dirty="0">
                <a:solidFill>
                  <a:srgbClr val="1A1A1A"/>
                </a:solidFill>
                <a:latin typeface="Jost Light" pitchFamily="2" charset="77"/>
                <a:ea typeface="Jost Light" pitchFamily="2" charset="77"/>
              </a:rPr>
              <a:t>Lancée fin 2024 par Arkéa REIM, la même société de gestion que Transitions Europe, MomenTime en est la petite sœur complémentaire. Elle va précisément là où Transitions Europe ne va pas. Là où Transitions Europe exclut totalement la France et reste cantonnée à la zone euro, MomenTime investit en France et surtout hors zone euro. Au-delà de ses premières acquisitions franco-britanniques, la société de gestion prospecte activement en Pologne et dans les pays nordiques, confirmant que le « hors zone euro » n'est pas limité au seul Royaume-Uni. </a:t>
            </a:r>
          </a:p>
          <a:p>
            <a:pPr algn="just"/>
            <a:endParaRPr lang="fr-FR" sz="800" dirty="0">
              <a:solidFill>
                <a:srgbClr val="1A1A1A"/>
              </a:solidFill>
              <a:latin typeface="Jost Light" pitchFamily="2" charset="77"/>
              <a:ea typeface="Jost Light" pitchFamily="2" charset="77"/>
            </a:endParaRPr>
          </a:p>
          <a:p>
            <a:pPr algn="just"/>
            <a:r>
              <a:rPr lang="fr-FR" sz="800" dirty="0">
                <a:solidFill>
                  <a:srgbClr val="1A1A1A"/>
                </a:solidFill>
                <a:latin typeface="Jost Light" pitchFamily="2" charset="77"/>
                <a:ea typeface="Jost Light" pitchFamily="2" charset="77"/>
              </a:rPr>
              <a:t>Arkéa REIM encadre Momentime, comme Transition Europe, par une double grille de sélection rigoureuse. Sur le plan financier, chaque actif est jugé sur trois critères stricts : la qualité du locataire, la durée ferme du bail, et le niveau de rendement à l'entrée. Sur le plan extra-financier, une grille ESG maison de 41 critères vient compléter l'analyse, structurée autour de trois objectifs : préserver la biodiversité des sites, favoriser les mobilités alternatives à la voiture thermique, et renforcer la performance énergétique du patrimoine. </a:t>
            </a:r>
          </a:p>
        </p:txBody>
      </p:sp>
      <p:sp>
        <p:nvSpPr>
          <p:cNvPr id="66" name="ZoneTexte 65">
            <a:extLst>
              <a:ext uri="{FF2B5EF4-FFF2-40B4-BE49-F238E27FC236}">
                <a16:creationId xmlns:a16="http://schemas.microsoft.com/office/drawing/2014/main" id="{E49D9EB2-723A-E40A-1B59-1E3954AD91AE}"/>
              </a:ext>
            </a:extLst>
          </p:cNvPr>
          <p:cNvSpPr txBox="1"/>
          <p:nvPr/>
        </p:nvSpPr>
        <p:spPr>
          <a:xfrm>
            <a:off x="8354473" y="297308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Bureaux</a:t>
            </a:r>
            <a:endParaRPr lang="fr-FR" dirty="0">
              <a:latin typeface="Jost Medium" pitchFamily="2" charset="77"/>
              <a:ea typeface="Jost Medium" pitchFamily="2" charset="77"/>
            </a:endParaRPr>
          </a:p>
        </p:txBody>
      </p:sp>
      <p:sp>
        <p:nvSpPr>
          <p:cNvPr id="69" name="ZoneTexte 68">
            <a:extLst>
              <a:ext uri="{FF2B5EF4-FFF2-40B4-BE49-F238E27FC236}">
                <a16:creationId xmlns:a16="http://schemas.microsoft.com/office/drawing/2014/main" id="{CD8DA553-C142-E3B6-9459-55C2DA6D8988}"/>
              </a:ext>
            </a:extLst>
          </p:cNvPr>
          <p:cNvSpPr txBox="1"/>
          <p:nvPr/>
        </p:nvSpPr>
        <p:spPr>
          <a:xfrm>
            <a:off x="5380671" y="257783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France</a:t>
            </a:r>
            <a:endParaRPr lang="fr-FR" dirty="0">
              <a:latin typeface="Jost Medium" pitchFamily="2" charset="77"/>
              <a:ea typeface="Jost Medium" pitchFamily="2" charset="77"/>
            </a:endParaRPr>
          </a:p>
        </p:txBody>
      </p:sp>
      <p:sp>
        <p:nvSpPr>
          <p:cNvPr id="73" name="ZoneTexte 72">
            <a:extLst>
              <a:ext uri="{FF2B5EF4-FFF2-40B4-BE49-F238E27FC236}">
                <a16:creationId xmlns:a16="http://schemas.microsoft.com/office/drawing/2014/main" id="{9B202B35-8B3B-3793-6689-B895BA923015}"/>
              </a:ext>
            </a:extLst>
          </p:cNvPr>
          <p:cNvSpPr txBox="1"/>
          <p:nvPr/>
        </p:nvSpPr>
        <p:spPr>
          <a:xfrm>
            <a:off x="10499312" y="3580982"/>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Commerces</a:t>
            </a:r>
            <a:endParaRPr lang="fr-FR" dirty="0">
              <a:latin typeface="Jost Medium" pitchFamily="2" charset="77"/>
              <a:ea typeface="Jost Medium" pitchFamily="2" charset="77"/>
            </a:endParaRPr>
          </a:p>
        </p:txBody>
      </p:sp>
      <p:pic>
        <p:nvPicPr>
          <p:cNvPr id="11" name="Image 10">
            <a:extLst>
              <a:ext uri="{FF2B5EF4-FFF2-40B4-BE49-F238E27FC236}">
                <a16:creationId xmlns:a16="http://schemas.microsoft.com/office/drawing/2014/main" id="{32085E6A-E0DC-98B8-F20D-A67B302AD05E}"/>
              </a:ext>
            </a:extLst>
          </p:cNvPr>
          <p:cNvPicPr>
            <a:picLocks noChangeAspect="1"/>
          </p:cNvPicPr>
          <p:nvPr/>
        </p:nvPicPr>
        <p:blipFill>
          <a:blip r:embed="rId6"/>
          <a:stretch>
            <a:fillRect/>
          </a:stretch>
        </p:blipFill>
        <p:spPr>
          <a:xfrm>
            <a:off x="1820180" y="2310138"/>
            <a:ext cx="2028806" cy="1028986"/>
          </a:xfrm>
          <a:prstGeom prst="rect">
            <a:avLst/>
          </a:prstGeom>
        </p:spPr>
      </p:pic>
    </p:spTree>
    <p:extLst>
      <p:ext uri="{BB962C8B-B14F-4D97-AF65-F5344CB8AC3E}">
        <p14:creationId xmlns:p14="http://schemas.microsoft.com/office/powerpoint/2010/main" val="35091372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4E265-78B4-7917-016B-FAFA712BBC01}"/>
            </a:ext>
          </a:extLst>
        </p:cNvPr>
        <p:cNvGrpSpPr/>
        <p:nvPr/>
      </p:nvGrpSpPr>
      <p:grpSpPr>
        <a:xfrm>
          <a:off x="0" y="0"/>
          <a:ext cx="0" cy="0"/>
          <a:chOff x="0" y="0"/>
          <a:chExt cx="0" cy="0"/>
        </a:xfrm>
      </p:grpSpPr>
      <p:pic>
        <p:nvPicPr>
          <p:cNvPr id="75" name="Image 74">
            <a:extLst>
              <a:ext uri="{FF2B5EF4-FFF2-40B4-BE49-F238E27FC236}">
                <a16:creationId xmlns:a16="http://schemas.microsoft.com/office/drawing/2014/main" id="{2DAE305C-466E-1336-AE3F-B33BFC840708}"/>
              </a:ext>
            </a:extLst>
          </p:cNvPr>
          <p:cNvPicPr>
            <a:picLocks noChangeAspect="1"/>
          </p:cNvPicPr>
          <p:nvPr/>
        </p:nvPicPr>
        <p:blipFill>
          <a:blip r:embed="rId2">
            <a:alphaModFix amt="5000"/>
          </a:blip>
          <a:srcRect l="6207" b="6232"/>
          <a:stretch>
            <a:fillRect/>
          </a:stretch>
        </p:blipFill>
        <p:spPr>
          <a:xfrm>
            <a:off x="1" y="-1822"/>
            <a:ext cx="12191999" cy="6859822"/>
          </a:xfrm>
          <a:prstGeom prst="rect">
            <a:avLst/>
          </a:prstGeom>
        </p:spPr>
      </p:pic>
      <p:sp>
        <p:nvSpPr>
          <p:cNvPr id="7" name="Rectangle 6">
            <a:extLst>
              <a:ext uri="{FF2B5EF4-FFF2-40B4-BE49-F238E27FC236}">
                <a16:creationId xmlns:a16="http://schemas.microsoft.com/office/drawing/2014/main" id="{81DBDD23-2924-80DF-B314-F34CA54117DA}"/>
              </a:ext>
            </a:extLst>
          </p:cNvPr>
          <p:cNvSpPr/>
          <p:nvPr/>
        </p:nvSpPr>
        <p:spPr>
          <a:xfrm>
            <a:off x="8187915" y="2147869"/>
            <a:ext cx="3189250" cy="2241395"/>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6" name="Chart 1">
            <a:extLst>
              <a:ext uri="{FF2B5EF4-FFF2-40B4-BE49-F238E27FC236}">
                <a16:creationId xmlns:a16="http://schemas.microsoft.com/office/drawing/2014/main" id="{1C8C5111-ADDE-39C1-104D-75AE65396BEA}"/>
              </a:ext>
            </a:extLst>
          </p:cNvPr>
          <p:cNvGraphicFramePr>
            <a:graphicFrameLocks/>
          </p:cNvGraphicFramePr>
          <p:nvPr/>
        </p:nvGraphicFramePr>
        <p:xfrm>
          <a:off x="8187915" y="2243840"/>
          <a:ext cx="3177779" cy="1961811"/>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1">
            <a:extLst>
              <a:ext uri="{FF2B5EF4-FFF2-40B4-BE49-F238E27FC236}">
                <a16:creationId xmlns:a16="http://schemas.microsoft.com/office/drawing/2014/main" id="{2B1AA6C8-A276-FBCB-8B76-1B7F7669A5FA}"/>
              </a:ext>
            </a:extLst>
          </p:cNvPr>
          <p:cNvSpPr/>
          <p:nvPr/>
        </p:nvSpPr>
        <p:spPr>
          <a:xfrm>
            <a:off x="4919566" y="2138211"/>
            <a:ext cx="3189250" cy="2241395"/>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3" name="Chart 1">
            <a:extLst>
              <a:ext uri="{FF2B5EF4-FFF2-40B4-BE49-F238E27FC236}">
                <a16:creationId xmlns:a16="http://schemas.microsoft.com/office/drawing/2014/main" id="{AD7637B6-0C39-3300-519F-418A963204C1}"/>
              </a:ext>
            </a:extLst>
          </p:cNvPr>
          <p:cNvGraphicFramePr>
            <a:graphicFrameLocks/>
          </p:cNvGraphicFramePr>
          <p:nvPr/>
        </p:nvGraphicFramePr>
        <p:xfrm>
          <a:off x="4939531" y="2243862"/>
          <a:ext cx="3173979" cy="1961811"/>
        </p:xfrm>
        <a:graphic>
          <a:graphicData uri="http://schemas.openxmlformats.org/drawingml/2006/chart">
            <c:chart xmlns:c="http://schemas.openxmlformats.org/drawingml/2006/chart" xmlns:r="http://schemas.openxmlformats.org/officeDocument/2006/relationships" r:id="rId4"/>
          </a:graphicData>
        </a:graphic>
      </p:graphicFrame>
      <p:sp>
        <p:nvSpPr>
          <p:cNvPr id="2" name="Rectangle 1">
            <a:extLst>
              <a:ext uri="{FF2B5EF4-FFF2-40B4-BE49-F238E27FC236}">
                <a16:creationId xmlns:a16="http://schemas.microsoft.com/office/drawing/2014/main" id="{FA152C0D-5AF2-5335-1664-5B77D53CD7BE}"/>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9">
            <a:extLst>
              <a:ext uri="{FF2B5EF4-FFF2-40B4-BE49-F238E27FC236}">
                <a16:creationId xmlns:a16="http://schemas.microsoft.com/office/drawing/2014/main" id="{6D6571A0-238B-88E5-00C3-E616BDECBFBA}"/>
              </a:ext>
            </a:extLst>
          </p:cNvPr>
          <p:cNvSpPr/>
          <p:nvPr/>
        </p:nvSpPr>
        <p:spPr>
          <a:xfrm>
            <a:off x="947468" y="578772"/>
            <a:ext cx="5362797" cy="394243"/>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SCPI </a:t>
            </a:r>
            <a:r>
              <a:rPr lang="fr-FR" noProof="0" dirty="0">
                <a:solidFill>
                  <a:srgbClr val="A9853F"/>
                </a:solidFill>
                <a:ea typeface="Cormorant Garamond SemiBold" pitchFamily="2" charset="77"/>
                <a:cs typeface="Cormorant Garamond SemiBold" pitchFamily="2" charset="77"/>
              </a:rPr>
              <a:t>-</a:t>
            </a:r>
            <a:r>
              <a:rPr lang="fr-FR" b="1" noProof="0" dirty="0">
                <a:solidFill>
                  <a:srgbClr val="A9853F"/>
                </a:solidFill>
                <a:latin typeface="Cormorant Garamond SemiBold" pitchFamily="2" charset="77"/>
                <a:ea typeface="Cormorant Garamond SemiBold" pitchFamily="2" charset="77"/>
                <a:cs typeface="Cormorant Garamond SemiBold" pitchFamily="2" charset="77"/>
              </a:rPr>
              <a:t> Société Civile de Placement Immobilier</a:t>
            </a:r>
          </a:p>
        </p:txBody>
      </p:sp>
      <p:sp>
        <p:nvSpPr>
          <p:cNvPr id="6" name="Text 9">
            <a:extLst>
              <a:ext uri="{FF2B5EF4-FFF2-40B4-BE49-F238E27FC236}">
                <a16:creationId xmlns:a16="http://schemas.microsoft.com/office/drawing/2014/main" id="{76B1BF2A-B43D-ECCC-DBA7-032DE5896CD9}"/>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Conseil en Investissement immobilier : Iroko Zen</a:t>
            </a:r>
          </a:p>
        </p:txBody>
      </p:sp>
      <p:sp>
        <p:nvSpPr>
          <p:cNvPr id="8" name="Rectangle : avec coins arrondis en haut 7">
            <a:extLst>
              <a:ext uri="{FF2B5EF4-FFF2-40B4-BE49-F238E27FC236}">
                <a16:creationId xmlns:a16="http://schemas.microsoft.com/office/drawing/2014/main" id="{D97B9A83-9538-D47C-12DB-85C2B47F1715}"/>
              </a:ext>
            </a:extLst>
          </p:cNvPr>
          <p:cNvSpPr/>
          <p:nvPr/>
        </p:nvSpPr>
        <p:spPr>
          <a:xfrm>
            <a:off x="1403716" y="1767875"/>
            <a:ext cx="2932540"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Indicateurs clés</a:t>
            </a:r>
          </a:p>
        </p:txBody>
      </p:sp>
      <p:sp>
        <p:nvSpPr>
          <p:cNvPr id="9" name="Rectangle 8">
            <a:extLst>
              <a:ext uri="{FF2B5EF4-FFF2-40B4-BE49-F238E27FC236}">
                <a16:creationId xmlns:a16="http://schemas.microsoft.com/office/drawing/2014/main" id="{382790EF-6969-D4BA-FAEA-5A4AF5E72952}"/>
              </a:ext>
            </a:extLst>
          </p:cNvPr>
          <p:cNvSpPr/>
          <p:nvPr/>
        </p:nvSpPr>
        <p:spPr>
          <a:xfrm>
            <a:off x="1397642" y="2168305"/>
            <a:ext cx="2945758" cy="1260695"/>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18A07AF7-6619-BA3A-C89F-BAB6B3951172}"/>
              </a:ext>
            </a:extLst>
          </p:cNvPr>
          <p:cNvSpPr/>
          <p:nvPr/>
        </p:nvSpPr>
        <p:spPr>
          <a:xfrm>
            <a:off x="1394821" y="3988158"/>
            <a:ext cx="2930052" cy="1994274"/>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r>
              <a:rPr lang="fr-FR" sz="900" b="1" dirty="0">
                <a:solidFill>
                  <a:schemeClr val="tx1"/>
                </a:solidFill>
                <a:latin typeface="Jost Light" pitchFamily="2" charset="77"/>
                <a:ea typeface="Jost Light" pitchFamily="2" charset="77"/>
              </a:rPr>
              <a:t>Maison de Gestion </a:t>
            </a:r>
            <a:r>
              <a:rPr lang="fr-FR" sz="900" dirty="0">
                <a:solidFill>
                  <a:schemeClr val="tx1"/>
                </a:solidFill>
                <a:latin typeface="Jost Light" pitchFamily="2" charset="77"/>
                <a:ea typeface="Jost Light" pitchFamily="2" charset="77"/>
              </a:rPr>
              <a:t>: Iroko - AM</a:t>
            </a:r>
          </a:p>
          <a:p>
            <a:pPr algn="ctr">
              <a:spcAft>
                <a:spcPts val="400"/>
              </a:spcAft>
            </a:pPr>
            <a:r>
              <a:rPr lang="fr-FR" sz="900" b="1" dirty="0">
                <a:solidFill>
                  <a:schemeClr val="tx1"/>
                </a:solidFill>
                <a:latin typeface="Jost Light" pitchFamily="2" charset="77"/>
                <a:ea typeface="Jost Light" pitchFamily="2" charset="77"/>
              </a:rPr>
              <a:t>Prix de part </a:t>
            </a:r>
            <a:r>
              <a:rPr lang="fr-FR" sz="900" dirty="0">
                <a:solidFill>
                  <a:schemeClr val="tx1"/>
                </a:solidFill>
                <a:latin typeface="Jost Light" pitchFamily="2" charset="77"/>
                <a:ea typeface="Jost Light" pitchFamily="2" charset="77"/>
              </a:rPr>
              <a:t>: 2020 : 200 EUR</a:t>
            </a:r>
          </a:p>
          <a:p>
            <a:pPr algn="ctr">
              <a:spcAft>
                <a:spcPts val="400"/>
              </a:spcAft>
            </a:pPr>
            <a:r>
              <a:rPr lang="fr-FR" sz="900" dirty="0">
                <a:solidFill>
                  <a:schemeClr val="tx1"/>
                </a:solidFill>
                <a:latin typeface="Jost Light" pitchFamily="2" charset="77"/>
                <a:ea typeface="Jost Light" pitchFamily="2" charset="77"/>
              </a:rPr>
              <a:t>Aujourd’hui : 205 EUR</a:t>
            </a:r>
          </a:p>
          <a:p>
            <a:pPr algn="ctr">
              <a:spcAft>
                <a:spcPts val="400"/>
              </a:spcAft>
            </a:pPr>
            <a:r>
              <a:rPr lang="fr-FR" sz="900" b="1" dirty="0">
                <a:solidFill>
                  <a:schemeClr val="tx1"/>
                </a:solidFill>
                <a:latin typeface="Jost Light" pitchFamily="2" charset="77"/>
                <a:ea typeface="Jost Light" pitchFamily="2" charset="77"/>
              </a:rPr>
              <a:t>Valeur de reconstitution </a:t>
            </a:r>
            <a:r>
              <a:rPr lang="fr-FR" sz="900" dirty="0">
                <a:solidFill>
                  <a:schemeClr val="tx1"/>
                </a:solidFill>
                <a:latin typeface="Jost Light" pitchFamily="2" charset="77"/>
                <a:ea typeface="Jost Light" pitchFamily="2" charset="77"/>
              </a:rPr>
              <a:t>: 214 EUR</a:t>
            </a:r>
          </a:p>
          <a:p>
            <a:pPr algn="ctr">
              <a:spcAft>
                <a:spcPts val="400"/>
              </a:spcAft>
            </a:pPr>
            <a:endParaRPr lang="fr-FR" sz="900" dirty="0">
              <a:solidFill>
                <a:schemeClr val="tx1"/>
              </a:solidFill>
              <a:latin typeface="Jost Light" pitchFamily="2" charset="77"/>
              <a:ea typeface="Jost Light" pitchFamily="2" charset="77"/>
            </a:endParaRPr>
          </a:p>
          <a:p>
            <a:pPr algn="just">
              <a:spcAft>
                <a:spcPts val="400"/>
              </a:spcAft>
            </a:pPr>
            <a:r>
              <a:rPr lang="fr-FR" sz="900" b="1" dirty="0">
                <a:solidFill>
                  <a:schemeClr val="tx1"/>
                </a:solidFill>
                <a:latin typeface="Jost Light" pitchFamily="2" charset="77"/>
                <a:ea typeface="Jost Light" pitchFamily="2" charset="77"/>
              </a:rPr>
              <a:t>Délai de jouissance </a:t>
            </a:r>
            <a:r>
              <a:rPr lang="fr-FR" sz="900" dirty="0">
                <a:solidFill>
                  <a:schemeClr val="tx1"/>
                </a:solidFill>
                <a:latin typeface="Jost Light" pitchFamily="2" charset="77"/>
                <a:ea typeface="Jost Light" pitchFamily="2" charset="77"/>
              </a:rPr>
              <a:t>: au 1er jour du troisième mois suivant la date d’encaissement de la souscription part la maison de gestion.</a:t>
            </a:r>
          </a:p>
          <a:p>
            <a:pPr algn="ctr">
              <a:spcAft>
                <a:spcPts val="400"/>
              </a:spcAft>
            </a:pPr>
            <a:endParaRPr lang="fr-FR" sz="900" dirty="0">
              <a:solidFill>
                <a:schemeClr val="tx1"/>
              </a:solidFill>
              <a:latin typeface="Jost Light" pitchFamily="2" charset="77"/>
              <a:ea typeface="Jost Light" pitchFamily="2" charset="77"/>
            </a:endParaRPr>
          </a:p>
          <a:p>
            <a:pPr algn="ctr">
              <a:spcAft>
                <a:spcPts val="400"/>
              </a:spcAft>
            </a:pPr>
            <a:r>
              <a:rPr lang="fr-FR" sz="900" b="1" dirty="0">
                <a:solidFill>
                  <a:srgbClr val="1A1A1A"/>
                </a:solidFill>
                <a:latin typeface="Jost Light" pitchFamily="2" charset="77"/>
                <a:ea typeface="Jost Light" pitchFamily="2" charset="77"/>
              </a:rPr>
              <a:t>SCPI européenne : avantages fiscaux.</a:t>
            </a:r>
            <a:endParaRPr lang="fr-FR" sz="900" b="1" dirty="0">
              <a:solidFill>
                <a:schemeClr val="tx1"/>
              </a:solidFill>
              <a:latin typeface="Jost Light" pitchFamily="2" charset="77"/>
              <a:ea typeface="Jost Light" pitchFamily="2" charset="77"/>
            </a:endParaRPr>
          </a:p>
        </p:txBody>
      </p:sp>
      <p:sp>
        <p:nvSpPr>
          <p:cNvPr id="15" name="Rectangle 14">
            <a:extLst>
              <a:ext uri="{FF2B5EF4-FFF2-40B4-BE49-F238E27FC236}">
                <a16:creationId xmlns:a16="http://schemas.microsoft.com/office/drawing/2014/main" id="{78D3911F-089D-A1DF-4452-99C5752A4B8D}"/>
              </a:ext>
            </a:extLst>
          </p:cNvPr>
          <p:cNvSpPr/>
          <p:nvPr/>
        </p:nvSpPr>
        <p:spPr>
          <a:xfrm>
            <a:off x="1406580" y="3484180"/>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Distribution mensuelle</a:t>
            </a:r>
          </a:p>
        </p:txBody>
      </p:sp>
      <p:sp>
        <p:nvSpPr>
          <p:cNvPr id="21" name="Rectangle 20">
            <a:extLst>
              <a:ext uri="{FF2B5EF4-FFF2-40B4-BE49-F238E27FC236}">
                <a16:creationId xmlns:a16="http://schemas.microsoft.com/office/drawing/2014/main" id="{9203D1C3-5735-1D2D-7A6C-D034252596C7}"/>
              </a:ext>
            </a:extLst>
          </p:cNvPr>
          <p:cNvSpPr/>
          <p:nvPr/>
        </p:nvSpPr>
        <p:spPr>
          <a:xfrm>
            <a:off x="1393442" y="5982432"/>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Taux distribué en 2025 : 7.14% </a:t>
            </a:r>
            <a:r>
              <a:rPr lang="fr-FR" sz="1200" dirty="0" err="1">
                <a:solidFill>
                  <a:schemeClr val="bg1"/>
                </a:solidFill>
                <a:latin typeface="Jost Medium" pitchFamily="2" charset="77"/>
                <a:ea typeface="Jost Medium" pitchFamily="2" charset="77"/>
              </a:rPr>
              <a:t>p.a</a:t>
            </a:r>
            <a:r>
              <a:rPr lang="fr-FR" sz="1200" dirty="0">
                <a:solidFill>
                  <a:schemeClr val="bg1"/>
                </a:solidFill>
                <a:latin typeface="Jost Medium" pitchFamily="2" charset="77"/>
                <a:ea typeface="Jost Medium" pitchFamily="2" charset="77"/>
              </a:rPr>
              <a:t>.</a:t>
            </a:r>
          </a:p>
        </p:txBody>
      </p:sp>
      <p:pic>
        <p:nvPicPr>
          <p:cNvPr id="31" name="Image 30">
            <a:extLst>
              <a:ext uri="{FF2B5EF4-FFF2-40B4-BE49-F238E27FC236}">
                <a16:creationId xmlns:a16="http://schemas.microsoft.com/office/drawing/2014/main" id="{1A37645B-03EA-71A4-C778-F9E122BFC1F7}"/>
              </a:ext>
            </a:extLst>
          </p:cNvPr>
          <p:cNvPicPr>
            <a:picLocks noChangeAspect="1"/>
          </p:cNvPicPr>
          <p:nvPr/>
        </p:nvPicPr>
        <p:blipFill>
          <a:blip r:embed="rId5">
            <a:duotone>
              <a:prstClr val="black"/>
              <a:srgbClr val="063527">
                <a:tint val="45000"/>
                <a:satMod val="400000"/>
              </a:srgbClr>
            </a:duotone>
          </a:blip>
          <a:stretch>
            <a:fillRect/>
          </a:stretch>
        </p:blipFill>
        <p:spPr>
          <a:xfrm>
            <a:off x="11005640" y="374477"/>
            <a:ext cx="792892" cy="264297"/>
          </a:xfrm>
          <a:prstGeom prst="rect">
            <a:avLst/>
          </a:prstGeom>
        </p:spPr>
      </p:pic>
      <p:sp>
        <p:nvSpPr>
          <p:cNvPr id="26" name="Rectangle : avec coins arrondis en haut 25">
            <a:extLst>
              <a:ext uri="{FF2B5EF4-FFF2-40B4-BE49-F238E27FC236}">
                <a16:creationId xmlns:a16="http://schemas.microsoft.com/office/drawing/2014/main" id="{B9A42D61-E7EC-F7A9-5C4E-39C867F1E97B}"/>
              </a:ext>
            </a:extLst>
          </p:cNvPr>
          <p:cNvSpPr/>
          <p:nvPr/>
        </p:nvSpPr>
        <p:spPr>
          <a:xfrm>
            <a:off x="4935731" y="1767875"/>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géographique</a:t>
            </a:r>
          </a:p>
        </p:txBody>
      </p:sp>
      <p:sp>
        <p:nvSpPr>
          <p:cNvPr id="46" name="Stat 0 108">
            <a:extLst>
              <a:ext uri="{FF2B5EF4-FFF2-40B4-BE49-F238E27FC236}">
                <a16:creationId xmlns:a16="http://schemas.microsoft.com/office/drawing/2014/main" id="{86445CD4-26D8-5084-1EB7-4CB6E06B9320}"/>
              </a:ext>
            </a:extLst>
          </p:cNvPr>
          <p:cNvSpPr txBox="1"/>
          <p:nvPr/>
        </p:nvSpPr>
        <p:spPr>
          <a:xfrm>
            <a:off x="9286899" y="4773747"/>
            <a:ext cx="2073117" cy="502180"/>
          </a:xfrm>
          <a:prstGeom prst="rect">
            <a:avLst/>
          </a:prstGeom>
          <a:solidFill>
            <a:srgbClr val="15462A"/>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Taux d’occupation financière</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96.9%</a:t>
            </a:r>
          </a:p>
        </p:txBody>
      </p:sp>
      <p:sp>
        <p:nvSpPr>
          <p:cNvPr id="48" name="Stat 0 108">
            <a:extLst>
              <a:ext uri="{FF2B5EF4-FFF2-40B4-BE49-F238E27FC236}">
                <a16:creationId xmlns:a16="http://schemas.microsoft.com/office/drawing/2014/main" id="{C29EBE91-1DF9-3136-7D8B-EBD0ADD3FA90}"/>
              </a:ext>
            </a:extLst>
          </p:cNvPr>
          <p:cNvSpPr txBox="1"/>
          <p:nvPr/>
        </p:nvSpPr>
        <p:spPr>
          <a:xfrm>
            <a:off x="7111315" y="4775194"/>
            <a:ext cx="2106826" cy="489356"/>
          </a:xfrm>
          <a:prstGeom prst="rect">
            <a:avLst/>
          </a:prstGeom>
          <a:solidFill>
            <a:srgbClr val="AA853F"/>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Capitalisation</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1.6Mds EUR</a:t>
            </a:r>
          </a:p>
        </p:txBody>
      </p:sp>
      <p:sp>
        <p:nvSpPr>
          <p:cNvPr id="49" name="Stat 0 108">
            <a:extLst>
              <a:ext uri="{FF2B5EF4-FFF2-40B4-BE49-F238E27FC236}">
                <a16:creationId xmlns:a16="http://schemas.microsoft.com/office/drawing/2014/main" id="{EEF7C263-2E03-2714-7BDD-4A23ECC84230}"/>
              </a:ext>
            </a:extLst>
          </p:cNvPr>
          <p:cNvSpPr txBox="1"/>
          <p:nvPr/>
        </p:nvSpPr>
        <p:spPr>
          <a:xfrm>
            <a:off x="4935731" y="4775194"/>
            <a:ext cx="2106826" cy="489356"/>
          </a:xfrm>
          <a:prstGeom prst="rect">
            <a:avLst/>
          </a:prstGeom>
          <a:solidFill>
            <a:srgbClr val="E6C989"/>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Risque SRRI</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3/7</a:t>
            </a:r>
          </a:p>
        </p:txBody>
      </p:sp>
      <p:sp>
        <p:nvSpPr>
          <p:cNvPr id="50" name="ZoneTexte 49">
            <a:extLst>
              <a:ext uri="{FF2B5EF4-FFF2-40B4-BE49-F238E27FC236}">
                <a16:creationId xmlns:a16="http://schemas.microsoft.com/office/drawing/2014/main" id="{56115442-4F35-6525-406D-25E217D3EC17}"/>
              </a:ext>
            </a:extLst>
          </p:cNvPr>
          <p:cNvSpPr txBox="1"/>
          <p:nvPr/>
        </p:nvSpPr>
        <p:spPr>
          <a:xfrm>
            <a:off x="5440993" y="3765093"/>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Irlande</a:t>
            </a:r>
            <a:endParaRPr lang="fr-FR" dirty="0">
              <a:latin typeface="Jost Medium" pitchFamily="2" charset="77"/>
              <a:ea typeface="Jost Medium" pitchFamily="2" charset="77"/>
            </a:endParaRPr>
          </a:p>
        </p:txBody>
      </p:sp>
      <p:sp>
        <p:nvSpPr>
          <p:cNvPr id="51" name="ZoneTexte 50">
            <a:extLst>
              <a:ext uri="{FF2B5EF4-FFF2-40B4-BE49-F238E27FC236}">
                <a16:creationId xmlns:a16="http://schemas.microsoft.com/office/drawing/2014/main" id="{1E35BC39-FFF9-D167-150E-53F57BFA7808}"/>
              </a:ext>
            </a:extLst>
          </p:cNvPr>
          <p:cNvSpPr txBox="1"/>
          <p:nvPr/>
        </p:nvSpPr>
        <p:spPr>
          <a:xfrm>
            <a:off x="5132775" y="314613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Espagne</a:t>
            </a:r>
            <a:endParaRPr lang="fr-FR" dirty="0">
              <a:latin typeface="Jost Medium" pitchFamily="2" charset="77"/>
              <a:ea typeface="Jost Medium" pitchFamily="2" charset="77"/>
            </a:endParaRPr>
          </a:p>
        </p:txBody>
      </p:sp>
      <p:sp>
        <p:nvSpPr>
          <p:cNvPr id="52" name="ZoneTexte 51">
            <a:extLst>
              <a:ext uri="{FF2B5EF4-FFF2-40B4-BE49-F238E27FC236}">
                <a16:creationId xmlns:a16="http://schemas.microsoft.com/office/drawing/2014/main" id="{EB159108-7771-372C-9F69-7BAAACEEAA6B}"/>
              </a:ext>
            </a:extLst>
          </p:cNvPr>
          <p:cNvSpPr txBox="1"/>
          <p:nvPr/>
        </p:nvSpPr>
        <p:spPr>
          <a:xfrm>
            <a:off x="5208785" y="268915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Allemagne</a:t>
            </a:r>
            <a:endParaRPr lang="fr-FR" dirty="0">
              <a:latin typeface="Jost Medium" pitchFamily="2" charset="77"/>
              <a:ea typeface="Jost Medium" pitchFamily="2" charset="77"/>
            </a:endParaRPr>
          </a:p>
        </p:txBody>
      </p:sp>
      <p:sp>
        <p:nvSpPr>
          <p:cNvPr id="53" name="ZoneTexte 52">
            <a:extLst>
              <a:ext uri="{FF2B5EF4-FFF2-40B4-BE49-F238E27FC236}">
                <a16:creationId xmlns:a16="http://schemas.microsoft.com/office/drawing/2014/main" id="{C79B17E9-ADAE-09E0-01ED-788A6B619DE6}"/>
              </a:ext>
            </a:extLst>
          </p:cNvPr>
          <p:cNvSpPr txBox="1"/>
          <p:nvPr/>
        </p:nvSpPr>
        <p:spPr>
          <a:xfrm>
            <a:off x="7206668" y="273203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France</a:t>
            </a:r>
            <a:endParaRPr lang="fr-FR" dirty="0">
              <a:latin typeface="Jost Medium" pitchFamily="2" charset="77"/>
              <a:ea typeface="Jost Medium" pitchFamily="2" charset="77"/>
            </a:endParaRPr>
          </a:p>
        </p:txBody>
      </p:sp>
      <p:sp>
        <p:nvSpPr>
          <p:cNvPr id="57" name="ZoneTexte 56">
            <a:extLst>
              <a:ext uri="{FF2B5EF4-FFF2-40B4-BE49-F238E27FC236}">
                <a16:creationId xmlns:a16="http://schemas.microsoft.com/office/drawing/2014/main" id="{0FC48139-3DA4-3079-95EE-9EDDC4B7F187}"/>
              </a:ext>
            </a:extLst>
          </p:cNvPr>
          <p:cNvSpPr txBox="1"/>
          <p:nvPr/>
        </p:nvSpPr>
        <p:spPr>
          <a:xfrm>
            <a:off x="6788481" y="4036200"/>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Royaume-Uni</a:t>
            </a:r>
            <a:endParaRPr lang="fr-FR" dirty="0">
              <a:latin typeface="Jost Medium" pitchFamily="2" charset="77"/>
              <a:ea typeface="Jost Medium" pitchFamily="2" charset="77"/>
            </a:endParaRPr>
          </a:p>
        </p:txBody>
      </p:sp>
      <p:sp>
        <p:nvSpPr>
          <p:cNvPr id="58" name="ZoneTexte 57">
            <a:extLst>
              <a:ext uri="{FF2B5EF4-FFF2-40B4-BE49-F238E27FC236}">
                <a16:creationId xmlns:a16="http://schemas.microsoft.com/office/drawing/2014/main" id="{0ADD6280-53FC-87F4-21C2-22EBD14025F5}"/>
              </a:ext>
            </a:extLst>
          </p:cNvPr>
          <p:cNvSpPr txBox="1"/>
          <p:nvPr/>
        </p:nvSpPr>
        <p:spPr>
          <a:xfrm>
            <a:off x="9491878" y="404626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Bureaux</a:t>
            </a:r>
            <a:endParaRPr lang="fr-FR" dirty="0">
              <a:latin typeface="Jost Medium" pitchFamily="2" charset="77"/>
              <a:ea typeface="Jost Medium" pitchFamily="2" charset="77"/>
            </a:endParaRPr>
          </a:p>
        </p:txBody>
      </p:sp>
      <p:sp>
        <p:nvSpPr>
          <p:cNvPr id="59" name="ZoneTexte 58">
            <a:extLst>
              <a:ext uri="{FF2B5EF4-FFF2-40B4-BE49-F238E27FC236}">
                <a16:creationId xmlns:a16="http://schemas.microsoft.com/office/drawing/2014/main" id="{628BBD1A-D0AA-C7AF-6001-020D0BAD7073}"/>
              </a:ext>
            </a:extLst>
          </p:cNvPr>
          <p:cNvSpPr txBox="1"/>
          <p:nvPr/>
        </p:nvSpPr>
        <p:spPr>
          <a:xfrm>
            <a:off x="8363793" y="3156976"/>
            <a:ext cx="691440" cy="307777"/>
          </a:xfrm>
          <a:prstGeom prst="rect">
            <a:avLst/>
          </a:prstGeom>
          <a:noFill/>
        </p:spPr>
        <p:txBody>
          <a:bodyPr wrap="square" rtlCol="0">
            <a:spAutoFit/>
          </a:bodyPr>
          <a:lstStyle/>
          <a:p>
            <a:r>
              <a:rPr lang="fr-FR" sz="700" dirty="0">
                <a:latin typeface="Jost Medium" pitchFamily="2" charset="77"/>
                <a:ea typeface="Jost Medium" pitchFamily="2" charset="77"/>
              </a:rPr>
              <a:t>Locaux </a:t>
            </a:r>
          </a:p>
          <a:p>
            <a:r>
              <a:rPr lang="fr-FR" sz="700" dirty="0">
                <a:latin typeface="Jost Medium" pitchFamily="2" charset="77"/>
                <a:ea typeface="Jost Medium" pitchFamily="2" charset="77"/>
              </a:rPr>
              <a:t>d’activité</a:t>
            </a:r>
            <a:endParaRPr lang="fr-FR" dirty="0">
              <a:latin typeface="Jost Medium" pitchFamily="2" charset="77"/>
              <a:ea typeface="Jost Medium" pitchFamily="2" charset="77"/>
            </a:endParaRPr>
          </a:p>
        </p:txBody>
      </p:sp>
      <p:sp>
        <p:nvSpPr>
          <p:cNvPr id="62" name="Rectangle : avec coins arrondis en haut 61">
            <a:extLst>
              <a:ext uri="{FF2B5EF4-FFF2-40B4-BE49-F238E27FC236}">
                <a16:creationId xmlns:a16="http://schemas.microsoft.com/office/drawing/2014/main" id="{E5C69001-9715-A9F4-0CCF-67F797C2AE6A}"/>
              </a:ext>
            </a:extLst>
          </p:cNvPr>
          <p:cNvSpPr/>
          <p:nvPr/>
        </p:nvSpPr>
        <p:spPr>
          <a:xfrm>
            <a:off x="8187915" y="1774963"/>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sectorielle</a:t>
            </a:r>
          </a:p>
        </p:txBody>
      </p:sp>
      <p:sp>
        <p:nvSpPr>
          <p:cNvPr id="63" name="Rectangle 62">
            <a:extLst>
              <a:ext uri="{FF2B5EF4-FFF2-40B4-BE49-F238E27FC236}">
                <a16:creationId xmlns:a16="http://schemas.microsoft.com/office/drawing/2014/main" id="{DA19FB54-5457-8DE4-C45A-B7A1BB7C5BAC}"/>
              </a:ext>
            </a:extLst>
          </p:cNvPr>
          <p:cNvSpPr/>
          <p:nvPr/>
        </p:nvSpPr>
        <p:spPr>
          <a:xfrm>
            <a:off x="4940114" y="5460256"/>
            <a:ext cx="6475356" cy="870917"/>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sz="800" dirty="0">
                <a:solidFill>
                  <a:srgbClr val="1A1A1A"/>
                </a:solidFill>
                <a:latin typeface="Jost Light" pitchFamily="2" charset="77"/>
                <a:ea typeface="Jost Light" pitchFamily="2" charset="77"/>
              </a:rPr>
              <a:t>Lancée en pleine crise Covid, en 2020, Iroko Zen s'est imposé en cinq ans comme une référence parmi les SCPI de nouvelle génération. Un trait distinctif d'Iroko Zen : sa stratégie « granulaire ». Plutôt que de miser sur quelques gros actifs, la SCPI achète des biens de taille intermédiaire (environ 6 millions d'euros en moyenne par immeuble, parfois un simple commerce en pied d'immeuble ou un petit entrepôt). </a:t>
            </a:r>
          </a:p>
          <a:p>
            <a:pPr algn="just"/>
            <a:endParaRPr lang="fr-FR" sz="800" dirty="0">
              <a:solidFill>
                <a:srgbClr val="1A1A1A"/>
              </a:solidFill>
              <a:latin typeface="Jost Light" pitchFamily="2" charset="77"/>
              <a:ea typeface="Jost Light" pitchFamily="2" charset="77"/>
            </a:endParaRPr>
          </a:p>
          <a:p>
            <a:pPr algn="just"/>
            <a:r>
              <a:rPr lang="fr-FR" sz="800" dirty="0">
                <a:solidFill>
                  <a:srgbClr val="1A1A1A"/>
                </a:solidFill>
                <a:latin typeface="Jost Light" pitchFamily="2" charset="77"/>
                <a:ea typeface="Jost Light" pitchFamily="2" charset="77"/>
              </a:rPr>
              <a:t>Cette approche lui permet d'éviter la concurrence directe avec les grands institutionnels sur les actifs « trophées », tout en diluant plus finement le risque locataire. Pour terminer, avec 1,6 milliard d'euros de capitalisation, Iroko Zen a quasiment triplé de taille en trois ans.</a:t>
            </a:r>
          </a:p>
        </p:txBody>
      </p:sp>
      <p:sp>
        <p:nvSpPr>
          <p:cNvPr id="64" name="Rectangle 63">
            <a:extLst>
              <a:ext uri="{FF2B5EF4-FFF2-40B4-BE49-F238E27FC236}">
                <a16:creationId xmlns:a16="http://schemas.microsoft.com/office/drawing/2014/main" id="{83ACD2ED-B3A9-AC10-5572-4A176C5EF1C1}"/>
              </a:ext>
            </a:extLst>
          </p:cNvPr>
          <p:cNvSpPr/>
          <p:nvPr/>
        </p:nvSpPr>
        <p:spPr>
          <a:xfrm>
            <a:off x="4953164" y="4426836"/>
            <a:ext cx="3155652" cy="191097"/>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r>
              <a:rPr lang="fr-FR" sz="700" i="1" dirty="0">
                <a:solidFill>
                  <a:schemeClr val="tx1"/>
                </a:solidFill>
                <a:latin typeface="Jost Light" pitchFamily="2" charset="77"/>
                <a:ea typeface="Jost Light" pitchFamily="2" charset="77"/>
                <a:cs typeface="Cormorant Garamond" pitchFamily="2" charset="77"/>
              </a:rPr>
              <a:t>Autres : Belgique, Italie</a:t>
            </a:r>
          </a:p>
        </p:txBody>
      </p:sp>
      <p:sp>
        <p:nvSpPr>
          <p:cNvPr id="65" name="ZoneTexte 64">
            <a:extLst>
              <a:ext uri="{FF2B5EF4-FFF2-40B4-BE49-F238E27FC236}">
                <a16:creationId xmlns:a16="http://schemas.microsoft.com/office/drawing/2014/main" id="{007D41E5-988E-5F1F-6869-956FDAE105CF}"/>
              </a:ext>
            </a:extLst>
          </p:cNvPr>
          <p:cNvSpPr txBox="1"/>
          <p:nvPr/>
        </p:nvSpPr>
        <p:spPr>
          <a:xfrm>
            <a:off x="6217635" y="2243840"/>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Autres</a:t>
            </a:r>
            <a:endParaRPr lang="fr-FR" dirty="0">
              <a:latin typeface="Jost Medium" pitchFamily="2" charset="77"/>
              <a:ea typeface="Jost Medium" pitchFamily="2" charset="77"/>
            </a:endParaRPr>
          </a:p>
        </p:txBody>
      </p:sp>
      <p:sp>
        <p:nvSpPr>
          <p:cNvPr id="66" name="ZoneTexte 65">
            <a:extLst>
              <a:ext uri="{FF2B5EF4-FFF2-40B4-BE49-F238E27FC236}">
                <a16:creationId xmlns:a16="http://schemas.microsoft.com/office/drawing/2014/main" id="{165EF94D-4E71-79A3-AF86-51AA65F82B04}"/>
              </a:ext>
            </a:extLst>
          </p:cNvPr>
          <p:cNvSpPr txBox="1"/>
          <p:nvPr/>
        </p:nvSpPr>
        <p:spPr>
          <a:xfrm>
            <a:off x="8639410" y="2647457"/>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Santé</a:t>
            </a:r>
            <a:endParaRPr lang="fr-FR" dirty="0">
              <a:latin typeface="Jost Medium" pitchFamily="2" charset="77"/>
              <a:ea typeface="Jost Medium" pitchFamily="2" charset="77"/>
            </a:endParaRPr>
          </a:p>
        </p:txBody>
      </p:sp>
      <p:sp>
        <p:nvSpPr>
          <p:cNvPr id="67" name="Rectangle 66">
            <a:extLst>
              <a:ext uri="{FF2B5EF4-FFF2-40B4-BE49-F238E27FC236}">
                <a16:creationId xmlns:a16="http://schemas.microsoft.com/office/drawing/2014/main" id="{71386DCF-77A1-A8C1-38F2-DA4BC65208F5}"/>
              </a:ext>
            </a:extLst>
          </p:cNvPr>
          <p:cNvSpPr/>
          <p:nvPr/>
        </p:nvSpPr>
        <p:spPr>
          <a:xfrm>
            <a:off x="8203585" y="4429115"/>
            <a:ext cx="3155652" cy="191097"/>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r>
              <a:rPr lang="fr-FR" sz="700" i="1" dirty="0">
                <a:solidFill>
                  <a:schemeClr val="tx1"/>
                </a:solidFill>
                <a:latin typeface="Jost Light" pitchFamily="2" charset="77"/>
                <a:ea typeface="Jost Light" pitchFamily="2" charset="77"/>
                <a:cs typeface="Cormorant Garamond" pitchFamily="2" charset="77"/>
              </a:rPr>
              <a:t>Autres : Entrepôts, Logistique</a:t>
            </a:r>
          </a:p>
        </p:txBody>
      </p:sp>
      <p:sp>
        <p:nvSpPr>
          <p:cNvPr id="69" name="ZoneTexte 68">
            <a:extLst>
              <a:ext uri="{FF2B5EF4-FFF2-40B4-BE49-F238E27FC236}">
                <a16:creationId xmlns:a16="http://schemas.microsoft.com/office/drawing/2014/main" id="{FB782839-E8EF-95B7-2F71-F9DA601D822B}"/>
              </a:ext>
            </a:extLst>
          </p:cNvPr>
          <p:cNvSpPr txBox="1"/>
          <p:nvPr/>
        </p:nvSpPr>
        <p:spPr>
          <a:xfrm>
            <a:off x="5706780" y="2333658"/>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Pays-Bas</a:t>
            </a:r>
            <a:endParaRPr lang="fr-FR" dirty="0">
              <a:latin typeface="Jost Medium" pitchFamily="2" charset="77"/>
              <a:ea typeface="Jost Medium" pitchFamily="2" charset="77"/>
            </a:endParaRPr>
          </a:p>
        </p:txBody>
      </p:sp>
      <p:sp>
        <p:nvSpPr>
          <p:cNvPr id="73" name="ZoneTexte 72">
            <a:extLst>
              <a:ext uri="{FF2B5EF4-FFF2-40B4-BE49-F238E27FC236}">
                <a16:creationId xmlns:a16="http://schemas.microsoft.com/office/drawing/2014/main" id="{862AB275-E8DA-6132-6074-FEE13159B573}"/>
              </a:ext>
            </a:extLst>
          </p:cNvPr>
          <p:cNvSpPr txBox="1"/>
          <p:nvPr/>
        </p:nvSpPr>
        <p:spPr>
          <a:xfrm>
            <a:off x="10576399" y="2959551"/>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Commerces</a:t>
            </a:r>
            <a:endParaRPr lang="fr-FR" dirty="0">
              <a:latin typeface="Jost Medium" pitchFamily="2" charset="77"/>
              <a:ea typeface="Jost Medium" pitchFamily="2" charset="77"/>
            </a:endParaRPr>
          </a:p>
        </p:txBody>
      </p:sp>
      <p:pic>
        <p:nvPicPr>
          <p:cNvPr id="10" name="Image 9">
            <a:extLst>
              <a:ext uri="{FF2B5EF4-FFF2-40B4-BE49-F238E27FC236}">
                <a16:creationId xmlns:a16="http://schemas.microsoft.com/office/drawing/2014/main" id="{3B1C5C62-ED6C-E307-D311-FBA1080F3678}"/>
              </a:ext>
            </a:extLst>
          </p:cNvPr>
          <p:cNvPicPr>
            <a:picLocks noChangeAspect="1"/>
          </p:cNvPicPr>
          <p:nvPr/>
        </p:nvPicPr>
        <p:blipFill>
          <a:blip r:embed="rId6"/>
          <a:stretch>
            <a:fillRect/>
          </a:stretch>
        </p:blipFill>
        <p:spPr>
          <a:xfrm>
            <a:off x="2029332" y="2484393"/>
            <a:ext cx="1681307" cy="598011"/>
          </a:xfrm>
          <a:prstGeom prst="rect">
            <a:avLst/>
          </a:prstGeom>
        </p:spPr>
      </p:pic>
      <p:sp>
        <p:nvSpPr>
          <p:cNvPr id="17" name="ZoneTexte 16">
            <a:extLst>
              <a:ext uri="{FF2B5EF4-FFF2-40B4-BE49-F238E27FC236}">
                <a16:creationId xmlns:a16="http://schemas.microsoft.com/office/drawing/2014/main" id="{14FC0E4B-DE23-737A-6CE7-3372B3E16B78}"/>
              </a:ext>
            </a:extLst>
          </p:cNvPr>
          <p:cNvSpPr txBox="1"/>
          <p:nvPr/>
        </p:nvSpPr>
        <p:spPr>
          <a:xfrm>
            <a:off x="9286181" y="225541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Autres</a:t>
            </a:r>
            <a:endParaRPr lang="fr-FR" dirty="0">
              <a:latin typeface="Jost Medium" pitchFamily="2" charset="77"/>
              <a:ea typeface="Jost Medium" pitchFamily="2" charset="77"/>
            </a:endParaRPr>
          </a:p>
        </p:txBody>
      </p:sp>
    </p:spTree>
    <p:extLst>
      <p:ext uri="{BB962C8B-B14F-4D97-AF65-F5344CB8AC3E}">
        <p14:creationId xmlns:p14="http://schemas.microsoft.com/office/powerpoint/2010/main" val="40101277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E84A2-7181-5655-1004-F5BFF1EC35CD}"/>
            </a:ext>
          </a:extLst>
        </p:cNvPr>
        <p:cNvGrpSpPr/>
        <p:nvPr/>
      </p:nvGrpSpPr>
      <p:grpSpPr>
        <a:xfrm>
          <a:off x="0" y="0"/>
          <a:ext cx="0" cy="0"/>
          <a:chOff x="0" y="0"/>
          <a:chExt cx="0" cy="0"/>
        </a:xfrm>
      </p:grpSpPr>
      <p:pic>
        <p:nvPicPr>
          <p:cNvPr id="75" name="Image 74">
            <a:extLst>
              <a:ext uri="{FF2B5EF4-FFF2-40B4-BE49-F238E27FC236}">
                <a16:creationId xmlns:a16="http://schemas.microsoft.com/office/drawing/2014/main" id="{85E9D8CA-3573-773F-6ACA-D90C61F278C6}"/>
              </a:ext>
            </a:extLst>
          </p:cNvPr>
          <p:cNvPicPr>
            <a:picLocks noChangeAspect="1"/>
          </p:cNvPicPr>
          <p:nvPr/>
        </p:nvPicPr>
        <p:blipFill>
          <a:blip r:embed="rId2">
            <a:alphaModFix amt="5000"/>
          </a:blip>
          <a:srcRect l="6207" b="6232"/>
          <a:stretch>
            <a:fillRect/>
          </a:stretch>
        </p:blipFill>
        <p:spPr>
          <a:xfrm>
            <a:off x="1" y="-1822"/>
            <a:ext cx="12191999" cy="6859822"/>
          </a:xfrm>
          <a:prstGeom prst="rect">
            <a:avLst/>
          </a:prstGeom>
        </p:spPr>
      </p:pic>
      <p:sp>
        <p:nvSpPr>
          <p:cNvPr id="7" name="Rectangle 6">
            <a:extLst>
              <a:ext uri="{FF2B5EF4-FFF2-40B4-BE49-F238E27FC236}">
                <a16:creationId xmlns:a16="http://schemas.microsoft.com/office/drawing/2014/main" id="{A588AE97-68FF-19AF-CCC6-D8BBA8D40550}"/>
              </a:ext>
            </a:extLst>
          </p:cNvPr>
          <p:cNvSpPr/>
          <p:nvPr/>
        </p:nvSpPr>
        <p:spPr>
          <a:xfrm>
            <a:off x="8187915" y="2147869"/>
            <a:ext cx="3189250" cy="2241395"/>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8" name="Chart 1">
            <a:extLst>
              <a:ext uri="{FF2B5EF4-FFF2-40B4-BE49-F238E27FC236}">
                <a16:creationId xmlns:a16="http://schemas.microsoft.com/office/drawing/2014/main" id="{C085559A-1C97-F1A5-219E-83D8A458192B}"/>
              </a:ext>
            </a:extLst>
          </p:cNvPr>
          <p:cNvGraphicFramePr>
            <a:graphicFrameLocks/>
          </p:cNvGraphicFramePr>
          <p:nvPr/>
        </p:nvGraphicFramePr>
        <p:xfrm>
          <a:off x="8171216" y="2167532"/>
          <a:ext cx="3205950" cy="2091805"/>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1">
            <a:extLst>
              <a:ext uri="{FF2B5EF4-FFF2-40B4-BE49-F238E27FC236}">
                <a16:creationId xmlns:a16="http://schemas.microsoft.com/office/drawing/2014/main" id="{BDF8094B-72D9-F684-CC12-341419F6057A}"/>
              </a:ext>
            </a:extLst>
          </p:cNvPr>
          <p:cNvSpPr/>
          <p:nvPr/>
        </p:nvSpPr>
        <p:spPr>
          <a:xfrm>
            <a:off x="4919566" y="2138211"/>
            <a:ext cx="3189250" cy="2241395"/>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1" name="Chart 1">
            <a:extLst>
              <a:ext uri="{FF2B5EF4-FFF2-40B4-BE49-F238E27FC236}">
                <a16:creationId xmlns:a16="http://schemas.microsoft.com/office/drawing/2014/main" id="{25CAEAA8-57F3-D928-AEAB-07819AC6F11F}"/>
              </a:ext>
            </a:extLst>
          </p:cNvPr>
          <p:cNvGraphicFramePr>
            <a:graphicFrameLocks/>
          </p:cNvGraphicFramePr>
          <p:nvPr/>
        </p:nvGraphicFramePr>
        <p:xfrm>
          <a:off x="4935912" y="2169014"/>
          <a:ext cx="3146111" cy="2124089"/>
        </p:xfrm>
        <a:graphic>
          <a:graphicData uri="http://schemas.openxmlformats.org/drawingml/2006/chart">
            <c:chart xmlns:c="http://schemas.openxmlformats.org/drawingml/2006/chart" xmlns:r="http://schemas.openxmlformats.org/officeDocument/2006/relationships" r:id="rId4"/>
          </a:graphicData>
        </a:graphic>
      </p:graphicFrame>
      <p:sp>
        <p:nvSpPr>
          <p:cNvPr id="2" name="Rectangle 1">
            <a:extLst>
              <a:ext uri="{FF2B5EF4-FFF2-40B4-BE49-F238E27FC236}">
                <a16:creationId xmlns:a16="http://schemas.microsoft.com/office/drawing/2014/main" id="{E767EC0A-03E6-3736-FBBD-D3BB18E46CE7}"/>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9">
            <a:extLst>
              <a:ext uri="{FF2B5EF4-FFF2-40B4-BE49-F238E27FC236}">
                <a16:creationId xmlns:a16="http://schemas.microsoft.com/office/drawing/2014/main" id="{5E2A7EDD-0A4A-A385-C9CF-8E5F7748BDCD}"/>
              </a:ext>
            </a:extLst>
          </p:cNvPr>
          <p:cNvSpPr/>
          <p:nvPr/>
        </p:nvSpPr>
        <p:spPr>
          <a:xfrm>
            <a:off x="947468" y="578772"/>
            <a:ext cx="5362797" cy="394243"/>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SCPI </a:t>
            </a:r>
            <a:r>
              <a:rPr lang="fr-FR" noProof="0" dirty="0">
                <a:solidFill>
                  <a:srgbClr val="A9853F"/>
                </a:solidFill>
                <a:ea typeface="Cormorant Garamond SemiBold" pitchFamily="2" charset="77"/>
                <a:cs typeface="Cormorant Garamond SemiBold" pitchFamily="2" charset="77"/>
              </a:rPr>
              <a:t>-</a:t>
            </a:r>
            <a:r>
              <a:rPr lang="fr-FR" b="1" noProof="0" dirty="0">
                <a:solidFill>
                  <a:srgbClr val="A9853F"/>
                </a:solidFill>
                <a:latin typeface="Cormorant Garamond SemiBold" pitchFamily="2" charset="77"/>
                <a:ea typeface="Cormorant Garamond SemiBold" pitchFamily="2" charset="77"/>
                <a:cs typeface="Cormorant Garamond SemiBold" pitchFamily="2" charset="77"/>
              </a:rPr>
              <a:t> Société Civile de Placement Immobilier</a:t>
            </a:r>
          </a:p>
        </p:txBody>
      </p:sp>
      <p:sp>
        <p:nvSpPr>
          <p:cNvPr id="6" name="Text 9">
            <a:extLst>
              <a:ext uri="{FF2B5EF4-FFF2-40B4-BE49-F238E27FC236}">
                <a16:creationId xmlns:a16="http://schemas.microsoft.com/office/drawing/2014/main" id="{D8C72E53-57C8-0FA2-D416-ACCC6C272512}"/>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Conseil en Investissement immobilier : Iroko Atlas</a:t>
            </a:r>
          </a:p>
        </p:txBody>
      </p:sp>
      <p:sp>
        <p:nvSpPr>
          <p:cNvPr id="8" name="Rectangle : avec coins arrondis en haut 7">
            <a:extLst>
              <a:ext uri="{FF2B5EF4-FFF2-40B4-BE49-F238E27FC236}">
                <a16:creationId xmlns:a16="http://schemas.microsoft.com/office/drawing/2014/main" id="{C9BB24E8-5DF3-929B-EC92-2E5AA9A04ECC}"/>
              </a:ext>
            </a:extLst>
          </p:cNvPr>
          <p:cNvSpPr/>
          <p:nvPr/>
        </p:nvSpPr>
        <p:spPr>
          <a:xfrm>
            <a:off x="1403716" y="1767875"/>
            <a:ext cx="2932540"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Indicateurs clés</a:t>
            </a:r>
          </a:p>
        </p:txBody>
      </p:sp>
      <p:sp>
        <p:nvSpPr>
          <p:cNvPr id="9" name="Rectangle 8">
            <a:extLst>
              <a:ext uri="{FF2B5EF4-FFF2-40B4-BE49-F238E27FC236}">
                <a16:creationId xmlns:a16="http://schemas.microsoft.com/office/drawing/2014/main" id="{3BFF2DBD-BBA8-7C1D-72F4-9EA6812BCFD6}"/>
              </a:ext>
            </a:extLst>
          </p:cNvPr>
          <p:cNvSpPr/>
          <p:nvPr/>
        </p:nvSpPr>
        <p:spPr>
          <a:xfrm>
            <a:off x="1397642" y="2168305"/>
            <a:ext cx="2945758" cy="1260695"/>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72C0F02A-F91B-F588-1CF1-CF1D74FDEB74}"/>
              </a:ext>
            </a:extLst>
          </p:cNvPr>
          <p:cNvSpPr/>
          <p:nvPr/>
        </p:nvSpPr>
        <p:spPr>
          <a:xfrm>
            <a:off x="1396200" y="3988158"/>
            <a:ext cx="2930052" cy="1968874"/>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r>
              <a:rPr lang="fr-FR" sz="900" b="1" dirty="0">
                <a:solidFill>
                  <a:schemeClr val="tx1"/>
                </a:solidFill>
                <a:latin typeface="Jost Light" pitchFamily="2" charset="77"/>
                <a:ea typeface="Jost Light" pitchFamily="2" charset="77"/>
              </a:rPr>
              <a:t>Maison de Gestion </a:t>
            </a:r>
            <a:r>
              <a:rPr lang="fr-FR" sz="900" dirty="0">
                <a:solidFill>
                  <a:schemeClr val="tx1"/>
                </a:solidFill>
                <a:latin typeface="Jost Light" pitchFamily="2" charset="77"/>
                <a:ea typeface="Jost Light" pitchFamily="2" charset="77"/>
              </a:rPr>
              <a:t>: Iroko AM</a:t>
            </a:r>
          </a:p>
          <a:p>
            <a:pPr algn="ctr">
              <a:spcAft>
                <a:spcPts val="400"/>
              </a:spcAft>
            </a:pPr>
            <a:r>
              <a:rPr lang="fr-FR" sz="900" b="1" dirty="0">
                <a:solidFill>
                  <a:schemeClr val="tx1"/>
                </a:solidFill>
                <a:latin typeface="Jost Light" pitchFamily="2" charset="77"/>
                <a:ea typeface="Jost Light" pitchFamily="2" charset="77"/>
              </a:rPr>
              <a:t>Prix de part </a:t>
            </a:r>
            <a:r>
              <a:rPr lang="fr-FR" sz="900" dirty="0">
                <a:solidFill>
                  <a:schemeClr val="tx1"/>
                </a:solidFill>
                <a:latin typeface="Jost Light" pitchFamily="2" charset="77"/>
                <a:ea typeface="Jost Light" pitchFamily="2" charset="77"/>
              </a:rPr>
              <a:t>: 2024 : 200 EUR</a:t>
            </a:r>
          </a:p>
          <a:p>
            <a:pPr algn="ctr">
              <a:spcAft>
                <a:spcPts val="400"/>
              </a:spcAft>
            </a:pPr>
            <a:r>
              <a:rPr lang="fr-FR" sz="900" dirty="0">
                <a:solidFill>
                  <a:schemeClr val="tx1"/>
                </a:solidFill>
                <a:latin typeface="Jost Light" pitchFamily="2" charset="77"/>
                <a:ea typeface="Jost Light" pitchFamily="2" charset="77"/>
              </a:rPr>
              <a:t>Aujourd’hui : 200 EUR</a:t>
            </a:r>
          </a:p>
          <a:p>
            <a:pPr algn="ctr">
              <a:spcAft>
                <a:spcPts val="400"/>
              </a:spcAft>
            </a:pPr>
            <a:r>
              <a:rPr lang="fr-FR" sz="900" b="1" dirty="0">
                <a:solidFill>
                  <a:schemeClr val="tx1"/>
                </a:solidFill>
                <a:latin typeface="Jost Light" pitchFamily="2" charset="77"/>
                <a:ea typeface="Jost Light" pitchFamily="2" charset="77"/>
              </a:rPr>
              <a:t>Valeur de reconstitution </a:t>
            </a:r>
            <a:r>
              <a:rPr lang="fr-FR" sz="900" dirty="0">
                <a:solidFill>
                  <a:schemeClr val="tx1"/>
                </a:solidFill>
                <a:latin typeface="Jost Light" pitchFamily="2" charset="77"/>
                <a:ea typeface="Jost Light" pitchFamily="2" charset="77"/>
              </a:rPr>
              <a:t>: 216 EUR</a:t>
            </a:r>
          </a:p>
          <a:p>
            <a:pPr algn="just">
              <a:spcAft>
                <a:spcPts val="400"/>
              </a:spcAft>
            </a:pPr>
            <a:endParaRPr lang="fr-FR" sz="900" dirty="0">
              <a:solidFill>
                <a:schemeClr val="tx1"/>
              </a:solidFill>
              <a:latin typeface="Jost Light" pitchFamily="2" charset="77"/>
              <a:ea typeface="Jost Light" pitchFamily="2" charset="77"/>
            </a:endParaRPr>
          </a:p>
          <a:p>
            <a:pPr algn="just">
              <a:spcAft>
                <a:spcPts val="400"/>
              </a:spcAft>
            </a:pPr>
            <a:r>
              <a:rPr lang="fr-FR" sz="900" b="1" dirty="0">
                <a:solidFill>
                  <a:schemeClr val="tx1"/>
                </a:solidFill>
                <a:latin typeface="Jost Light" pitchFamily="2" charset="77"/>
                <a:ea typeface="Jost Light" pitchFamily="2" charset="77"/>
              </a:rPr>
              <a:t>Délai de jouissance </a:t>
            </a:r>
            <a:r>
              <a:rPr lang="fr-FR" sz="900" dirty="0">
                <a:solidFill>
                  <a:schemeClr val="tx1"/>
                </a:solidFill>
                <a:latin typeface="Jost Light" pitchFamily="2" charset="77"/>
                <a:ea typeface="Jost Light" pitchFamily="2" charset="77"/>
              </a:rPr>
              <a:t>: au 1er jour du quatrième mois suivant la date d’encaissement de la souscription part la maison de gestion.</a:t>
            </a:r>
          </a:p>
          <a:p>
            <a:pPr algn="ctr">
              <a:spcAft>
                <a:spcPts val="400"/>
              </a:spcAft>
            </a:pPr>
            <a:endParaRPr lang="fr-FR" sz="900" dirty="0">
              <a:solidFill>
                <a:schemeClr val="tx1"/>
              </a:solidFill>
              <a:latin typeface="Jost Light" pitchFamily="2" charset="77"/>
              <a:ea typeface="Jost Light" pitchFamily="2" charset="77"/>
            </a:endParaRPr>
          </a:p>
          <a:p>
            <a:pPr algn="ctr">
              <a:spcAft>
                <a:spcPts val="400"/>
              </a:spcAft>
            </a:pPr>
            <a:r>
              <a:rPr lang="fr-FR" sz="900" b="1" dirty="0">
                <a:solidFill>
                  <a:srgbClr val="1A1A1A"/>
                </a:solidFill>
                <a:latin typeface="Jost Light" pitchFamily="2" charset="77"/>
                <a:ea typeface="Jost Light" pitchFamily="2" charset="77"/>
              </a:rPr>
              <a:t>SCPI 100% européenne : avantages fiscaux.</a:t>
            </a:r>
            <a:endParaRPr lang="fr-FR" sz="900" b="1" dirty="0">
              <a:solidFill>
                <a:schemeClr val="tx1"/>
              </a:solidFill>
              <a:latin typeface="Jost Light" pitchFamily="2" charset="77"/>
              <a:ea typeface="Jost Light" pitchFamily="2" charset="77"/>
            </a:endParaRPr>
          </a:p>
        </p:txBody>
      </p:sp>
      <p:sp>
        <p:nvSpPr>
          <p:cNvPr id="15" name="Rectangle 14">
            <a:extLst>
              <a:ext uri="{FF2B5EF4-FFF2-40B4-BE49-F238E27FC236}">
                <a16:creationId xmlns:a16="http://schemas.microsoft.com/office/drawing/2014/main" id="{B9BE4685-98EB-190C-D133-F9A851165543}"/>
              </a:ext>
            </a:extLst>
          </p:cNvPr>
          <p:cNvSpPr/>
          <p:nvPr/>
        </p:nvSpPr>
        <p:spPr>
          <a:xfrm>
            <a:off x="1406580" y="3484180"/>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Distribution mensuelle</a:t>
            </a:r>
          </a:p>
        </p:txBody>
      </p:sp>
      <p:sp>
        <p:nvSpPr>
          <p:cNvPr id="21" name="Rectangle 20">
            <a:extLst>
              <a:ext uri="{FF2B5EF4-FFF2-40B4-BE49-F238E27FC236}">
                <a16:creationId xmlns:a16="http://schemas.microsoft.com/office/drawing/2014/main" id="{7042ECEA-66CC-1B27-137A-1387EBA168D3}"/>
              </a:ext>
            </a:extLst>
          </p:cNvPr>
          <p:cNvSpPr/>
          <p:nvPr/>
        </p:nvSpPr>
        <p:spPr>
          <a:xfrm>
            <a:off x="1393442" y="5957032"/>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Taux distribué en 2025 : 9.41% </a:t>
            </a:r>
            <a:r>
              <a:rPr lang="fr-FR" sz="1200" dirty="0" err="1">
                <a:solidFill>
                  <a:schemeClr val="bg1"/>
                </a:solidFill>
                <a:latin typeface="Jost Medium" pitchFamily="2" charset="77"/>
                <a:ea typeface="Jost Medium" pitchFamily="2" charset="77"/>
              </a:rPr>
              <a:t>p.a</a:t>
            </a:r>
            <a:r>
              <a:rPr lang="fr-FR" sz="1200" dirty="0">
                <a:solidFill>
                  <a:schemeClr val="bg1"/>
                </a:solidFill>
                <a:latin typeface="Jost Medium" pitchFamily="2" charset="77"/>
                <a:ea typeface="Jost Medium" pitchFamily="2" charset="77"/>
              </a:rPr>
              <a:t>.</a:t>
            </a:r>
          </a:p>
        </p:txBody>
      </p:sp>
      <p:pic>
        <p:nvPicPr>
          <p:cNvPr id="31" name="Image 30">
            <a:extLst>
              <a:ext uri="{FF2B5EF4-FFF2-40B4-BE49-F238E27FC236}">
                <a16:creationId xmlns:a16="http://schemas.microsoft.com/office/drawing/2014/main" id="{08021C5A-3430-B7D8-6921-AA318147E9D3}"/>
              </a:ext>
            </a:extLst>
          </p:cNvPr>
          <p:cNvPicPr>
            <a:picLocks noChangeAspect="1"/>
          </p:cNvPicPr>
          <p:nvPr/>
        </p:nvPicPr>
        <p:blipFill>
          <a:blip r:embed="rId5">
            <a:duotone>
              <a:prstClr val="black"/>
              <a:srgbClr val="063527">
                <a:tint val="45000"/>
                <a:satMod val="400000"/>
              </a:srgbClr>
            </a:duotone>
          </a:blip>
          <a:stretch>
            <a:fillRect/>
          </a:stretch>
        </p:blipFill>
        <p:spPr>
          <a:xfrm>
            <a:off x="11005640" y="374477"/>
            <a:ext cx="792892" cy="264297"/>
          </a:xfrm>
          <a:prstGeom prst="rect">
            <a:avLst/>
          </a:prstGeom>
        </p:spPr>
      </p:pic>
      <p:sp>
        <p:nvSpPr>
          <p:cNvPr id="26" name="Rectangle : avec coins arrondis en haut 25">
            <a:extLst>
              <a:ext uri="{FF2B5EF4-FFF2-40B4-BE49-F238E27FC236}">
                <a16:creationId xmlns:a16="http://schemas.microsoft.com/office/drawing/2014/main" id="{D6F913BE-A077-7584-750C-40C0D9A99BDD}"/>
              </a:ext>
            </a:extLst>
          </p:cNvPr>
          <p:cNvSpPr/>
          <p:nvPr/>
        </p:nvSpPr>
        <p:spPr>
          <a:xfrm>
            <a:off x="4935731" y="1767875"/>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géographique</a:t>
            </a:r>
          </a:p>
        </p:txBody>
      </p:sp>
      <p:sp>
        <p:nvSpPr>
          <p:cNvPr id="46" name="Stat 0 108">
            <a:extLst>
              <a:ext uri="{FF2B5EF4-FFF2-40B4-BE49-F238E27FC236}">
                <a16:creationId xmlns:a16="http://schemas.microsoft.com/office/drawing/2014/main" id="{F4C62C69-831B-C402-1DD6-2EC1212D5292}"/>
              </a:ext>
            </a:extLst>
          </p:cNvPr>
          <p:cNvSpPr txBox="1"/>
          <p:nvPr/>
        </p:nvSpPr>
        <p:spPr>
          <a:xfrm>
            <a:off x="9286899" y="4773740"/>
            <a:ext cx="2073117" cy="477882"/>
          </a:xfrm>
          <a:prstGeom prst="rect">
            <a:avLst/>
          </a:prstGeom>
          <a:solidFill>
            <a:srgbClr val="15462A"/>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Taux d’occupation financière</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99.0%</a:t>
            </a:r>
          </a:p>
        </p:txBody>
      </p:sp>
      <p:sp>
        <p:nvSpPr>
          <p:cNvPr id="48" name="Stat 0 108">
            <a:extLst>
              <a:ext uri="{FF2B5EF4-FFF2-40B4-BE49-F238E27FC236}">
                <a16:creationId xmlns:a16="http://schemas.microsoft.com/office/drawing/2014/main" id="{D82738C1-2063-A94D-84CA-A777182BEC98}"/>
              </a:ext>
            </a:extLst>
          </p:cNvPr>
          <p:cNvSpPr txBox="1"/>
          <p:nvPr/>
        </p:nvSpPr>
        <p:spPr>
          <a:xfrm>
            <a:off x="7111315" y="4775194"/>
            <a:ext cx="2106826" cy="477881"/>
          </a:xfrm>
          <a:prstGeom prst="rect">
            <a:avLst/>
          </a:prstGeom>
          <a:solidFill>
            <a:srgbClr val="AA853F"/>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Capitalisation</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200M EUR</a:t>
            </a:r>
          </a:p>
        </p:txBody>
      </p:sp>
      <p:sp>
        <p:nvSpPr>
          <p:cNvPr id="49" name="Stat 0 108">
            <a:extLst>
              <a:ext uri="{FF2B5EF4-FFF2-40B4-BE49-F238E27FC236}">
                <a16:creationId xmlns:a16="http://schemas.microsoft.com/office/drawing/2014/main" id="{AEF31DC3-FE28-6899-64AF-663867688D92}"/>
              </a:ext>
            </a:extLst>
          </p:cNvPr>
          <p:cNvSpPr txBox="1"/>
          <p:nvPr/>
        </p:nvSpPr>
        <p:spPr>
          <a:xfrm>
            <a:off x="4935731" y="4775194"/>
            <a:ext cx="2106826" cy="477881"/>
          </a:xfrm>
          <a:prstGeom prst="rect">
            <a:avLst/>
          </a:prstGeom>
          <a:solidFill>
            <a:srgbClr val="E6C989"/>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Risque SRRI</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3/7</a:t>
            </a:r>
          </a:p>
        </p:txBody>
      </p:sp>
      <p:sp>
        <p:nvSpPr>
          <p:cNvPr id="50" name="ZoneTexte 49">
            <a:extLst>
              <a:ext uri="{FF2B5EF4-FFF2-40B4-BE49-F238E27FC236}">
                <a16:creationId xmlns:a16="http://schemas.microsoft.com/office/drawing/2014/main" id="{2D645BCD-822A-A1DB-888B-1E67B5E15379}"/>
              </a:ext>
            </a:extLst>
          </p:cNvPr>
          <p:cNvSpPr txBox="1"/>
          <p:nvPr/>
        </p:nvSpPr>
        <p:spPr>
          <a:xfrm>
            <a:off x="5504915" y="3956045"/>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Pays-Bas</a:t>
            </a:r>
            <a:endParaRPr lang="fr-FR" dirty="0">
              <a:latin typeface="Jost Medium" pitchFamily="2" charset="77"/>
              <a:ea typeface="Jost Medium" pitchFamily="2" charset="77"/>
            </a:endParaRPr>
          </a:p>
        </p:txBody>
      </p:sp>
      <p:sp>
        <p:nvSpPr>
          <p:cNvPr id="51" name="ZoneTexte 50">
            <a:extLst>
              <a:ext uri="{FF2B5EF4-FFF2-40B4-BE49-F238E27FC236}">
                <a16:creationId xmlns:a16="http://schemas.microsoft.com/office/drawing/2014/main" id="{EE8D9BEA-CF9B-668E-CB21-8D08B5EDE55F}"/>
              </a:ext>
            </a:extLst>
          </p:cNvPr>
          <p:cNvSpPr txBox="1"/>
          <p:nvPr/>
        </p:nvSpPr>
        <p:spPr>
          <a:xfrm>
            <a:off x="5060009" y="3243675"/>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Pologne</a:t>
            </a:r>
            <a:endParaRPr lang="fr-FR" dirty="0">
              <a:latin typeface="Jost Medium" pitchFamily="2" charset="77"/>
              <a:ea typeface="Jost Medium" pitchFamily="2" charset="77"/>
            </a:endParaRPr>
          </a:p>
        </p:txBody>
      </p:sp>
      <p:sp>
        <p:nvSpPr>
          <p:cNvPr id="52" name="ZoneTexte 51">
            <a:extLst>
              <a:ext uri="{FF2B5EF4-FFF2-40B4-BE49-F238E27FC236}">
                <a16:creationId xmlns:a16="http://schemas.microsoft.com/office/drawing/2014/main" id="{2EE25ABB-0F63-AAC1-2809-B38CB87BCADC}"/>
              </a:ext>
            </a:extLst>
          </p:cNvPr>
          <p:cNvSpPr txBox="1"/>
          <p:nvPr/>
        </p:nvSpPr>
        <p:spPr>
          <a:xfrm>
            <a:off x="5208785" y="2601873"/>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Allemagne</a:t>
            </a:r>
            <a:endParaRPr lang="fr-FR" dirty="0">
              <a:latin typeface="Jost Medium" pitchFamily="2" charset="77"/>
              <a:ea typeface="Jost Medium" pitchFamily="2" charset="77"/>
            </a:endParaRPr>
          </a:p>
        </p:txBody>
      </p:sp>
      <p:sp>
        <p:nvSpPr>
          <p:cNvPr id="53" name="ZoneTexte 52">
            <a:extLst>
              <a:ext uri="{FF2B5EF4-FFF2-40B4-BE49-F238E27FC236}">
                <a16:creationId xmlns:a16="http://schemas.microsoft.com/office/drawing/2014/main" id="{3E43C10A-CEEC-54C0-B9E4-2BD96333E672}"/>
              </a:ext>
            </a:extLst>
          </p:cNvPr>
          <p:cNvSpPr txBox="1"/>
          <p:nvPr/>
        </p:nvSpPr>
        <p:spPr>
          <a:xfrm>
            <a:off x="7206668" y="2644753"/>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Espagne</a:t>
            </a:r>
            <a:endParaRPr lang="fr-FR" dirty="0">
              <a:latin typeface="Jost Medium" pitchFamily="2" charset="77"/>
              <a:ea typeface="Jost Medium" pitchFamily="2" charset="77"/>
            </a:endParaRPr>
          </a:p>
        </p:txBody>
      </p:sp>
      <p:sp>
        <p:nvSpPr>
          <p:cNvPr id="57" name="ZoneTexte 56">
            <a:extLst>
              <a:ext uri="{FF2B5EF4-FFF2-40B4-BE49-F238E27FC236}">
                <a16:creationId xmlns:a16="http://schemas.microsoft.com/office/drawing/2014/main" id="{99C56C6C-EBCC-0F32-D82B-F0EA8FA78FCD}"/>
              </a:ext>
            </a:extLst>
          </p:cNvPr>
          <p:cNvSpPr txBox="1"/>
          <p:nvPr/>
        </p:nvSpPr>
        <p:spPr>
          <a:xfrm>
            <a:off x="6788481" y="394891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Royaume-Uni</a:t>
            </a:r>
            <a:endParaRPr lang="fr-FR" dirty="0">
              <a:latin typeface="Jost Medium" pitchFamily="2" charset="77"/>
              <a:ea typeface="Jost Medium" pitchFamily="2" charset="77"/>
            </a:endParaRPr>
          </a:p>
        </p:txBody>
      </p:sp>
      <p:sp>
        <p:nvSpPr>
          <p:cNvPr id="59" name="ZoneTexte 58">
            <a:extLst>
              <a:ext uri="{FF2B5EF4-FFF2-40B4-BE49-F238E27FC236}">
                <a16:creationId xmlns:a16="http://schemas.microsoft.com/office/drawing/2014/main" id="{4C0C695D-A3EC-8EE3-0F60-4782E570E904}"/>
              </a:ext>
            </a:extLst>
          </p:cNvPr>
          <p:cNvSpPr txBox="1"/>
          <p:nvPr/>
        </p:nvSpPr>
        <p:spPr>
          <a:xfrm>
            <a:off x="8500210" y="3591089"/>
            <a:ext cx="691440" cy="307777"/>
          </a:xfrm>
          <a:prstGeom prst="rect">
            <a:avLst/>
          </a:prstGeom>
          <a:noFill/>
        </p:spPr>
        <p:txBody>
          <a:bodyPr wrap="square" rtlCol="0">
            <a:spAutoFit/>
          </a:bodyPr>
          <a:lstStyle/>
          <a:p>
            <a:r>
              <a:rPr lang="fr-FR" sz="700" dirty="0">
                <a:latin typeface="Jost Medium" pitchFamily="2" charset="77"/>
                <a:ea typeface="Jost Medium" pitchFamily="2" charset="77"/>
              </a:rPr>
              <a:t>Locaux </a:t>
            </a:r>
          </a:p>
          <a:p>
            <a:r>
              <a:rPr lang="fr-FR" sz="700" dirty="0">
                <a:latin typeface="Jost Medium" pitchFamily="2" charset="77"/>
                <a:ea typeface="Jost Medium" pitchFamily="2" charset="77"/>
              </a:rPr>
              <a:t>d’activité</a:t>
            </a:r>
            <a:endParaRPr lang="fr-FR" dirty="0">
              <a:latin typeface="Jost Medium" pitchFamily="2" charset="77"/>
              <a:ea typeface="Jost Medium" pitchFamily="2" charset="77"/>
            </a:endParaRPr>
          </a:p>
        </p:txBody>
      </p:sp>
      <p:sp>
        <p:nvSpPr>
          <p:cNvPr id="62" name="Rectangle : avec coins arrondis en haut 61">
            <a:extLst>
              <a:ext uri="{FF2B5EF4-FFF2-40B4-BE49-F238E27FC236}">
                <a16:creationId xmlns:a16="http://schemas.microsoft.com/office/drawing/2014/main" id="{BCC42CE2-8A7F-3A10-57C0-8A880BA8188F}"/>
              </a:ext>
            </a:extLst>
          </p:cNvPr>
          <p:cNvSpPr/>
          <p:nvPr/>
        </p:nvSpPr>
        <p:spPr>
          <a:xfrm>
            <a:off x="8187915" y="1774963"/>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sectorielle</a:t>
            </a:r>
          </a:p>
        </p:txBody>
      </p:sp>
      <p:sp>
        <p:nvSpPr>
          <p:cNvPr id="63" name="Rectangle 62">
            <a:extLst>
              <a:ext uri="{FF2B5EF4-FFF2-40B4-BE49-F238E27FC236}">
                <a16:creationId xmlns:a16="http://schemas.microsoft.com/office/drawing/2014/main" id="{8413A312-F184-6C02-60E4-61F489E48F24}"/>
              </a:ext>
            </a:extLst>
          </p:cNvPr>
          <p:cNvSpPr/>
          <p:nvPr/>
        </p:nvSpPr>
        <p:spPr>
          <a:xfrm>
            <a:off x="4953163" y="5453012"/>
            <a:ext cx="6423499" cy="111015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sz="800" dirty="0">
                <a:solidFill>
                  <a:srgbClr val="1A1A1A"/>
                </a:solidFill>
                <a:latin typeface="Jost Light" pitchFamily="2" charset="77"/>
                <a:ea typeface="Jost Light" pitchFamily="2" charset="77"/>
              </a:rPr>
              <a:t>Lancée en fin 2024 par la société de gestion Iroko, Iroko Atlas pousse la logique internationale un cran plus loin car elle investit exclusivement hors de France, dans l'espace économique européen, au Royaume-Uni, et en Suisse. Là où Iroko Zen cherche la régularité, Atlas vise la performance maximale, en profitant de la correction des marchés immobiliers européens de 2022-2024 pour acheter à des prix décotés, avec la même approche "granulaire" qu'Iroko Zen (actifs de 1 à 10 millions d'euros). </a:t>
            </a:r>
          </a:p>
          <a:p>
            <a:pPr algn="just"/>
            <a:endParaRPr lang="fr-FR" sz="800" dirty="0">
              <a:solidFill>
                <a:srgbClr val="1A1A1A"/>
              </a:solidFill>
              <a:latin typeface="Jost Light" pitchFamily="2" charset="77"/>
              <a:ea typeface="Jost Light" pitchFamily="2" charset="77"/>
            </a:endParaRPr>
          </a:p>
          <a:p>
            <a:pPr algn="just"/>
            <a:r>
              <a:rPr lang="fr-FR" sz="800" dirty="0">
                <a:solidFill>
                  <a:srgbClr val="1A1A1A"/>
                </a:solidFill>
                <a:latin typeface="Jost Light" pitchFamily="2" charset="77"/>
                <a:ea typeface="Jost Light" pitchFamily="2" charset="77"/>
              </a:rPr>
              <a:t>Iroko Atlas est aussi l'une des rares SCPI à acheter des actifs libellés en devises locales comme la livre sterling, couronne tchèque, zloty polonais, et bientôt possiblement en dollar. La société de gestion en fait un véritable atout de diversification. Ces devises ne fluctuent pas toujours dans le même sens que l'euro, ce qui peut amortir certains chocs de marché plutôt que de les subir uniformément. </a:t>
            </a:r>
          </a:p>
        </p:txBody>
      </p:sp>
      <p:sp>
        <p:nvSpPr>
          <p:cNvPr id="64" name="Rectangle 63">
            <a:extLst>
              <a:ext uri="{FF2B5EF4-FFF2-40B4-BE49-F238E27FC236}">
                <a16:creationId xmlns:a16="http://schemas.microsoft.com/office/drawing/2014/main" id="{61987DED-69C4-954D-5E71-18B7F23771BE}"/>
              </a:ext>
            </a:extLst>
          </p:cNvPr>
          <p:cNvSpPr/>
          <p:nvPr/>
        </p:nvSpPr>
        <p:spPr>
          <a:xfrm>
            <a:off x="4953164" y="4426836"/>
            <a:ext cx="3155652" cy="191097"/>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r>
              <a:rPr lang="fr-FR" sz="700" i="1" dirty="0">
                <a:solidFill>
                  <a:schemeClr val="tx1"/>
                </a:solidFill>
                <a:latin typeface="Jost Light" pitchFamily="2" charset="77"/>
                <a:ea typeface="Jost Light" pitchFamily="2" charset="77"/>
                <a:cs typeface="Cormorant Garamond" pitchFamily="2" charset="77"/>
              </a:rPr>
              <a:t>Autres : Irlande, République Tchèque, Portugal</a:t>
            </a:r>
          </a:p>
        </p:txBody>
      </p:sp>
      <p:sp>
        <p:nvSpPr>
          <p:cNvPr id="65" name="ZoneTexte 64">
            <a:extLst>
              <a:ext uri="{FF2B5EF4-FFF2-40B4-BE49-F238E27FC236}">
                <a16:creationId xmlns:a16="http://schemas.microsoft.com/office/drawing/2014/main" id="{EDF3F251-FDC4-4F5D-3BAC-81B69E586454}"/>
              </a:ext>
            </a:extLst>
          </p:cNvPr>
          <p:cNvSpPr txBox="1"/>
          <p:nvPr/>
        </p:nvSpPr>
        <p:spPr>
          <a:xfrm>
            <a:off x="6079465" y="2167533"/>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Autres</a:t>
            </a:r>
            <a:endParaRPr lang="fr-FR" dirty="0">
              <a:latin typeface="Jost Medium" pitchFamily="2" charset="77"/>
              <a:ea typeface="Jost Medium" pitchFamily="2" charset="77"/>
            </a:endParaRPr>
          </a:p>
        </p:txBody>
      </p:sp>
      <p:sp>
        <p:nvSpPr>
          <p:cNvPr id="66" name="ZoneTexte 65">
            <a:extLst>
              <a:ext uri="{FF2B5EF4-FFF2-40B4-BE49-F238E27FC236}">
                <a16:creationId xmlns:a16="http://schemas.microsoft.com/office/drawing/2014/main" id="{69779BAF-8D9D-299C-9F05-D87FEB35A0FB}"/>
              </a:ext>
            </a:extLst>
          </p:cNvPr>
          <p:cNvSpPr txBox="1"/>
          <p:nvPr/>
        </p:nvSpPr>
        <p:spPr>
          <a:xfrm>
            <a:off x="8516909" y="2724858"/>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Santé</a:t>
            </a:r>
            <a:endParaRPr lang="fr-FR" dirty="0">
              <a:latin typeface="Jost Medium" pitchFamily="2" charset="77"/>
              <a:ea typeface="Jost Medium" pitchFamily="2" charset="77"/>
            </a:endParaRPr>
          </a:p>
        </p:txBody>
      </p:sp>
      <p:sp>
        <p:nvSpPr>
          <p:cNvPr id="67" name="Rectangle 66">
            <a:extLst>
              <a:ext uri="{FF2B5EF4-FFF2-40B4-BE49-F238E27FC236}">
                <a16:creationId xmlns:a16="http://schemas.microsoft.com/office/drawing/2014/main" id="{E69D84A0-C63F-3099-62C8-B2DCE6E81DDB}"/>
              </a:ext>
            </a:extLst>
          </p:cNvPr>
          <p:cNvSpPr/>
          <p:nvPr/>
        </p:nvSpPr>
        <p:spPr>
          <a:xfrm>
            <a:off x="8203585" y="4429115"/>
            <a:ext cx="3155652" cy="191097"/>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r>
              <a:rPr lang="fr-FR" sz="700" i="1" dirty="0">
                <a:solidFill>
                  <a:schemeClr val="tx1"/>
                </a:solidFill>
                <a:latin typeface="Jost Light" pitchFamily="2" charset="77"/>
                <a:ea typeface="Jost Light" pitchFamily="2" charset="77"/>
                <a:cs typeface="Cormorant Garamond" pitchFamily="2" charset="77"/>
              </a:rPr>
              <a:t>-</a:t>
            </a:r>
          </a:p>
        </p:txBody>
      </p:sp>
      <p:sp>
        <p:nvSpPr>
          <p:cNvPr id="73" name="ZoneTexte 72">
            <a:extLst>
              <a:ext uri="{FF2B5EF4-FFF2-40B4-BE49-F238E27FC236}">
                <a16:creationId xmlns:a16="http://schemas.microsoft.com/office/drawing/2014/main" id="{142D45C4-43FC-A598-E005-7A1906221CDE}"/>
              </a:ext>
            </a:extLst>
          </p:cNvPr>
          <p:cNvSpPr txBox="1"/>
          <p:nvPr/>
        </p:nvSpPr>
        <p:spPr>
          <a:xfrm>
            <a:off x="10648023" y="3266412"/>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Commerces</a:t>
            </a:r>
            <a:endParaRPr lang="fr-FR" dirty="0">
              <a:latin typeface="Jost Medium" pitchFamily="2" charset="77"/>
              <a:ea typeface="Jost Medium" pitchFamily="2" charset="77"/>
            </a:endParaRPr>
          </a:p>
        </p:txBody>
      </p:sp>
      <p:sp>
        <p:nvSpPr>
          <p:cNvPr id="17" name="ZoneTexte 16">
            <a:extLst>
              <a:ext uri="{FF2B5EF4-FFF2-40B4-BE49-F238E27FC236}">
                <a16:creationId xmlns:a16="http://schemas.microsoft.com/office/drawing/2014/main" id="{DE82803A-96D2-0FF0-10CF-FC997333D06C}"/>
              </a:ext>
            </a:extLst>
          </p:cNvPr>
          <p:cNvSpPr txBox="1"/>
          <p:nvPr/>
        </p:nvSpPr>
        <p:spPr>
          <a:xfrm>
            <a:off x="9127420" y="2215305"/>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Bureaux</a:t>
            </a:r>
            <a:endParaRPr lang="fr-FR" dirty="0">
              <a:latin typeface="Jost Medium" pitchFamily="2" charset="77"/>
              <a:ea typeface="Jost Medium" pitchFamily="2" charset="77"/>
            </a:endParaRPr>
          </a:p>
        </p:txBody>
      </p:sp>
      <p:pic>
        <p:nvPicPr>
          <p:cNvPr id="5" name="Image 4">
            <a:extLst>
              <a:ext uri="{FF2B5EF4-FFF2-40B4-BE49-F238E27FC236}">
                <a16:creationId xmlns:a16="http://schemas.microsoft.com/office/drawing/2014/main" id="{F199BCE1-2F29-CA3E-7B1A-B9DDA06910C9}"/>
              </a:ext>
            </a:extLst>
          </p:cNvPr>
          <p:cNvPicPr>
            <a:picLocks noChangeAspect="1"/>
          </p:cNvPicPr>
          <p:nvPr/>
        </p:nvPicPr>
        <p:blipFill>
          <a:blip r:embed="rId6"/>
          <a:stretch>
            <a:fillRect/>
          </a:stretch>
        </p:blipFill>
        <p:spPr>
          <a:xfrm>
            <a:off x="1745075" y="2378066"/>
            <a:ext cx="2229543" cy="743181"/>
          </a:xfrm>
          <a:prstGeom prst="rect">
            <a:avLst/>
          </a:prstGeom>
        </p:spPr>
      </p:pic>
    </p:spTree>
    <p:extLst>
      <p:ext uri="{BB962C8B-B14F-4D97-AF65-F5344CB8AC3E}">
        <p14:creationId xmlns:p14="http://schemas.microsoft.com/office/powerpoint/2010/main" val="4768888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03AF4-875D-D089-DCF3-429FC6B55A2E}"/>
            </a:ext>
          </a:extLst>
        </p:cNvPr>
        <p:cNvGrpSpPr/>
        <p:nvPr/>
      </p:nvGrpSpPr>
      <p:grpSpPr>
        <a:xfrm>
          <a:off x="0" y="0"/>
          <a:ext cx="0" cy="0"/>
          <a:chOff x="0" y="0"/>
          <a:chExt cx="0" cy="0"/>
        </a:xfrm>
      </p:grpSpPr>
      <p:pic>
        <p:nvPicPr>
          <p:cNvPr id="28" name="Image 27">
            <a:extLst>
              <a:ext uri="{FF2B5EF4-FFF2-40B4-BE49-F238E27FC236}">
                <a16:creationId xmlns:a16="http://schemas.microsoft.com/office/drawing/2014/main" id="{D74AAB05-3EF6-0092-E1D8-5D3050F2D0CC}"/>
              </a:ext>
            </a:extLst>
          </p:cNvPr>
          <p:cNvPicPr>
            <a:picLocks noChangeAspect="1"/>
          </p:cNvPicPr>
          <p:nvPr/>
        </p:nvPicPr>
        <p:blipFill>
          <a:blip r:embed="rId2">
            <a:alphaModFix amt="5000"/>
          </a:blip>
          <a:srcRect l="6207" b="6232"/>
          <a:stretch>
            <a:fillRect/>
          </a:stretch>
        </p:blipFill>
        <p:spPr>
          <a:xfrm>
            <a:off x="0" y="0"/>
            <a:ext cx="12191999" cy="6859822"/>
          </a:xfrm>
          <a:prstGeom prst="rect">
            <a:avLst/>
          </a:prstGeom>
        </p:spPr>
      </p:pic>
      <p:sp>
        <p:nvSpPr>
          <p:cNvPr id="7" name="Rectangle 6">
            <a:extLst>
              <a:ext uri="{FF2B5EF4-FFF2-40B4-BE49-F238E27FC236}">
                <a16:creationId xmlns:a16="http://schemas.microsoft.com/office/drawing/2014/main" id="{7DD56EC8-E2C0-50A9-46C5-9646D99D2E58}"/>
              </a:ext>
            </a:extLst>
          </p:cNvPr>
          <p:cNvSpPr/>
          <p:nvPr/>
        </p:nvSpPr>
        <p:spPr>
          <a:xfrm>
            <a:off x="8187915" y="2147869"/>
            <a:ext cx="3189250" cy="2457548"/>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6" name="Chart 1">
            <a:extLst>
              <a:ext uri="{FF2B5EF4-FFF2-40B4-BE49-F238E27FC236}">
                <a16:creationId xmlns:a16="http://schemas.microsoft.com/office/drawing/2014/main" id="{CAA5664B-9E23-02B3-C74C-F7CE3872CFB0}"/>
              </a:ext>
            </a:extLst>
          </p:cNvPr>
          <p:cNvGraphicFramePr>
            <a:graphicFrameLocks/>
          </p:cNvGraphicFramePr>
          <p:nvPr/>
        </p:nvGraphicFramePr>
        <p:xfrm>
          <a:off x="8181410" y="2301778"/>
          <a:ext cx="3195756" cy="2118838"/>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1">
            <a:extLst>
              <a:ext uri="{FF2B5EF4-FFF2-40B4-BE49-F238E27FC236}">
                <a16:creationId xmlns:a16="http://schemas.microsoft.com/office/drawing/2014/main" id="{C25F0168-5EEA-CD5E-7071-ACC7D18FD41B}"/>
              </a:ext>
            </a:extLst>
          </p:cNvPr>
          <p:cNvSpPr/>
          <p:nvPr/>
        </p:nvSpPr>
        <p:spPr>
          <a:xfrm>
            <a:off x="4919566" y="2138211"/>
            <a:ext cx="3189250" cy="2467206"/>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Chart 1">
            <a:extLst>
              <a:ext uri="{FF2B5EF4-FFF2-40B4-BE49-F238E27FC236}">
                <a16:creationId xmlns:a16="http://schemas.microsoft.com/office/drawing/2014/main" id="{23838C47-700D-25CB-036C-9A3489D5CC96}"/>
              </a:ext>
            </a:extLst>
          </p:cNvPr>
          <p:cNvGraphicFramePr>
            <a:graphicFrameLocks/>
          </p:cNvGraphicFramePr>
          <p:nvPr/>
        </p:nvGraphicFramePr>
        <p:xfrm>
          <a:off x="4934593" y="2323366"/>
          <a:ext cx="3189251" cy="2119286"/>
        </p:xfrm>
        <a:graphic>
          <a:graphicData uri="http://schemas.openxmlformats.org/drawingml/2006/chart">
            <c:chart xmlns:c="http://schemas.openxmlformats.org/drawingml/2006/chart" xmlns:r="http://schemas.openxmlformats.org/officeDocument/2006/relationships" r:id="rId4"/>
          </a:graphicData>
        </a:graphic>
      </p:graphicFrame>
      <p:sp>
        <p:nvSpPr>
          <p:cNvPr id="2" name="Rectangle 1">
            <a:extLst>
              <a:ext uri="{FF2B5EF4-FFF2-40B4-BE49-F238E27FC236}">
                <a16:creationId xmlns:a16="http://schemas.microsoft.com/office/drawing/2014/main" id="{BF7E28B6-2D43-FC4B-C43C-0CF5E21CD928}"/>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9">
            <a:extLst>
              <a:ext uri="{FF2B5EF4-FFF2-40B4-BE49-F238E27FC236}">
                <a16:creationId xmlns:a16="http://schemas.microsoft.com/office/drawing/2014/main" id="{3E365B85-9BA9-C368-4EC4-8259ABE235FF}"/>
              </a:ext>
            </a:extLst>
          </p:cNvPr>
          <p:cNvSpPr/>
          <p:nvPr/>
        </p:nvSpPr>
        <p:spPr>
          <a:xfrm>
            <a:off x="947468" y="578772"/>
            <a:ext cx="5362797" cy="394243"/>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SCPI </a:t>
            </a:r>
            <a:r>
              <a:rPr lang="fr-FR" noProof="0" dirty="0">
                <a:solidFill>
                  <a:srgbClr val="A9853F"/>
                </a:solidFill>
                <a:ea typeface="Cormorant Garamond SemiBold" pitchFamily="2" charset="77"/>
                <a:cs typeface="Cormorant Garamond SemiBold" pitchFamily="2" charset="77"/>
              </a:rPr>
              <a:t>-</a:t>
            </a:r>
            <a:r>
              <a:rPr lang="fr-FR" b="1" noProof="0" dirty="0">
                <a:solidFill>
                  <a:srgbClr val="A9853F"/>
                </a:solidFill>
                <a:latin typeface="Cormorant Garamond SemiBold" pitchFamily="2" charset="77"/>
                <a:ea typeface="Cormorant Garamond SemiBold" pitchFamily="2" charset="77"/>
                <a:cs typeface="Cormorant Garamond SemiBold" pitchFamily="2" charset="77"/>
              </a:rPr>
              <a:t> Société Civile de Placement Immobilier</a:t>
            </a:r>
          </a:p>
        </p:txBody>
      </p:sp>
      <p:sp>
        <p:nvSpPr>
          <p:cNvPr id="6" name="Text 9">
            <a:extLst>
              <a:ext uri="{FF2B5EF4-FFF2-40B4-BE49-F238E27FC236}">
                <a16:creationId xmlns:a16="http://schemas.microsoft.com/office/drawing/2014/main" id="{E43E09D8-1912-6F00-1B20-042ABCEDD178}"/>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Conseil en Investissement immobilier : Comète</a:t>
            </a:r>
          </a:p>
        </p:txBody>
      </p:sp>
      <p:sp>
        <p:nvSpPr>
          <p:cNvPr id="8" name="Rectangle : avec coins arrondis en haut 7">
            <a:extLst>
              <a:ext uri="{FF2B5EF4-FFF2-40B4-BE49-F238E27FC236}">
                <a16:creationId xmlns:a16="http://schemas.microsoft.com/office/drawing/2014/main" id="{38933816-554C-8D0E-AEC4-D0E51DB7D00F}"/>
              </a:ext>
            </a:extLst>
          </p:cNvPr>
          <p:cNvSpPr/>
          <p:nvPr/>
        </p:nvSpPr>
        <p:spPr>
          <a:xfrm>
            <a:off x="1403716" y="1767875"/>
            <a:ext cx="2932540"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Indicateurs clés</a:t>
            </a:r>
          </a:p>
        </p:txBody>
      </p:sp>
      <p:sp>
        <p:nvSpPr>
          <p:cNvPr id="9" name="Rectangle 8">
            <a:extLst>
              <a:ext uri="{FF2B5EF4-FFF2-40B4-BE49-F238E27FC236}">
                <a16:creationId xmlns:a16="http://schemas.microsoft.com/office/drawing/2014/main" id="{59C42B8E-BA4B-D323-5DCE-1D2426C51B30}"/>
              </a:ext>
            </a:extLst>
          </p:cNvPr>
          <p:cNvSpPr/>
          <p:nvPr/>
        </p:nvSpPr>
        <p:spPr>
          <a:xfrm>
            <a:off x="1397642" y="2168305"/>
            <a:ext cx="2945758" cy="1260695"/>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852BA0AD-0580-996A-C0B1-4369632D1FDE}"/>
              </a:ext>
            </a:extLst>
          </p:cNvPr>
          <p:cNvSpPr/>
          <p:nvPr/>
        </p:nvSpPr>
        <p:spPr>
          <a:xfrm>
            <a:off x="1406204" y="3988158"/>
            <a:ext cx="2930052" cy="1968874"/>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endParaRPr lang="fr-FR" sz="900" b="1" dirty="0">
              <a:solidFill>
                <a:schemeClr val="tx1"/>
              </a:solidFill>
              <a:latin typeface="Jost Light" pitchFamily="2" charset="77"/>
              <a:ea typeface="Jost Light" pitchFamily="2" charset="77"/>
            </a:endParaRPr>
          </a:p>
          <a:p>
            <a:pPr algn="ctr">
              <a:spcAft>
                <a:spcPts val="400"/>
              </a:spcAft>
            </a:pPr>
            <a:r>
              <a:rPr lang="fr-FR" sz="900" b="1" dirty="0">
                <a:solidFill>
                  <a:schemeClr val="tx1"/>
                </a:solidFill>
                <a:latin typeface="Jost Light" pitchFamily="2" charset="77"/>
                <a:ea typeface="Jost Light" pitchFamily="2" charset="77"/>
              </a:rPr>
              <a:t>Maison de Gestion </a:t>
            </a:r>
            <a:r>
              <a:rPr lang="fr-FR" sz="900" dirty="0">
                <a:solidFill>
                  <a:schemeClr val="tx1"/>
                </a:solidFill>
                <a:latin typeface="Jost Light" pitchFamily="2" charset="77"/>
                <a:ea typeface="Jost Light" pitchFamily="2" charset="77"/>
              </a:rPr>
              <a:t>: Alderan - AM</a:t>
            </a:r>
          </a:p>
          <a:p>
            <a:pPr algn="ctr">
              <a:spcAft>
                <a:spcPts val="400"/>
              </a:spcAft>
            </a:pPr>
            <a:r>
              <a:rPr lang="fr-FR" sz="900" b="1" dirty="0">
                <a:solidFill>
                  <a:schemeClr val="tx1"/>
                </a:solidFill>
                <a:latin typeface="Jost Light" pitchFamily="2" charset="77"/>
                <a:ea typeface="Jost Light" pitchFamily="2" charset="77"/>
              </a:rPr>
              <a:t>Prix de part </a:t>
            </a:r>
            <a:r>
              <a:rPr lang="fr-FR" sz="900" dirty="0">
                <a:solidFill>
                  <a:schemeClr val="tx1"/>
                </a:solidFill>
                <a:latin typeface="Jost Light" pitchFamily="2" charset="77"/>
                <a:ea typeface="Jost Light" pitchFamily="2" charset="77"/>
              </a:rPr>
              <a:t>: 2023 : 237 EUR</a:t>
            </a:r>
          </a:p>
          <a:p>
            <a:pPr algn="ctr">
              <a:spcAft>
                <a:spcPts val="400"/>
              </a:spcAft>
            </a:pPr>
            <a:r>
              <a:rPr lang="fr-FR" sz="900" dirty="0">
                <a:solidFill>
                  <a:schemeClr val="tx1"/>
                </a:solidFill>
                <a:latin typeface="Jost Light" pitchFamily="2" charset="77"/>
                <a:ea typeface="Jost Light" pitchFamily="2" charset="77"/>
              </a:rPr>
              <a:t>Aujourd’hui : 250 EUR</a:t>
            </a:r>
          </a:p>
          <a:p>
            <a:pPr algn="ctr">
              <a:spcAft>
                <a:spcPts val="400"/>
              </a:spcAft>
            </a:pPr>
            <a:r>
              <a:rPr lang="fr-FR" sz="900" b="1" dirty="0">
                <a:solidFill>
                  <a:schemeClr val="tx1"/>
                </a:solidFill>
                <a:latin typeface="Jost Light" pitchFamily="2" charset="77"/>
                <a:ea typeface="Jost Light" pitchFamily="2" charset="77"/>
              </a:rPr>
              <a:t>Valeur de reconstitution </a:t>
            </a:r>
            <a:r>
              <a:rPr lang="fr-FR" sz="900" dirty="0">
                <a:solidFill>
                  <a:schemeClr val="tx1"/>
                </a:solidFill>
                <a:latin typeface="Jost Light" pitchFamily="2" charset="77"/>
                <a:ea typeface="Jost Light" pitchFamily="2" charset="77"/>
              </a:rPr>
              <a:t>: 255 EUR</a:t>
            </a:r>
          </a:p>
          <a:p>
            <a:pPr algn="ctr">
              <a:spcAft>
                <a:spcPts val="400"/>
              </a:spcAft>
            </a:pPr>
            <a:endParaRPr lang="fr-FR" sz="900" dirty="0">
              <a:solidFill>
                <a:schemeClr val="tx1"/>
              </a:solidFill>
              <a:latin typeface="Jost Light" pitchFamily="2" charset="77"/>
              <a:ea typeface="Jost Light" pitchFamily="2" charset="77"/>
            </a:endParaRPr>
          </a:p>
          <a:p>
            <a:pPr algn="just">
              <a:spcAft>
                <a:spcPts val="400"/>
              </a:spcAft>
            </a:pPr>
            <a:r>
              <a:rPr lang="fr-FR" sz="900" b="1" dirty="0">
                <a:solidFill>
                  <a:schemeClr val="tx1"/>
                </a:solidFill>
                <a:latin typeface="Jost Light" pitchFamily="2" charset="77"/>
                <a:ea typeface="Jost Light" pitchFamily="2" charset="77"/>
              </a:rPr>
              <a:t>Délai de jouissance </a:t>
            </a:r>
            <a:r>
              <a:rPr lang="fr-FR" sz="900" dirty="0">
                <a:solidFill>
                  <a:schemeClr val="tx1"/>
                </a:solidFill>
                <a:latin typeface="Jost Light" pitchFamily="2" charset="77"/>
                <a:ea typeface="Jost Light" pitchFamily="2" charset="77"/>
              </a:rPr>
              <a:t>: au 1er jour du sixième mois suivant la date d’encaissement de la souscription part la maison de gestion.</a:t>
            </a:r>
          </a:p>
          <a:p>
            <a:pPr algn="ctr">
              <a:spcAft>
                <a:spcPts val="400"/>
              </a:spcAft>
            </a:pPr>
            <a:endParaRPr lang="fr-FR" sz="900" dirty="0">
              <a:solidFill>
                <a:schemeClr val="tx1"/>
              </a:solidFill>
              <a:latin typeface="Jost Light" pitchFamily="2" charset="77"/>
              <a:ea typeface="Jost Light" pitchFamily="2" charset="77"/>
            </a:endParaRPr>
          </a:p>
          <a:p>
            <a:pPr algn="ctr">
              <a:spcAft>
                <a:spcPts val="400"/>
              </a:spcAft>
            </a:pPr>
            <a:r>
              <a:rPr lang="fr-FR" sz="900" b="1" dirty="0">
                <a:solidFill>
                  <a:srgbClr val="1A1A1A"/>
                </a:solidFill>
                <a:latin typeface="Jost Light" pitchFamily="2" charset="77"/>
                <a:ea typeface="Jost Light" pitchFamily="2" charset="77"/>
              </a:rPr>
              <a:t>SCPI 100% européenne : avantages fiscaux.</a:t>
            </a:r>
            <a:endParaRPr lang="fr-FR" sz="900" b="1" dirty="0">
              <a:solidFill>
                <a:schemeClr val="tx1"/>
              </a:solidFill>
              <a:latin typeface="Jost Light" pitchFamily="2" charset="77"/>
              <a:ea typeface="Jost Light" pitchFamily="2" charset="77"/>
            </a:endParaRPr>
          </a:p>
          <a:p>
            <a:pPr algn="ctr">
              <a:spcAft>
                <a:spcPts val="400"/>
              </a:spcAft>
            </a:pPr>
            <a:endParaRPr lang="fr-FR" sz="900" dirty="0">
              <a:solidFill>
                <a:schemeClr val="tx1"/>
              </a:solidFill>
              <a:latin typeface="Jost Light" pitchFamily="2" charset="77"/>
              <a:ea typeface="Jost Light" pitchFamily="2" charset="77"/>
            </a:endParaRPr>
          </a:p>
        </p:txBody>
      </p:sp>
      <p:sp>
        <p:nvSpPr>
          <p:cNvPr id="15" name="Rectangle 14">
            <a:extLst>
              <a:ext uri="{FF2B5EF4-FFF2-40B4-BE49-F238E27FC236}">
                <a16:creationId xmlns:a16="http://schemas.microsoft.com/office/drawing/2014/main" id="{1608D67A-161B-F676-0517-8EE28B1A25B6}"/>
              </a:ext>
            </a:extLst>
          </p:cNvPr>
          <p:cNvSpPr/>
          <p:nvPr/>
        </p:nvSpPr>
        <p:spPr>
          <a:xfrm>
            <a:off x="1406580" y="3484180"/>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Distribution mensuelle</a:t>
            </a:r>
          </a:p>
        </p:txBody>
      </p:sp>
      <p:sp>
        <p:nvSpPr>
          <p:cNvPr id="21" name="Rectangle 20">
            <a:extLst>
              <a:ext uri="{FF2B5EF4-FFF2-40B4-BE49-F238E27FC236}">
                <a16:creationId xmlns:a16="http://schemas.microsoft.com/office/drawing/2014/main" id="{73E794B7-284B-2382-DD18-683FF78ED10B}"/>
              </a:ext>
            </a:extLst>
          </p:cNvPr>
          <p:cNvSpPr/>
          <p:nvPr/>
        </p:nvSpPr>
        <p:spPr>
          <a:xfrm>
            <a:off x="1393442" y="5957032"/>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Taux distribué en 2025 : 9.00% </a:t>
            </a:r>
            <a:r>
              <a:rPr lang="fr-FR" sz="1200" dirty="0" err="1">
                <a:solidFill>
                  <a:schemeClr val="bg1"/>
                </a:solidFill>
                <a:latin typeface="Jost Medium" pitchFamily="2" charset="77"/>
                <a:ea typeface="Jost Medium" pitchFamily="2" charset="77"/>
              </a:rPr>
              <a:t>p.a</a:t>
            </a:r>
            <a:r>
              <a:rPr lang="fr-FR" sz="1200" dirty="0">
                <a:solidFill>
                  <a:schemeClr val="bg1"/>
                </a:solidFill>
                <a:latin typeface="Jost Medium" pitchFamily="2" charset="77"/>
                <a:ea typeface="Jost Medium" pitchFamily="2" charset="77"/>
              </a:rPr>
              <a:t>.</a:t>
            </a:r>
          </a:p>
        </p:txBody>
      </p:sp>
      <p:pic>
        <p:nvPicPr>
          <p:cNvPr id="31" name="Image 30">
            <a:extLst>
              <a:ext uri="{FF2B5EF4-FFF2-40B4-BE49-F238E27FC236}">
                <a16:creationId xmlns:a16="http://schemas.microsoft.com/office/drawing/2014/main" id="{BC0CE5DD-40FD-64DF-2231-A0EA3D02154D}"/>
              </a:ext>
            </a:extLst>
          </p:cNvPr>
          <p:cNvPicPr>
            <a:picLocks noChangeAspect="1"/>
          </p:cNvPicPr>
          <p:nvPr/>
        </p:nvPicPr>
        <p:blipFill>
          <a:blip r:embed="rId5">
            <a:duotone>
              <a:prstClr val="black"/>
              <a:srgbClr val="063527">
                <a:tint val="45000"/>
                <a:satMod val="400000"/>
              </a:srgbClr>
            </a:duotone>
          </a:blip>
          <a:stretch>
            <a:fillRect/>
          </a:stretch>
        </p:blipFill>
        <p:spPr>
          <a:xfrm>
            <a:off x="11005640" y="374477"/>
            <a:ext cx="792892" cy="264297"/>
          </a:xfrm>
          <a:prstGeom prst="rect">
            <a:avLst/>
          </a:prstGeom>
        </p:spPr>
      </p:pic>
      <p:sp>
        <p:nvSpPr>
          <p:cNvPr id="26" name="Rectangle : avec coins arrondis en haut 25">
            <a:extLst>
              <a:ext uri="{FF2B5EF4-FFF2-40B4-BE49-F238E27FC236}">
                <a16:creationId xmlns:a16="http://schemas.microsoft.com/office/drawing/2014/main" id="{3487ED8E-DDCB-A36E-33AB-5180370E9E87}"/>
              </a:ext>
            </a:extLst>
          </p:cNvPr>
          <p:cNvSpPr/>
          <p:nvPr/>
        </p:nvSpPr>
        <p:spPr>
          <a:xfrm>
            <a:off x="4935731" y="1767875"/>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géographique</a:t>
            </a:r>
          </a:p>
        </p:txBody>
      </p:sp>
      <p:sp>
        <p:nvSpPr>
          <p:cNvPr id="46" name="Stat 0 108">
            <a:extLst>
              <a:ext uri="{FF2B5EF4-FFF2-40B4-BE49-F238E27FC236}">
                <a16:creationId xmlns:a16="http://schemas.microsoft.com/office/drawing/2014/main" id="{5F0E28AB-C769-D2EB-5821-7B3641E1841B}"/>
              </a:ext>
            </a:extLst>
          </p:cNvPr>
          <p:cNvSpPr txBox="1"/>
          <p:nvPr/>
        </p:nvSpPr>
        <p:spPr>
          <a:xfrm>
            <a:off x="9286899" y="4772515"/>
            <a:ext cx="2073117" cy="494287"/>
          </a:xfrm>
          <a:prstGeom prst="rect">
            <a:avLst/>
          </a:prstGeom>
          <a:solidFill>
            <a:srgbClr val="15462A"/>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Taux d’occupation financière</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99.6%</a:t>
            </a:r>
          </a:p>
        </p:txBody>
      </p:sp>
      <p:sp>
        <p:nvSpPr>
          <p:cNvPr id="48" name="Stat 0 108">
            <a:extLst>
              <a:ext uri="{FF2B5EF4-FFF2-40B4-BE49-F238E27FC236}">
                <a16:creationId xmlns:a16="http://schemas.microsoft.com/office/drawing/2014/main" id="{6ACDBF7D-7C94-F717-DA3D-DF1EA9109FD1}"/>
              </a:ext>
            </a:extLst>
          </p:cNvPr>
          <p:cNvSpPr txBox="1"/>
          <p:nvPr/>
        </p:nvSpPr>
        <p:spPr>
          <a:xfrm>
            <a:off x="7111315" y="4775194"/>
            <a:ext cx="2106826" cy="494287"/>
          </a:xfrm>
          <a:prstGeom prst="rect">
            <a:avLst/>
          </a:prstGeom>
          <a:solidFill>
            <a:srgbClr val="AA853F"/>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Capitalisation</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789M EUR</a:t>
            </a:r>
          </a:p>
        </p:txBody>
      </p:sp>
      <p:sp>
        <p:nvSpPr>
          <p:cNvPr id="49" name="Stat 0 108">
            <a:extLst>
              <a:ext uri="{FF2B5EF4-FFF2-40B4-BE49-F238E27FC236}">
                <a16:creationId xmlns:a16="http://schemas.microsoft.com/office/drawing/2014/main" id="{2487B0A8-1F88-6FC0-82DD-2A4FA67A8660}"/>
              </a:ext>
            </a:extLst>
          </p:cNvPr>
          <p:cNvSpPr txBox="1"/>
          <p:nvPr/>
        </p:nvSpPr>
        <p:spPr>
          <a:xfrm>
            <a:off x="4935731" y="4775194"/>
            <a:ext cx="2106826" cy="494287"/>
          </a:xfrm>
          <a:prstGeom prst="rect">
            <a:avLst/>
          </a:prstGeom>
          <a:solidFill>
            <a:srgbClr val="E6C989"/>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Risque SRRI</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3/7</a:t>
            </a:r>
          </a:p>
        </p:txBody>
      </p:sp>
      <p:sp>
        <p:nvSpPr>
          <p:cNvPr id="50" name="ZoneTexte 49">
            <a:extLst>
              <a:ext uri="{FF2B5EF4-FFF2-40B4-BE49-F238E27FC236}">
                <a16:creationId xmlns:a16="http://schemas.microsoft.com/office/drawing/2014/main" id="{0C1BB6D2-FA75-01CC-55C9-533695310181}"/>
              </a:ext>
            </a:extLst>
          </p:cNvPr>
          <p:cNvSpPr txBox="1"/>
          <p:nvPr/>
        </p:nvSpPr>
        <p:spPr>
          <a:xfrm>
            <a:off x="5220649" y="370480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Espagne</a:t>
            </a:r>
            <a:endParaRPr lang="fr-FR" dirty="0">
              <a:latin typeface="Jost Medium" pitchFamily="2" charset="77"/>
              <a:ea typeface="Jost Medium" pitchFamily="2" charset="77"/>
            </a:endParaRPr>
          </a:p>
        </p:txBody>
      </p:sp>
      <p:sp>
        <p:nvSpPr>
          <p:cNvPr id="52" name="ZoneTexte 51">
            <a:extLst>
              <a:ext uri="{FF2B5EF4-FFF2-40B4-BE49-F238E27FC236}">
                <a16:creationId xmlns:a16="http://schemas.microsoft.com/office/drawing/2014/main" id="{53335786-CFBA-5E45-AAF7-E0B2E64412F6}"/>
              </a:ext>
            </a:extLst>
          </p:cNvPr>
          <p:cNvSpPr txBox="1"/>
          <p:nvPr/>
        </p:nvSpPr>
        <p:spPr>
          <a:xfrm>
            <a:off x="5220649" y="3059635"/>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Italie</a:t>
            </a:r>
            <a:endParaRPr lang="fr-FR" dirty="0">
              <a:latin typeface="Jost Medium" pitchFamily="2" charset="77"/>
              <a:ea typeface="Jost Medium" pitchFamily="2" charset="77"/>
            </a:endParaRPr>
          </a:p>
        </p:txBody>
      </p:sp>
      <p:sp>
        <p:nvSpPr>
          <p:cNvPr id="53" name="ZoneTexte 52">
            <a:extLst>
              <a:ext uri="{FF2B5EF4-FFF2-40B4-BE49-F238E27FC236}">
                <a16:creationId xmlns:a16="http://schemas.microsoft.com/office/drawing/2014/main" id="{DE404B4E-63E2-47BA-3143-E34951CCCFA9}"/>
              </a:ext>
            </a:extLst>
          </p:cNvPr>
          <p:cNvSpPr txBox="1"/>
          <p:nvPr/>
        </p:nvSpPr>
        <p:spPr>
          <a:xfrm>
            <a:off x="6247602" y="4235186"/>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Canada</a:t>
            </a:r>
            <a:endParaRPr lang="fr-FR" dirty="0">
              <a:latin typeface="Jost Medium" pitchFamily="2" charset="77"/>
              <a:ea typeface="Jost Medium" pitchFamily="2" charset="77"/>
            </a:endParaRPr>
          </a:p>
        </p:txBody>
      </p:sp>
      <p:sp>
        <p:nvSpPr>
          <p:cNvPr id="57" name="ZoneTexte 56">
            <a:extLst>
              <a:ext uri="{FF2B5EF4-FFF2-40B4-BE49-F238E27FC236}">
                <a16:creationId xmlns:a16="http://schemas.microsoft.com/office/drawing/2014/main" id="{2A8D5BC0-0738-06E0-6CEC-F27849A1033E}"/>
              </a:ext>
            </a:extLst>
          </p:cNvPr>
          <p:cNvSpPr txBox="1"/>
          <p:nvPr/>
        </p:nvSpPr>
        <p:spPr>
          <a:xfrm>
            <a:off x="7331960" y="303040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Royaume-Uni</a:t>
            </a:r>
            <a:endParaRPr lang="fr-FR" dirty="0">
              <a:latin typeface="Jost Medium" pitchFamily="2" charset="77"/>
              <a:ea typeface="Jost Medium" pitchFamily="2" charset="77"/>
            </a:endParaRPr>
          </a:p>
        </p:txBody>
      </p:sp>
      <p:sp>
        <p:nvSpPr>
          <p:cNvPr id="59" name="ZoneTexte 58">
            <a:extLst>
              <a:ext uri="{FF2B5EF4-FFF2-40B4-BE49-F238E27FC236}">
                <a16:creationId xmlns:a16="http://schemas.microsoft.com/office/drawing/2014/main" id="{6DFBACA9-AE7F-453D-31AF-ED1736267C10}"/>
              </a:ext>
            </a:extLst>
          </p:cNvPr>
          <p:cNvSpPr txBox="1"/>
          <p:nvPr/>
        </p:nvSpPr>
        <p:spPr>
          <a:xfrm>
            <a:off x="8700009" y="4019044"/>
            <a:ext cx="691440" cy="200055"/>
          </a:xfrm>
          <a:prstGeom prst="rect">
            <a:avLst/>
          </a:prstGeom>
          <a:noFill/>
        </p:spPr>
        <p:txBody>
          <a:bodyPr wrap="square" rtlCol="0">
            <a:spAutoFit/>
          </a:bodyPr>
          <a:lstStyle/>
          <a:p>
            <a:r>
              <a:rPr lang="fr-FR" sz="700" dirty="0">
                <a:latin typeface="Jost Medium" pitchFamily="2" charset="77"/>
                <a:ea typeface="Jost Medium" pitchFamily="2" charset="77"/>
              </a:rPr>
              <a:t>Hôtellerie</a:t>
            </a:r>
            <a:endParaRPr lang="fr-FR" dirty="0">
              <a:latin typeface="Jost Medium" pitchFamily="2" charset="77"/>
              <a:ea typeface="Jost Medium" pitchFamily="2" charset="77"/>
            </a:endParaRPr>
          </a:p>
        </p:txBody>
      </p:sp>
      <p:sp>
        <p:nvSpPr>
          <p:cNvPr id="62" name="Rectangle : avec coins arrondis en haut 61">
            <a:extLst>
              <a:ext uri="{FF2B5EF4-FFF2-40B4-BE49-F238E27FC236}">
                <a16:creationId xmlns:a16="http://schemas.microsoft.com/office/drawing/2014/main" id="{692E5C09-383B-BFB4-144B-0A1072E07C67}"/>
              </a:ext>
            </a:extLst>
          </p:cNvPr>
          <p:cNvSpPr/>
          <p:nvPr/>
        </p:nvSpPr>
        <p:spPr>
          <a:xfrm>
            <a:off x="8187915" y="1774963"/>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sectorielle</a:t>
            </a:r>
          </a:p>
        </p:txBody>
      </p:sp>
      <p:sp>
        <p:nvSpPr>
          <p:cNvPr id="63" name="Rectangle 62">
            <a:extLst>
              <a:ext uri="{FF2B5EF4-FFF2-40B4-BE49-F238E27FC236}">
                <a16:creationId xmlns:a16="http://schemas.microsoft.com/office/drawing/2014/main" id="{AAD25B80-B829-6D32-7DC7-07FF102CE15F}"/>
              </a:ext>
            </a:extLst>
          </p:cNvPr>
          <p:cNvSpPr/>
          <p:nvPr/>
        </p:nvSpPr>
        <p:spPr>
          <a:xfrm>
            <a:off x="4937324" y="5486399"/>
            <a:ext cx="6475356" cy="997123"/>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sz="800" dirty="0">
                <a:solidFill>
                  <a:srgbClr val="1A1A1A"/>
                </a:solidFill>
                <a:latin typeface="Jost Light" pitchFamily="2" charset="77"/>
                <a:ea typeface="Jost Light" pitchFamily="2" charset="77"/>
              </a:rPr>
              <a:t>Lancée en 2023 par Alderan, déjà connue pour sa SCPI logistique ActivImmo, Comète est un véhicule 100% international. Elle exclut totalement la France métropolitaine et investit dans un patrimoine tertiaire extrêmement bien diversifié.</a:t>
            </a:r>
          </a:p>
          <a:p>
            <a:pPr algn="just"/>
            <a:endParaRPr lang="fr-FR" sz="800" dirty="0">
              <a:solidFill>
                <a:srgbClr val="1A1A1A"/>
              </a:solidFill>
              <a:latin typeface="Jost Light" pitchFamily="2" charset="77"/>
              <a:ea typeface="Jost Light" pitchFamily="2" charset="77"/>
            </a:endParaRPr>
          </a:p>
          <a:p>
            <a:pPr algn="just"/>
            <a:r>
              <a:rPr lang="fr-FR" sz="800" dirty="0">
                <a:solidFill>
                  <a:srgbClr val="1A1A1A"/>
                </a:solidFill>
                <a:latin typeface="Jost Light" pitchFamily="2" charset="77"/>
                <a:ea typeface="Jost Light" pitchFamily="2" charset="77"/>
              </a:rPr>
              <a:t>Comète porte la signature d'Alderan, société indépendante issue du family office immobilier Ojirel, actif dans l'immobilier professionnel depuis près de 25 ans. C'est de cette conviction que découle la stratégie générale de Comète, fondée sur une approche dite « best-in-</a:t>
            </a:r>
            <a:r>
              <a:rPr lang="fr-FR" sz="800" dirty="0" err="1">
                <a:solidFill>
                  <a:srgbClr val="1A1A1A"/>
                </a:solidFill>
                <a:latin typeface="Jost Light" pitchFamily="2" charset="77"/>
                <a:ea typeface="Jost Light" pitchFamily="2" charset="77"/>
              </a:rPr>
              <a:t>progress</a:t>
            </a:r>
            <a:r>
              <a:rPr lang="fr-FR" sz="800" dirty="0">
                <a:solidFill>
                  <a:srgbClr val="1A1A1A"/>
                </a:solidFill>
                <a:latin typeface="Jost Light" pitchFamily="2" charset="77"/>
                <a:ea typeface="Jost Light" pitchFamily="2" charset="77"/>
              </a:rPr>
              <a:t> » : plutôt que de n'acheter que des actifs déjà exemplaires, la SCPI privilégie l'amélioration continue de son patrimoine existant. Cette approche se double d'un contexte d'achat particulièrement favorable post Covid.</a:t>
            </a:r>
          </a:p>
        </p:txBody>
      </p:sp>
      <p:sp>
        <p:nvSpPr>
          <p:cNvPr id="65" name="ZoneTexte 64">
            <a:extLst>
              <a:ext uri="{FF2B5EF4-FFF2-40B4-BE49-F238E27FC236}">
                <a16:creationId xmlns:a16="http://schemas.microsoft.com/office/drawing/2014/main" id="{4BC397B8-F91E-C863-B6C4-D343581FC609}"/>
              </a:ext>
            </a:extLst>
          </p:cNvPr>
          <p:cNvSpPr txBox="1"/>
          <p:nvPr/>
        </p:nvSpPr>
        <p:spPr>
          <a:xfrm>
            <a:off x="5783959" y="2373997"/>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Pologne</a:t>
            </a:r>
            <a:endParaRPr lang="fr-FR" dirty="0">
              <a:latin typeface="Jost Medium" pitchFamily="2" charset="77"/>
              <a:ea typeface="Jost Medium" pitchFamily="2" charset="77"/>
            </a:endParaRPr>
          </a:p>
        </p:txBody>
      </p:sp>
      <p:sp>
        <p:nvSpPr>
          <p:cNvPr id="66" name="ZoneTexte 65">
            <a:extLst>
              <a:ext uri="{FF2B5EF4-FFF2-40B4-BE49-F238E27FC236}">
                <a16:creationId xmlns:a16="http://schemas.microsoft.com/office/drawing/2014/main" id="{3FB76660-753F-84B5-B788-A166E7F4E7F8}"/>
              </a:ext>
            </a:extLst>
          </p:cNvPr>
          <p:cNvSpPr txBox="1"/>
          <p:nvPr/>
        </p:nvSpPr>
        <p:spPr>
          <a:xfrm>
            <a:off x="8398958" y="3361197"/>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Bureaux</a:t>
            </a:r>
            <a:endParaRPr lang="fr-FR" dirty="0">
              <a:latin typeface="Jost Medium" pitchFamily="2" charset="77"/>
              <a:ea typeface="Jost Medium" pitchFamily="2" charset="77"/>
            </a:endParaRPr>
          </a:p>
        </p:txBody>
      </p:sp>
      <p:sp>
        <p:nvSpPr>
          <p:cNvPr id="73" name="ZoneTexte 72">
            <a:extLst>
              <a:ext uri="{FF2B5EF4-FFF2-40B4-BE49-F238E27FC236}">
                <a16:creationId xmlns:a16="http://schemas.microsoft.com/office/drawing/2014/main" id="{578EADB5-D196-33EF-B2B5-B56AC7CBAF5D}"/>
              </a:ext>
            </a:extLst>
          </p:cNvPr>
          <p:cNvSpPr txBox="1"/>
          <p:nvPr/>
        </p:nvSpPr>
        <p:spPr>
          <a:xfrm>
            <a:off x="10539770" y="2877448"/>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Commerces</a:t>
            </a:r>
            <a:endParaRPr lang="fr-FR" dirty="0">
              <a:latin typeface="Jost Medium" pitchFamily="2" charset="77"/>
              <a:ea typeface="Jost Medium" pitchFamily="2" charset="77"/>
            </a:endParaRPr>
          </a:p>
        </p:txBody>
      </p:sp>
      <p:sp>
        <p:nvSpPr>
          <p:cNvPr id="17" name="ZoneTexte 16">
            <a:extLst>
              <a:ext uri="{FF2B5EF4-FFF2-40B4-BE49-F238E27FC236}">
                <a16:creationId xmlns:a16="http://schemas.microsoft.com/office/drawing/2014/main" id="{BEBB2971-AF4D-12AE-37F9-63103F441DEF}"/>
              </a:ext>
            </a:extLst>
          </p:cNvPr>
          <p:cNvSpPr txBox="1"/>
          <p:nvPr/>
        </p:nvSpPr>
        <p:spPr>
          <a:xfrm>
            <a:off x="9127420" y="2367896"/>
            <a:ext cx="507234" cy="200055"/>
          </a:xfrm>
          <a:prstGeom prst="rect">
            <a:avLst/>
          </a:prstGeom>
          <a:noFill/>
        </p:spPr>
        <p:txBody>
          <a:bodyPr wrap="square" rtlCol="0">
            <a:spAutoFit/>
          </a:bodyPr>
          <a:lstStyle/>
          <a:p>
            <a:r>
              <a:rPr lang="fr-FR" sz="700" dirty="0">
                <a:latin typeface="Jost Medium" pitchFamily="2" charset="77"/>
                <a:ea typeface="Jost Medium" pitchFamily="2" charset="77"/>
              </a:rPr>
              <a:t>Loisirs</a:t>
            </a:r>
            <a:endParaRPr lang="fr-FR" dirty="0">
              <a:latin typeface="Jost Medium" pitchFamily="2" charset="77"/>
              <a:ea typeface="Jost Medium" pitchFamily="2" charset="77"/>
            </a:endParaRPr>
          </a:p>
        </p:txBody>
      </p:sp>
      <p:sp>
        <p:nvSpPr>
          <p:cNvPr id="10" name="ZoneTexte 9">
            <a:extLst>
              <a:ext uri="{FF2B5EF4-FFF2-40B4-BE49-F238E27FC236}">
                <a16:creationId xmlns:a16="http://schemas.microsoft.com/office/drawing/2014/main" id="{FE55D967-E6F6-C7D4-B81A-8DBA7A85615F}"/>
              </a:ext>
            </a:extLst>
          </p:cNvPr>
          <p:cNvSpPr txBox="1"/>
          <p:nvPr/>
        </p:nvSpPr>
        <p:spPr>
          <a:xfrm>
            <a:off x="5462335" y="2624683"/>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Pays-Bas</a:t>
            </a:r>
            <a:endParaRPr lang="fr-FR" dirty="0">
              <a:latin typeface="Jost Medium" pitchFamily="2" charset="77"/>
              <a:ea typeface="Jost Medium" pitchFamily="2" charset="77"/>
            </a:endParaRPr>
          </a:p>
        </p:txBody>
      </p:sp>
      <p:sp>
        <p:nvSpPr>
          <p:cNvPr id="13" name="ZoneTexte 12">
            <a:extLst>
              <a:ext uri="{FF2B5EF4-FFF2-40B4-BE49-F238E27FC236}">
                <a16:creationId xmlns:a16="http://schemas.microsoft.com/office/drawing/2014/main" id="{199484AE-CA1A-B4A0-4FC8-815A603095E5}"/>
              </a:ext>
            </a:extLst>
          </p:cNvPr>
          <p:cNvSpPr txBox="1"/>
          <p:nvPr/>
        </p:nvSpPr>
        <p:spPr>
          <a:xfrm>
            <a:off x="6360125" y="2333785"/>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Irlande</a:t>
            </a:r>
            <a:endParaRPr lang="fr-FR" dirty="0">
              <a:latin typeface="Jost Medium" pitchFamily="2" charset="77"/>
              <a:ea typeface="Jost Medium" pitchFamily="2" charset="77"/>
            </a:endParaRPr>
          </a:p>
        </p:txBody>
      </p:sp>
      <p:sp>
        <p:nvSpPr>
          <p:cNvPr id="19" name="ZoneTexte 18">
            <a:extLst>
              <a:ext uri="{FF2B5EF4-FFF2-40B4-BE49-F238E27FC236}">
                <a16:creationId xmlns:a16="http://schemas.microsoft.com/office/drawing/2014/main" id="{4FF7DA08-1CC3-C06A-B00D-2F42F639F5DE}"/>
              </a:ext>
            </a:extLst>
          </p:cNvPr>
          <p:cNvSpPr txBox="1"/>
          <p:nvPr/>
        </p:nvSpPr>
        <p:spPr>
          <a:xfrm>
            <a:off x="10194050" y="4023023"/>
            <a:ext cx="691440" cy="200055"/>
          </a:xfrm>
          <a:prstGeom prst="rect">
            <a:avLst/>
          </a:prstGeom>
          <a:noFill/>
        </p:spPr>
        <p:txBody>
          <a:bodyPr wrap="square" rtlCol="0">
            <a:spAutoFit/>
          </a:bodyPr>
          <a:lstStyle/>
          <a:p>
            <a:r>
              <a:rPr lang="fr-FR" sz="700" dirty="0">
                <a:latin typeface="Jost Medium" pitchFamily="2" charset="77"/>
                <a:ea typeface="Jost Medium" pitchFamily="2" charset="77"/>
              </a:rPr>
              <a:t>Logistique</a:t>
            </a:r>
            <a:endParaRPr lang="fr-FR" dirty="0">
              <a:latin typeface="Jost Medium" pitchFamily="2" charset="77"/>
              <a:ea typeface="Jost Medium" pitchFamily="2" charset="77"/>
            </a:endParaRPr>
          </a:p>
        </p:txBody>
      </p:sp>
      <p:sp>
        <p:nvSpPr>
          <p:cNvPr id="20" name="ZoneTexte 19">
            <a:extLst>
              <a:ext uri="{FF2B5EF4-FFF2-40B4-BE49-F238E27FC236}">
                <a16:creationId xmlns:a16="http://schemas.microsoft.com/office/drawing/2014/main" id="{C0E066F6-FA5D-26E8-EA7D-5A79FF04F58E}"/>
              </a:ext>
            </a:extLst>
          </p:cNvPr>
          <p:cNvSpPr txBox="1"/>
          <p:nvPr/>
        </p:nvSpPr>
        <p:spPr>
          <a:xfrm>
            <a:off x="8684982" y="267335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Mixte</a:t>
            </a:r>
            <a:endParaRPr lang="fr-FR" dirty="0">
              <a:latin typeface="Jost Medium" pitchFamily="2" charset="77"/>
              <a:ea typeface="Jost Medium" pitchFamily="2" charset="77"/>
            </a:endParaRPr>
          </a:p>
        </p:txBody>
      </p:sp>
      <p:sp>
        <p:nvSpPr>
          <p:cNvPr id="22" name="ZoneTexte 21">
            <a:extLst>
              <a:ext uri="{FF2B5EF4-FFF2-40B4-BE49-F238E27FC236}">
                <a16:creationId xmlns:a16="http://schemas.microsoft.com/office/drawing/2014/main" id="{897EED46-A26E-5C80-AF3E-E4760DFA4302}"/>
              </a:ext>
            </a:extLst>
          </p:cNvPr>
          <p:cNvSpPr txBox="1"/>
          <p:nvPr/>
        </p:nvSpPr>
        <p:spPr>
          <a:xfrm>
            <a:off x="9641158" y="2333785"/>
            <a:ext cx="744343" cy="200055"/>
          </a:xfrm>
          <a:prstGeom prst="rect">
            <a:avLst/>
          </a:prstGeom>
          <a:noFill/>
        </p:spPr>
        <p:txBody>
          <a:bodyPr wrap="square" rtlCol="0">
            <a:spAutoFit/>
          </a:bodyPr>
          <a:lstStyle/>
          <a:p>
            <a:r>
              <a:rPr lang="fr-FR" sz="700" dirty="0">
                <a:latin typeface="Jost Medium" pitchFamily="2" charset="77"/>
                <a:ea typeface="Jost Medium" pitchFamily="2" charset="77"/>
              </a:rPr>
              <a:t>Éducation</a:t>
            </a:r>
            <a:endParaRPr lang="fr-FR" dirty="0">
              <a:latin typeface="Jost Medium" pitchFamily="2" charset="77"/>
              <a:ea typeface="Jost Medium" pitchFamily="2" charset="77"/>
            </a:endParaRPr>
          </a:p>
        </p:txBody>
      </p:sp>
      <p:pic>
        <p:nvPicPr>
          <p:cNvPr id="24" name="Image 23">
            <a:extLst>
              <a:ext uri="{FF2B5EF4-FFF2-40B4-BE49-F238E27FC236}">
                <a16:creationId xmlns:a16="http://schemas.microsoft.com/office/drawing/2014/main" id="{682DDE98-9D8D-9CCB-2D66-DFADB60D4157}"/>
              </a:ext>
            </a:extLst>
          </p:cNvPr>
          <p:cNvPicPr>
            <a:picLocks noChangeAspect="1"/>
          </p:cNvPicPr>
          <p:nvPr/>
        </p:nvPicPr>
        <p:blipFill>
          <a:blip r:embed="rId6"/>
          <a:stretch>
            <a:fillRect/>
          </a:stretch>
        </p:blipFill>
        <p:spPr>
          <a:xfrm>
            <a:off x="1966693" y="2393946"/>
            <a:ext cx="1659331" cy="749633"/>
          </a:xfrm>
          <a:prstGeom prst="rect">
            <a:avLst/>
          </a:prstGeom>
        </p:spPr>
      </p:pic>
    </p:spTree>
    <p:extLst>
      <p:ext uri="{BB962C8B-B14F-4D97-AF65-F5344CB8AC3E}">
        <p14:creationId xmlns:p14="http://schemas.microsoft.com/office/powerpoint/2010/main" val="3274272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F3679-2AF7-EC80-D3AD-57723BB38A9B}"/>
            </a:ext>
          </a:extLst>
        </p:cNvPr>
        <p:cNvGrpSpPr/>
        <p:nvPr/>
      </p:nvGrpSpPr>
      <p:grpSpPr>
        <a:xfrm>
          <a:off x="0" y="0"/>
          <a:ext cx="0" cy="0"/>
          <a:chOff x="0" y="0"/>
          <a:chExt cx="0" cy="0"/>
        </a:xfrm>
      </p:grpSpPr>
      <p:pic>
        <p:nvPicPr>
          <p:cNvPr id="30" name="Image 29">
            <a:extLst>
              <a:ext uri="{FF2B5EF4-FFF2-40B4-BE49-F238E27FC236}">
                <a16:creationId xmlns:a16="http://schemas.microsoft.com/office/drawing/2014/main" id="{8AB4540A-245B-5382-5974-D56271D00900}"/>
              </a:ext>
            </a:extLst>
          </p:cNvPr>
          <p:cNvPicPr>
            <a:picLocks noChangeAspect="1"/>
          </p:cNvPicPr>
          <p:nvPr/>
        </p:nvPicPr>
        <p:blipFill>
          <a:blip r:embed="rId2">
            <a:alphaModFix amt="5000"/>
          </a:blip>
          <a:srcRect l="6207" b="6232"/>
          <a:stretch>
            <a:fillRect/>
          </a:stretch>
        </p:blipFill>
        <p:spPr>
          <a:xfrm>
            <a:off x="1" y="-1822"/>
            <a:ext cx="12191999" cy="6859822"/>
          </a:xfrm>
          <a:prstGeom prst="rect">
            <a:avLst/>
          </a:prstGeom>
        </p:spPr>
      </p:pic>
      <p:sp>
        <p:nvSpPr>
          <p:cNvPr id="7" name="Rectangle 6">
            <a:extLst>
              <a:ext uri="{FF2B5EF4-FFF2-40B4-BE49-F238E27FC236}">
                <a16:creationId xmlns:a16="http://schemas.microsoft.com/office/drawing/2014/main" id="{1566ADA9-4582-B440-5FF3-87191CB1317F}"/>
              </a:ext>
            </a:extLst>
          </p:cNvPr>
          <p:cNvSpPr/>
          <p:nvPr/>
        </p:nvSpPr>
        <p:spPr>
          <a:xfrm>
            <a:off x="8187915" y="2147869"/>
            <a:ext cx="3189250" cy="2457548"/>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5" name="Chart 1">
            <a:extLst>
              <a:ext uri="{FF2B5EF4-FFF2-40B4-BE49-F238E27FC236}">
                <a16:creationId xmlns:a16="http://schemas.microsoft.com/office/drawing/2014/main" id="{C4C42BB7-202A-FF18-7C19-37597B3C27A8}"/>
              </a:ext>
            </a:extLst>
          </p:cNvPr>
          <p:cNvGraphicFramePr>
            <a:graphicFrameLocks/>
          </p:cNvGraphicFramePr>
          <p:nvPr/>
        </p:nvGraphicFramePr>
        <p:xfrm>
          <a:off x="8187915" y="2171194"/>
          <a:ext cx="3172101" cy="2249422"/>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1">
            <a:extLst>
              <a:ext uri="{FF2B5EF4-FFF2-40B4-BE49-F238E27FC236}">
                <a16:creationId xmlns:a16="http://schemas.microsoft.com/office/drawing/2014/main" id="{34B8E031-3B28-72A9-82DE-B8BF34B71127}"/>
              </a:ext>
            </a:extLst>
          </p:cNvPr>
          <p:cNvSpPr/>
          <p:nvPr/>
        </p:nvSpPr>
        <p:spPr>
          <a:xfrm>
            <a:off x="4919566" y="2138211"/>
            <a:ext cx="3189250" cy="2467206"/>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8" name="Chart 1">
            <a:extLst>
              <a:ext uri="{FF2B5EF4-FFF2-40B4-BE49-F238E27FC236}">
                <a16:creationId xmlns:a16="http://schemas.microsoft.com/office/drawing/2014/main" id="{DD14BF62-BED2-ADF2-DA12-3A06EE4EFED0}"/>
              </a:ext>
            </a:extLst>
          </p:cNvPr>
          <p:cNvGraphicFramePr>
            <a:graphicFrameLocks/>
          </p:cNvGraphicFramePr>
          <p:nvPr/>
        </p:nvGraphicFramePr>
        <p:xfrm>
          <a:off x="4934594" y="2168484"/>
          <a:ext cx="3195756" cy="2252132"/>
        </p:xfrm>
        <a:graphic>
          <a:graphicData uri="http://schemas.openxmlformats.org/drawingml/2006/chart">
            <c:chart xmlns:c="http://schemas.openxmlformats.org/drawingml/2006/chart" xmlns:r="http://schemas.openxmlformats.org/officeDocument/2006/relationships" r:id="rId4"/>
          </a:graphicData>
        </a:graphic>
      </p:graphicFrame>
      <p:sp>
        <p:nvSpPr>
          <p:cNvPr id="2" name="Rectangle 1">
            <a:extLst>
              <a:ext uri="{FF2B5EF4-FFF2-40B4-BE49-F238E27FC236}">
                <a16:creationId xmlns:a16="http://schemas.microsoft.com/office/drawing/2014/main" id="{D6BA4B5D-F5B3-3430-45EE-65BB7AA87518}"/>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9">
            <a:extLst>
              <a:ext uri="{FF2B5EF4-FFF2-40B4-BE49-F238E27FC236}">
                <a16:creationId xmlns:a16="http://schemas.microsoft.com/office/drawing/2014/main" id="{7BA91EC9-A45F-4F51-3488-FC927B960902}"/>
              </a:ext>
            </a:extLst>
          </p:cNvPr>
          <p:cNvSpPr/>
          <p:nvPr/>
        </p:nvSpPr>
        <p:spPr>
          <a:xfrm>
            <a:off x="947468" y="578772"/>
            <a:ext cx="5362797" cy="394243"/>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SCPI </a:t>
            </a:r>
            <a:r>
              <a:rPr lang="fr-FR" noProof="0" dirty="0">
                <a:solidFill>
                  <a:srgbClr val="A9853F"/>
                </a:solidFill>
                <a:ea typeface="Cormorant Garamond SemiBold" pitchFamily="2" charset="77"/>
                <a:cs typeface="Cormorant Garamond SemiBold" pitchFamily="2" charset="77"/>
              </a:rPr>
              <a:t>-</a:t>
            </a:r>
            <a:r>
              <a:rPr lang="fr-FR" b="1" noProof="0" dirty="0">
                <a:solidFill>
                  <a:srgbClr val="A9853F"/>
                </a:solidFill>
                <a:latin typeface="Cormorant Garamond SemiBold" pitchFamily="2" charset="77"/>
                <a:ea typeface="Cormorant Garamond SemiBold" pitchFamily="2" charset="77"/>
                <a:cs typeface="Cormorant Garamond SemiBold" pitchFamily="2" charset="77"/>
              </a:rPr>
              <a:t> Société Civile de Placement Immobilier</a:t>
            </a:r>
          </a:p>
        </p:txBody>
      </p:sp>
      <p:sp>
        <p:nvSpPr>
          <p:cNvPr id="6" name="Text 9">
            <a:extLst>
              <a:ext uri="{FF2B5EF4-FFF2-40B4-BE49-F238E27FC236}">
                <a16:creationId xmlns:a16="http://schemas.microsoft.com/office/drawing/2014/main" id="{1075442F-B459-0EF0-A625-B158F74950FA}"/>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Conseil en Investissement immobilier : Ncap Continent</a:t>
            </a:r>
          </a:p>
        </p:txBody>
      </p:sp>
      <p:sp>
        <p:nvSpPr>
          <p:cNvPr id="8" name="Rectangle : avec coins arrondis en haut 7">
            <a:extLst>
              <a:ext uri="{FF2B5EF4-FFF2-40B4-BE49-F238E27FC236}">
                <a16:creationId xmlns:a16="http://schemas.microsoft.com/office/drawing/2014/main" id="{D93043AC-E012-B040-663A-17C667028D7C}"/>
              </a:ext>
            </a:extLst>
          </p:cNvPr>
          <p:cNvSpPr/>
          <p:nvPr/>
        </p:nvSpPr>
        <p:spPr>
          <a:xfrm>
            <a:off x="1403716" y="1767875"/>
            <a:ext cx="2932540"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Indicateurs clés</a:t>
            </a:r>
          </a:p>
        </p:txBody>
      </p:sp>
      <p:sp>
        <p:nvSpPr>
          <p:cNvPr id="9" name="Rectangle 8">
            <a:extLst>
              <a:ext uri="{FF2B5EF4-FFF2-40B4-BE49-F238E27FC236}">
                <a16:creationId xmlns:a16="http://schemas.microsoft.com/office/drawing/2014/main" id="{DBDDF507-57EA-5EA1-BBD8-29ED0670212B}"/>
              </a:ext>
            </a:extLst>
          </p:cNvPr>
          <p:cNvSpPr/>
          <p:nvPr/>
        </p:nvSpPr>
        <p:spPr>
          <a:xfrm>
            <a:off x="1397642" y="2168305"/>
            <a:ext cx="2945758" cy="1260695"/>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D8FB65CD-EA9F-7452-2798-61238D3346C8}"/>
              </a:ext>
            </a:extLst>
          </p:cNvPr>
          <p:cNvSpPr/>
          <p:nvPr/>
        </p:nvSpPr>
        <p:spPr>
          <a:xfrm>
            <a:off x="1397642" y="3988158"/>
            <a:ext cx="2930052" cy="1977341"/>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endParaRPr lang="fr-FR" sz="900" b="1" dirty="0">
              <a:solidFill>
                <a:schemeClr val="tx1"/>
              </a:solidFill>
              <a:latin typeface="Jost Light" pitchFamily="2" charset="77"/>
              <a:ea typeface="Jost Light" pitchFamily="2" charset="77"/>
            </a:endParaRPr>
          </a:p>
          <a:p>
            <a:pPr algn="ctr">
              <a:spcAft>
                <a:spcPts val="400"/>
              </a:spcAft>
            </a:pPr>
            <a:r>
              <a:rPr lang="fr-FR" sz="900" b="1" dirty="0">
                <a:solidFill>
                  <a:schemeClr val="tx1"/>
                </a:solidFill>
                <a:latin typeface="Jost Light" pitchFamily="2" charset="77"/>
                <a:ea typeface="Jost Light" pitchFamily="2" charset="77"/>
              </a:rPr>
              <a:t>Maison de Gestion </a:t>
            </a:r>
            <a:r>
              <a:rPr lang="fr-FR" sz="900" dirty="0">
                <a:solidFill>
                  <a:schemeClr val="tx1"/>
                </a:solidFill>
                <a:latin typeface="Jost Light" pitchFamily="2" charset="77"/>
                <a:ea typeface="Jost Light" pitchFamily="2" charset="77"/>
              </a:rPr>
              <a:t>: Norma Capital - AM</a:t>
            </a:r>
          </a:p>
          <a:p>
            <a:pPr algn="ctr">
              <a:spcAft>
                <a:spcPts val="400"/>
              </a:spcAft>
            </a:pPr>
            <a:r>
              <a:rPr lang="fr-FR" sz="900" b="1" dirty="0">
                <a:solidFill>
                  <a:schemeClr val="tx1"/>
                </a:solidFill>
                <a:latin typeface="Jost Light" pitchFamily="2" charset="77"/>
                <a:ea typeface="Jost Light" pitchFamily="2" charset="77"/>
              </a:rPr>
              <a:t>Prix de part </a:t>
            </a:r>
            <a:r>
              <a:rPr lang="fr-FR" sz="900" dirty="0">
                <a:solidFill>
                  <a:schemeClr val="tx1"/>
                </a:solidFill>
                <a:latin typeface="Jost Light" pitchFamily="2" charset="77"/>
                <a:ea typeface="Jost Light" pitchFamily="2" charset="77"/>
              </a:rPr>
              <a:t>: 2022 : 210 EUR</a:t>
            </a:r>
          </a:p>
          <a:p>
            <a:pPr algn="ctr">
              <a:spcAft>
                <a:spcPts val="400"/>
              </a:spcAft>
            </a:pPr>
            <a:r>
              <a:rPr lang="fr-FR" sz="900" dirty="0">
                <a:solidFill>
                  <a:schemeClr val="tx1"/>
                </a:solidFill>
                <a:latin typeface="Jost Light" pitchFamily="2" charset="77"/>
                <a:ea typeface="Jost Light" pitchFamily="2" charset="77"/>
              </a:rPr>
              <a:t>Aujourd’hui : 210 EUR</a:t>
            </a:r>
          </a:p>
          <a:p>
            <a:pPr algn="ctr">
              <a:spcAft>
                <a:spcPts val="400"/>
              </a:spcAft>
            </a:pPr>
            <a:r>
              <a:rPr lang="fr-FR" sz="900" b="1" dirty="0">
                <a:solidFill>
                  <a:schemeClr val="tx1"/>
                </a:solidFill>
                <a:latin typeface="Jost Light" pitchFamily="2" charset="77"/>
                <a:ea typeface="Jost Light" pitchFamily="2" charset="77"/>
              </a:rPr>
              <a:t>Valeur de reconstitution </a:t>
            </a:r>
            <a:r>
              <a:rPr lang="fr-FR" sz="900" dirty="0">
                <a:solidFill>
                  <a:schemeClr val="tx1"/>
                </a:solidFill>
                <a:latin typeface="Jost Light" pitchFamily="2" charset="77"/>
                <a:ea typeface="Jost Light" pitchFamily="2" charset="77"/>
              </a:rPr>
              <a:t>: 215 EUR</a:t>
            </a:r>
          </a:p>
          <a:p>
            <a:pPr algn="just">
              <a:spcAft>
                <a:spcPts val="400"/>
              </a:spcAft>
            </a:pPr>
            <a:endParaRPr lang="fr-FR" sz="900" dirty="0">
              <a:solidFill>
                <a:schemeClr val="tx1"/>
              </a:solidFill>
              <a:latin typeface="Jost Light" pitchFamily="2" charset="77"/>
              <a:ea typeface="Jost Light" pitchFamily="2" charset="77"/>
            </a:endParaRPr>
          </a:p>
          <a:p>
            <a:pPr algn="just">
              <a:spcAft>
                <a:spcPts val="400"/>
              </a:spcAft>
            </a:pPr>
            <a:r>
              <a:rPr lang="fr-FR" sz="900" b="1" dirty="0">
                <a:solidFill>
                  <a:schemeClr val="tx1"/>
                </a:solidFill>
                <a:latin typeface="Jost Light" pitchFamily="2" charset="77"/>
                <a:ea typeface="Jost Light" pitchFamily="2" charset="77"/>
              </a:rPr>
              <a:t>Délai de jouissance </a:t>
            </a:r>
            <a:r>
              <a:rPr lang="fr-FR" sz="900" dirty="0">
                <a:solidFill>
                  <a:schemeClr val="tx1"/>
                </a:solidFill>
                <a:latin typeface="Jost Light" pitchFamily="2" charset="77"/>
                <a:ea typeface="Jost Light" pitchFamily="2" charset="77"/>
              </a:rPr>
              <a:t>: au 1er jour du sixième mois suivant la date d’encaissement de la souscription part la maison de gestion.</a:t>
            </a:r>
          </a:p>
          <a:p>
            <a:pPr algn="ctr">
              <a:spcAft>
                <a:spcPts val="400"/>
              </a:spcAft>
            </a:pPr>
            <a:endParaRPr lang="fr-FR" sz="900" dirty="0">
              <a:solidFill>
                <a:schemeClr val="tx1"/>
              </a:solidFill>
              <a:latin typeface="Jost Light" pitchFamily="2" charset="77"/>
              <a:ea typeface="Jost Light" pitchFamily="2" charset="77"/>
            </a:endParaRPr>
          </a:p>
          <a:p>
            <a:pPr algn="ctr">
              <a:spcAft>
                <a:spcPts val="400"/>
              </a:spcAft>
            </a:pPr>
            <a:r>
              <a:rPr lang="fr-FR" sz="900" b="1" dirty="0">
                <a:solidFill>
                  <a:srgbClr val="1A1A1A"/>
                </a:solidFill>
                <a:latin typeface="Jost Light" pitchFamily="2" charset="77"/>
                <a:ea typeface="Jost Light" pitchFamily="2" charset="77"/>
              </a:rPr>
              <a:t>SCPI 100% européenne : avantages fiscaux.</a:t>
            </a:r>
            <a:endParaRPr lang="fr-FR" sz="900" b="1" dirty="0">
              <a:solidFill>
                <a:schemeClr val="tx1"/>
              </a:solidFill>
              <a:latin typeface="Jost Light" pitchFamily="2" charset="77"/>
              <a:ea typeface="Jost Light" pitchFamily="2" charset="77"/>
            </a:endParaRPr>
          </a:p>
          <a:p>
            <a:pPr algn="ctr">
              <a:spcAft>
                <a:spcPts val="400"/>
              </a:spcAft>
            </a:pPr>
            <a:endParaRPr lang="fr-FR" sz="900" dirty="0">
              <a:solidFill>
                <a:schemeClr val="tx1"/>
              </a:solidFill>
              <a:latin typeface="Jost Light" pitchFamily="2" charset="77"/>
              <a:ea typeface="Jost Light" pitchFamily="2" charset="77"/>
            </a:endParaRPr>
          </a:p>
        </p:txBody>
      </p:sp>
      <p:sp>
        <p:nvSpPr>
          <p:cNvPr id="15" name="Rectangle 14">
            <a:extLst>
              <a:ext uri="{FF2B5EF4-FFF2-40B4-BE49-F238E27FC236}">
                <a16:creationId xmlns:a16="http://schemas.microsoft.com/office/drawing/2014/main" id="{40E672A1-9B00-CA5C-E004-0A0B77BFEAAD}"/>
              </a:ext>
            </a:extLst>
          </p:cNvPr>
          <p:cNvSpPr/>
          <p:nvPr/>
        </p:nvSpPr>
        <p:spPr>
          <a:xfrm>
            <a:off x="1406580" y="3484180"/>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Distribution mensuelle</a:t>
            </a:r>
          </a:p>
        </p:txBody>
      </p:sp>
      <p:sp>
        <p:nvSpPr>
          <p:cNvPr id="21" name="Rectangle 20">
            <a:extLst>
              <a:ext uri="{FF2B5EF4-FFF2-40B4-BE49-F238E27FC236}">
                <a16:creationId xmlns:a16="http://schemas.microsoft.com/office/drawing/2014/main" id="{EB413017-5456-06BE-4A92-060D7D9FF49D}"/>
              </a:ext>
            </a:extLst>
          </p:cNvPr>
          <p:cNvSpPr/>
          <p:nvPr/>
        </p:nvSpPr>
        <p:spPr>
          <a:xfrm>
            <a:off x="1393442" y="5965499"/>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Taux distribué en 2025 : 7.10% </a:t>
            </a:r>
            <a:r>
              <a:rPr lang="fr-FR" sz="1200" dirty="0" err="1">
                <a:solidFill>
                  <a:schemeClr val="bg1"/>
                </a:solidFill>
                <a:latin typeface="Jost Medium" pitchFamily="2" charset="77"/>
                <a:ea typeface="Jost Medium" pitchFamily="2" charset="77"/>
              </a:rPr>
              <a:t>p.a</a:t>
            </a:r>
            <a:r>
              <a:rPr lang="fr-FR" sz="1200" dirty="0">
                <a:solidFill>
                  <a:schemeClr val="bg1"/>
                </a:solidFill>
                <a:latin typeface="Jost Medium" pitchFamily="2" charset="77"/>
                <a:ea typeface="Jost Medium" pitchFamily="2" charset="77"/>
              </a:rPr>
              <a:t>.</a:t>
            </a:r>
          </a:p>
        </p:txBody>
      </p:sp>
      <p:pic>
        <p:nvPicPr>
          <p:cNvPr id="31" name="Image 30">
            <a:extLst>
              <a:ext uri="{FF2B5EF4-FFF2-40B4-BE49-F238E27FC236}">
                <a16:creationId xmlns:a16="http://schemas.microsoft.com/office/drawing/2014/main" id="{C225D63D-FE88-D407-5F21-F221331BC877}"/>
              </a:ext>
            </a:extLst>
          </p:cNvPr>
          <p:cNvPicPr>
            <a:picLocks noChangeAspect="1"/>
          </p:cNvPicPr>
          <p:nvPr/>
        </p:nvPicPr>
        <p:blipFill>
          <a:blip r:embed="rId5">
            <a:duotone>
              <a:prstClr val="black"/>
              <a:srgbClr val="063527">
                <a:tint val="45000"/>
                <a:satMod val="400000"/>
              </a:srgbClr>
            </a:duotone>
          </a:blip>
          <a:stretch>
            <a:fillRect/>
          </a:stretch>
        </p:blipFill>
        <p:spPr>
          <a:xfrm>
            <a:off x="11005640" y="374477"/>
            <a:ext cx="792892" cy="264297"/>
          </a:xfrm>
          <a:prstGeom prst="rect">
            <a:avLst/>
          </a:prstGeom>
        </p:spPr>
      </p:pic>
      <p:sp>
        <p:nvSpPr>
          <p:cNvPr id="26" name="Rectangle : avec coins arrondis en haut 25">
            <a:extLst>
              <a:ext uri="{FF2B5EF4-FFF2-40B4-BE49-F238E27FC236}">
                <a16:creationId xmlns:a16="http://schemas.microsoft.com/office/drawing/2014/main" id="{96838EEC-392B-8CCC-DDFA-2E22001CDF20}"/>
              </a:ext>
            </a:extLst>
          </p:cNvPr>
          <p:cNvSpPr/>
          <p:nvPr/>
        </p:nvSpPr>
        <p:spPr>
          <a:xfrm>
            <a:off x="4935731" y="1767875"/>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géographique</a:t>
            </a:r>
          </a:p>
        </p:txBody>
      </p:sp>
      <p:sp>
        <p:nvSpPr>
          <p:cNvPr id="46" name="Stat 0 108">
            <a:extLst>
              <a:ext uri="{FF2B5EF4-FFF2-40B4-BE49-F238E27FC236}">
                <a16:creationId xmlns:a16="http://schemas.microsoft.com/office/drawing/2014/main" id="{A88D0CDE-FF59-DF50-40E9-077781207414}"/>
              </a:ext>
            </a:extLst>
          </p:cNvPr>
          <p:cNvSpPr txBox="1"/>
          <p:nvPr/>
        </p:nvSpPr>
        <p:spPr>
          <a:xfrm>
            <a:off x="9286899" y="4773747"/>
            <a:ext cx="2073117" cy="494287"/>
          </a:xfrm>
          <a:prstGeom prst="rect">
            <a:avLst/>
          </a:prstGeom>
          <a:solidFill>
            <a:srgbClr val="15462A"/>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Taux d’occupation financière</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100%</a:t>
            </a:r>
          </a:p>
        </p:txBody>
      </p:sp>
      <p:sp>
        <p:nvSpPr>
          <p:cNvPr id="48" name="Stat 0 108">
            <a:extLst>
              <a:ext uri="{FF2B5EF4-FFF2-40B4-BE49-F238E27FC236}">
                <a16:creationId xmlns:a16="http://schemas.microsoft.com/office/drawing/2014/main" id="{F99EE8E4-6682-C72F-C0AA-C37F07563703}"/>
              </a:ext>
            </a:extLst>
          </p:cNvPr>
          <p:cNvSpPr txBox="1"/>
          <p:nvPr/>
        </p:nvSpPr>
        <p:spPr>
          <a:xfrm>
            <a:off x="7111315" y="4775194"/>
            <a:ext cx="2106826" cy="494287"/>
          </a:xfrm>
          <a:prstGeom prst="rect">
            <a:avLst/>
          </a:prstGeom>
          <a:solidFill>
            <a:srgbClr val="AA853F"/>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Capitalisation</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82M EUR</a:t>
            </a:r>
          </a:p>
        </p:txBody>
      </p:sp>
      <p:sp>
        <p:nvSpPr>
          <p:cNvPr id="49" name="Stat 0 108">
            <a:extLst>
              <a:ext uri="{FF2B5EF4-FFF2-40B4-BE49-F238E27FC236}">
                <a16:creationId xmlns:a16="http://schemas.microsoft.com/office/drawing/2014/main" id="{2C8B4FC3-81B1-E859-6C52-B073D33AD8FE}"/>
              </a:ext>
            </a:extLst>
          </p:cNvPr>
          <p:cNvSpPr txBox="1"/>
          <p:nvPr/>
        </p:nvSpPr>
        <p:spPr>
          <a:xfrm>
            <a:off x="4935731" y="4775194"/>
            <a:ext cx="2106826" cy="494287"/>
          </a:xfrm>
          <a:prstGeom prst="rect">
            <a:avLst/>
          </a:prstGeom>
          <a:solidFill>
            <a:srgbClr val="E6C989"/>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Risque SRRI</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3/7</a:t>
            </a:r>
          </a:p>
        </p:txBody>
      </p:sp>
      <p:sp>
        <p:nvSpPr>
          <p:cNvPr id="57" name="ZoneTexte 56">
            <a:extLst>
              <a:ext uri="{FF2B5EF4-FFF2-40B4-BE49-F238E27FC236}">
                <a16:creationId xmlns:a16="http://schemas.microsoft.com/office/drawing/2014/main" id="{8EEDD0A9-079B-75C1-798F-07A90FFADF21}"/>
              </a:ext>
            </a:extLst>
          </p:cNvPr>
          <p:cNvSpPr txBox="1"/>
          <p:nvPr/>
        </p:nvSpPr>
        <p:spPr>
          <a:xfrm>
            <a:off x="7391440" y="370198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Espagne</a:t>
            </a:r>
            <a:endParaRPr lang="fr-FR" dirty="0">
              <a:latin typeface="Jost Medium" pitchFamily="2" charset="77"/>
              <a:ea typeface="Jost Medium" pitchFamily="2" charset="77"/>
            </a:endParaRPr>
          </a:p>
        </p:txBody>
      </p:sp>
      <p:sp>
        <p:nvSpPr>
          <p:cNvPr id="62" name="Rectangle : avec coins arrondis en haut 61">
            <a:extLst>
              <a:ext uri="{FF2B5EF4-FFF2-40B4-BE49-F238E27FC236}">
                <a16:creationId xmlns:a16="http://schemas.microsoft.com/office/drawing/2014/main" id="{4D9B086F-23BE-DA40-DFAE-5D816D2343DD}"/>
              </a:ext>
            </a:extLst>
          </p:cNvPr>
          <p:cNvSpPr/>
          <p:nvPr/>
        </p:nvSpPr>
        <p:spPr>
          <a:xfrm>
            <a:off x="8187915" y="1774963"/>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sectorielle</a:t>
            </a:r>
          </a:p>
        </p:txBody>
      </p:sp>
      <p:sp>
        <p:nvSpPr>
          <p:cNvPr id="63" name="Rectangle 62">
            <a:extLst>
              <a:ext uri="{FF2B5EF4-FFF2-40B4-BE49-F238E27FC236}">
                <a16:creationId xmlns:a16="http://schemas.microsoft.com/office/drawing/2014/main" id="{959C690B-D1D4-2864-E02F-5327CAE3628E}"/>
              </a:ext>
            </a:extLst>
          </p:cNvPr>
          <p:cNvSpPr/>
          <p:nvPr/>
        </p:nvSpPr>
        <p:spPr>
          <a:xfrm>
            <a:off x="4944867" y="5456299"/>
            <a:ext cx="6442571" cy="1178139"/>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endParaRPr lang="fr-FR" sz="800" dirty="0">
              <a:solidFill>
                <a:srgbClr val="1A1A1A"/>
              </a:solidFill>
              <a:latin typeface="Jost Light" pitchFamily="2" charset="77"/>
              <a:ea typeface="Jost Light" pitchFamily="2" charset="77"/>
            </a:endParaRPr>
          </a:p>
          <a:p>
            <a:pPr algn="just"/>
            <a:r>
              <a:rPr lang="fr-FR" sz="800" dirty="0">
                <a:solidFill>
                  <a:srgbClr val="1A1A1A"/>
                </a:solidFill>
                <a:latin typeface="Jost Light" pitchFamily="2" charset="77"/>
                <a:ea typeface="Jost Light" pitchFamily="2" charset="77"/>
              </a:rPr>
              <a:t>Lancée en 2023 par Norma Capital, société de gestion parisienne, NCap Continent mise sur une diversification européenne. Avant de lancer NCap Continent, Norma Capital avait déjà fait ses preuves avec Vendôme Régions, sa toute première SCPI, créée dès 2015, focalisée sur l'immobilier diversifié des métropoles régionales françaises. Devenue NCap Régions en 2025 dans le cadre d'un rebranding de toute la gamme, elle reste aujourd'hui le vaisseau amiral de la société de gestion.</a:t>
            </a:r>
          </a:p>
          <a:p>
            <a:pPr algn="just"/>
            <a:endParaRPr lang="fr-FR" sz="800" dirty="0">
              <a:solidFill>
                <a:srgbClr val="1A1A1A"/>
              </a:solidFill>
              <a:latin typeface="Jost Light" pitchFamily="2" charset="77"/>
              <a:ea typeface="Jost Light" pitchFamily="2" charset="77"/>
            </a:endParaRPr>
          </a:p>
          <a:p>
            <a:pPr algn="just"/>
            <a:r>
              <a:rPr lang="fr-FR" sz="800" dirty="0">
                <a:solidFill>
                  <a:srgbClr val="1A1A1A"/>
                </a:solidFill>
                <a:latin typeface="Jost Light" pitchFamily="2" charset="77"/>
                <a:ea typeface="Jost Light" pitchFamily="2" charset="77"/>
              </a:rPr>
              <a:t>NCap Continent se distingue par une approche géographique réfléchie plutôt qu'opportuniste. Norma Capital a sélectionné ses pays cibles sur un critère avant tout démographique, en misant sur des marchés dont le poids de population garantit un accès durable à la demande locative commerciale et au développement des infrastructures. </a:t>
            </a:r>
          </a:p>
          <a:p>
            <a:pPr algn="ctr">
              <a:spcAft>
                <a:spcPts val="400"/>
              </a:spcAft>
            </a:pPr>
            <a:endParaRPr lang="fr-FR" sz="900" dirty="0">
              <a:solidFill>
                <a:schemeClr val="tx1"/>
              </a:solidFill>
              <a:latin typeface="Jost Light" pitchFamily="2" charset="77"/>
              <a:ea typeface="Jost Light" pitchFamily="2" charset="77"/>
              <a:cs typeface="Cormorant Garamond Medium" pitchFamily="2" charset="77"/>
            </a:endParaRPr>
          </a:p>
        </p:txBody>
      </p:sp>
      <p:sp>
        <p:nvSpPr>
          <p:cNvPr id="73" name="ZoneTexte 72">
            <a:extLst>
              <a:ext uri="{FF2B5EF4-FFF2-40B4-BE49-F238E27FC236}">
                <a16:creationId xmlns:a16="http://schemas.microsoft.com/office/drawing/2014/main" id="{39FC41DC-9A1E-BBA3-CAD5-789B2E13361C}"/>
              </a:ext>
            </a:extLst>
          </p:cNvPr>
          <p:cNvSpPr txBox="1"/>
          <p:nvPr/>
        </p:nvSpPr>
        <p:spPr>
          <a:xfrm>
            <a:off x="10587196" y="353611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Commerces</a:t>
            </a:r>
            <a:endParaRPr lang="fr-FR" dirty="0">
              <a:latin typeface="Jost Medium" pitchFamily="2" charset="77"/>
              <a:ea typeface="Jost Medium" pitchFamily="2" charset="77"/>
            </a:endParaRPr>
          </a:p>
        </p:txBody>
      </p:sp>
      <p:pic>
        <p:nvPicPr>
          <p:cNvPr id="11" name="Image 10">
            <a:extLst>
              <a:ext uri="{FF2B5EF4-FFF2-40B4-BE49-F238E27FC236}">
                <a16:creationId xmlns:a16="http://schemas.microsoft.com/office/drawing/2014/main" id="{39DAE487-8085-5E78-71B9-A827F448C416}"/>
              </a:ext>
            </a:extLst>
          </p:cNvPr>
          <p:cNvPicPr>
            <a:picLocks noChangeAspect="1"/>
          </p:cNvPicPr>
          <p:nvPr/>
        </p:nvPicPr>
        <p:blipFill>
          <a:blip r:embed="rId6"/>
          <a:stretch>
            <a:fillRect/>
          </a:stretch>
        </p:blipFill>
        <p:spPr>
          <a:xfrm>
            <a:off x="2142163" y="2357452"/>
            <a:ext cx="1430415" cy="821084"/>
          </a:xfrm>
          <a:prstGeom prst="rect">
            <a:avLst/>
          </a:prstGeom>
        </p:spPr>
      </p:pic>
      <p:sp>
        <p:nvSpPr>
          <p:cNvPr id="23" name="ZoneTexte 22">
            <a:extLst>
              <a:ext uri="{FF2B5EF4-FFF2-40B4-BE49-F238E27FC236}">
                <a16:creationId xmlns:a16="http://schemas.microsoft.com/office/drawing/2014/main" id="{C5927FDF-1D5B-FAF6-F65A-7F145E38A76D}"/>
              </a:ext>
            </a:extLst>
          </p:cNvPr>
          <p:cNvSpPr txBox="1"/>
          <p:nvPr/>
        </p:nvSpPr>
        <p:spPr>
          <a:xfrm>
            <a:off x="5016723" y="276799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Royaume-Uni</a:t>
            </a:r>
            <a:endParaRPr lang="fr-FR" dirty="0">
              <a:latin typeface="Jost Medium" pitchFamily="2" charset="77"/>
              <a:ea typeface="Jost Medium" pitchFamily="2" charset="77"/>
            </a:endParaRPr>
          </a:p>
        </p:txBody>
      </p:sp>
      <p:sp>
        <p:nvSpPr>
          <p:cNvPr id="27" name="ZoneTexte 26">
            <a:extLst>
              <a:ext uri="{FF2B5EF4-FFF2-40B4-BE49-F238E27FC236}">
                <a16:creationId xmlns:a16="http://schemas.microsoft.com/office/drawing/2014/main" id="{FFB08F40-7ACC-AA7E-AA37-3997AB03FC65}"/>
              </a:ext>
            </a:extLst>
          </p:cNvPr>
          <p:cNvSpPr txBox="1"/>
          <p:nvPr/>
        </p:nvSpPr>
        <p:spPr>
          <a:xfrm>
            <a:off x="8289998" y="3590299"/>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Bureaux</a:t>
            </a:r>
            <a:endParaRPr lang="fr-FR" dirty="0">
              <a:latin typeface="Jost Medium" pitchFamily="2" charset="77"/>
              <a:ea typeface="Jost Medium" pitchFamily="2" charset="77"/>
            </a:endParaRPr>
          </a:p>
        </p:txBody>
      </p:sp>
      <p:sp>
        <p:nvSpPr>
          <p:cNvPr id="28" name="ZoneTexte 27">
            <a:extLst>
              <a:ext uri="{FF2B5EF4-FFF2-40B4-BE49-F238E27FC236}">
                <a16:creationId xmlns:a16="http://schemas.microsoft.com/office/drawing/2014/main" id="{883C8027-C465-E1EE-118D-6A84128BDA1D}"/>
              </a:ext>
            </a:extLst>
          </p:cNvPr>
          <p:cNvSpPr txBox="1"/>
          <p:nvPr/>
        </p:nvSpPr>
        <p:spPr>
          <a:xfrm>
            <a:off x="8361320" y="2756758"/>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Éducation</a:t>
            </a:r>
            <a:endParaRPr lang="fr-FR" dirty="0">
              <a:latin typeface="Jost Medium" pitchFamily="2" charset="77"/>
              <a:ea typeface="Jost Medium" pitchFamily="2" charset="77"/>
            </a:endParaRPr>
          </a:p>
        </p:txBody>
      </p:sp>
      <p:sp>
        <p:nvSpPr>
          <p:cNvPr id="29" name="ZoneTexte 28">
            <a:extLst>
              <a:ext uri="{FF2B5EF4-FFF2-40B4-BE49-F238E27FC236}">
                <a16:creationId xmlns:a16="http://schemas.microsoft.com/office/drawing/2014/main" id="{54FC124F-98D8-451C-F079-861A92282B72}"/>
              </a:ext>
            </a:extLst>
          </p:cNvPr>
          <p:cNvSpPr txBox="1"/>
          <p:nvPr/>
        </p:nvSpPr>
        <p:spPr>
          <a:xfrm>
            <a:off x="9127194" y="2239960"/>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Activités</a:t>
            </a:r>
            <a:endParaRPr lang="fr-FR" dirty="0">
              <a:latin typeface="Jost Medium" pitchFamily="2" charset="77"/>
              <a:ea typeface="Jost Medium" pitchFamily="2" charset="77"/>
            </a:endParaRPr>
          </a:p>
        </p:txBody>
      </p:sp>
    </p:spTree>
    <p:extLst>
      <p:ext uri="{BB962C8B-B14F-4D97-AF65-F5344CB8AC3E}">
        <p14:creationId xmlns:p14="http://schemas.microsoft.com/office/powerpoint/2010/main" val="539396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598FF-2004-D180-A089-99BDE4FDE9A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EEDF037-3B9B-87FA-4330-96CC84C41440}"/>
              </a:ext>
            </a:extLst>
          </p:cNvPr>
          <p:cNvSpPr/>
          <p:nvPr/>
        </p:nvSpPr>
        <p:spPr>
          <a:xfrm>
            <a:off x="8187915" y="2147869"/>
            <a:ext cx="3189250" cy="2457548"/>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6" name="Chart 1">
            <a:extLst>
              <a:ext uri="{FF2B5EF4-FFF2-40B4-BE49-F238E27FC236}">
                <a16:creationId xmlns:a16="http://schemas.microsoft.com/office/drawing/2014/main" id="{65563300-4382-7F3A-728D-C9519D3C5415}"/>
              </a:ext>
            </a:extLst>
          </p:cNvPr>
          <p:cNvGraphicFramePr>
            <a:graphicFrameLocks/>
          </p:cNvGraphicFramePr>
          <p:nvPr/>
        </p:nvGraphicFramePr>
        <p:xfrm>
          <a:off x="8187915" y="2159858"/>
          <a:ext cx="3172101" cy="2254537"/>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58644E8E-909A-02EC-F9A4-D2445462BD5F}"/>
              </a:ext>
            </a:extLst>
          </p:cNvPr>
          <p:cNvSpPr/>
          <p:nvPr/>
        </p:nvSpPr>
        <p:spPr>
          <a:xfrm>
            <a:off x="4919566" y="2138211"/>
            <a:ext cx="3189250" cy="2467206"/>
          </a:xfrm>
          <a:prstGeom prst="rect">
            <a:avLst/>
          </a:prstGeom>
          <a:solidFill>
            <a:srgbClr val="FCF9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5" name="Chart 1">
            <a:extLst>
              <a:ext uri="{FF2B5EF4-FFF2-40B4-BE49-F238E27FC236}">
                <a16:creationId xmlns:a16="http://schemas.microsoft.com/office/drawing/2014/main" id="{AD79D8CB-2FAA-DC37-CAEC-B7F2CAA9978B}"/>
              </a:ext>
            </a:extLst>
          </p:cNvPr>
          <p:cNvGraphicFramePr>
            <a:graphicFrameLocks/>
          </p:cNvGraphicFramePr>
          <p:nvPr/>
        </p:nvGraphicFramePr>
        <p:xfrm>
          <a:off x="4932343" y="2166078"/>
          <a:ext cx="3176473" cy="2254538"/>
        </p:xfrm>
        <a:graphic>
          <a:graphicData uri="http://schemas.openxmlformats.org/drawingml/2006/chart">
            <c:chart xmlns:c="http://schemas.openxmlformats.org/drawingml/2006/chart" xmlns:r="http://schemas.openxmlformats.org/officeDocument/2006/relationships" r:id="rId3"/>
          </a:graphicData>
        </a:graphic>
      </p:graphicFrame>
      <p:pic>
        <p:nvPicPr>
          <p:cNvPr id="30" name="Image 29">
            <a:extLst>
              <a:ext uri="{FF2B5EF4-FFF2-40B4-BE49-F238E27FC236}">
                <a16:creationId xmlns:a16="http://schemas.microsoft.com/office/drawing/2014/main" id="{52BD956E-FEAE-625B-2BDD-DBBC01A153ED}"/>
              </a:ext>
            </a:extLst>
          </p:cNvPr>
          <p:cNvPicPr>
            <a:picLocks noChangeAspect="1"/>
          </p:cNvPicPr>
          <p:nvPr/>
        </p:nvPicPr>
        <p:blipFill>
          <a:blip r:embed="rId4">
            <a:alphaModFix amt="5000"/>
          </a:blip>
          <a:srcRect l="6207" b="6232"/>
          <a:stretch>
            <a:fillRect/>
          </a:stretch>
        </p:blipFill>
        <p:spPr>
          <a:xfrm>
            <a:off x="1234" y="-3176"/>
            <a:ext cx="12191999" cy="6859822"/>
          </a:xfrm>
          <a:prstGeom prst="rect">
            <a:avLst/>
          </a:prstGeom>
        </p:spPr>
      </p:pic>
      <p:sp>
        <p:nvSpPr>
          <p:cNvPr id="2" name="Rectangle 1">
            <a:extLst>
              <a:ext uri="{FF2B5EF4-FFF2-40B4-BE49-F238E27FC236}">
                <a16:creationId xmlns:a16="http://schemas.microsoft.com/office/drawing/2014/main" id="{2C770A66-71A9-258A-2B04-A10227B2FD88}"/>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9">
            <a:extLst>
              <a:ext uri="{FF2B5EF4-FFF2-40B4-BE49-F238E27FC236}">
                <a16:creationId xmlns:a16="http://schemas.microsoft.com/office/drawing/2014/main" id="{9BBD4C5E-8F4B-2103-2F69-0959CC3829D7}"/>
              </a:ext>
            </a:extLst>
          </p:cNvPr>
          <p:cNvSpPr/>
          <p:nvPr/>
        </p:nvSpPr>
        <p:spPr>
          <a:xfrm>
            <a:off x="947468" y="578772"/>
            <a:ext cx="5362797" cy="394243"/>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SCPI </a:t>
            </a:r>
            <a:r>
              <a:rPr lang="fr-FR" noProof="0" dirty="0">
                <a:solidFill>
                  <a:srgbClr val="A9853F"/>
                </a:solidFill>
                <a:ea typeface="Cormorant Garamond SemiBold" pitchFamily="2" charset="77"/>
                <a:cs typeface="Cormorant Garamond SemiBold" pitchFamily="2" charset="77"/>
              </a:rPr>
              <a:t>-</a:t>
            </a:r>
            <a:r>
              <a:rPr lang="fr-FR" b="1" noProof="0" dirty="0">
                <a:solidFill>
                  <a:srgbClr val="A9853F"/>
                </a:solidFill>
                <a:latin typeface="Cormorant Garamond SemiBold" pitchFamily="2" charset="77"/>
                <a:ea typeface="Cormorant Garamond SemiBold" pitchFamily="2" charset="77"/>
                <a:cs typeface="Cormorant Garamond SemiBold" pitchFamily="2" charset="77"/>
              </a:rPr>
              <a:t> Société Civile de Placement Immobilier</a:t>
            </a:r>
          </a:p>
        </p:txBody>
      </p:sp>
      <p:sp>
        <p:nvSpPr>
          <p:cNvPr id="6" name="Text 9">
            <a:extLst>
              <a:ext uri="{FF2B5EF4-FFF2-40B4-BE49-F238E27FC236}">
                <a16:creationId xmlns:a16="http://schemas.microsoft.com/office/drawing/2014/main" id="{E8820853-62EE-AE14-070E-733D65236774}"/>
              </a:ext>
            </a:extLst>
          </p:cNvPr>
          <p:cNvSpPr/>
          <p:nvPr/>
        </p:nvSpPr>
        <p:spPr>
          <a:xfrm>
            <a:off x="947468" y="949911"/>
            <a:ext cx="4846581"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Conseil en Investissement immobilier : Edmond de Rothschild EUROPA</a:t>
            </a:r>
          </a:p>
        </p:txBody>
      </p:sp>
      <p:sp>
        <p:nvSpPr>
          <p:cNvPr id="8" name="Rectangle : avec coins arrondis en haut 7">
            <a:extLst>
              <a:ext uri="{FF2B5EF4-FFF2-40B4-BE49-F238E27FC236}">
                <a16:creationId xmlns:a16="http://schemas.microsoft.com/office/drawing/2014/main" id="{FDA3E1F0-A48F-064F-786F-F039865A3230}"/>
              </a:ext>
            </a:extLst>
          </p:cNvPr>
          <p:cNvSpPr/>
          <p:nvPr/>
        </p:nvSpPr>
        <p:spPr>
          <a:xfrm>
            <a:off x="1403716" y="1767875"/>
            <a:ext cx="2932540"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Indicateurs clés</a:t>
            </a:r>
          </a:p>
        </p:txBody>
      </p:sp>
      <p:sp>
        <p:nvSpPr>
          <p:cNvPr id="9" name="Rectangle 8">
            <a:extLst>
              <a:ext uri="{FF2B5EF4-FFF2-40B4-BE49-F238E27FC236}">
                <a16:creationId xmlns:a16="http://schemas.microsoft.com/office/drawing/2014/main" id="{55E9876B-4600-E248-F216-CDB78022CD1B}"/>
              </a:ext>
            </a:extLst>
          </p:cNvPr>
          <p:cNvSpPr/>
          <p:nvPr/>
        </p:nvSpPr>
        <p:spPr>
          <a:xfrm>
            <a:off x="1397642" y="2168305"/>
            <a:ext cx="2945758" cy="1260695"/>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368BBD45-5646-30FC-911E-6801B94B13DE}"/>
              </a:ext>
            </a:extLst>
          </p:cNvPr>
          <p:cNvSpPr/>
          <p:nvPr/>
        </p:nvSpPr>
        <p:spPr>
          <a:xfrm>
            <a:off x="1388748" y="3988158"/>
            <a:ext cx="2930052" cy="1968874"/>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spcAft>
                <a:spcPts val="400"/>
              </a:spcAft>
            </a:pPr>
            <a:endParaRPr lang="fr-FR" sz="900" b="1" dirty="0">
              <a:solidFill>
                <a:schemeClr val="tx1"/>
              </a:solidFill>
              <a:latin typeface="Jost Light" pitchFamily="2" charset="77"/>
              <a:ea typeface="Jost Light" pitchFamily="2" charset="77"/>
            </a:endParaRPr>
          </a:p>
          <a:p>
            <a:pPr algn="ctr">
              <a:spcAft>
                <a:spcPts val="400"/>
              </a:spcAft>
            </a:pPr>
            <a:r>
              <a:rPr lang="fr-FR" sz="900" b="1" dirty="0">
                <a:solidFill>
                  <a:schemeClr val="tx1"/>
                </a:solidFill>
                <a:latin typeface="Jost Light" pitchFamily="2" charset="77"/>
                <a:ea typeface="Jost Light" pitchFamily="2" charset="77"/>
              </a:rPr>
              <a:t>Maison de Gestion </a:t>
            </a:r>
            <a:r>
              <a:rPr lang="fr-FR" sz="900" dirty="0">
                <a:solidFill>
                  <a:schemeClr val="tx1"/>
                </a:solidFill>
                <a:latin typeface="Jost Light" pitchFamily="2" charset="77"/>
                <a:ea typeface="Jost Light" pitchFamily="2" charset="77"/>
              </a:rPr>
              <a:t>: Edmond de Rothschild REIM - AM</a:t>
            </a:r>
          </a:p>
          <a:p>
            <a:pPr algn="ctr">
              <a:spcAft>
                <a:spcPts val="400"/>
              </a:spcAft>
            </a:pPr>
            <a:r>
              <a:rPr lang="fr-FR" sz="900" b="1" dirty="0">
                <a:solidFill>
                  <a:schemeClr val="tx1"/>
                </a:solidFill>
                <a:latin typeface="Jost Light" pitchFamily="2" charset="77"/>
                <a:ea typeface="Jost Light" pitchFamily="2" charset="77"/>
              </a:rPr>
              <a:t>Prix de part </a:t>
            </a:r>
            <a:r>
              <a:rPr lang="fr-FR" sz="900" dirty="0">
                <a:solidFill>
                  <a:schemeClr val="tx1"/>
                </a:solidFill>
                <a:latin typeface="Jost Light" pitchFamily="2" charset="77"/>
                <a:ea typeface="Jost Light" pitchFamily="2" charset="77"/>
              </a:rPr>
              <a:t>: 2024 : 200 EUR</a:t>
            </a:r>
          </a:p>
          <a:p>
            <a:pPr algn="ctr">
              <a:spcAft>
                <a:spcPts val="400"/>
              </a:spcAft>
            </a:pPr>
            <a:r>
              <a:rPr lang="fr-FR" sz="900" dirty="0">
                <a:solidFill>
                  <a:schemeClr val="tx1"/>
                </a:solidFill>
                <a:latin typeface="Jost Light" pitchFamily="2" charset="77"/>
                <a:ea typeface="Jost Light" pitchFamily="2" charset="77"/>
              </a:rPr>
              <a:t>Aujourd’hui : 202 EUR</a:t>
            </a:r>
          </a:p>
          <a:p>
            <a:pPr algn="ctr">
              <a:spcAft>
                <a:spcPts val="400"/>
              </a:spcAft>
            </a:pPr>
            <a:r>
              <a:rPr lang="fr-FR" sz="900" b="1" dirty="0">
                <a:solidFill>
                  <a:schemeClr val="tx1"/>
                </a:solidFill>
                <a:latin typeface="Jost Light" pitchFamily="2" charset="77"/>
                <a:ea typeface="Jost Light" pitchFamily="2" charset="77"/>
              </a:rPr>
              <a:t>Valeur de reconstitution </a:t>
            </a:r>
            <a:r>
              <a:rPr lang="fr-FR" sz="900" dirty="0">
                <a:solidFill>
                  <a:schemeClr val="tx1"/>
                </a:solidFill>
                <a:latin typeface="Jost Light" pitchFamily="2" charset="77"/>
                <a:ea typeface="Jost Light" pitchFamily="2" charset="77"/>
              </a:rPr>
              <a:t>: 213 EUR</a:t>
            </a:r>
          </a:p>
          <a:p>
            <a:pPr algn="just">
              <a:spcAft>
                <a:spcPts val="400"/>
              </a:spcAft>
            </a:pPr>
            <a:endParaRPr lang="fr-FR" sz="900" dirty="0">
              <a:solidFill>
                <a:schemeClr val="tx1"/>
              </a:solidFill>
              <a:latin typeface="Jost Light" pitchFamily="2" charset="77"/>
              <a:ea typeface="Jost Light" pitchFamily="2" charset="77"/>
            </a:endParaRPr>
          </a:p>
          <a:p>
            <a:pPr algn="just">
              <a:spcAft>
                <a:spcPts val="400"/>
              </a:spcAft>
            </a:pPr>
            <a:r>
              <a:rPr lang="fr-FR" sz="900" b="1" dirty="0">
                <a:solidFill>
                  <a:schemeClr val="tx1"/>
                </a:solidFill>
                <a:latin typeface="Jost Light" pitchFamily="2" charset="77"/>
                <a:ea typeface="Jost Light" pitchFamily="2" charset="77"/>
              </a:rPr>
              <a:t>Délai de jouissance </a:t>
            </a:r>
            <a:r>
              <a:rPr lang="fr-FR" sz="900" dirty="0">
                <a:solidFill>
                  <a:schemeClr val="tx1"/>
                </a:solidFill>
                <a:latin typeface="Jost Light" pitchFamily="2" charset="77"/>
                <a:ea typeface="Jost Light" pitchFamily="2" charset="77"/>
              </a:rPr>
              <a:t>: au 1er jour du sixième mois suivant la date d’encaissement de la souscription part la maison de gestion.</a:t>
            </a:r>
          </a:p>
          <a:p>
            <a:pPr algn="ctr">
              <a:spcAft>
                <a:spcPts val="400"/>
              </a:spcAft>
            </a:pPr>
            <a:endParaRPr lang="fr-FR" sz="900" dirty="0">
              <a:solidFill>
                <a:schemeClr val="tx1"/>
              </a:solidFill>
              <a:latin typeface="Jost Light" pitchFamily="2" charset="77"/>
              <a:ea typeface="Jost Light" pitchFamily="2" charset="77"/>
            </a:endParaRPr>
          </a:p>
          <a:p>
            <a:pPr algn="ctr">
              <a:spcAft>
                <a:spcPts val="400"/>
              </a:spcAft>
            </a:pPr>
            <a:r>
              <a:rPr lang="fr-FR" sz="900" b="1" dirty="0">
                <a:solidFill>
                  <a:srgbClr val="1A1A1A"/>
                </a:solidFill>
                <a:latin typeface="Jost Light" pitchFamily="2" charset="77"/>
                <a:ea typeface="Jost Light" pitchFamily="2" charset="77"/>
              </a:rPr>
              <a:t>SCPI européenne : avantages fiscaux.</a:t>
            </a:r>
            <a:endParaRPr lang="fr-FR" sz="900" b="1" dirty="0">
              <a:solidFill>
                <a:schemeClr val="tx1"/>
              </a:solidFill>
              <a:latin typeface="Jost Light" pitchFamily="2" charset="77"/>
              <a:ea typeface="Jost Light" pitchFamily="2" charset="77"/>
            </a:endParaRPr>
          </a:p>
          <a:p>
            <a:pPr algn="ctr">
              <a:spcAft>
                <a:spcPts val="400"/>
              </a:spcAft>
            </a:pPr>
            <a:endParaRPr lang="fr-FR" sz="900" dirty="0">
              <a:solidFill>
                <a:schemeClr val="tx1"/>
              </a:solidFill>
              <a:latin typeface="Jost Light" pitchFamily="2" charset="77"/>
              <a:ea typeface="Jost Light" pitchFamily="2" charset="77"/>
            </a:endParaRPr>
          </a:p>
        </p:txBody>
      </p:sp>
      <p:sp>
        <p:nvSpPr>
          <p:cNvPr id="15" name="Rectangle 14">
            <a:extLst>
              <a:ext uri="{FF2B5EF4-FFF2-40B4-BE49-F238E27FC236}">
                <a16:creationId xmlns:a16="http://schemas.microsoft.com/office/drawing/2014/main" id="{7BC5A11B-8C79-636C-D371-C3221795578D}"/>
              </a:ext>
            </a:extLst>
          </p:cNvPr>
          <p:cNvSpPr/>
          <p:nvPr/>
        </p:nvSpPr>
        <p:spPr>
          <a:xfrm>
            <a:off x="1406580" y="3484180"/>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Distribution trimestrielle</a:t>
            </a:r>
          </a:p>
        </p:txBody>
      </p:sp>
      <p:sp>
        <p:nvSpPr>
          <p:cNvPr id="21" name="Rectangle 20">
            <a:extLst>
              <a:ext uri="{FF2B5EF4-FFF2-40B4-BE49-F238E27FC236}">
                <a16:creationId xmlns:a16="http://schemas.microsoft.com/office/drawing/2014/main" id="{335F484A-6E78-C829-B977-92A8637C1A7D}"/>
              </a:ext>
            </a:extLst>
          </p:cNvPr>
          <p:cNvSpPr/>
          <p:nvPr/>
        </p:nvSpPr>
        <p:spPr>
          <a:xfrm>
            <a:off x="1393442" y="5957032"/>
            <a:ext cx="2932810" cy="50397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solidFill>
                  <a:schemeClr val="bg1"/>
                </a:solidFill>
                <a:latin typeface="Jost Medium" pitchFamily="2" charset="77"/>
                <a:ea typeface="Jost Medium" pitchFamily="2" charset="77"/>
              </a:rPr>
              <a:t>Taux distribué en 2025 : 8.75% </a:t>
            </a:r>
            <a:r>
              <a:rPr lang="fr-FR" sz="1200" dirty="0" err="1">
                <a:solidFill>
                  <a:schemeClr val="bg1"/>
                </a:solidFill>
                <a:latin typeface="Jost Medium" pitchFamily="2" charset="77"/>
                <a:ea typeface="Jost Medium" pitchFamily="2" charset="77"/>
              </a:rPr>
              <a:t>p.a</a:t>
            </a:r>
            <a:r>
              <a:rPr lang="fr-FR" sz="1200" dirty="0">
                <a:solidFill>
                  <a:schemeClr val="bg1"/>
                </a:solidFill>
                <a:latin typeface="Jost Medium" pitchFamily="2" charset="77"/>
                <a:ea typeface="Jost Medium" pitchFamily="2" charset="77"/>
              </a:rPr>
              <a:t>.</a:t>
            </a:r>
          </a:p>
        </p:txBody>
      </p:sp>
      <p:pic>
        <p:nvPicPr>
          <p:cNvPr id="31" name="Image 30">
            <a:extLst>
              <a:ext uri="{FF2B5EF4-FFF2-40B4-BE49-F238E27FC236}">
                <a16:creationId xmlns:a16="http://schemas.microsoft.com/office/drawing/2014/main" id="{F7D6CE17-076E-30EA-9CA0-2226DE348B0D}"/>
              </a:ext>
            </a:extLst>
          </p:cNvPr>
          <p:cNvPicPr>
            <a:picLocks noChangeAspect="1"/>
          </p:cNvPicPr>
          <p:nvPr/>
        </p:nvPicPr>
        <p:blipFill>
          <a:blip r:embed="rId5">
            <a:duotone>
              <a:prstClr val="black"/>
              <a:srgbClr val="063527">
                <a:tint val="45000"/>
                <a:satMod val="400000"/>
              </a:srgbClr>
            </a:duotone>
          </a:blip>
          <a:stretch>
            <a:fillRect/>
          </a:stretch>
        </p:blipFill>
        <p:spPr>
          <a:xfrm>
            <a:off x="11005640" y="374477"/>
            <a:ext cx="792892" cy="264297"/>
          </a:xfrm>
          <a:prstGeom prst="rect">
            <a:avLst/>
          </a:prstGeom>
        </p:spPr>
      </p:pic>
      <p:sp>
        <p:nvSpPr>
          <p:cNvPr id="26" name="Rectangle : avec coins arrondis en haut 25">
            <a:extLst>
              <a:ext uri="{FF2B5EF4-FFF2-40B4-BE49-F238E27FC236}">
                <a16:creationId xmlns:a16="http://schemas.microsoft.com/office/drawing/2014/main" id="{1F691249-B7AE-CF20-3F76-277DEC1D3E29}"/>
              </a:ext>
            </a:extLst>
          </p:cNvPr>
          <p:cNvSpPr/>
          <p:nvPr/>
        </p:nvSpPr>
        <p:spPr>
          <a:xfrm>
            <a:off x="4935731" y="1767875"/>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géographique</a:t>
            </a:r>
          </a:p>
        </p:txBody>
      </p:sp>
      <p:sp>
        <p:nvSpPr>
          <p:cNvPr id="46" name="Stat 0 108">
            <a:extLst>
              <a:ext uri="{FF2B5EF4-FFF2-40B4-BE49-F238E27FC236}">
                <a16:creationId xmlns:a16="http://schemas.microsoft.com/office/drawing/2014/main" id="{B3E294C5-504C-50B4-6EF9-6821FE76EAAC}"/>
              </a:ext>
            </a:extLst>
          </p:cNvPr>
          <p:cNvSpPr txBox="1"/>
          <p:nvPr/>
        </p:nvSpPr>
        <p:spPr>
          <a:xfrm>
            <a:off x="9286899" y="4768961"/>
            <a:ext cx="2073117" cy="494287"/>
          </a:xfrm>
          <a:prstGeom prst="rect">
            <a:avLst/>
          </a:prstGeom>
          <a:solidFill>
            <a:srgbClr val="15462A"/>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Taux d’occupation financière</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100%</a:t>
            </a:r>
          </a:p>
        </p:txBody>
      </p:sp>
      <p:sp>
        <p:nvSpPr>
          <p:cNvPr id="48" name="Stat 0 108">
            <a:extLst>
              <a:ext uri="{FF2B5EF4-FFF2-40B4-BE49-F238E27FC236}">
                <a16:creationId xmlns:a16="http://schemas.microsoft.com/office/drawing/2014/main" id="{9499BF20-4AF7-8C04-A60C-5526E669CA2C}"/>
              </a:ext>
            </a:extLst>
          </p:cNvPr>
          <p:cNvSpPr txBox="1"/>
          <p:nvPr/>
        </p:nvSpPr>
        <p:spPr>
          <a:xfrm>
            <a:off x="7111315" y="4770410"/>
            <a:ext cx="2106826" cy="494288"/>
          </a:xfrm>
          <a:prstGeom prst="rect">
            <a:avLst/>
          </a:prstGeom>
          <a:solidFill>
            <a:srgbClr val="AA853F"/>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Capitalisation</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153M EUR</a:t>
            </a:r>
          </a:p>
        </p:txBody>
      </p:sp>
      <p:sp>
        <p:nvSpPr>
          <p:cNvPr id="49" name="Stat 0 108">
            <a:extLst>
              <a:ext uri="{FF2B5EF4-FFF2-40B4-BE49-F238E27FC236}">
                <a16:creationId xmlns:a16="http://schemas.microsoft.com/office/drawing/2014/main" id="{D7CCF2F4-44B9-B60E-48A6-2217AA5C150A}"/>
              </a:ext>
            </a:extLst>
          </p:cNvPr>
          <p:cNvSpPr txBox="1"/>
          <p:nvPr/>
        </p:nvSpPr>
        <p:spPr>
          <a:xfrm>
            <a:off x="4935731" y="4775194"/>
            <a:ext cx="2106826" cy="494287"/>
          </a:xfrm>
          <a:prstGeom prst="rect">
            <a:avLst/>
          </a:prstGeom>
          <a:solidFill>
            <a:srgbClr val="E6C989"/>
          </a:solidFill>
          <a:ln>
            <a:noFill/>
          </a:ln>
        </p:spPr>
        <p:txBody>
          <a:bodyPr wrap="square" lIns="0" tIns="0" rIns="0" bIns="0" rtlCol="0" anchor="ctr">
            <a:normAutofit/>
          </a:bodyPr>
          <a:lstStyle/>
          <a:p>
            <a:pPr algn="ctr"/>
            <a:r>
              <a:rPr lang="fr-FR" sz="1000" dirty="0">
                <a:solidFill>
                  <a:srgbClr val="FFFFFF"/>
                </a:solidFill>
                <a:latin typeface="Jost Medium" pitchFamily="2" charset="77"/>
                <a:ea typeface="Jost Medium" pitchFamily="2" charset="77"/>
                <a:cs typeface="Jost Medium" pitchFamily="2" charset="77"/>
              </a:rPr>
              <a:t>Risque SRRI</a:t>
            </a:r>
          </a:p>
          <a:p>
            <a:pPr algn="ctr"/>
            <a:r>
              <a:rPr lang="fr-FR" sz="1000" b="1" dirty="0">
                <a:solidFill>
                  <a:srgbClr val="FFFFFF"/>
                </a:solidFill>
                <a:latin typeface="Cormorant Garamond SemiBold" pitchFamily="2" charset="77"/>
                <a:ea typeface="Cormorant Garamond SemiBold" pitchFamily="2" charset="77"/>
                <a:cs typeface="Cormorant Garamond SemiBold" pitchFamily="2" charset="77"/>
              </a:rPr>
              <a:t>3/7</a:t>
            </a:r>
          </a:p>
        </p:txBody>
      </p:sp>
      <p:sp>
        <p:nvSpPr>
          <p:cNvPr id="57" name="ZoneTexte 56">
            <a:extLst>
              <a:ext uri="{FF2B5EF4-FFF2-40B4-BE49-F238E27FC236}">
                <a16:creationId xmlns:a16="http://schemas.microsoft.com/office/drawing/2014/main" id="{6B79DD10-3380-4645-4CE3-319D40A63879}"/>
              </a:ext>
            </a:extLst>
          </p:cNvPr>
          <p:cNvSpPr txBox="1"/>
          <p:nvPr/>
        </p:nvSpPr>
        <p:spPr>
          <a:xfrm>
            <a:off x="7474822" y="3260102"/>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Pays-Bas</a:t>
            </a:r>
            <a:endParaRPr lang="fr-FR" dirty="0">
              <a:latin typeface="Jost Medium" pitchFamily="2" charset="77"/>
              <a:ea typeface="Jost Medium" pitchFamily="2" charset="77"/>
            </a:endParaRPr>
          </a:p>
        </p:txBody>
      </p:sp>
      <p:sp>
        <p:nvSpPr>
          <p:cNvPr id="62" name="Rectangle : avec coins arrondis en haut 61">
            <a:extLst>
              <a:ext uri="{FF2B5EF4-FFF2-40B4-BE49-F238E27FC236}">
                <a16:creationId xmlns:a16="http://schemas.microsoft.com/office/drawing/2014/main" id="{EFB7B1A9-DE25-2D39-A80C-19AB624D4866}"/>
              </a:ext>
            </a:extLst>
          </p:cNvPr>
          <p:cNvSpPr/>
          <p:nvPr/>
        </p:nvSpPr>
        <p:spPr>
          <a:xfrm>
            <a:off x="8187915" y="1774963"/>
            <a:ext cx="3177779"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Répartition sectorielle</a:t>
            </a:r>
          </a:p>
        </p:txBody>
      </p:sp>
      <p:sp>
        <p:nvSpPr>
          <p:cNvPr id="63" name="Rectangle 62">
            <a:extLst>
              <a:ext uri="{FF2B5EF4-FFF2-40B4-BE49-F238E27FC236}">
                <a16:creationId xmlns:a16="http://schemas.microsoft.com/office/drawing/2014/main" id="{B4CF1EEA-054B-C08B-0A6F-796C2BE0B856}"/>
              </a:ext>
            </a:extLst>
          </p:cNvPr>
          <p:cNvSpPr/>
          <p:nvPr/>
        </p:nvSpPr>
        <p:spPr>
          <a:xfrm>
            <a:off x="4946888" y="5457923"/>
            <a:ext cx="6475356" cy="1125852"/>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fr-FR" sz="800" dirty="0">
                <a:solidFill>
                  <a:srgbClr val="1A1A1A"/>
                </a:solidFill>
                <a:latin typeface="Jost Light" pitchFamily="2" charset="77"/>
                <a:ea typeface="Jost Light" pitchFamily="2" charset="77"/>
              </a:rPr>
              <a:t>Lancée en 2024, EDR Europa s'appuie sur un atout que peu de jeunes SCPI peuvent revendiquer qui est la plateforme immobilière déjà déployée d'Edmond de Rothschild REIM, avec un ancrage local dans une petite dizaine de pays européens. Il y a plus de 150 professionnels répartis dans 7 à 8 pays, couvrant tout le cycle de vie d'un actif, de l'investissement à la gestion locative. Ce n'est donc pas une jeune société de gestion qui découvre l'Europe : c'est un savoir-faire déjà rodé qui se traduit directement sur le terrain.</a:t>
            </a:r>
          </a:p>
          <a:p>
            <a:pPr algn="just"/>
            <a:endParaRPr lang="fr-FR" sz="800" dirty="0">
              <a:solidFill>
                <a:srgbClr val="1A1A1A"/>
              </a:solidFill>
              <a:latin typeface="Jost Light" pitchFamily="2" charset="77"/>
              <a:ea typeface="Jost Light" pitchFamily="2" charset="77"/>
            </a:endParaRPr>
          </a:p>
          <a:p>
            <a:pPr algn="just"/>
            <a:r>
              <a:rPr lang="fr-FR" sz="800" dirty="0">
                <a:solidFill>
                  <a:srgbClr val="1A1A1A"/>
                </a:solidFill>
                <a:latin typeface="Jost Light" pitchFamily="2" charset="77"/>
                <a:ea typeface="Jost Light" pitchFamily="2" charset="77"/>
              </a:rPr>
              <a:t>EDR Europa se distingue par un profil particulièrement défensif. Plutôt que de miser sur les bureaux (le segment le plus fragilisé par la crise de l'immobilier tertiaire depuis 2023), elle privilégie des actifs véritablement patrimoniaux. C'est cette diversification qui fait d'EDR Europa une SCPI déjà résiliente aujourd'hui, et qui a vocation à le rester demain, quelle que soit l'évolution des cycles immobiliers en Europe.</a:t>
            </a:r>
          </a:p>
        </p:txBody>
      </p:sp>
      <p:sp>
        <p:nvSpPr>
          <p:cNvPr id="73" name="ZoneTexte 72">
            <a:extLst>
              <a:ext uri="{FF2B5EF4-FFF2-40B4-BE49-F238E27FC236}">
                <a16:creationId xmlns:a16="http://schemas.microsoft.com/office/drawing/2014/main" id="{DD133A88-251B-AA5D-C204-504EB7CEFAE3}"/>
              </a:ext>
            </a:extLst>
          </p:cNvPr>
          <p:cNvSpPr txBox="1"/>
          <p:nvPr/>
        </p:nvSpPr>
        <p:spPr>
          <a:xfrm>
            <a:off x="10698166" y="3436410"/>
            <a:ext cx="1293542" cy="307777"/>
          </a:xfrm>
          <a:prstGeom prst="rect">
            <a:avLst/>
          </a:prstGeom>
          <a:noFill/>
        </p:spPr>
        <p:txBody>
          <a:bodyPr wrap="square" rtlCol="0">
            <a:spAutoFit/>
          </a:bodyPr>
          <a:lstStyle/>
          <a:p>
            <a:r>
              <a:rPr lang="fr-FR" sz="700" dirty="0">
                <a:latin typeface="Jost Medium" pitchFamily="2" charset="77"/>
                <a:ea typeface="Jost Medium" pitchFamily="2" charset="77"/>
              </a:rPr>
              <a:t>Locaux </a:t>
            </a:r>
          </a:p>
          <a:p>
            <a:r>
              <a:rPr lang="fr-FR" sz="700" dirty="0">
                <a:latin typeface="Jost Medium" pitchFamily="2" charset="77"/>
                <a:ea typeface="Jost Medium" pitchFamily="2" charset="77"/>
              </a:rPr>
              <a:t>d’activité</a:t>
            </a:r>
            <a:endParaRPr lang="fr-FR" dirty="0">
              <a:latin typeface="Jost Medium" pitchFamily="2" charset="77"/>
              <a:ea typeface="Jost Medium" pitchFamily="2" charset="77"/>
            </a:endParaRPr>
          </a:p>
        </p:txBody>
      </p:sp>
      <p:sp>
        <p:nvSpPr>
          <p:cNvPr id="23" name="ZoneTexte 22">
            <a:extLst>
              <a:ext uri="{FF2B5EF4-FFF2-40B4-BE49-F238E27FC236}">
                <a16:creationId xmlns:a16="http://schemas.microsoft.com/office/drawing/2014/main" id="{C5EFE43C-3BC4-20E6-289A-BB32CB1ADAB8}"/>
              </a:ext>
            </a:extLst>
          </p:cNvPr>
          <p:cNvSpPr txBox="1"/>
          <p:nvPr/>
        </p:nvSpPr>
        <p:spPr>
          <a:xfrm>
            <a:off x="5016723" y="276799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Royaume-Uni</a:t>
            </a:r>
            <a:endParaRPr lang="fr-FR" dirty="0">
              <a:latin typeface="Jost Medium" pitchFamily="2" charset="77"/>
              <a:ea typeface="Jost Medium" pitchFamily="2" charset="77"/>
            </a:endParaRPr>
          </a:p>
        </p:txBody>
      </p:sp>
      <p:sp>
        <p:nvSpPr>
          <p:cNvPr id="27" name="ZoneTexte 26">
            <a:extLst>
              <a:ext uri="{FF2B5EF4-FFF2-40B4-BE49-F238E27FC236}">
                <a16:creationId xmlns:a16="http://schemas.microsoft.com/office/drawing/2014/main" id="{CE838789-E843-1C77-7AF0-8BB5870B852F}"/>
              </a:ext>
            </a:extLst>
          </p:cNvPr>
          <p:cNvSpPr txBox="1"/>
          <p:nvPr/>
        </p:nvSpPr>
        <p:spPr>
          <a:xfrm>
            <a:off x="8640128" y="4032328"/>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Commerces</a:t>
            </a:r>
            <a:endParaRPr lang="fr-FR" dirty="0">
              <a:latin typeface="Jost Medium" pitchFamily="2" charset="77"/>
              <a:ea typeface="Jost Medium" pitchFamily="2" charset="77"/>
            </a:endParaRPr>
          </a:p>
        </p:txBody>
      </p:sp>
      <p:sp>
        <p:nvSpPr>
          <p:cNvPr id="28" name="ZoneTexte 27">
            <a:extLst>
              <a:ext uri="{FF2B5EF4-FFF2-40B4-BE49-F238E27FC236}">
                <a16:creationId xmlns:a16="http://schemas.microsoft.com/office/drawing/2014/main" id="{8CFA53D9-0C1B-67A0-FBDF-933B28D6BEFB}"/>
              </a:ext>
            </a:extLst>
          </p:cNvPr>
          <p:cNvSpPr txBox="1"/>
          <p:nvPr/>
        </p:nvSpPr>
        <p:spPr>
          <a:xfrm>
            <a:off x="8210095" y="3093292"/>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Logistique</a:t>
            </a:r>
            <a:endParaRPr lang="fr-FR" dirty="0">
              <a:latin typeface="Jost Medium" pitchFamily="2" charset="77"/>
              <a:ea typeface="Jost Medium" pitchFamily="2" charset="77"/>
            </a:endParaRPr>
          </a:p>
        </p:txBody>
      </p:sp>
      <p:sp>
        <p:nvSpPr>
          <p:cNvPr id="29" name="ZoneTexte 28">
            <a:extLst>
              <a:ext uri="{FF2B5EF4-FFF2-40B4-BE49-F238E27FC236}">
                <a16:creationId xmlns:a16="http://schemas.microsoft.com/office/drawing/2014/main" id="{18546D10-DCE5-26D0-0382-BFBDED9BF588}"/>
              </a:ext>
            </a:extLst>
          </p:cNvPr>
          <p:cNvSpPr txBox="1"/>
          <p:nvPr/>
        </p:nvSpPr>
        <p:spPr>
          <a:xfrm>
            <a:off x="9127194" y="2239960"/>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Bureaux</a:t>
            </a:r>
            <a:endParaRPr lang="fr-FR" dirty="0">
              <a:latin typeface="Jost Medium" pitchFamily="2" charset="77"/>
              <a:ea typeface="Jost Medium" pitchFamily="2" charset="77"/>
            </a:endParaRPr>
          </a:p>
        </p:txBody>
      </p:sp>
      <p:pic>
        <p:nvPicPr>
          <p:cNvPr id="4" name="Image 3">
            <a:extLst>
              <a:ext uri="{FF2B5EF4-FFF2-40B4-BE49-F238E27FC236}">
                <a16:creationId xmlns:a16="http://schemas.microsoft.com/office/drawing/2014/main" id="{B341954C-D44E-69DA-D127-BA7BB85F4D21}"/>
              </a:ext>
            </a:extLst>
          </p:cNvPr>
          <p:cNvPicPr>
            <a:picLocks noChangeAspect="1"/>
          </p:cNvPicPr>
          <p:nvPr/>
        </p:nvPicPr>
        <p:blipFill>
          <a:blip r:embed="rId6"/>
          <a:stretch>
            <a:fillRect/>
          </a:stretch>
        </p:blipFill>
        <p:spPr>
          <a:xfrm>
            <a:off x="1877522" y="2440015"/>
            <a:ext cx="1964649" cy="597009"/>
          </a:xfrm>
          <a:prstGeom prst="rect">
            <a:avLst/>
          </a:prstGeom>
        </p:spPr>
      </p:pic>
      <p:sp>
        <p:nvSpPr>
          <p:cNvPr id="10" name="ZoneTexte 9">
            <a:extLst>
              <a:ext uri="{FF2B5EF4-FFF2-40B4-BE49-F238E27FC236}">
                <a16:creationId xmlns:a16="http://schemas.microsoft.com/office/drawing/2014/main" id="{4EA79B38-E3AD-C12E-C68E-8FC64C5DE5F9}"/>
              </a:ext>
            </a:extLst>
          </p:cNvPr>
          <p:cNvSpPr txBox="1"/>
          <p:nvPr/>
        </p:nvSpPr>
        <p:spPr>
          <a:xfrm>
            <a:off x="5342373" y="3996367"/>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Allemagne</a:t>
            </a:r>
            <a:endParaRPr lang="fr-FR" dirty="0">
              <a:latin typeface="Jost Medium" pitchFamily="2" charset="77"/>
              <a:ea typeface="Jost Medium" pitchFamily="2" charset="77"/>
            </a:endParaRPr>
          </a:p>
        </p:txBody>
      </p:sp>
      <p:sp>
        <p:nvSpPr>
          <p:cNvPr id="13" name="ZoneTexte 12">
            <a:extLst>
              <a:ext uri="{FF2B5EF4-FFF2-40B4-BE49-F238E27FC236}">
                <a16:creationId xmlns:a16="http://schemas.microsoft.com/office/drawing/2014/main" id="{F479E868-C257-C158-041F-AD367D12EEE8}"/>
              </a:ext>
            </a:extLst>
          </p:cNvPr>
          <p:cNvSpPr txBox="1"/>
          <p:nvPr/>
        </p:nvSpPr>
        <p:spPr>
          <a:xfrm>
            <a:off x="5873808" y="2229254"/>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France</a:t>
            </a:r>
            <a:endParaRPr lang="fr-FR" dirty="0">
              <a:latin typeface="Jost Medium" pitchFamily="2" charset="77"/>
              <a:ea typeface="Jost Medium" pitchFamily="2" charset="77"/>
            </a:endParaRPr>
          </a:p>
        </p:txBody>
      </p:sp>
      <p:sp>
        <p:nvSpPr>
          <p:cNvPr id="17" name="ZoneTexte 16">
            <a:extLst>
              <a:ext uri="{FF2B5EF4-FFF2-40B4-BE49-F238E27FC236}">
                <a16:creationId xmlns:a16="http://schemas.microsoft.com/office/drawing/2014/main" id="{7018A211-6E60-2F19-75FD-CDF5EC741909}"/>
              </a:ext>
            </a:extLst>
          </p:cNvPr>
          <p:cNvSpPr txBox="1"/>
          <p:nvPr/>
        </p:nvSpPr>
        <p:spPr>
          <a:xfrm>
            <a:off x="8463313" y="2515872"/>
            <a:ext cx="1293542" cy="200055"/>
          </a:xfrm>
          <a:prstGeom prst="rect">
            <a:avLst/>
          </a:prstGeom>
          <a:noFill/>
        </p:spPr>
        <p:txBody>
          <a:bodyPr wrap="square" rtlCol="0">
            <a:spAutoFit/>
          </a:bodyPr>
          <a:lstStyle/>
          <a:p>
            <a:r>
              <a:rPr lang="fr-FR" sz="700" dirty="0">
                <a:latin typeface="Jost Medium" pitchFamily="2" charset="77"/>
                <a:ea typeface="Jost Medium" pitchFamily="2" charset="77"/>
              </a:rPr>
              <a:t>Hôtellerie</a:t>
            </a:r>
            <a:endParaRPr lang="fr-FR" dirty="0">
              <a:latin typeface="Jost Medium" pitchFamily="2" charset="77"/>
              <a:ea typeface="Jost Medium" pitchFamily="2" charset="77"/>
            </a:endParaRPr>
          </a:p>
        </p:txBody>
      </p:sp>
    </p:spTree>
    <p:extLst>
      <p:ext uri="{BB962C8B-B14F-4D97-AF65-F5344CB8AC3E}">
        <p14:creationId xmlns:p14="http://schemas.microsoft.com/office/powerpoint/2010/main" val="35056264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B7CE3-87D5-AA9D-25DE-08A9E441F071}"/>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3F393875-6BBF-0848-8B21-C478068A807C}"/>
              </a:ext>
            </a:extLst>
          </p:cNvPr>
          <p:cNvSpPr/>
          <p:nvPr/>
        </p:nvSpPr>
        <p:spPr>
          <a:xfrm>
            <a:off x="464234" y="351693"/>
            <a:ext cx="93036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B3D5E9C8-19A3-F8EE-C969-1410D3CB05E8}"/>
              </a:ext>
            </a:extLst>
          </p:cNvPr>
          <p:cNvSpPr txBox="1"/>
          <p:nvPr/>
        </p:nvSpPr>
        <p:spPr>
          <a:xfrm>
            <a:off x="1310516" y="3429000"/>
            <a:ext cx="5050527" cy="1200329"/>
          </a:xfrm>
          <a:prstGeom prst="rect">
            <a:avLst/>
          </a:prstGeom>
          <a:noFill/>
        </p:spPr>
        <p:txBody>
          <a:bodyPr wrap="square" rtlCol="0">
            <a:spAutoFit/>
          </a:bodyPr>
          <a:lstStyle/>
          <a:p>
            <a:r>
              <a:rPr lang="fr-FR" sz="3600" b="1" dirty="0">
                <a:solidFill>
                  <a:srgbClr val="E7DCC7"/>
                </a:solidFill>
                <a:latin typeface="Jost SemiBold" pitchFamily="2" charset="77"/>
                <a:ea typeface="Jost SemiBold" pitchFamily="2" charset="77"/>
                <a:cs typeface="Futura" panose="020B0602020204020303" pitchFamily="34" charset="-79"/>
              </a:rPr>
              <a:t>3. L’allocation retenue de votre enveloppe</a:t>
            </a:r>
          </a:p>
        </p:txBody>
      </p:sp>
      <p:sp>
        <p:nvSpPr>
          <p:cNvPr id="12" name="Shape 8">
            <a:extLst>
              <a:ext uri="{FF2B5EF4-FFF2-40B4-BE49-F238E27FC236}">
                <a16:creationId xmlns:a16="http://schemas.microsoft.com/office/drawing/2014/main" id="{3BFE517E-ECC3-C720-F865-5F3B69DA919B}"/>
              </a:ext>
            </a:extLst>
          </p:cNvPr>
          <p:cNvSpPr/>
          <p:nvPr/>
        </p:nvSpPr>
        <p:spPr>
          <a:xfrm>
            <a:off x="1371476" y="5012467"/>
            <a:ext cx="2009154" cy="0"/>
          </a:xfrm>
          <a:prstGeom prst="line">
            <a:avLst/>
          </a:prstGeom>
          <a:noFill/>
          <a:ln w="19050">
            <a:solidFill>
              <a:srgbClr val="A9853F"/>
            </a:solidFill>
            <a:prstDash val="solid"/>
          </a:ln>
        </p:spPr>
        <p:txBody>
          <a:bodyPr/>
          <a:lstStyle/>
          <a:p>
            <a:endParaRPr lang="fr-FR"/>
          </a:p>
        </p:txBody>
      </p:sp>
      <p:pic>
        <p:nvPicPr>
          <p:cNvPr id="19" name="Image 18">
            <a:extLst>
              <a:ext uri="{FF2B5EF4-FFF2-40B4-BE49-F238E27FC236}">
                <a16:creationId xmlns:a16="http://schemas.microsoft.com/office/drawing/2014/main" id="{84C389E0-42A7-B1E0-55CC-238112E3C3F4}"/>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156744"/>
            <a:ext cx="2441045" cy="7327940"/>
          </a:xfrm>
          <a:prstGeom prst="rect">
            <a:avLst/>
          </a:prstGeom>
        </p:spPr>
      </p:pic>
      <p:pic>
        <p:nvPicPr>
          <p:cNvPr id="20" name="Image 19">
            <a:extLst>
              <a:ext uri="{FF2B5EF4-FFF2-40B4-BE49-F238E27FC236}">
                <a16:creationId xmlns:a16="http://schemas.microsoft.com/office/drawing/2014/main" id="{BDCB3538-C181-8691-3D84-29CD2D182946}"/>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39775899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3EE2-E9D8-72E2-02B5-F8188E6B03B2}"/>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C115CD48-1D54-C7FB-8EC6-34C26F9D021C}"/>
              </a:ext>
            </a:extLst>
          </p:cNvPr>
          <p:cNvPicPr>
            <a:picLocks noChangeAspect="1"/>
          </p:cNvPicPr>
          <p:nvPr/>
        </p:nvPicPr>
        <p:blipFill>
          <a:blip r:embed="rId3">
            <a:alphaModFix amt="5000"/>
          </a:blip>
          <a:srcRect l="6207" b="6232"/>
          <a:stretch>
            <a:fillRect/>
          </a:stretch>
        </p:blipFill>
        <p:spPr>
          <a:xfrm>
            <a:off x="-20053" y="0"/>
            <a:ext cx="12191999" cy="6859822"/>
          </a:xfrm>
          <a:prstGeom prst="rect">
            <a:avLst/>
          </a:prstGeom>
        </p:spPr>
      </p:pic>
      <p:sp>
        <p:nvSpPr>
          <p:cNvPr id="4" name="Text 9">
            <a:extLst>
              <a:ext uri="{FF2B5EF4-FFF2-40B4-BE49-F238E27FC236}">
                <a16:creationId xmlns:a16="http://schemas.microsoft.com/office/drawing/2014/main" id="{3D99C051-3A7D-2B27-5AD0-3C866E759C09}"/>
              </a:ext>
            </a:extLst>
          </p:cNvPr>
          <p:cNvSpPr/>
          <p:nvPr/>
        </p:nvSpPr>
        <p:spPr>
          <a:xfrm>
            <a:off x="947468" y="949911"/>
            <a:ext cx="5581079"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Une allocation diversifiée construite autour de plusieurs moteurs de performance</a:t>
            </a:r>
          </a:p>
        </p:txBody>
      </p:sp>
      <p:sp>
        <p:nvSpPr>
          <p:cNvPr id="5" name="Text 9">
            <a:extLst>
              <a:ext uri="{FF2B5EF4-FFF2-40B4-BE49-F238E27FC236}">
                <a16:creationId xmlns:a16="http://schemas.microsoft.com/office/drawing/2014/main" id="{8AB02572-171C-2618-E541-7DE07B6C76ED}"/>
              </a:ext>
            </a:extLst>
          </p:cNvPr>
          <p:cNvSpPr/>
          <p:nvPr/>
        </p:nvSpPr>
        <p:spPr>
          <a:xfrm>
            <a:off x="947468" y="578773"/>
            <a:ext cx="5751989"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Composition du portefeuille – Profil fonds euro</a:t>
            </a:r>
          </a:p>
        </p:txBody>
      </p:sp>
      <p:sp>
        <p:nvSpPr>
          <p:cNvPr id="6" name="Rectangle 5">
            <a:extLst>
              <a:ext uri="{FF2B5EF4-FFF2-40B4-BE49-F238E27FC236}">
                <a16:creationId xmlns:a16="http://schemas.microsoft.com/office/drawing/2014/main" id="{95675F04-0553-FC00-A6D0-2910512F772B}"/>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Rectangle 7">
            <a:extLst>
              <a:ext uri="{FF2B5EF4-FFF2-40B4-BE49-F238E27FC236}">
                <a16:creationId xmlns:a16="http://schemas.microsoft.com/office/drawing/2014/main" id="{C6080EBA-4DBC-14ED-428D-FDB96231DAE9}"/>
              </a:ext>
            </a:extLst>
          </p:cNvPr>
          <p:cNvSpPr/>
          <p:nvPr/>
        </p:nvSpPr>
        <p:spPr>
          <a:xfrm>
            <a:off x="947468" y="5670108"/>
            <a:ext cx="5148533" cy="661246"/>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50" dirty="0">
                <a:solidFill>
                  <a:schemeClr val="tx1"/>
                </a:solidFill>
                <a:latin typeface="Jost Light" pitchFamily="2" charset="77"/>
                <a:ea typeface="Jost Light" pitchFamily="2" charset="77"/>
                <a:cs typeface="Futura Medium" panose="020B0602020204020303" pitchFamily="34" charset="-79"/>
              </a:rPr>
              <a:t>À titre d’illustration, un capital initial de 500K EUR positionné sur notre profil fonds euro et intégralement capitalisé, pourrait atteindre environ 886K EUR au terme de 20 ans.</a:t>
            </a:r>
          </a:p>
        </p:txBody>
      </p:sp>
      <p:sp>
        <p:nvSpPr>
          <p:cNvPr id="11" name="Rectangle : avec coins arrondis en haut 10">
            <a:extLst>
              <a:ext uri="{FF2B5EF4-FFF2-40B4-BE49-F238E27FC236}">
                <a16:creationId xmlns:a16="http://schemas.microsoft.com/office/drawing/2014/main" id="{85AA339C-B91B-117E-D666-1F5AA57D1B42}"/>
              </a:ext>
            </a:extLst>
          </p:cNvPr>
          <p:cNvSpPr/>
          <p:nvPr/>
        </p:nvSpPr>
        <p:spPr>
          <a:xfrm>
            <a:off x="6699458" y="1321049"/>
            <a:ext cx="4275763" cy="466788"/>
          </a:xfrm>
          <a:prstGeom prst="round2SameRect">
            <a:avLst>
              <a:gd name="adj1" fmla="val 50000"/>
              <a:gd name="adj2" fmla="val 0"/>
            </a:avLst>
          </a:prstGeom>
          <a:solidFill>
            <a:srgbClr val="001B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Évolution théorique de votre capital (base 100)*</a:t>
            </a:r>
          </a:p>
        </p:txBody>
      </p:sp>
      <p:sp>
        <p:nvSpPr>
          <p:cNvPr id="12" name="ZoneTexte 11">
            <a:extLst>
              <a:ext uri="{FF2B5EF4-FFF2-40B4-BE49-F238E27FC236}">
                <a16:creationId xmlns:a16="http://schemas.microsoft.com/office/drawing/2014/main" id="{1A02FF1C-B79E-39EF-92EA-15F66732D2C5}"/>
              </a:ext>
            </a:extLst>
          </p:cNvPr>
          <p:cNvSpPr txBox="1"/>
          <p:nvPr/>
        </p:nvSpPr>
        <p:spPr>
          <a:xfrm>
            <a:off x="11013236" y="4873149"/>
            <a:ext cx="983337" cy="307777"/>
          </a:xfrm>
          <a:prstGeom prst="rect">
            <a:avLst/>
          </a:prstGeom>
          <a:noFill/>
        </p:spPr>
        <p:txBody>
          <a:bodyPr wrap="square" rtlCol="0">
            <a:spAutoFit/>
          </a:bodyPr>
          <a:lstStyle/>
          <a:p>
            <a:r>
              <a:rPr lang="fr-FR" sz="700" dirty="0">
                <a:solidFill>
                  <a:srgbClr val="6A6A6A"/>
                </a:solidFill>
                <a:latin typeface="Jost Medium" pitchFamily="2" charset="77"/>
                <a:ea typeface="Jost Medium" pitchFamily="2" charset="77"/>
              </a:rPr>
              <a:t>Nombre d’années </a:t>
            </a:r>
          </a:p>
          <a:p>
            <a:r>
              <a:rPr lang="fr-FR" sz="700" dirty="0">
                <a:solidFill>
                  <a:srgbClr val="6A6A6A"/>
                </a:solidFill>
                <a:latin typeface="Jost Medium" pitchFamily="2" charset="77"/>
                <a:ea typeface="Jost Medium" pitchFamily="2" charset="77"/>
              </a:rPr>
              <a:t>capitalisées (a)</a:t>
            </a:r>
          </a:p>
        </p:txBody>
      </p:sp>
      <p:sp>
        <p:nvSpPr>
          <p:cNvPr id="16" name="Rectangle 15">
            <a:extLst>
              <a:ext uri="{FF2B5EF4-FFF2-40B4-BE49-F238E27FC236}">
                <a16:creationId xmlns:a16="http://schemas.microsoft.com/office/drawing/2014/main" id="{CDD223B9-6BF4-4678-D413-AE2A6D7A8013}"/>
              </a:ext>
            </a:extLst>
          </p:cNvPr>
          <p:cNvSpPr/>
          <p:nvPr/>
        </p:nvSpPr>
        <p:spPr>
          <a:xfrm>
            <a:off x="6687154"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bg1"/>
                </a:solidFill>
                <a:latin typeface="Jost Light" pitchFamily="2" charset="77"/>
                <a:ea typeface="Jost Light" pitchFamily="2" charset="77"/>
                <a:cs typeface="Futura Medium" panose="020B0602020204020303" pitchFamily="34" charset="-79"/>
              </a:rPr>
              <a:t>Objectif annuel : </a:t>
            </a:r>
          </a:p>
          <a:p>
            <a:pPr algn="ctr"/>
            <a:r>
              <a:rPr lang="fr-FR" sz="1400" dirty="0">
                <a:solidFill>
                  <a:schemeClr val="bg1"/>
                </a:solidFill>
                <a:latin typeface="Jost Medium" pitchFamily="2" charset="77"/>
                <a:ea typeface="Jost Medium" pitchFamily="2" charset="77"/>
                <a:cs typeface="Futura Medium" panose="020B0602020204020303" pitchFamily="34" charset="-79"/>
              </a:rPr>
              <a:t>2.9% </a:t>
            </a:r>
            <a:r>
              <a:rPr lang="fr-FR" sz="1400" dirty="0" err="1">
                <a:solidFill>
                  <a:schemeClr val="bg1"/>
                </a:solidFill>
                <a:latin typeface="Jost Medium" pitchFamily="2" charset="77"/>
                <a:ea typeface="Jost Medium" pitchFamily="2" charset="77"/>
                <a:cs typeface="Futura Medium" panose="020B0602020204020303" pitchFamily="34" charset="-79"/>
              </a:rPr>
              <a:t>p.a</a:t>
            </a:r>
            <a:r>
              <a:rPr lang="fr-FR" sz="1400">
                <a:solidFill>
                  <a:schemeClr val="bg1"/>
                </a:solidFill>
                <a:latin typeface="Jost Medium" pitchFamily="2" charset="77"/>
                <a:ea typeface="Jost Medium" pitchFamily="2" charset="77"/>
                <a:cs typeface="Futura Medium" panose="020B0602020204020303" pitchFamily="34" charset="-79"/>
              </a:rPr>
              <a:t>.</a:t>
            </a:r>
          </a:p>
        </p:txBody>
      </p:sp>
      <p:sp>
        <p:nvSpPr>
          <p:cNvPr id="17" name="Rectangle 16">
            <a:extLst>
              <a:ext uri="{FF2B5EF4-FFF2-40B4-BE49-F238E27FC236}">
                <a16:creationId xmlns:a16="http://schemas.microsoft.com/office/drawing/2014/main" id="{932E30B3-1444-1DF2-6194-EB95C02B71A0}"/>
              </a:ext>
            </a:extLst>
          </p:cNvPr>
          <p:cNvSpPr/>
          <p:nvPr/>
        </p:nvSpPr>
        <p:spPr>
          <a:xfrm>
            <a:off x="8837340"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SRRI : </a:t>
            </a:r>
          </a:p>
          <a:p>
            <a:pPr algn="ctr"/>
            <a:r>
              <a:rPr lang="fr-FR" sz="1400">
                <a:solidFill>
                  <a:schemeClr val="bg1"/>
                </a:solidFill>
                <a:latin typeface="Jost Medium" pitchFamily="2" charset="77"/>
                <a:ea typeface="Jost Medium" pitchFamily="2" charset="77"/>
                <a:cs typeface="Futura Medium" panose="020B0602020204020303" pitchFamily="34" charset="-79"/>
              </a:rPr>
              <a:t>1 à 2</a:t>
            </a:r>
          </a:p>
        </p:txBody>
      </p:sp>
      <p:sp>
        <p:nvSpPr>
          <p:cNvPr id="18" name="Rectangle 17">
            <a:extLst>
              <a:ext uri="{FF2B5EF4-FFF2-40B4-BE49-F238E27FC236}">
                <a16:creationId xmlns:a16="http://schemas.microsoft.com/office/drawing/2014/main" id="{D98A1578-2223-E7C0-52ED-1536F6630121}"/>
              </a:ext>
            </a:extLst>
          </p:cNvPr>
          <p:cNvSpPr/>
          <p:nvPr/>
        </p:nvSpPr>
        <p:spPr>
          <a:xfrm>
            <a:off x="6687154" y="5232537"/>
            <a:ext cx="4275760" cy="272760"/>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a:solidFill>
                  <a:srgbClr val="AB853F"/>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médian</a:t>
            </a:r>
          </a:p>
        </p:txBody>
      </p:sp>
      <p:pic>
        <p:nvPicPr>
          <p:cNvPr id="19" name="Image 18">
            <a:extLst>
              <a:ext uri="{FF2B5EF4-FFF2-40B4-BE49-F238E27FC236}">
                <a16:creationId xmlns:a16="http://schemas.microsoft.com/office/drawing/2014/main" id="{2849DF45-8ACE-6578-2307-43AD53D290DB}"/>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3" name="Chart 1">
            <a:extLst>
              <a:ext uri="{FF2B5EF4-FFF2-40B4-BE49-F238E27FC236}">
                <a16:creationId xmlns:a16="http://schemas.microsoft.com/office/drawing/2014/main" id="{00000000-0008-0000-0000-000002000000}"/>
              </a:ext>
            </a:extLst>
          </p:cNvPr>
          <p:cNvGraphicFramePr>
            <a:graphicFrameLocks/>
          </p:cNvGraphicFramePr>
          <p:nvPr/>
        </p:nvGraphicFramePr>
        <p:xfrm>
          <a:off x="1229085" y="1709966"/>
          <a:ext cx="4275759" cy="3548829"/>
        </p:xfrm>
        <a:graphic>
          <a:graphicData uri="http://schemas.openxmlformats.org/drawingml/2006/chart">
            <c:chart xmlns:c="http://schemas.openxmlformats.org/drawingml/2006/chart" xmlns:r="http://schemas.openxmlformats.org/officeDocument/2006/relationships" r:id="rId5"/>
          </a:graphicData>
        </a:graphic>
      </p:graphicFrame>
      <p:sp>
        <p:nvSpPr>
          <p:cNvPr id="7" name="ZoneTexte 6">
            <a:extLst>
              <a:ext uri="{FF2B5EF4-FFF2-40B4-BE49-F238E27FC236}">
                <a16:creationId xmlns:a16="http://schemas.microsoft.com/office/drawing/2014/main" id="{755A5A97-EF38-62B1-974A-E3D23E67735A}"/>
              </a:ext>
            </a:extLst>
          </p:cNvPr>
          <p:cNvSpPr txBox="1"/>
          <p:nvPr/>
        </p:nvSpPr>
        <p:spPr>
          <a:xfrm>
            <a:off x="947468" y="6553383"/>
            <a:ext cx="11409632" cy="215444"/>
          </a:xfrm>
          <a:prstGeom prst="rect">
            <a:avLst/>
          </a:prstGeom>
          <a:noFill/>
        </p:spPr>
        <p:txBody>
          <a:bodyPr wrap="square" rtlCol="0">
            <a:spAutoFit/>
          </a:bodyPr>
          <a:lstStyle/>
          <a:p>
            <a:pPr algn="ctr"/>
            <a:r>
              <a:rPr lang="fr-FR" sz="800" i="1">
                <a:latin typeface="Jost ExtraLight" pitchFamily="2" charset="77"/>
                <a:ea typeface="Jost ExtraLight" pitchFamily="2" charset="77"/>
              </a:rPr>
              <a:t>*Simulation non contractuelle, à titre illustratif uniquement. Les performances passées ou simulées ne préjugent pas des performances futures. Le capital investi est soumis à un risque de perte. Rendements présentés hors frais, fiscalité et inflation.</a:t>
            </a:r>
          </a:p>
        </p:txBody>
      </p:sp>
      <p:graphicFrame>
        <p:nvGraphicFramePr>
          <p:cNvPr id="20" name="Chart">
            <a:extLst>
              <a:ext uri="{FF2B5EF4-FFF2-40B4-BE49-F238E27FC236}">
                <a16:creationId xmlns:a16="http://schemas.microsoft.com/office/drawing/2014/main" id="{00000000-0008-0000-0200-000002000000}"/>
              </a:ext>
            </a:extLst>
          </p:cNvPr>
          <p:cNvGraphicFramePr>
            <a:graphicFrameLocks/>
          </p:cNvGraphicFramePr>
          <p:nvPr/>
        </p:nvGraphicFramePr>
        <p:xfrm>
          <a:off x="6699457" y="1840630"/>
          <a:ext cx="4275763" cy="334029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5073609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2AB14E4D-B7EC-5347-3EF8-2AC0192BAD82}"/>
              </a:ext>
            </a:extLst>
          </p:cNvPr>
          <p:cNvPicPr>
            <a:picLocks noChangeAspect="1"/>
          </p:cNvPicPr>
          <p:nvPr/>
        </p:nvPicPr>
        <p:blipFill>
          <a:blip r:embed="rId3">
            <a:alphaModFix amt="5000"/>
          </a:blip>
          <a:srcRect l="6207" b="6232"/>
          <a:stretch>
            <a:fillRect/>
          </a:stretch>
        </p:blipFill>
        <p:spPr>
          <a:xfrm>
            <a:off x="-20053" y="0"/>
            <a:ext cx="12191999" cy="6859822"/>
          </a:xfrm>
          <a:prstGeom prst="rect">
            <a:avLst/>
          </a:prstGeom>
        </p:spPr>
      </p:pic>
      <p:graphicFrame>
        <p:nvGraphicFramePr>
          <p:cNvPr id="2" name="Chart 2">
            <a:extLst>
              <a:ext uri="{FF2B5EF4-FFF2-40B4-BE49-F238E27FC236}">
                <a16:creationId xmlns:a16="http://schemas.microsoft.com/office/drawing/2014/main" id="{00000000-0008-0000-0000-000003000000}"/>
              </a:ext>
            </a:extLst>
          </p:cNvPr>
          <p:cNvGraphicFramePr>
            <a:graphicFrameLocks/>
          </p:cNvGraphicFramePr>
          <p:nvPr/>
        </p:nvGraphicFramePr>
        <p:xfrm>
          <a:off x="929582" y="1554443"/>
          <a:ext cx="5125564" cy="3844832"/>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 9">
            <a:extLst>
              <a:ext uri="{FF2B5EF4-FFF2-40B4-BE49-F238E27FC236}">
                <a16:creationId xmlns:a16="http://schemas.microsoft.com/office/drawing/2014/main" id="{D7FEB37D-D57F-BBAC-1A19-339A9ECB8E9E}"/>
              </a:ext>
            </a:extLst>
          </p:cNvPr>
          <p:cNvSpPr/>
          <p:nvPr/>
        </p:nvSpPr>
        <p:spPr>
          <a:xfrm>
            <a:off x="947468" y="949911"/>
            <a:ext cx="5581079" cy="371138"/>
          </a:xfrm>
          <a:prstGeom prst="rect">
            <a:avLst/>
          </a:prstGeom>
          <a:noFill/>
          <a:ln/>
        </p:spPr>
        <p:txBody>
          <a:bodyPr wrap="square" lIns="0" tIns="0" rIns="0" bIns="0" rtlCol="0" anchor="t">
            <a:normAutofit/>
          </a:bodyPr>
          <a:lstStyle/>
          <a:p>
            <a:r>
              <a:rPr lang="fr-FR" sz="1200" noProof="0">
                <a:solidFill>
                  <a:srgbClr val="073527"/>
                </a:solidFill>
                <a:latin typeface="Jost Medium" pitchFamily="2" charset="77"/>
                <a:ea typeface="Jost Medium" pitchFamily="2" charset="77"/>
                <a:cs typeface="Futura Medium" panose="020B0602020204020303" pitchFamily="34" charset="-79"/>
              </a:rPr>
              <a:t>Une allocation diversifiée construite autour de plusieurs moteurs de performance</a:t>
            </a:r>
          </a:p>
        </p:txBody>
      </p:sp>
      <p:sp>
        <p:nvSpPr>
          <p:cNvPr id="5" name="Text 9">
            <a:extLst>
              <a:ext uri="{FF2B5EF4-FFF2-40B4-BE49-F238E27FC236}">
                <a16:creationId xmlns:a16="http://schemas.microsoft.com/office/drawing/2014/main" id="{242D93DD-5327-2AF1-9F52-878370FE7D98}"/>
              </a:ext>
            </a:extLst>
          </p:cNvPr>
          <p:cNvSpPr/>
          <p:nvPr/>
        </p:nvSpPr>
        <p:spPr>
          <a:xfrm>
            <a:off x="947468" y="578773"/>
            <a:ext cx="5257389" cy="371138"/>
          </a:xfrm>
          <a:prstGeom prst="rect">
            <a:avLst/>
          </a:prstGeom>
          <a:noFill/>
          <a:ln/>
        </p:spPr>
        <p:txBody>
          <a:bodyPr wrap="square" lIns="0" tIns="0" rIns="0" bIns="0" rtlCol="0" anchor="t">
            <a:normAutofit/>
          </a:bodyPr>
          <a:lstStyle/>
          <a:p>
            <a:r>
              <a:rPr lang="fr-FR" b="1" noProof="0">
                <a:solidFill>
                  <a:srgbClr val="A9853F"/>
                </a:solidFill>
                <a:latin typeface="Cormorant Garamond SemiBold" pitchFamily="2" charset="77"/>
                <a:ea typeface="Cormorant Garamond SemiBold" pitchFamily="2" charset="77"/>
                <a:cs typeface="Cormorant Garamond SemiBold" pitchFamily="2" charset="77"/>
              </a:rPr>
              <a:t>Composition du portefeuille – Profil Prudent</a:t>
            </a:r>
          </a:p>
        </p:txBody>
      </p:sp>
      <p:sp>
        <p:nvSpPr>
          <p:cNvPr id="6" name="Rectangle 5">
            <a:extLst>
              <a:ext uri="{FF2B5EF4-FFF2-40B4-BE49-F238E27FC236}">
                <a16:creationId xmlns:a16="http://schemas.microsoft.com/office/drawing/2014/main" id="{6CE8F89E-9138-438D-2DEF-FB7B50F95E8E}"/>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avec coins arrondis en haut 10">
            <a:extLst>
              <a:ext uri="{FF2B5EF4-FFF2-40B4-BE49-F238E27FC236}">
                <a16:creationId xmlns:a16="http://schemas.microsoft.com/office/drawing/2014/main" id="{579ED762-7EEB-6951-99C9-69E64139565A}"/>
              </a:ext>
            </a:extLst>
          </p:cNvPr>
          <p:cNvSpPr/>
          <p:nvPr/>
        </p:nvSpPr>
        <p:spPr>
          <a:xfrm>
            <a:off x="6699458" y="1321049"/>
            <a:ext cx="4275763" cy="466788"/>
          </a:xfrm>
          <a:prstGeom prst="round2SameRect">
            <a:avLst>
              <a:gd name="adj1" fmla="val 50000"/>
              <a:gd name="adj2" fmla="val 0"/>
            </a:avLst>
          </a:prstGeom>
          <a:solidFill>
            <a:srgbClr val="001B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a:latin typeface="Jost Black" pitchFamily="2" charset="77"/>
                <a:ea typeface="Jost Black" pitchFamily="2" charset="77"/>
              </a:rPr>
              <a:t>Évolution théorique de votre capital (base 100)*</a:t>
            </a:r>
          </a:p>
        </p:txBody>
      </p:sp>
      <p:sp>
        <p:nvSpPr>
          <p:cNvPr id="12" name="ZoneTexte 11">
            <a:extLst>
              <a:ext uri="{FF2B5EF4-FFF2-40B4-BE49-F238E27FC236}">
                <a16:creationId xmlns:a16="http://schemas.microsoft.com/office/drawing/2014/main" id="{BB593F03-C0AA-FBB2-AEDC-1447C10A8B0D}"/>
              </a:ext>
            </a:extLst>
          </p:cNvPr>
          <p:cNvSpPr txBox="1"/>
          <p:nvPr/>
        </p:nvSpPr>
        <p:spPr>
          <a:xfrm>
            <a:off x="11013236" y="4873149"/>
            <a:ext cx="983337" cy="307777"/>
          </a:xfrm>
          <a:prstGeom prst="rect">
            <a:avLst/>
          </a:prstGeom>
          <a:noFill/>
        </p:spPr>
        <p:txBody>
          <a:bodyPr wrap="square" rtlCol="0">
            <a:spAutoFit/>
          </a:bodyPr>
          <a:lstStyle/>
          <a:p>
            <a:r>
              <a:rPr lang="fr-FR" sz="700">
                <a:solidFill>
                  <a:srgbClr val="6A6A6A"/>
                </a:solidFill>
                <a:latin typeface="Jost Medium" pitchFamily="2" charset="77"/>
                <a:ea typeface="Jost Medium" pitchFamily="2" charset="77"/>
              </a:rPr>
              <a:t>Nombre d’années </a:t>
            </a:r>
          </a:p>
          <a:p>
            <a:r>
              <a:rPr lang="fr-FR" sz="700">
                <a:solidFill>
                  <a:srgbClr val="6A6A6A"/>
                </a:solidFill>
                <a:latin typeface="Jost Medium" pitchFamily="2" charset="77"/>
                <a:ea typeface="Jost Medium" pitchFamily="2" charset="77"/>
              </a:rPr>
              <a:t>capitalisées (a)</a:t>
            </a:r>
          </a:p>
        </p:txBody>
      </p:sp>
      <p:sp>
        <p:nvSpPr>
          <p:cNvPr id="16" name="Rectangle 15">
            <a:extLst>
              <a:ext uri="{FF2B5EF4-FFF2-40B4-BE49-F238E27FC236}">
                <a16:creationId xmlns:a16="http://schemas.microsoft.com/office/drawing/2014/main" id="{DEEF8A8D-0B8C-C702-DEBF-CD92BF07485E}"/>
              </a:ext>
            </a:extLst>
          </p:cNvPr>
          <p:cNvSpPr/>
          <p:nvPr/>
        </p:nvSpPr>
        <p:spPr>
          <a:xfrm>
            <a:off x="6687154"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Objectif annuel : </a:t>
            </a:r>
          </a:p>
          <a:p>
            <a:pPr algn="ctr"/>
            <a:r>
              <a:rPr lang="fr-FR" sz="1400">
                <a:solidFill>
                  <a:schemeClr val="bg1"/>
                </a:solidFill>
                <a:latin typeface="Jost Medium" pitchFamily="2" charset="77"/>
                <a:ea typeface="Jost Medium" pitchFamily="2" charset="77"/>
                <a:cs typeface="Futura Medium" panose="020B0602020204020303" pitchFamily="34" charset="-79"/>
              </a:rPr>
              <a:t>4.1% </a:t>
            </a:r>
            <a:r>
              <a:rPr lang="fr-FR" sz="1400" err="1">
                <a:solidFill>
                  <a:schemeClr val="bg1"/>
                </a:solidFill>
                <a:latin typeface="Jost Medium" pitchFamily="2" charset="77"/>
                <a:ea typeface="Jost Medium" pitchFamily="2" charset="77"/>
                <a:cs typeface="Futura Medium" panose="020B0602020204020303" pitchFamily="34" charset="-79"/>
              </a:rPr>
              <a:t>p.a</a:t>
            </a:r>
            <a:r>
              <a:rPr lang="fr-FR" sz="1400">
                <a:solidFill>
                  <a:schemeClr val="bg1"/>
                </a:solidFill>
                <a:latin typeface="Jost Medium" pitchFamily="2" charset="77"/>
                <a:ea typeface="Jost Medium" pitchFamily="2" charset="77"/>
                <a:cs typeface="Futura Medium" panose="020B0602020204020303" pitchFamily="34" charset="-79"/>
              </a:rPr>
              <a:t>.</a:t>
            </a:r>
          </a:p>
        </p:txBody>
      </p:sp>
      <p:sp>
        <p:nvSpPr>
          <p:cNvPr id="17" name="Rectangle 16">
            <a:extLst>
              <a:ext uri="{FF2B5EF4-FFF2-40B4-BE49-F238E27FC236}">
                <a16:creationId xmlns:a16="http://schemas.microsoft.com/office/drawing/2014/main" id="{A5FF7D55-6352-5DA2-7B05-61FD0172739B}"/>
              </a:ext>
            </a:extLst>
          </p:cNvPr>
          <p:cNvSpPr/>
          <p:nvPr/>
        </p:nvSpPr>
        <p:spPr>
          <a:xfrm>
            <a:off x="8837340"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SRRI : </a:t>
            </a:r>
          </a:p>
          <a:p>
            <a:pPr algn="ctr"/>
            <a:r>
              <a:rPr lang="fr-FR" sz="1400">
                <a:solidFill>
                  <a:schemeClr val="bg1"/>
                </a:solidFill>
                <a:latin typeface="Jost Medium" pitchFamily="2" charset="77"/>
                <a:ea typeface="Jost Medium" pitchFamily="2" charset="77"/>
                <a:cs typeface="Futura Medium" panose="020B0602020204020303" pitchFamily="34" charset="-79"/>
              </a:rPr>
              <a:t>1 à 2</a:t>
            </a:r>
          </a:p>
        </p:txBody>
      </p:sp>
      <p:sp>
        <p:nvSpPr>
          <p:cNvPr id="18" name="Rectangle 17">
            <a:extLst>
              <a:ext uri="{FF2B5EF4-FFF2-40B4-BE49-F238E27FC236}">
                <a16:creationId xmlns:a16="http://schemas.microsoft.com/office/drawing/2014/main" id="{AE1ACC0E-5D4D-E94A-E867-CD28D28068A1}"/>
              </a:ext>
            </a:extLst>
          </p:cNvPr>
          <p:cNvSpPr/>
          <p:nvPr/>
        </p:nvSpPr>
        <p:spPr>
          <a:xfrm>
            <a:off x="6687154" y="5232537"/>
            <a:ext cx="4275760" cy="272760"/>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a:solidFill>
                  <a:srgbClr val="196B24"/>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optimiste   </a:t>
            </a:r>
            <a:r>
              <a:rPr lang="fr-FR" sz="800">
                <a:solidFill>
                  <a:srgbClr val="AB853F"/>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médian   </a:t>
            </a:r>
            <a:r>
              <a:rPr lang="fr-FR" sz="800">
                <a:solidFill>
                  <a:srgbClr val="001A00"/>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pessimiste</a:t>
            </a:r>
          </a:p>
        </p:txBody>
      </p:sp>
      <p:pic>
        <p:nvPicPr>
          <p:cNvPr id="19" name="Image 18">
            <a:extLst>
              <a:ext uri="{FF2B5EF4-FFF2-40B4-BE49-F238E27FC236}">
                <a16:creationId xmlns:a16="http://schemas.microsoft.com/office/drawing/2014/main" id="{D20E9E93-AE6D-7AD8-F8F2-100009176ADB}"/>
              </a:ext>
            </a:extLst>
          </p:cNvPr>
          <p:cNvPicPr>
            <a:picLocks noChangeAspect="1"/>
          </p:cNvPicPr>
          <p:nvPr/>
        </p:nvPicPr>
        <p:blipFill>
          <a:blip r:embed="rId5">
            <a:duotone>
              <a:prstClr val="black"/>
              <a:srgbClr val="063527">
                <a:tint val="45000"/>
                <a:satMod val="400000"/>
              </a:srgbClr>
            </a:duotone>
          </a:blip>
          <a:stretch>
            <a:fillRect/>
          </a:stretch>
        </p:blipFill>
        <p:spPr>
          <a:xfrm>
            <a:off x="11005640" y="374477"/>
            <a:ext cx="792892" cy="264297"/>
          </a:xfrm>
          <a:prstGeom prst="rect">
            <a:avLst/>
          </a:prstGeom>
        </p:spPr>
      </p:pic>
      <p:sp>
        <p:nvSpPr>
          <p:cNvPr id="20" name="Rectangle 19">
            <a:extLst>
              <a:ext uri="{FF2B5EF4-FFF2-40B4-BE49-F238E27FC236}">
                <a16:creationId xmlns:a16="http://schemas.microsoft.com/office/drawing/2014/main" id="{1D303C6A-0AF4-1150-7EAF-2F165F05E874}"/>
              </a:ext>
            </a:extLst>
          </p:cNvPr>
          <p:cNvSpPr/>
          <p:nvPr/>
        </p:nvSpPr>
        <p:spPr>
          <a:xfrm>
            <a:off x="947468" y="5670108"/>
            <a:ext cx="5148533" cy="661246"/>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50">
                <a:solidFill>
                  <a:schemeClr val="tx1"/>
                </a:solidFill>
                <a:latin typeface="Jost Light" pitchFamily="2" charset="77"/>
                <a:ea typeface="Jost Light" pitchFamily="2" charset="77"/>
                <a:cs typeface="Futura Medium" panose="020B0602020204020303" pitchFamily="34" charset="-79"/>
              </a:rPr>
              <a:t>À titre d’illustration, un capital initial de 500K EUR positionné sur notre profil prudent et intégralement capitalisé, pourrait atteindre environ 1.1M EUR au terme de 20 ans.</a:t>
            </a:r>
          </a:p>
        </p:txBody>
      </p:sp>
      <p:sp>
        <p:nvSpPr>
          <p:cNvPr id="21" name="ZoneTexte 20">
            <a:extLst>
              <a:ext uri="{FF2B5EF4-FFF2-40B4-BE49-F238E27FC236}">
                <a16:creationId xmlns:a16="http://schemas.microsoft.com/office/drawing/2014/main" id="{1D637AFC-2866-2EF4-D5D3-87A5967B8E97}"/>
              </a:ext>
            </a:extLst>
          </p:cNvPr>
          <p:cNvSpPr txBox="1"/>
          <p:nvPr/>
        </p:nvSpPr>
        <p:spPr>
          <a:xfrm>
            <a:off x="947468" y="6553383"/>
            <a:ext cx="11409632" cy="215444"/>
          </a:xfrm>
          <a:prstGeom prst="rect">
            <a:avLst/>
          </a:prstGeom>
          <a:noFill/>
        </p:spPr>
        <p:txBody>
          <a:bodyPr wrap="square" rtlCol="0">
            <a:spAutoFit/>
          </a:bodyPr>
          <a:lstStyle/>
          <a:p>
            <a:pPr algn="ctr"/>
            <a:r>
              <a:rPr lang="fr-FR" sz="800" i="1">
                <a:latin typeface="Jost ExtraLight" pitchFamily="2" charset="77"/>
                <a:ea typeface="Jost ExtraLight" pitchFamily="2" charset="77"/>
              </a:rPr>
              <a:t>*Simulation non contractuelle, à titre illustratif uniquement. Les performances passées ou simulées ne préjugent pas des performances futures. Le capital investi est soumis à un risque de perte. Rendements présentés hors frais, fiscalité et inflation.</a:t>
            </a:r>
          </a:p>
        </p:txBody>
      </p:sp>
      <p:graphicFrame>
        <p:nvGraphicFramePr>
          <p:cNvPr id="22" name="Chart">
            <a:extLst>
              <a:ext uri="{FF2B5EF4-FFF2-40B4-BE49-F238E27FC236}">
                <a16:creationId xmlns:a16="http://schemas.microsoft.com/office/drawing/2014/main" id="{00000000-0008-0000-0300-000002000000}"/>
              </a:ext>
            </a:extLst>
          </p:cNvPr>
          <p:cNvGraphicFramePr>
            <a:graphicFrameLocks/>
          </p:cNvGraphicFramePr>
          <p:nvPr/>
        </p:nvGraphicFramePr>
        <p:xfrm>
          <a:off x="6699458" y="1809750"/>
          <a:ext cx="4263456" cy="3331792"/>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791750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4815B-5107-774A-C94E-5C3FE2C32F74}"/>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8818145D-E52D-EF1E-F0B6-FC810E4CC564}"/>
              </a:ext>
            </a:extLst>
          </p:cNvPr>
          <p:cNvPicPr>
            <a:picLocks noChangeAspect="1"/>
          </p:cNvPicPr>
          <p:nvPr/>
        </p:nvPicPr>
        <p:blipFill>
          <a:blip r:embed="rId3">
            <a:alphaModFix amt="5000"/>
          </a:blip>
          <a:srcRect l="6207" b="6232"/>
          <a:stretch>
            <a:fillRect/>
          </a:stretch>
        </p:blipFill>
        <p:spPr>
          <a:xfrm>
            <a:off x="-20053" y="0"/>
            <a:ext cx="12191999" cy="6859822"/>
          </a:xfrm>
          <a:prstGeom prst="rect">
            <a:avLst/>
          </a:prstGeom>
        </p:spPr>
      </p:pic>
      <p:sp>
        <p:nvSpPr>
          <p:cNvPr id="4" name="Text 9">
            <a:extLst>
              <a:ext uri="{FF2B5EF4-FFF2-40B4-BE49-F238E27FC236}">
                <a16:creationId xmlns:a16="http://schemas.microsoft.com/office/drawing/2014/main" id="{FB4B5588-2ABA-9506-A92F-2CA4299E7A94}"/>
              </a:ext>
            </a:extLst>
          </p:cNvPr>
          <p:cNvSpPr/>
          <p:nvPr/>
        </p:nvSpPr>
        <p:spPr>
          <a:xfrm>
            <a:off x="947468" y="949911"/>
            <a:ext cx="5581079" cy="371138"/>
          </a:xfrm>
          <a:prstGeom prst="rect">
            <a:avLst/>
          </a:prstGeom>
          <a:noFill/>
          <a:ln/>
        </p:spPr>
        <p:txBody>
          <a:bodyPr wrap="square" lIns="0" tIns="0" rIns="0" bIns="0" rtlCol="0" anchor="t">
            <a:normAutofit/>
          </a:bodyPr>
          <a:lstStyle/>
          <a:p>
            <a:r>
              <a:rPr lang="fr-FR" sz="1200" noProof="0">
                <a:solidFill>
                  <a:srgbClr val="073527"/>
                </a:solidFill>
                <a:latin typeface="Jost Medium" pitchFamily="2" charset="77"/>
                <a:ea typeface="Jost Medium" pitchFamily="2" charset="77"/>
                <a:cs typeface="Futura Medium" panose="020B0602020204020303" pitchFamily="34" charset="-79"/>
              </a:rPr>
              <a:t>Une allocation diversifiée construite autour de plusieurs moteurs de performance</a:t>
            </a:r>
          </a:p>
        </p:txBody>
      </p:sp>
      <p:sp>
        <p:nvSpPr>
          <p:cNvPr id="5" name="Text 9">
            <a:extLst>
              <a:ext uri="{FF2B5EF4-FFF2-40B4-BE49-F238E27FC236}">
                <a16:creationId xmlns:a16="http://schemas.microsoft.com/office/drawing/2014/main" id="{C66DDFC3-E6F4-E5E5-0A15-4D07446AEECF}"/>
              </a:ext>
            </a:extLst>
          </p:cNvPr>
          <p:cNvSpPr/>
          <p:nvPr/>
        </p:nvSpPr>
        <p:spPr>
          <a:xfrm>
            <a:off x="947468" y="578773"/>
            <a:ext cx="5377132" cy="371138"/>
          </a:xfrm>
          <a:prstGeom prst="rect">
            <a:avLst/>
          </a:prstGeom>
          <a:noFill/>
          <a:ln/>
        </p:spPr>
        <p:txBody>
          <a:bodyPr wrap="square" lIns="0" tIns="0" rIns="0" bIns="0" rtlCol="0" anchor="t">
            <a:normAutofit/>
          </a:bodyPr>
          <a:lstStyle/>
          <a:p>
            <a:r>
              <a:rPr lang="fr-FR" b="1" noProof="0">
                <a:solidFill>
                  <a:srgbClr val="A9853F"/>
                </a:solidFill>
                <a:latin typeface="Cormorant Garamond SemiBold" pitchFamily="2" charset="77"/>
                <a:ea typeface="Cormorant Garamond SemiBold" pitchFamily="2" charset="77"/>
                <a:cs typeface="Cormorant Garamond SemiBold" pitchFamily="2" charset="77"/>
              </a:rPr>
              <a:t>Composition du portefeuille – Profil Conservateur</a:t>
            </a:r>
          </a:p>
        </p:txBody>
      </p:sp>
      <p:sp>
        <p:nvSpPr>
          <p:cNvPr id="6" name="Rectangle 5">
            <a:extLst>
              <a:ext uri="{FF2B5EF4-FFF2-40B4-BE49-F238E27FC236}">
                <a16:creationId xmlns:a16="http://schemas.microsoft.com/office/drawing/2014/main" id="{D4A975E5-D987-3613-276B-3830583C9DB1}"/>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avec coins arrondis en haut 10">
            <a:extLst>
              <a:ext uri="{FF2B5EF4-FFF2-40B4-BE49-F238E27FC236}">
                <a16:creationId xmlns:a16="http://schemas.microsoft.com/office/drawing/2014/main" id="{8E927E76-D7A0-0E5A-D294-C4897D0784B5}"/>
              </a:ext>
            </a:extLst>
          </p:cNvPr>
          <p:cNvSpPr/>
          <p:nvPr/>
        </p:nvSpPr>
        <p:spPr>
          <a:xfrm>
            <a:off x="6699458" y="1321049"/>
            <a:ext cx="4275763" cy="466788"/>
          </a:xfrm>
          <a:prstGeom prst="round2SameRect">
            <a:avLst>
              <a:gd name="adj1" fmla="val 50000"/>
              <a:gd name="adj2" fmla="val 0"/>
            </a:avLst>
          </a:prstGeom>
          <a:solidFill>
            <a:srgbClr val="001B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a:latin typeface="Jost Black" pitchFamily="2" charset="77"/>
                <a:ea typeface="Jost Black" pitchFamily="2" charset="77"/>
              </a:rPr>
              <a:t>Évolution théorique de votre capital (base 100)*</a:t>
            </a:r>
          </a:p>
        </p:txBody>
      </p:sp>
      <p:sp>
        <p:nvSpPr>
          <p:cNvPr id="12" name="ZoneTexte 11">
            <a:extLst>
              <a:ext uri="{FF2B5EF4-FFF2-40B4-BE49-F238E27FC236}">
                <a16:creationId xmlns:a16="http://schemas.microsoft.com/office/drawing/2014/main" id="{D5E16CEB-DC1D-0F03-8395-ACFC13514A2C}"/>
              </a:ext>
            </a:extLst>
          </p:cNvPr>
          <p:cNvSpPr txBox="1"/>
          <p:nvPr/>
        </p:nvSpPr>
        <p:spPr>
          <a:xfrm>
            <a:off x="11013236" y="4873149"/>
            <a:ext cx="983337" cy="307777"/>
          </a:xfrm>
          <a:prstGeom prst="rect">
            <a:avLst/>
          </a:prstGeom>
          <a:noFill/>
        </p:spPr>
        <p:txBody>
          <a:bodyPr wrap="square" rtlCol="0">
            <a:spAutoFit/>
          </a:bodyPr>
          <a:lstStyle/>
          <a:p>
            <a:r>
              <a:rPr lang="fr-FR" sz="700">
                <a:solidFill>
                  <a:srgbClr val="6A6A6A"/>
                </a:solidFill>
                <a:latin typeface="Jost Medium" pitchFamily="2" charset="77"/>
                <a:ea typeface="Jost Medium" pitchFamily="2" charset="77"/>
              </a:rPr>
              <a:t>Nombre d’années </a:t>
            </a:r>
          </a:p>
          <a:p>
            <a:r>
              <a:rPr lang="fr-FR" sz="700">
                <a:solidFill>
                  <a:srgbClr val="6A6A6A"/>
                </a:solidFill>
                <a:latin typeface="Jost Medium" pitchFamily="2" charset="77"/>
                <a:ea typeface="Jost Medium" pitchFamily="2" charset="77"/>
              </a:rPr>
              <a:t>capitalisées (a)</a:t>
            </a:r>
          </a:p>
        </p:txBody>
      </p:sp>
      <p:sp>
        <p:nvSpPr>
          <p:cNvPr id="16" name="Rectangle 15">
            <a:extLst>
              <a:ext uri="{FF2B5EF4-FFF2-40B4-BE49-F238E27FC236}">
                <a16:creationId xmlns:a16="http://schemas.microsoft.com/office/drawing/2014/main" id="{52AA1A13-9BD2-FDFD-083C-0309B3C542F6}"/>
              </a:ext>
            </a:extLst>
          </p:cNvPr>
          <p:cNvSpPr/>
          <p:nvPr/>
        </p:nvSpPr>
        <p:spPr>
          <a:xfrm>
            <a:off x="6687154"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Objectif annuel : </a:t>
            </a:r>
          </a:p>
          <a:p>
            <a:pPr algn="ctr"/>
            <a:r>
              <a:rPr lang="fr-FR" sz="1400">
                <a:solidFill>
                  <a:schemeClr val="bg1"/>
                </a:solidFill>
                <a:latin typeface="Jost Medium" pitchFamily="2" charset="77"/>
                <a:ea typeface="Jost Medium" pitchFamily="2" charset="77"/>
                <a:cs typeface="Futura Medium" panose="020B0602020204020303" pitchFamily="34" charset="-79"/>
              </a:rPr>
              <a:t>5.3% </a:t>
            </a:r>
            <a:r>
              <a:rPr lang="fr-FR" sz="1400" err="1">
                <a:solidFill>
                  <a:schemeClr val="bg1"/>
                </a:solidFill>
                <a:latin typeface="Jost Medium" pitchFamily="2" charset="77"/>
                <a:ea typeface="Jost Medium" pitchFamily="2" charset="77"/>
                <a:cs typeface="Futura Medium" panose="020B0602020204020303" pitchFamily="34" charset="-79"/>
              </a:rPr>
              <a:t>p.a</a:t>
            </a:r>
            <a:r>
              <a:rPr lang="fr-FR" sz="1400">
                <a:solidFill>
                  <a:schemeClr val="bg1"/>
                </a:solidFill>
                <a:latin typeface="Jost Medium" pitchFamily="2" charset="77"/>
                <a:ea typeface="Jost Medium" pitchFamily="2" charset="77"/>
                <a:cs typeface="Futura Medium" panose="020B0602020204020303" pitchFamily="34" charset="-79"/>
              </a:rPr>
              <a:t>.</a:t>
            </a:r>
          </a:p>
        </p:txBody>
      </p:sp>
      <p:sp>
        <p:nvSpPr>
          <p:cNvPr id="17" name="Rectangle 16">
            <a:extLst>
              <a:ext uri="{FF2B5EF4-FFF2-40B4-BE49-F238E27FC236}">
                <a16:creationId xmlns:a16="http://schemas.microsoft.com/office/drawing/2014/main" id="{56B65333-5E81-F1AA-2E2F-2E19FE2BBF72}"/>
              </a:ext>
            </a:extLst>
          </p:cNvPr>
          <p:cNvSpPr/>
          <p:nvPr/>
        </p:nvSpPr>
        <p:spPr>
          <a:xfrm>
            <a:off x="8837340"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SRRI : </a:t>
            </a:r>
          </a:p>
          <a:p>
            <a:pPr algn="ctr"/>
            <a:r>
              <a:rPr lang="fr-FR" sz="1400">
                <a:solidFill>
                  <a:schemeClr val="bg1"/>
                </a:solidFill>
                <a:latin typeface="Jost Medium" pitchFamily="2" charset="77"/>
                <a:ea typeface="Jost Medium" pitchFamily="2" charset="77"/>
                <a:cs typeface="Futura Medium" panose="020B0602020204020303" pitchFamily="34" charset="-79"/>
              </a:rPr>
              <a:t>1 à 3</a:t>
            </a:r>
          </a:p>
        </p:txBody>
      </p:sp>
      <p:sp>
        <p:nvSpPr>
          <p:cNvPr id="18" name="Rectangle 17">
            <a:extLst>
              <a:ext uri="{FF2B5EF4-FFF2-40B4-BE49-F238E27FC236}">
                <a16:creationId xmlns:a16="http://schemas.microsoft.com/office/drawing/2014/main" id="{7D40E3FD-4829-C926-034F-CE8350D01322}"/>
              </a:ext>
            </a:extLst>
          </p:cNvPr>
          <p:cNvSpPr/>
          <p:nvPr/>
        </p:nvSpPr>
        <p:spPr>
          <a:xfrm>
            <a:off x="6687154" y="5232537"/>
            <a:ext cx="4275760" cy="272760"/>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a:solidFill>
                  <a:srgbClr val="196B24"/>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optimiste   </a:t>
            </a:r>
            <a:r>
              <a:rPr lang="fr-FR" sz="800">
                <a:solidFill>
                  <a:srgbClr val="AB853F"/>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médian   </a:t>
            </a:r>
            <a:r>
              <a:rPr lang="fr-FR" sz="800">
                <a:solidFill>
                  <a:srgbClr val="001A00"/>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pessimiste</a:t>
            </a:r>
          </a:p>
        </p:txBody>
      </p:sp>
      <p:pic>
        <p:nvPicPr>
          <p:cNvPr id="19" name="Image 18">
            <a:extLst>
              <a:ext uri="{FF2B5EF4-FFF2-40B4-BE49-F238E27FC236}">
                <a16:creationId xmlns:a16="http://schemas.microsoft.com/office/drawing/2014/main" id="{62500163-31D9-CFB3-574F-6DA0F6697D9E}"/>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2" name="Chart 3">
            <a:extLst>
              <a:ext uri="{FF2B5EF4-FFF2-40B4-BE49-F238E27FC236}">
                <a16:creationId xmlns:a16="http://schemas.microsoft.com/office/drawing/2014/main" id="{00000000-0008-0000-0000-000004000000}"/>
              </a:ext>
            </a:extLst>
          </p:cNvPr>
          <p:cNvGraphicFramePr>
            <a:graphicFrameLocks/>
          </p:cNvGraphicFramePr>
          <p:nvPr/>
        </p:nvGraphicFramePr>
        <p:xfrm>
          <a:off x="1134582" y="1931226"/>
          <a:ext cx="4560847" cy="3574071"/>
        </p:xfrm>
        <a:graphic>
          <a:graphicData uri="http://schemas.openxmlformats.org/drawingml/2006/chart">
            <c:chart xmlns:c="http://schemas.openxmlformats.org/drawingml/2006/chart" xmlns:r="http://schemas.openxmlformats.org/officeDocument/2006/relationships" r:id="rId5"/>
          </a:graphicData>
        </a:graphic>
      </p:graphicFrame>
      <p:sp>
        <p:nvSpPr>
          <p:cNvPr id="7" name="ZoneTexte 6">
            <a:extLst>
              <a:ext uri="{FF2B5EF4-FFF2-40B4-BE49-F238E27FC236}">
                <a16:creationId xmlns:a16="http://schemas.microsoft.com/office/drawing/2014/main" id="{485E976D-4982-6361-90EB-389F5C16B370}"/>
              </a:ext>
            </a:extLst>
          </p:cNvPr>
          <p:cNvSpPr txBox="1"/>
          <p:nvPr/>
        </p:nvSpPr>
        <p:spPr>
          <a:xfrm>
            <a:off x="947468" y="6553383"/>
            <a:ext cx="11409632" cy="215444"/>
          </a:xfrm>
          <a:prstGeom prst="rect">
            <a:avLst/>
          </a:prstGeom>
          <a:noFill/>
        </p:spPr>
        <p:txBody>
          <a:bodyPr wrap="square" rtlCol="0">
            <a:spAutoFit/>
          </a:bodyPr>
          <a:lstStyle/>
          <a:p>
            <a:pPr algn="ctr"/>
            <a:r>
              <a:rPr lang="fr-FR" sz="800" i="1">
                <a:latin typeface="Jost ExtraLight" pitchFamily="2" charset="77"/>
                <a:ea typeface="Jost ExtraLight" pitchFamily="2" charset="77"/>
              </a:rPr>
              <a:t>*Simulation non contractuelle, à titre illustratif uniquement. Les performances passées ou simulées ne préjugent pas des performances futures. Le capital investi est soumis à un risque de perte. Rendements présentés hors frais, fiscalité et inflation.</a:t>
            </a:r>
          </a:p>
        </p:txBody>
      </p:sp>
      <p:sp>
        <p:nvSpPr>
          <p:cNvPr id="15" name="Rectangle 14">
            <a:extLst>
              <a:ext uri="{FF2B5EF4-FFF2-40B4-BE49-F238E27FC236}">
                <a16:creationId xmlns:a16="http://schemas.microsoft.com/office/drawing/2014/main" id="{E897A65A-4639-6730-093F-D4A537DB8DD4}"/>
              </a:ext>
            </a:extLst>
          </p:cNvPr>
          <p:cNvSpPr/>
          <p:nvPr/>
        </p:nvSpPr>
        <p:spPr>
          <a:xfrm>
            <a:off x="947468" y="5670108"/>
            <a:ext cx="5166844" cy="661246"/>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50">
                <a:solidFill>
                  <a:schemeClr val="tx1"/>
                </a:solidFill>
                <a:latin typeface="Jost Light" pitchFamily="2" charset="77"/>
                <a:ea typeface="Jost Light" pitchFamily="2" charset="77"/>
                <a:cs typeface="Futura Medium" panose="020B0602020204020303" pitchFamily="34" charset="-79"/>
              </a:rPr>
              <a:t>À titre d’illustration, un capital initial de 500K EUR positionné sur notre profil conservateur et intégralement capitalisé, pourrait atteindre environ 1.4M EUR au terme de 20 ans.</a:t>
            </a:r>
          </a:p>
        </p:txBody>
      </p:sp>
      <p:graphicFrame>
        <p:nvGraphicFramePr>
          <p:cNvPr id="20" name="Chart">
            <a:extLst>
              <a:ext uri="{FF2B5EF4-FFF2-40B4-BE49-F238E27FC236}">
                <a16:creationId xmlns:a16="http://schemas.microsoft.com/office/drawing/2014/main" id="{00000000-0008-0000-0400-000002000000}"/>
              </a:ext>
            </a:extLst>
          </p:cNvPr>
          <p:cNvGraphicFramePr>
            <a:graphicFrameLocks/>
          </p:cNvGraphicFramePr>
          <p:nvPr/>
        </p:nvGraphicFramePr>
        <p:xfrm>
          <a:off x="6699458" y="1809750"/>
          <a:ext cx="4275760" cy="337117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622148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D3DD-E8C2-9BAF-9BF2-448693666C66}"/>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A874DC3C-BC53-6DD8-2C95-A75A003EEB5F}"/>
              </a:ext>
            </a:extLst>
          </p:cNvPr>
          <p:cNvPicPr>
            <a:picLocks noChangeAspect="1"/>
          </p:cNvPicPr>
          <p:nvPr/>
        </p:nvPicPr>
        <p:blipFill>
          <a:blip r:embed="rId3">
            <a:alphaModFix amt="5000"/>
          </a:blip>
          <a:srcRect l="6207" b="6232"/>
          <a:stretch>
            <a:fillRect/>
          </a:stretch>
        </p:blipFill>
        <p:spPr>
          <a:xfrm>
            <a:off x="-20053" y="0"/>
            <a:ext cx="12191999" cy="6859822"/>
          </a:xfrm>
          <a:prstGeom prst="rect">
            <a:avLst/>
          </a:prstGeom>
        </p:spPr>
      </p:pic>
      <p:sp>
        <p:nvSpPr>
          <p:cNvPr id="4" name="Text 9">
            <a:extLst>
              <a:ext uri="{FF2B5EF4-FFF2-40B4-BE49-F238E27FC236}">
                <a16:creationId xmlns:a16="http://schemas.microsoft.com/office/drawing/2014/main" id="{D9EBC18D-7D9D-C04E-7B83-5B40CB96DA98}"/>
              </a:ext>
            </a:extLst>
          </p:cNvPr>
          <p:cNvSpPr/>
          <p:nvPr/>
        </p:nvSpPr>
        <p:spPr>
          <a:xfrm>
            <a:off x="947468" y="949911"/>
            <a:ext cx="5581079" cy="371138"/>
          </a:xfrm>
          <a:prstGeom prst="rect">
            <a:avLst/>
          </a:prstGeom>
          <a:noFill/>
          <a:ln/>
        </p:spPr>
        <p:txBody>
          <a:bodyPr wrap="square" lIns="0" tIns="0" rIns="0" bIns="0" rtlCol="0" anchor="t">
            <a:normAutofit/>
          </a:bodyPr>
          <a:lstStyle/>
          <a:p>
            <a:r>
              <a:rPr lang="fr-FR" sz="1200" noProof="0">
                <a:solidFill>
                  <a:srgbClr val="073527"/>
                </a:solidFill>
                <a:latin typeface="Jost Medium" pitchFamily="2" charset="77"/>
                <a:ea typeface="Jost Medium" pitchFamily="2" charset="77"/>
                <a:cs typeface="Futura Medium" panose="020B0602020204020303" pitchFamily="34" charset="-79"/>
              </a:rPr>
              <a:t>Une allocation diversifiée construite autour de plusieurs moteurs de performance</a:t>
            </a:r>
          </a:p>
        </p:txBody>
      </p:sp>
      <p:sp>
        <p:nvSpPr>
          <p:cNvPr id="5" name="Text 9">
            <a:extLst>
              <a:ext uri="{FF2B5EF4-FFF2-40B4-BE49-F238E27FC236}">
                <a16:creationId xmlns:a16="http://schemas.microsoft.com/office/drawing/2014/main" id="{14146F7F-421D-3B1E-B0DA-CCAB11ED3E01}"/>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a:solidFill>
                  <a:srgbClr val="A9853F"/>
                </a:solidFill>
                <a:latin typeface="Cormorant Garamond SemiBold" pitchFamily="2" charset="77"/>
                <a:ea typeface="Cormorant Garamond SemiBold" pitchFamily="2" charset="77"/>
                <a:cs typeface="Cormorant Garamond SemiBold" pitchFamily="2" charset="77"/>
              </a:rPr>
              <a:t>Composition du portefeuille – Profil Équilibré</a:t>
            </a:r>
          </a:p>
        </p:txBody>
      </p:sp>
      <p:sp>
        <p:nvSpPr>
          <p:cNvPr id="6" name="Rectangle 5">
            <a:extLst>
              <a:ext uri="{FF2B5EF4-FFF2-40B4-BE49-F238E27FC236}">
                <a16:creationId xmlns:a16="http://schemas.microsoft.com/office/drawing/2014/main" id="{6F304284-2918-D5DB-C9D1-9FA4067C06FA}"/>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avec coins arrondis en haut 10">
            <a:extLst>
              <a:ext uri="{FF2B5EF4-FFF2-40B4-BE49-F238E27FC236}">
                <a16:creationId xmlns:a16="http://schemas.microsoft.com/office/drawing/2014/main" id="{B999EBFD-8F28-BC0C-1477-2BA23E3ACF48}"/>
              </a:ext>
            </a:extLst>
          </p:cNvPr>
          <p:cNvSpPr/>
          <p:nvPr/>
        </p:nvSpPr>
        <p:spPr>
          <a:xfrm>
            <a:off x="6699458" y="1321049"/>
            <a:ext cx="4275763" cy="466788"/>
          </a:xfrm>
          <a:prstGeom prst="round2SameRect">
            <a:avLst>
              <a:gd name="adj1" fmla="val 50000"/>
              <a:gd name="adj2" fmla="val 0"/>
            </a:avLst>
          </a:prstGeom>
          <a:solidFill>
            <a:srgbClr val="001B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a:latin typeface="Jost Black" pitchFamily="2" charset="77"/>
                <a:ea typeface="Jost Black" pitchFamily="2" charset="77"/>
              </a:rPr>
              <a:t>Évolution théorique de votre capital (base 100)*</a:t>
            </a:r>
          </a:p>
        </p:txBody>
      </p:sp>
      <p:sp>
        <p:nvSpPr>
          <p:cNvPr id="12" name="ZoneTexte 11">
            <a:extLst>
              <a:ext uri="{FF2B5EF4-FFF2-40B4-BE49-F238E27FC236}">
                <a16:creationId xmlns:a16="http://schemas.microsoft.com/office/drawing/2014/main" id="{D8C6AFB0-A090-E9D9-8E54-FD7A3DD5BE1E}"/>
              </a:ext>
            </a:extLst>
          </p:cNvPr>
          <p:cNvSpPr txBox="1"/>
          <p:nvPr/>
        </p:nvSpPr>
        <p:spPr>
          <a:xfrm>
            <a:off x="11013236" y="4873149"/>
            <a:ext cx="983337" cy="307777"/>
          </a:xfrm>
          <a:prstGeom prst="rect">
            <a:avLst/>
          </a:prstGeom>
          <a:noFill/>
        </p:spPr>
        <p:txBody>
          <a:bodyPr wrap="square" rtlCol="0">
            <a:spAutoFit/>
          </a:bodyPr>
          <a:lstStyle/>
          <a:p>
            <a:r>
              <a:rPr lang="fr-FR" sz="700">
                <a:solidFill>
                  <a:srgbClr val="6A6A6A"/>
                </a:solidFill>
                <a:latin typeface="Jost Medium" pitchFamily="2" charset="77"/>
                <a:ea typeface="Jost Medium" pitchFamily="2" charset="77"/>
              </a:rPr>
              <a:t>Nombre d’années </a:t>
            </a:r>
          </a:p>
          <a:p>
            <a:r>
              <a:rPr lang="fr-FR" sz="700">
                <a:solidFill>
                  <a:srgbClr val="6A6A6A"/>
                </a:solidFill>
                <a:latin typeface="Jost Medium" pitchFamily="2" charset="77"/>
                <a:ea typeface="Jost Medium" pitchFamily="2" charset="77"/>
              </a:rPr>
              <a:t>capitalisées (a)</a:t>
            </a:r>
          </a:p>
        </p:txBody>
      </p:sp>
      <p:sp>
        <p:nvSpPr>
          <p:cNvPr id="16" name="Rectangle 15">
            <a:extLst>
              <a:ext uri="{FF2B5EF4-FFF2-40B4-BE49-F238E27FC236}">
                <a16:creationId xmlns:a16="http://schemas.microsoft.com/office/drawing/2014/main" id="{34785ADC-0651-47D1-107F-992BC13B00A6}"/>
              </a:ext>
            </a:extLst>
          </p:cNvPr>
          <p:cNvSpPr/>
          <p:nvPr/>
        </p:nvSpPr>
        <p:spPr>
          <a:xfrm>
            <a:off x="6687154"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Objectif annuel : </a:t>
            </a:r>
          </a:p>
          <a:p>
            <a:pPr algn="ctr"/>
            <a:r>
              <a:rPr lang="fr-FR" sz="1400">
                <a:solidFill>
                  <a:schemeClr val="bg1"/>
                </a:solidFill>
                <a:latin typeface="Jost Medium" pitchFamily="2" charset="77"/>
                <a:ea typeface="Jost Medium" pitchFamily="2" charset="77"/>
                <a:cs typeface="Futura Medium" panose="020B0602020204020303" pitchFamily="34" charset="-79"/>
              </a:rPr>
              <a:t>6.7% </a:t>
            </a:r>
            <a:r>
              <a:rPr lang="fr-FR" sz="1400" err="1">
                <a:solidFill>
                  <a:schemeClr val="bg1"/>
                </a:solidFill>
                <a:latin typeface="Jost Medium" pitchFamily="2" charset="77"/>
                <a:ea typeface="Jost Medium" pitchFamily="2" charset="77"/>
                <a:cs typeface="Futura Medium" panose="020B0602020204020303" pitchFamily="34" charset="-79"/>
              </a:rPr>
              <a:t>p.a</a:t>
            </a:r>
            <a:r>
              <a:rPr lang="fr-FR" sz="1400">
                <a:solidFill>
                  <a:schemeClr val="bg1"/>
                </a:solidFill>
                <a:latin typeface="Jost Medium" pitchFamily="2" charset="77"/>
                <a:ea typeface="Jost Medium" pitchFamily="2" charset="77"/>
                <a:cs typeface="Futura Medium" panose="020B0602020204020303" pitchFamily="34" charset="-79"/>
              </a:rPr>
              <a:t>.</a:t>
            </a:r>
          </a:p>
        </p:txBody>
      </p:sp>
      <p:sp>
        <p:nvSpPr>
          <p:cNvPr id="17" name="Rectangle 16">
            <a:extLst>
              <a:ext uri="{FF2B5EF4-FFF2-40B4-BE49-F238E27FC236}">
                <a16:creationId xmlns:a16="http://schemas.microsoft.com/office/drawing/2014/main" id="{F9ACC615-E63A-83C1-0DEA-C6C0F540CF35}"/>
              </a:ext>
            </a:extLst>
          </p:cNvPr>
          <p:cNvSpPr/>
          <p:nvPr/>
        </p:nvSpPr>
        <p:spPr>
          <a:xfrm>
            <a:off x="8837340"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SRRI : </a:t>
            </a:r>
          </a:p>
          <a:p>
            <a:pPr algn="ctr"/>
            <a:r>
              <a:rPr lang="fr-FR" sz="1400">
                <a:solidFill>
                  <a:schemeClr val="bg1"/>
                </a:solidFill>
                <a:latin typeface="Jost Medium" pitchFamily="2" charset="77"/>
                <a:ea typeface="Jost Medium" pitchFamily="2" charset="77"/>
                <a:cs typeface="Futura Medium" panose="020B0602020204020303" pitchFamily="34" charset="-79"/>
              </a:rPr>
              <a:t>3 à 4</a:t>
            </a:r>
          </a:p>
        </p:txBody>
      </p:sp>
      <p:sp>
        <p:nvSpPr>
          <p:cNvPr id="18" name="Rectangle 17">
            <a:extLst>
              <a:ext uri="{FF2B5EF4-FFF2-40B4-BE49-F238E27FC236}">
                <a16:creationId xmlns:a16="http://schemas.microsoft.com/office/drawing/2014/main" id="{F806B256-9546-782D-9AC1-7BAD1411BAAC}"/>
              </a:ext>
            </a:extLst>
          </p:cNvPr>
          <p:cNvSpPr/>
          <p:nvPr/>
        </p:nvSpPr>
        <p:spPr>
          <a:xfrm>
            <a:off x="6687154" y="5232537"/>
            <a:ext cx="4275760" cy="272760"/>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a:solidFill>
                  <a:srgbClr val="196B24"/>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optimiste   </a:t>
            </a:r>
            <a:r>
              <a:rPr lang="fr-FR" sz="800">
                <a:solidFill>
                  <a:srgbClr val="AB853F"/>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médian   </a:t>
            </a:r>
            <a:r>
              <a:rPr lang="fr-FR" sz="800">
                <a:solidFill>
                  <a:srgbClr val="001A00"/>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pessimiste</a:t>
            </a:r>
          </a:p>
        </p:txBody>
      </p:sp>
      <p:pic>
        <p:nvPicPr>
          <p:cNvPr id="19" name="Image 18">
            <a:extLst>
              <a:ext uri="{FF2B5EF4-FFF2-40B4-BE49-F238E27FC236}">
                <a16:creationId xmlns:a16="http://schemas.microsoft.com/office/drawing/2014/main" id="{33980063-EA66-4B5C-7426-37AE1C14D3AD}"/>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3" name="Chart 4">
            <a:extLst>
              <a:ext uri="{FF2B5EF4-FFF2-40B4-BE49-F238E27FC236}">
                <a16:creationId xmlns:a16="http://schemas.microsoft.com/office/drawing/2014/main" id="{00000000-0008-0000-0000-000005000000}"/>
              </a:ext>
            </a:extLst>
          </p:cNvPr>
          <p:cNvGraphicFramePr>
            <a:graphicFrameLocks/>
          </p:cNvGraphicFramePr>
          <p:nvPr/>
        </p:nvGraphicFramePr>
        <p:xfrm>
          <a:off x="962698" y="1692187"/>
          <a:ext cx="5133301" cy="3813110"/>
        </p:xfrm>
        <a:graphic>
          <a:graphicData uri="http://schemas.openxmlformats.org/drawingml/2006/chart">
            <c:chart xmlns:c="http://schemas.openxmlformats.org/drawingml/2006/chart" xmlns:r="http://schemas.openxmlformats.org/officeDocument/2006/relationships" r:id="rId5"/>
          </a:graphicData>
        </a:graphic>
      </p:graphicFrame>
      <p:sp>
        <p:nvSpPr>
          <p:cNvPr id="7" name="Rectangle 6">
            <a:extLst>
              <a:ext uri="{FF2B5EF4-FFF2-40B4-BE49-F238E27FC236}">
                <a16:creationId xmlns:a16="http://schemas.microsoft.com/office/drawing/2014/main" id="{98A6A60A-8947-5161-CEBA-4A85A163EBCB}"/>
              </a:ext>
            </a:extLst>
          </p:cNvPr>
          <p:cNvSpPr/>
          <p:nvPr/>
        </p:nvSpPr>
        <p:spPr>
          <a:xfrm>
            <a:off x="962698" y="5670108"/>
            <a:ext cx="5166844" cy="661246"/>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50">
                <a:solidFill>
                  <a:schemeClr val="tx1"/>
                </a:solidFill>
                <a:latin typeface="Jost Light" pitchFamily="2" charset="77"/>
                <a:ea typeface="Jost Light" pitchFamily="2" charset="77"/>
                <a:cs typeface="Futura Medium" panose="020B0602020204020303" pitchFamily="34" charset="-79"/>
              </a:rPr>
              <a:t>À titre d’illustration, un capital initial de 500K EUR positionné sur notre profil équilibré et intégralement capitalisé, pourrait atteindre environ 1.8M EUR au terme de 20 ans.</a:t>
            </a:r>
          </a:p>
        </p:txBody>
      </p:sp>
      <p:sp>
        <p:nvSpPr>
          <p:cNvPr id="15" name="ZoneTexte 14">
            <a:extLst>
              <a:ext uri="{FF2B5EF4-FFF2-40B4-BE49-F238E27FC236}">
                <a16:creationId xmlns:a16="http://schemas.microsoft.com/office/drawing/2014/main" id="{D0F38825-0AF0-4177-CA0A-7AB1A9AC6433}"/>
              </a:ext>
            </a:extLst>
          </p:cNvPr>
          <p:cNvSpPr txBox="1"/>
          <p:nvPr/>
        </p:nvSpPr>
        <p:spPr>
          <a:xfrm>
            <a:off x="947468" y="6553383"/>
            <a:ext cx="11409632" cy="215444"/>
          </a:xfrm>
          <a:prstGeom prst="rect">
            <a:avLst/>
          </a:prstGeom>
          <a:noFill/>
        </p:spPr>
        <p:txBody>
          <a:bodyPr wrap="square" rtlCol="0">
            <a:spAutoFit/>
          </a:bodyPr>
          <a:lstStyle/>
          <a:p>
            <a:pPr algn="ctr"/>
            <a:r>
              <a:rPr lang="fr-FR" sz="800" i="1">
                <a:latin typeface="Jost ExtraLight" pitchFamily="2" charset="77"/>
                <a:ea typeface="Jost ExtraLight" pitchFamily="2" charset="77"/>
              </a:rPr>
              <a:t>*Simulation non contractuelle, à titre illustratif uniquement. Les performances passées ou simulées ne préjugent pas des performances futures. Le capital investi est soumis à un risque de perte. Rendements présentés hors frais, fiscalité et inflation.</a:t>
            </a:r>
          </a:p>
        </p:txBody>
      </p:sp>
      <p:graphicFrame>
        <p:nvGraphicFramePr>
          <p:cNvPr id="20" name="Chart">
            <a:extLst>
              <a:ext uri="{FF2B5EF4-FFF2-40B4-BE49-F238E27FC236}">
                <a16:creationId xmlns:a16="http://schemas.microsoft.com/office/drawing/2014/main" id="{00000000-0008-0000-0500-000002000000}"/>
              </a:ext>
            </a:extLst>
          </p:cNvPr>
          <p:cNvGraphicFramePr>
            <a:graphicFrameLocks/>
          </p:cNvGraphicFramePr>
          <p:nvPr/>
        </p:nvGraphicFramePr>
        <p:xfrm>
          <a:off x="6699458" y="1829226"/>
          <a:ext cx="4275760" cy="33517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2754479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56490-ABEF-F0ED-02EC-7D1EB5B2270E}"/>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9CA8F20D-EB8E-471D-F69C-720093BA01D3}"/>
              </a:ext>
            </a:extLst>
          </p:cNvPr>
          <p:cNvPicPr>
            <a:picLocks noChangeAspect="1"/>
          </p:cNvPicPr>
          <p:nvPr/>
        </p:nvPicPr>
        <p:blipFill>
          <a:blip r:embed="rId3">
            <a:alphaModFix amt="5000"/>
          </a:blip>
          <a:srcRect l="6207" b="6232"/>
          <a:stretch>
            <a:fillRect/>
          </a:stretch>
        </p:blipFill>
        <p:spPr>
          <a:xfrm>
            <a:off x="-20053" y="0"/>
            <a:ext cx="12191999" cy="6859822"/>
          </a:xfrm>
          <a:prstGeom prst="rect">
            <a:avLst/>
          </a:prstGeom>
        </p:spPr>
      </p:pic>
      <p:sp>
        <p:nvSpPr>
          <p:cNvPr id="4" name="Text 9">
            <a:extLst>
              <a:ext uri="{FF2B5EF4-FFF2-40B4-BE49-F238E27FC236}">
                <a16:creationId xmlns:a16="http://schemas.microsoft.com/office/drawing/2014/main" id="{05E94E40-9EA2-669D-58FD-590BB0357584}"/>
              </a:ext>
            </a:extLst>
          </p:cNvPr>
          <p:cNvSpPr/>
          <p:nvPr/>
        </p:nvSpPr>
        <p:spPr>
          <a:xfrm>
            <a:off x="947468" y="949911"/>
            <a:ext cx="5581079" cy="371138"/>
          </a:xfrm>
          <a:prstGeom prst="rect">
            <a:avLst/>
          </a:prstGeom>
          <a:noFill/>
          <a:ln/>
        </p:spPr>
        <p:txBody>
          <a:bodyPr wrap="square" lIns="0" tIns="0" rIns="0" bIns="0" rtlCol="0" anchor="t">
            <a:normAutofit/>
          </a:bodyPr>
          <a:lstStyle/>
          <a:p>
            <a:r>
              <a:rPr lang="fr-FR" sz="1200" noProof="0">
                <a:solidFill>
                  <a:srgbClr val="073527"/>
                </a:solidFill>
                <a:latin typeface="Jost Medium" pitchFamily="2" charset="77"/>
                <a:ea typeface="Jost Medium" pitchFamily="2" charset="77"/>
                <a:cs typeface="Futura Medium" panose="020B0602020204020303" pitchFamily="34" charset="-79"/>
              </a:rPr>
              <a:t>Une allocation diversifiée construite autour de plusieurs moteurs de performance</a:t>
            </a:r>
          </a:p>
        </p:txBody>
      </p:sp>
      <p:sp>
        <p:nvSpPr>
          <p:cNvPr id="5" name="Text 9">
            <a:extLst>
              <a:ext uri="{FF2B5EF4-FFF2-40B4-BE49-F238E27FC236}">
                <a16:creationId xmlns:a16="http://schemas.microsoft.com/office/drawing/2014/main" id="{62143CF2-9E2B-F9A5-7E66-EEE1C37A4FB4}"/>
              </a:ext>
            </a:extLst>
          </p:cNvPr>
          <p:cNvSpPr/>
          <p:nvPr/>
        </p:nvSpPr>
        <p:spPr>
          <a:xfrm>
            <a:off x="947468" y="578773"/>
            <a:ext cx="5751990" cy="371138"/>
          </a:xfrm>
          <a:prstGeom prst="rect">
            <a:avLst/>
          </a:prstGeom>
          <a:noFill/>
          <a:ln/>
        </p:spPr>
        <p:txBody>
          <a:bodyPr wrap="square" lIns="0" tIns="0" rIns="0" bIns="0" rtlCol="0" anchor="t">
            <a:normAutofit/>
          </a:bodyPr>
          <a:lstStyle/>
          <a:p>
            <a:r>
              <a:rPr lang="fr-FR" b="1" noProof="0">
                <a:solidFill>
                  <a:srgbClr val="A9853F"/>
                </a:solidFill>
                <a:latin typeface="Cormorant Garamond SemiBold" pitchFamily="2" charset="77"/>
                <a:ea typeface="Cormorant Garamond SemiBold" pitchFamily="2" charset="77"/>
                <a:cs typeface="Cormorant Garamond SemiBold" pitchFamily="2" charset="77"/>
              </a:rPr>
              <a:t>Composition du portefeuille – Profil Opportuniste</a:t>
            </a:r>
          </a:p>
        </p:txBody>
      </p:sp>
      <p:sp>
        <p:nvSpPr>
          <p:cNvPr id="6" name="Rectangle 5">
            <a:extLst>
              <a:ext uri="{FF2B5EF4-FFF2-40B4-BE49-F238E27FC236}">
                <a16:creationId xmlns:a16="http://schemas.microsoft.com/office/drawing/2014/main" id="{1917B9C8-4132-878C-4717-07776265E236}"/>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avec coins arrondis en haut 10">
            <a:extLst>
              <a:ext uri="{FF2B5EF4-FFF2-40B4-BE49-F238E27FC236}">
                <a16:creationId xmlns:a16="http://schemas.microsoft.com/office/drawing/2014/main" id="{D4330CEE-3854-E0E4-CE8F-CC2E05BA488B}"/>
              </a:ext>
            </a:extLst>
          </p:cNvPr>
          <p:cNvSpPr/>
          <p:nvPr/>
        </p:nvSpPr>
        <p:spPr>
          <a:xfrm>
            <a:off x="6699458" y="1321049"/>
            <a:ext cx="4275763" cy="466788"/>
          </a:xfrm>
          <a:prstGeom prst="round2SameRect">
            <a:avLst>
              <a:gd name="adj1" fmla="val 50000"/>
              <a:gd name="adj2" fmla="val 0"/>
            </a:avLst>
          </a:prstGeom>
          <a:solidFill>
            <a:srgbClr val="001B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a:latin typeface="Jost Black" pitchFamily="2" charset="77"/>
                <a:ea typeface="Jost Black" pitchFamily="2" charset="77"/>
              </a:rPr>
              <a:t>Évolution théorique de votre capital (base 100)*</a:t>
            </a:r>
          </a:p>
        </p:txBody>
      </p:sp>
      <p:sp>
        <p:nvSpPr>
          <p:cNvPr id="12" name="ZoneTexte 11">
            <a:extLst>
              <a:ext uri="{FF2B5EF4-FFF2-40B4-BE49-F238E27FC236}">
                <a16:creationId xmlns:a16="http://schemas.microsoft.com/office/drawing/2014/main" id="{3CABF495-FC78-5637-1CF3-13ACECE2303B}"/>
              </a:ext>
            </a:extLst>
          </p:cNvPr>
          <p:cNvSpPr txBox="1"/>
          <p:nvPr/>
        </p:nvSpPr>
        <p:spPr>
          <a:xfrm>
            <a:off x="11013236" y="4873149"/>
            <a:ext cx="983337" cy="307777"/>
          </a:xfrm>
          <a:prstGeom prst="rect">
            <a:avLst/>
          </a:prstGeom>
          <a:noFill/>
        </p:spPr>
        <p:txBody>
          <a:bodyPr wrap="square" rtlCol="0">
            <a:spAutoFit/>
          </a:bodyPr>
          <a:lstStyle/>
          <a:p>
            <a:r>
              <a:rPr lang="fr-FR" sz="700">
                <a:solidFill>
                  <a:srgbClr val="6A6A6A"/>
                </a:solidFill>
                <a:latin typeface="Jost Medium" pitchFamily="2" charset="77"/>
                <a:ea typeface="Jost Medium" pitchFamily="2" charset="77"/>
              </a:rPr>
              <a:t>Nombre d’années </a:t>
            </a:r>
          </a:p>
          <a:p>
            <a:r>
              <a:rPr lang="fr-FR" sz="700">
                <a:solidFill>
                  <a:srgbClr val="6A6A6A"/>
                </a:solidFill>
                <a:latin typeface="Jost Medium" pitchFamily="2" charset="77"/>
                <a:ea typeface="Jost Medium" pitchFamily="2" charset="77"/>
              </a:rPr>
              <a:t>capitalisées (a)</a:t>
            </a:r>
          </a:p>
        </p:txBody>
      </p:sp>
      <p:sp>
        <p:nvSpPr>
          <p:cNvPr id="16" name="Rectangle 15">
            <a:extLst>
              <a:ext uri="{FF2B5EF4-FFF2-40B4-BE49-F238E27FC236}">
                <a16:creationId xmlns:a16="http://schemas.microsoft.com/office/drawing/2014/main" id="{6BE355C1-D2D9-E7BD-8D2D-C4F220221FF3}"/>
              </a:ext>
            </a:extLst>
          </p:cNvPr>
          <p:cNvSpPr/>
          <p:nvPr/>
        </p:nvSpPr>
        <p:spPr>
          <a:xfrm>
            <a:off x="6687154"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Objectif annuel : </a:t>
            </a:r>
          </a:p>
          <a:p>
            <a:pPr algn="ctr"/>
            <a:r>
              <a:rPr lang="fr-FR" sz="1400">
                <a:solidFill>
                  <a:schemeClr val="bg1"/>
                </a:solidFill>
                <a:latin typeface="Jost Medium" pitchFamily="2" charset="77"/>
                <a:ea typeface="Jost Medium" pitchFamily="2" charset="77"/>
                <a:cs typeface="Futura Medium" panose="020B0602020204020303" pitchFamily="34" charset="-79"/>
              </a:rPr>
              <a:t>8.4% </a:t>
            </a:r>
            <a:r>
              <a:rPr lang="fr-FR" sz="1400" err="1">
                <a:solidFill>
                  <a:schemeClr val="bg1"/>
                </a:solidFill>
                <a:latin typeface="Jost Medium" pitchFamily="2" charset="77"/>
                <a:ea typeface="Jost Medium" pitchFamily="2" charset="77"/>
                <a:cs typeface="Futura Medium" panose="020B0602020204020303" pitchFamily="34" charset="-79"/>
              </a:rPr>
              <a:t>p.a</a:t>
            </a:r>
            <a:r>
              <a:rPr lang="fr-FR" sz="1400">
                <a:solidFill>
                  <a:schemeClr val="bg1"/>
                </a:solidFill>
                <a:latin typeface="Jost Medium" pitchFamily="2" charset="77"/>
                <a:ea typeface="Jost Medium" pitchFamily="2" charset="77"/>
                <a:cs typeface="Futura Medium" panose="020B0602020204020303" pitchFamily="34" charset="-79"/>
              </a:rPr>
              <a:t>.</a:t>
            </a:r>
          </a:p>
        </p:txBody>
      </p:sp>
      <p:sp>
        <p:nvSpPr>
          <p:cNvPr id="17" name="Rectangle 16">
            <a:extLst>
              <a:ext uri="{FF2B5EF4-FFF2-40B4-BE49-F238E27FC236}">
                <a16:creationId xmlns:a16="http://schemas.microsoft.com/office/drawing/2014/main" id="{95017D5C-7B26-B2F6-5B3B-0C68BD351470}"/>
              </a:ext>
            </a:extLst>
          </p:cNvPr>
          <p:cNvSpPr/>
          <p:nvPr/>
        </p:nvSpPr>
        <p:spPr>
          <a:xfrm>
            <a:off x="8837340"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SRRI : </a:t>
            </a:r>
          </a:p>
          <a:p>
            <a:pPr algn="ctr"/>
            <a:r>
              <a:rPr lang="fr-FR" sz="1400">
                <a:solidFill>
                  <a:schemeClr val="bg1"/>
                </a:solidFill>
                <a:latin typeface="Jost Medium" pitchFamily="2" charset="77"/>
                <a:ea typeface="Jost Medium" pitchFamily="2" charset="77"/>
                <a:cs typeface="Futura Medium" panose="020B0602020204020303" pitchFamily="34" charset="-79"/>
              </a:rPr>
              <a:t>4 à 6</a:t>
            </a:r>
          </a:p>
        </p:txBody>
      </p:sp>
      <p:sp>
        <p:nvSpPr>
          <p:cNvPr id="18" name="Rectangle 17">
            <a:extLst>
              <a:ext uri="{FF2B5EF4-FFF2-40B4-BE49-F238E27FC236}">
                <a16:creationId xmlns:a16="http://schemas.microsoft.com/office/drawing/2014/main" id="{C91840E0-EC18-7A1E-59E9-DD7DFF25014B}"/>
              </a:ext>
            </a:extLst>
          </p:cNvPr>
          <p:cNvSpPr/>
          <p:nvPr/>
        </p:nvSpPr>
        <p:spPr>
          <a:xfrm>
            <a:off x="6687154" y="5232537"/>
            <a:ext cx="4275760" cy="272760"/>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a:solidFill>
                  <a:srgbClr val="196B24"/>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optimiste   </a:t>
            </a:r>
            <a:r>
              <a:rPr lang="fr-FR" sz="800">
                <a:solidFill>
                  <a:srgbClr val="AB853F"/>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médian   </a:t>
            </a:r>
            <a:r>
              <a:rPr lang="fr-FR" sz="800">
                <a:solidFill>
                  <a:srgbClr val="001A00"/>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pessimiste</a:t>
            </a:r>
          </a:p>
        </p:txBody>
      </p:sp>
      <p:pic>
        <p:nvPicPr>
          <p:cNvPr id="19" name="Image 18">
            <a:extLst>
              <a:ext uri="{FF2B5EF4-FFF2-40B4-BE49-F238E27FC236}">
                <a16:creationId xmlns:a16="http://schemas.microsoft.com/office/drawing/2014/main" id="{E6626A2D-0822-68B6-C351-0A6EB633411C}"/>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7" name="Rectangle 6">
            <a:extLst>
              <a:ext uri="{FF2B5EF4-FFF2-40B4-BE49-F238E27FC236}">
                <a16:creationId xmlns:a16="http://schemas.microsoft.com/office/drawing/2014/main" id="{DE1B9DFE-6982-FB1D-B980-B441CFAD08E7}"/>
              </a:ext>
            </a:extLst>
          </p:cNvPr>
          <p:cNvSpPr/>
          <p:nvPr/>
        </p:nvSpPr>
        <p:spPr>
          <a:xfrm>
            <a:off x="909102" y="5670108"/>
            <a:ext cx="5166844" cy="661246"/>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50">
                <a:solidFill>
                  <a:schemeClr val="tx1"/>
                </a:solidFill>
                <a:latin typeface="Jost Light" pitchFamily="2" charset="77"/>
                <a:ea typeface="Jost Light" pitchFamily="2" charset="77"/>
                <a:cs typeface="Futura Medium" panose="020B0602020204020303" pitchFamily="34" charset="-79"/>
              </a:rPr>
              <a:t>À titre d’illustration, un capital initial de 500K EUR positionné sur notre profil opportuniste et intégralement capitalisé, pourrait atteindre environ 2.5M EUR au terme de 20 ans.</a:t>
            </a:r>
          </a:p>
        </p:txBody>
      </p:sp>
      <p:graphicFrame>
        <p:nvGraphicFramePr>
          <p:cNvPr id="2" name="Chart 5">
            <a:extLst>
              <a:ext uri="{FF2B5EF4-FFF2-40B4-BE49-F238E27FC236}">
                <a16:creationId xmlns:a16="http://schemas.microsoft.com/office/drawing/2014/main" id="{00000000-0008-0000-0000-000006000000}"/>
              </a:ext>
            </a:extLst>
          </p:cNvPr>
          <p:cNvGraphicFramePr>
            <a:graphicFrameLocks/>
          </p:cNvGraphicFramePr>
          <p:nvPr/>
        </p:nvGraphicFramePr>
        <p:xfrm>
          <a:off x="929582" y="1395454"/>
          <a:ext cx="5128478" cy="4204157"/>
        </p:xfrm>
        <a:graphic>
          <a:graphicData uri="http://schemas.openxmlformats.org/drawingml/2006/chart">
            <c:chart xmlns:c="http://schemas.openxmlformats.org/drawingml/2006/chart" xmlns:r="http://schemas.openxmlformats.org/officeDocument/2006/relationships" r:id="rId5"/>
          </a:graphicData>
        </a:graphic>
      </p:graphicFrame>
      <p:sp>
        <p:nvSpPr>
          <p:cNvPr id="15" name="ZoneTexte 14">
            <a:extLst>
              <a:ext uri="{FF2B5EF4-FFF2-40B4-BE49-F238E27FC236}">
                <a16:creationId xmlns:a16="http://schemas.microsoft.com/office/drawing/2014/main" id="{F131F4B3-96FA-7F79-D53B-3BE62E12F484}"/>
              </a:ext>
            </a:extLst>
          </p:cNvPr>
          <p:cNvSpPr txBox="1"/>
          <p:nvPr/>
        </p:nvSpPr>
        <p:spPr>
          <a:xfrm>
            <a:off x="947468" y="6553383"/>
            <a:ext cx="11409632" cy="215444"/>
          </a:xfrm>
          <a:prstGeom prst="rect">
            <a:avLst/>
          </a:prstGeom>
          <a:noFill/>
        </p:spPr>
        <p:txBody>
          <a:bodyPr wrap="square" rtlCol="0">
            <a:spAutoFit/>
          </a:bodyPr>
          <a:lstStyle/>
          <a:p>
            <a:pPr algn="ctr"/>
            <a:r>
              <a:rPr lang="fr-FR" sz="800" i="1">
                <a:latin typeface="Jost ExtraLight" pitchFamily="2" charset="77"/>
                <a:ea typeface="Jost ExtraLight" pitchFamily="2" charset="77"/>
              </a:rPr>
              <a:t>*Simulation non contractuelle, à titre illustratif uniquement. Les performances passées ou simulées ne préjugent pas des performances futures. Le capital investi est soumis à un risque de perte. Rendements présentés hors frais, fiscalité et inflation.</a:t>
            </a:r>
          </a:p>
        </p:txBody>
      </p:sp>
      <p:graphicFrame>
        <p:nvGraphicFramePr>
          <p:cNvPr id="20" name="Chart">
            <a:extLst>
              <a:ext uri="{FF2B5EF4-FFF2-40B4-BE49-F238E27FC236}">
                <a16:creationId xmlns:a16="http://schemas.microsoft.com/office/drawing/2014/main" id="{00000000-0008-0000-0600-000002000000}"/>
              </a:ext>
            </a:extLst>
          </p:cNvPr>
          <p:cNvGraphicFramePr>
            <a:graphicFrameLocks/>
          </p:cNvGraphicFramePr>
          <p:nvPr/>
        </p:nvGraphicFramePr>
        <p:xfrm>
          <a:off x="6699458" y="1829226"/>
          <a:ext cx="4275760" cy="33517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696251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D0E61-43A8-7A9E-12A7-A9523CB6293E}"/>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F18F24AC-7DF7-67C0-D3B8-C37B2984E83D}"/>
              </a:ext>
            </a:extLst>
          </p:cNvPr>
          <p:cNvPicPr>
            <a:picLocks noChangeAspect="1"/>
          </p:cNvPicPr>
          <p:nvPr/>
        </p:nvPicPr>
        <p:blipFill>
          <a:blip r:embed="rId3">
            <a:alphaModFix amt="5000"/>
          </a:blip>
          <a:srcRect l="6207" b="6232"/>
          <a:stretch>
            <a:fillRect/>
          </a:stretch>
        </p:blipFill>
        <p:spPr>
          <a:xfrm>
            <a:off x="-20053" y="0"/>
            <a:ext cx="12191999" cy="6859822"/>
          </a:xfrm>
          <a:prstGeom prst="rect">
            <a:avLst/>
          </a:prstGeom>
        </p:spPr>
      </p:pic>
      <p:sp>
        <p:nvSpPr>
          <p:cNvPr id="4" name="Text 9">
            <a:extLst>
              <a:ext uri="{FF2B5EF4-FFF2-40B4-BE49-F238E27FC236}">
                <a16:creationId xmlns:a16="http://schemas.microsoft.com/office/drawing/2014/main" id="{8165161C-E4D9-0D07-234A-289AFFF2444E}"/>
              </a:ext>
            </a:extLst>
          </p:cNvPr>
          <p:cNvSpPr/>
          <p:nvPr/>
        </p:nvSpPr>
        <p:spPr>
          <a:xfrm>
            <a:off x="947468" y="949911"/>
            <a:ext cx="5581079" cy="371138"/>
          </a:xfrm>
          <a:prstGeom prst="rect">
            <a:avLst/>
          </a:prstGeom>
          <a:noFill/>
          <a:ln/>
        </p:spPr>
        <p:txBody>
          <a:bodyPr wrap="square" lIns="0" tIns="0" rIns="0" bIns="0" rtlCol="0" anchor="t">
            <a:normAutofit/>
          </a:bodyPr>
          <a:lstStyle/>
          <a:p>
            <a:r>
              <a:rPr lang="fr-FR" sz="1200" noProof="0">
                <a:solidFill>
                  <a:srgbClr val="073527"/>
                </a:solidFill>
                <a:latin typeface="Jost Medium" pitchFamily="2" charset="77"/>
                <a:ea typeface="Jost Medium" pitchFamily="2" charset="77"/>
                <a:cs typeface="Futura Medium" panose="020B0602020204020303" pitchFamily="34" charset="-79"/>
              </a:rPr>
              <a:t>Une allocation diversifiée construite autour de plusieurs moteurs de performance</a:t>
            </a:r>
          </a:p>
        </p:txBody>
      </p:sp>
      <p:sp>
        <p:nvSpPr>
          <p:cNvPr id="5" name="Text 9">
            <a:extLst>
              <a:ext uri="{FF2B5EF4-FFF2-40B4-BE49-F238E27FC236}">
                <a16:creationId xmlns:a16="http://schemas.microsoft.com/office/drawing/2014/main" id="{F94FF53E-FED3-D675-39A5-EF9F81E54001}"/>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a:solidFill>
                  <a:srgbClr val="A9853F"/>
                </a:solidFill>
                <a:latin typeface="Cormorant Garamond SemiBold" pitchFamily="2" charset="77"/>
                <a:ea typeface="Cormorant Garamond SemiBold" pitchFamily="2" charset="77"/>
                <a:cs typeface="Cormorant Garamond SemiBold" pitchFamily="2" charset="77"/>
              </a:rPr>
              <a:t>Composition du portefeuille – Profil Dynamique</a:t>
            </a:r>
          </a:p>
        </p:txBody>
      </p:sp>
      <p:sp>
        <p:nvSpPr>
          <p:cNvPr id="6" name="Rectangle 5">
            <a:extLst>
              <a:ext uri="{FF2B5EF4-FFF2-40B4-BE49-F238E27FC236}">
                <a16:creationId xmlns:a16="http://schemas.microsoft.com/office/drawing/2014/main" id="{DAE6662F-7DDB-2956-334D-AAF0210F63E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avec coins arrondis en haut 10">
            <a:extLst>
              <a:ext uri="{FF2B5EF4-FFF2-40B4-BE49-F238E27FC236}">
                <a16:creationId xmlns:a16="http://schemas.microsoft.com/office/drawing/2014/main" id="{8FA16C09-A724-1EA0-4402-4DF7F1D60B75}"/>
              </a:ext>
            </a:extLst>
          </p:cNvPr>
          <p:cNvSpPr/>
          <p:nvPr/>
        </p:nvSpPr>
        <p:spPr>
          <a:xfrm>
            <a:off x="6699458" y="1321049"/>
            <a:ext cx="4275763" cy="466788"/>
          </a:xfrm>
          <a:prstGeom prst="round2SameRect">
            <a:avLst>
              <a:gd name="adj1" fmla="val 50000"/>
              <a:gd name="adj2" fmla="val 0"/>
            </a:avLst>
          </a:prstGeom>
          <a:solidFill>
            <a:srgbClr val="001B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a:latin typeface="Jost Black" pitchFamily="2" charset="77"/>
                <a:ea typeface="Jost Black" pitchFamily="2" charset="77"/>
              </a:rPr>
              <a:t>Évolution théorique de votre capital (base 100)*</a:t>
            </a:r>
          </a:p>
        </p:txBody>
      </p:sp>
      <p:sp>
        <p:nvSpPr>
          <p:cNvPr id="12" name="ZoneTexte 11">
            <a:extLst>
              <a:ext uri="{FF2B5EF4-FFF2-40B4-BE49-F238E27FC236}">
                <a16:creationId xmlns:a16="http://schemas.microsoft.com/office/drawing/2014/main" id="{5527B420-3795-9185-3F85-C67992715A10}"/>
              </a:ext>
            </a:extLst>
          </p:cNvPr>
          <p:cNvSpPr txBox="1"/>
          <p:nvPr/>
        </p:nvSpPr>
        <p:spPr>
          <a:xfrm>
            <a:off x="11013236" y="4873149"/>
            <a:ext cx="983337" cy="307777"/>
          </a:xfrm>
          <a:prstGeom prst="rect">
            <a:avLst/>
          </a:prstGeom>
          <a:noFill/>
        </p:spPr>
        <p:txBody>
          <a:bodyPr wrap="square" rtlCol="0">
            <a:spAutoFit/>
          </a:bodyPr>
          <a:lstStyle/>
          <a:p>
            <a:r>
              <a:rPr lang="fr-FR" sz="700">
                <a:solidFill>
                  <a:srgbClr val="6A6A6A"/>
                </a:solidFill>
                <a:latin typeface="Jost Medium" pitchFamily="2" charset="77"/>
                <a:ea typeface="Jost Medium" pitchFamily="2" charset="77"/>
              </a:rPr>
              <a:t>Nombre d’années </a:t>
            </a:r>
          </a:p>
          <a:p>
            <a:r>
              <a:rPr lang="fr-FR" sz="700">
                <a:solidFill>
                  <a:srgbClr val="6A6A6A"/>
                </a:solidFill>
                <a:latin typeface="Jost Medium" pitchFamily="2" charset="77"/>
                <a:ea typeface="Jost Medium" pitchFamily="2" charset="77"/>
              </a:rPr>
              <a:t>capitalisées (a)</a:t>
            </a:r>
          </a:p>
        </p:txBody>
      </p:sp>
      <p:sp>
        <p:nvSpPr>
          <p:cNvPr id="16" name="Rectangle 15">
            <a:extLst>
              <a:ext uri="{FF2B5EF4-FFF2-40B4-BE49-F238E27FC236}">
                <a16:creationId xmlns:a16="http://schemas.microsoft.com/office/drawing/2014/main" id="{1EC2A746-1D8A-D507-BBDE-1FBE9BE75B90}"/>
              </a:ext>
            </a:extLst>
          </p:cNvPr>
          <p:cNvSpPr/>
          <p:nvPr/>
        </p:nvSpPr>
        <p:spPr>
          <a:xfrm>
            <a:off x="6687154"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Objectif annuel : </a:t>
            </a:r>
          </a:p>
          <a:p>
            <a:pPr algn="ctr"/>
            <a:r>
              <a:rPr lang="fr-FR" sz="1400">
                <a:solidFill>
                  <a:schemeClr val="bg1"/>
                </a:solidFill>
                <a:latin typeface="Jost Medium" pitchFamily="2" charset="77"/>
                <a:ea typeface="Jost Medium" pitchFamily="2" charset="77"/>
                <a:cs typeface="Futura Medium" panose="020B0602020204020303" pitchFamily="34" charset="-79"/>
              </a:rPr>
              <a:t>10.1% </a:t>
            </a:r>
            <a:r>
              <a:rPr lang="fr-FR" sz="1400" err="1">
                <a:solidFill>
                  <a:schemeClr val="bg1"/>
                </a:solidFill>
                <a:latin typeface="Jost Medium" pitchFamily="2" charset="77"/>
                <a:ea typeface="Jost Medium" pitchFamily="2" charset="77"/>
                <a:cs typeface="Futura Medium" panose="020B0602020204020303" pitchFamily="34" charset="-79"/>
              </a:rPr>
              <a:t>p.a</a:t>
            </a:r>
            <a:r>
              <a:rPr lang="fr-FR" sz="1400">
                <a:solidFill>
                  <a:schemeClr val="bg1"/>
                </a:solidFill>
                <a:latin typeface="Jost Medium" pitchFamily="2" charset="77"/>
                <a:ea typeface="Jost Medium" pitchFamily="2" charset="77"/>
                <a:cs typeface="Futura Medium" panose="020B0602020204020303" pitchFamily="34" charset="-79"/>
              </a:rPr>
              <a:t>.</a:t>
            </a:r>
          </a:p>
        </p:txBody>
      </p:sp>
      <p:sp>
        <p:nvSpPr>
          <p:cNvPr id="17" name="Rectangle 16">
            <a:extLst>
              <a:ext uri="{FF2B5EF4-FFF2-40B4-BE49-F238E27FC236}">
                <a16:creationId xmlns:a16="http://schemas.microsoft.com/office/drawing/2014/main" id="{8AAE82BC-6E4B-AE32-FB50-AB2400D4706A}"/>
              </a:ext>
            </a:extLst>
          </p:cNvPr>
          <p:cNvSpPr/>
          <p:nvPr/>
        </p:nvSpPr>
        <p:spPr>
          <a:xfrm>
            <a:off x="8837340"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SRRI : </a:t>
            </a:r>
          </a:p>
          <a:p>
            <a:pPr algn="ctr"/>
            <a:r>
              <a:rPr lang="fr-FR" sz="1400">
                <a:solidFill>
                  <a:schemeClr val="bg1"/>
                </a:solidFill>
                <a:latin typeface="Jost Medium" pitchFamily="2" charset="77"/>
                <a:ea typeface="Jost Medium" pitchFamily="2" charset="77"/>
                <a:cs typeface="Futura Medium" panose="020B0602020204020303" pitchFamily="34" charset="-79"/>
              </a:rPr>
              <a:t>5 à 7</a:t>
            </a:r>
          </a:p>
        </p:txBody>
      </p:sp>
      <p:sp>
        <p:nvSpPr>
          <p:cNvPr id="18" name="Rectangle 17">
            <a:extLst>
              <a:ext uri="{FF2B5EF4-FFF2-40B4-BE49-F238E27FC236}">
                <a16:creationId xmlns:a16="http://schemas.microsoft.com/office/drawing/2014/main" id="{C52C8B6B-387C-DD67-C877-FD40A39CA8DF}"/>
              </a:ext>
            </a:extLst>
          </p:cNvPr>
          <p:cNvSpPr/>
          <p:nvPr/>
        </p:nvSpPr>
        <p:spPr>
          <a:xfrm>
            <a:off x="6687154" y="5232537"/>
            <a:ext cx="4275760" cy="272760"/>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a:solidFill>
                  <a:srgbClr val="196B24"/>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optimiste   </a:t>
            </a:r>
            <a:r>
              <a:rPr lang="fr-FR" sz="800">
                <a:solidFill>
                  <a:srgbClr val="AB853F"/>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médian   </a:t>
            </a:r>
            <a:r>
              <a:rPr lang="fr-FR" sz="800">
                <a:solidFill>
                  <a:srgbClr val="001A00"/>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pessimiste</a:t>
            </a:r>
          </a:p>
        </p:txBody>
      </p:sp>
      <p:pic>
        <p:nvPicPr>
          <p:cNvPr id="19" name="Image 18">
            <a:extLst>
              <a:ext uri="{FF2B5EF4-FFF2-40B4-BE49-F238E27FC236}">
                <a16:creationId xmlns:a16="http://schemas.microsoft.com/office/drawing/2014/main" id="{BCC9A80F-A724-1166-E321-9CA1A6C5FA4D}"/>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7" name="Chart 6">
            <a:extLst>
              <a:ext uri="{FF2B5EF4-FFF2-40B4-BE49-F238E27FC236}">
                <a16:creationId xmlns:a16="http://schemas.microsoft.com/office/drawing/2014/main" id="{00000000-0008-0000-0000-000007000000}"/>
              </a:ext>
            </a:extLst>
          </p:cNvPr>
          <p:cNvGraphicFramePr>
            <a:graphicFrameLocks/>
          </p:cNvGraphicFramePr>
          <p:nvPr/>
        </p:nvGraphicFramePr>
        <p:xfrm>
          <a:off x="929582" y="1321048"/>
          <a:ext cx="5166418" cy="4349059"/>
        </p:xfrm>
        <a:graphic>
          <a:graphicData uri="http://schemas.openxmlformats.org/drawingml/2006/chart">
            <c:chart xmlns:c="http://schemas.openxmlformats.org/drawingml/2006/chart" xmlns:r="http://schemas.openxmlformats.org/officeDocument/2006/relationships" r:id="rId5"/>
          </a:graphicData>
        </a:graphic>
      </p:graphicFrame>
      <p:sp>
        <p:nvSpPr>
          <p:cNvPr id="15" name="ZoneTexte 14">
            <a:extLst>
              <a:ext uri="{FF2B5EF4-FFF2-40B4-BE49-F238E27FC236}">
                <a16:creationId xmlns:a16="http://schemas.microsoft.com/office/drawing/2014/main" id="{80B55DD9-4DCD-9240-23D8-0443E08BF984}"/>
              </a:ext>
            </a:extLst>
          </p:cNvPr>
          <p:cNvSpPr txBox="1"/>
          <p:nvPr/>
        </p:nvSpPr>
        <p:spPr>
          <a:xfrm>
            <a:off x="947468" y="6553383"/>
            <a:ext cx="11409632" cy="215444"/>
          </a:xfrm>
          <a:prstGeom prst="rect">
            <a:avLst/>
          </a:prstGeom>
          <a:noFill/>
        </p:spPr>
        <p:txBody>
          <a:bodyPr wrap="square" rtlCol="0">
            <a:spAutoFit/>
          </a:bodyPr>
          <a:lstStyle/>
          <a:p>
            <a:pPr algn="ctr"/>
            <a:r>
              <a:rPr lang="fr-FR" sz="800" i="1">
                <a:latin typeface="Jost ExtraLight" pitchFamily="2" charset="77"/>
                <a:ea typeface="Jost ExtraLight" pitchFamily="2" charset="77"/>
              </a:rPr>
              <a:t>*Simulation non contractuelle, à titre illustratif uniquement. Les performances passées ou simulées ne préjugent pas des performances futures. Le capital investi est soumis à un risque de perte. Rendements présentés hors frais, fiscalité et inflation.</a:t>
            </a:r>
          </a:p>
        </p:txBody>
      </p:sp>
      <p:sp>
        <p:nvSpPr>
          <p:cNvPr id="20" name="Rectangle 19">
            <a:extLst>
              <a:ext uri="{FF2B5EF4-FFF2-40B4-BE49-F238E27FC236}">
                <a16:creationId xmlns:a16="http://schemas.microsoft.com/office/drawing/2014/main" id="{C5989AB6-D34A-51C6-051E-6A87B921A5A2}"/>
              </a:ext>
            </a:extLst>
          </p:cNvPr>
          <p:cNvSpPr/>
          <p:nvPr/>
        </p:nvSpPr>
        <p:spPr>
          <a:xfrm>
            <a:off x="909102" y="5670108"/>
            <a:ext cx="5166844" cy="661246"/>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50">
                <a:solidFill>
                  <a:schemeClr val="tx1"/>
                </a:solidFill>
                <a:latin typeface="Jost Light" pitchFamily="2" charset="77"/>
                <a:ea typeface="Jost Light" pitchFamily="2" charset="77"/>
                <a:cs typeface="Futura Medium" panose="020B0602020204020303" pitchFamily="34" charset="-79"/>
              </a:rPr>
              <a:t>À titre d’illustration, un capital initial de 500K EUR positionné sur notre profil dynamique et intégralement capitalisé, pourrait atteindre environ 3.4M EUR au terme de 20 ans.</a:t>
            </a:r>
          </a:p>
        </p:txBody>
      </p:sp>
      <p:graphicFrame>
        <p:nvGraphicFramePr>
          <p:cNvPr id="21" name="Chart">
            <a:extLst>
              <a:ext uri="{FF2B5EF4-FFF2-40B4-BE49-F238E27FC236}">
                <a16:creationId xmlns:a16="http://schemas.microsoft.com/office/drawing/2014/main" id="{00000000-0008-0000-0700-000002000000}"/>
              </a:ext>
            </a:extLst>
          </p:cNvPr>
          <p:cNvGraphicFramePr>
            <a:graphicFrameLocks/>
          </p:cNvGraphicFramePr>
          <p:nvPr/>
        </p:nvGraphicFramePr>
        <p:xfrm>
          <a:off x="6687154" y="1809750"/>
          <a:ext cx="4288067" cy="3331792"/>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708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48AE0-022B-D993-A50B-5FBE6DC2A005}"/>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B4CDDB6C-FC67-5786-8C85-4E868B3C4826}"/>
              </a:ext>
            </a:extLst>
          </p:cNvPr>
          <p:cNvPicPr>
            <a:picLocks noChangeAspect="1"/>
          </p:cNvPicPr>
          <p:nvPr/>
        </p:nvPicPr>
        <p:blipFill>
          <a:blip r:embed="rId3">
            <a:alphaModFix amt="5000"/>
          </a:blip>
          <a:srcRect l="6207" b="6232"/>
          <a:stretch>
            <a:fillRect/>
          </a:stretch>
        </p:blipFill>
        <p:spPr>
          <a:xfrm>
            <a:off x="-20053" y="0"/>
            <a:ext cx="12191999" cy="6859822"/>
          </a:xfrm>
          <a:prstGeom prst="rect">
            <a:avLst/>
          </a:prstGeom>
        </p:spPr>
      </p:pic>
      <p:sp>
        <p:nvSpPr>
          <p:cNvPr id="4" name="Text 9">
            <a:extLst>
              <a:ext uri="{FF2B5EF4-FFF2-40B4-BE49-F238E27FC236}">
                <a16:creationId xmlns:a16="http://schemas.microsoft.com/office/drawing/2014/main" id="{87F1824C-B2C9-5CCC-C7D3-5D7DB0148BFF}"/>
              </a:ext>
            </a:extLst>
          </p:cNvPr>
          <p:cNvSpPr/>
          <p:nvPr/>
        </p:nvSpPr>
        <p:spPr>
          <a:xfrm>
            <a:off x="947468" y="949911"/>
            <a:ext cx="5581079"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Une allocation diversifiée construite autour de plusieurs moteurs de performance</a:t>
            </a:r>
          </a:p>
        </p:txBody>
      </p:sp>
      <p:sp>
        <p:nvSpPr>
          <p:cNvPr id="5" name="Text 9">
            <a:extLst>
              <a:ext uri="{FF2B5EF4-FFF2-40B4-BE49-F238E27FC236}">
                <a16:creationId xmlns:a16="http://schemas.microsoft.com/office/drawing/2014/main" id="{91B61575-CD09-7B56-5076-6FCB4EF13720}"/>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Composition du portefeuille – Profil Spéculatif</a:t>
            </a:r>
          </a:p>
        </p:txBody>
      </p:sp>
      <p:sp>
        <p:nvSpPr>
          <p:cNvPr id="6" name="Rectangle 5">
            <a:extLst>
              <a:ext uri="{FF2B5EF4-FFF2-40B4-BE49-F238E27FC236}">
                <a16:creationId xmlns:a16="http://schemas.microsoft.com/office/drawing/2014/main" id="{231B2D91-BE09-AFD9-8F31-CCF7262F9D8E}"/>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 avec coins arrondis en haut 10">
            <a:extLst>
              <a:ext uri="{FF2B5EF4-FFF2-40B4-BE49-F238E27FC236}">
                <a16:creationId xmlns:a16="http://schemas.microsoft.com/office/drawing/2014/main" id="{421DC6FA-570D-ADD5-0124-B8B2CEA779E8}"/>
              </a:ext>
            </a:extLst>
          </p:cNvPr>
          <p:cNvSpPr/>
          <p:nvPr/>
        </p:nvSpPr>
        <p:spPr>
          <a:xfrm>
            <a:off x="6699458" y="1321049"/>
            <a:ext cx="4275763" cy="466788"/>
          </a:xfrm>
          <a:prstGeom prst="round2SameRect">
            <a:avLst>
              <a:gd name="adj1" fmla="val 50000"/>
              <a:gd name="adj2" fmla="val 0"/>
            </a:avLst>
          </a:prstGeom>
          <a:solidFill>
            <a:srgbClr val="001B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Évolution théorique de votre capital (base 100)*</a:t>
            </a:r>
          </a:p>
        </p:txBody>
      </p:sp>
      <p:sp>
        <p:nvSpPr>
          <p:cNvPr id="12" name="ZoneTexte 11">
            <a:extLst>
              <a:ext uri="{FF2B5EF4-FFF2-40B4-BE49-F238E27FC236}">
                <a16:creationId xmlns:a16="http://schemas.microsoft.com/office/drawing/2014/main" id="{1EC7DB5F-BA0E-43AB-5D0B-0327B742ACEC}"/>
              </a:ext>
            </a:extLst>
          </p:cNvPr>
          <p:cNvSpPr txBox="1"/>
          <p:nvPr/>
        </p:nvSpPr>
        <p:spPr>
          <a:xfrm>
            <a:off x="11013236" y="4873149"/>
            <a:ext cx="983337" cy="307777"/>
          </a:xfrm>
          <a:prstGeom prst="rect">
            <a:avLst/>
          </a:prstGeom>
          <a:noFill/>
        </p:spPr>
        <p:txBody>
          <a:bodyPr wrap="square" rtlCol="0">
            <a:spAutoFit/>
          </a:bodyPr>
          <a:lstStyle/>
          <a:p>
            <a:r>
              <a:rPr lang="fr-FR" sz="700" dirty="0">
                <a:solidFill>
                  <a:srgbClr val="6A6A6A"/>
                </a:solidFill>
                <a:latin typeface="Jost Medium" pitchFamily="2" charset="77"/>
                <a:ea typeface="Jost Medium" pitchFamily="2" charset="77"/>
              </a:rPr>
              <a:t>Nombre d’années </a:t>
            </a:r>
          </a:p>
          <a:p>
            <a:r>
              <a:rPr lang="fr-FR" sz="700" dirty="0">
                <a:solidFill>
                  <a:srgbClr val="6A6A6A"/>
                </a:solidFill>
                <a:latin typeface="Jost Medium" pitchFamily="2" charset="77"/>
                <a:ea typeface="Jost Medium" pitchFamily="2" charset="77"/>
              </a:rPr>
              <a:t>capitalisées (a)</a:t>
            </a:r>
          </a:p>
        </p:txBody>
      </p:sp>
      <p:sp>
        <p:nvSpPr>
          <p:cNvPr id="16" name="Rectangle 15">
            <a:extLst>
              <a:ext uri="{FF2B5EF4-FFF2-40B4-BE49-F238E27FC236}">
                <a16:creationId xmlns:a16="http://schemas.microsoft.com/office/drawing/2014/main" id="{141F85AE-DD09-50B0-6FF4-0F33A3CBDC1B}"/>
              </a:ext>
            </a:extLst>
          </p:cNvPr>
          <p:cNvSpPr/>
          <p:nvPr/>
        </p:nvSpPr>
        <p:spPr>
          <a:xfrm>
            <a:off x="6687154"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bg1"/>
                </a:solidFill>
                <a:latin typeface="Jost Light" pitchFamily="2" charset="77"/>
                <a:ea typeface="Jost Light" pitchFamily="2" charset="77"/>
                <a:cs typeface="Futura Medium" panose="020B0602020204020303" pitchFamily="34" charset="-79"/>
              </a:rPr>
              <a:t>Objectif annuel : </a:t>
            </a:r>
          </a:p>
          <a:p>
            <a:pPr algn="ctr"/>
            <a:r>
              <a:rPr lang="fr-FR" sz="1400" dirty="0">
                <a:solidFill>
                  <a:schemeClr val="bg1"/>
                </a:solidFill>
                <a:latin typeface="Jost Medium" pitchFamily="2" charset="77"/>
                <a:ea typeface="Jost Medium" pitchFamily="2" charset="77"/>
                <a:cs typeface="Futura Medium" panose="020B0602020204020303" pitchFamily="34" charset="-79"/>
              </a:rPr>
              <a:t>13.4% </a:t>
            </a:r>
            <a:r>
              <a:rPr lang="fr-FR" sz="1400" dirty="0" err="1">
                <a:solidFill>
                  <a:schemeClr val="bg1"/>
                </a:solidFill>
                <a:latin typeface="Jost Medium" pitchFamily="2" charset="77"/>
                <a:ea typeface="Jost Medium" pitchFamily="2" charset="77"/>
                <a:cs typeface="Futura Medium" panose="020B0602020204020303" pitchFamily="34" charset="-79"/>
              </a:rPr>
              <a:t>p.a</a:t>
            </a:r>
            <a:r>
              <a:rPr lang="fr-FR" sz="1400" dirty="0">
                <a:solidFill>
                  <a:schemeClr val="bg1"/>
                </a:solidFill>
                <a:latin typeface="Jost Medium" pitchFamily="2" charset="77"/>
                <a:ea typeface="Jost Medium" pitchFamily="2" charset="77"/>
                <a:cs typeface="Futura Medium" panose="020B0602020204020303" pitchFamily="34" charset="-79"/>
              </a:rPr>
              <a:t>.</a:t>
            </a:r>
          </a:p>
        </p:txBody>
      </p:sp>
      <p:sp>
        <p:nvSpPr>
          <p:cNvPr id="17" name="Rectangle 16">
            <a:extLst>
              <a:ext uri="{FF2B5EF4-FFF2-40B4-BE49-F238E27FC236}">
                <a16:creationId xmlns:a16="http://schemas.microsoft.com/office/drawing/2014/main" id="{92111847-2506-CFA1-1AC3-1C9B2CB59ED0}"/>
              </a:ext>
            </a:extLst>
          </p:cNvPr>
          <p:cNvSpPr/>
          <p:nvPr/>
        </p:nvSpPr>
        <p:spPr>
          <a:xfrm>
            <a:off x="8837340"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SRRI : </a:t>
            </a:r>
          </a:p>
          <a:p>
            <a:pPr algn="ctr"/>
            <a:r>
              <a:rPr lang="fr-FR" sz="1400">
                <a:solidFill>
                  <a:schemeClr val="bg1"/>
                </a:solidFill>
                <a:latin typeface="Jost Medium" pitchFamily="2" charset="77"/>
                <a:ea typeface="Jost Medium" pitchFamily="2" charset="77"/>
                <a:cs typeface="Futura Medium" panose="020B0602020204020303" pitchFamily="34" charset="-79"/>
              </a:rPr>
              <a:t>6 à 7</a:t>
            </a:r>
          </a:p>
        </p:txBody>
      </p:sp>
      <p:sp>
        <p:nvSpPr>
          <p:cNvPr id="18" name="Rectangle 17">
            <a:extLst>
              <a:ext uri="{FF2B5EF4-FFF2-40B4-BE49-F238E27FC236}">
                <a16:creationId xmlns:a16="http://schemas.microsoft.com/office/drawing/2014/main" id="{8E1874B5-04C1-EA40-25D4-3EB05D5E0039}"/>
              </a:ext>
            </a:extLst>
          </p:cNvPr>
          <p:cNvSpPr/>
          <p:nvPr/>
        </p:nvSpPr>
        <p:spPr>
          <a:xfrm>
            <a:off x="6687154" y="5232537"/>
            <a:ext cx="4275760" cy="272760"/>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a:solidFill>
                  <a:srgbClr val="196B24"/>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optimiste   </a:t>
            </a:r>
            <a:r>
              <a:rPr lang="fr-FR" sz="800">
                <a:solidFill>
                  <a:srgbClr val="AB853F"/>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médian   </a:t>
            </a:r>
            <a:r>
              <a:rPr lang="fr-FR" sz="800">
                <a:solidFill>
                  <a:srgbClr val="001A00"/>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pessimiste</a:t>
            </a:r>
          </a:p>
        </p:txBody>
      </p:sp>
      <p:pic>
        <p:nvPicPr>
          <p:cNvPr id="19" name="Image 18">
            <a:extLst>
              <a:ext uri="{FF2B5EF4-FFF2-40B4-BE49-F238E27FC236}">
                <a16:creationId xmlns:a16="http://schemas.microsoft.com/office/drawing/2014/main" id="{EE5F93BE-984C-4E4B-41F6-6C431FE7A017}"/>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2" name="Chart 7">
            <a:extLst>
              <a:ext uri="{FF2B5EF4-FFF2-40B4-BE49-F238E27FC236}">
                <a16:creationId xmlns:a16="http://schemas.microsoft.com/office/drawing/2014/main" id="{00000000-0008-0000-0000-000008000000}"/>
              </a:ext>
            </a:extLst>
          </p:cNvPr>
          <p:cNvGraphicFramePr>
            <a:graphicFrameLocks/>
          </p:cNvGraphicFramePr>
          <p:nvPr/>
        </p:nvGraphicFramePr>
        <p:xfrm>
          <a:off x="962698" y="1554442"/>
          <a:ext cx="5133301" cy="3827411"/>
        </p:xfrm>
        <a:graphic>
          <a:graphicData uri="http://schemas.openxmlformats.org/drawingml/2006/chart">
            <c:chart xmlns:c="http://schemas.openxmlformats.org/drawingml/2006/chart" xmlns:r="http://schemas.openxmlformats.org/officeDocument/2006/relationships" r:id="rId5"/>
          </a:graphicData>
        </a:graphic>
      </p:graphicFrame>
      <p:sp>
        <p:nvSpPr>
          <p:cNvPr id="3" name="ZoneTexte 2">
            <a:extLst>
              <a:ext uri="{FF2B5EF4-FFF2-40B4-BE49-F238E27FC236}">
                <a16:creationId xmlns:a16="http://schemas.microsoft.com/office/drawing/2014/main" id="{9C0D116E-46E2-0119-02B4-A0CE5F878EEB}"/>
              </a:ext>
            </a:extLst>
          </p:cNvPr>
          <p:cNvSpPr txBox="1"/>
          <p:nvPr/>
        </p:nvSpPr>
        <p:spPr>
          <a:xfrm>
            <a:off x="947468" y="6553383"/>
            <a:ext cx="11409632" cy="215444"/>
          </a:xfrm>
          <a:prstGeom prst="rect">
            <a:avLst/>
          </a:prstGeom>
          <a:noFill/>
        </p:spPr>
        <p:txBody>
          <a:bodyPr wrap="square" rtlCol="0">
            <a:spAutoFit/>
          </a:bodyPr>
          <a:lstStyle/>
          <a:p>
            <a:pPr algn="ctr"/>
            <a:r>
              <a:rPr lang="fr-FR" sz="800" i="1">
                <a:latin typeface="Jost ExtraLight" pitchFamily="2" charset="77"/>
                <a:ea typeface="Jost ExtraLight" pitchFamily="2" charset="77"/>
              </a:rPr>
              <a:t>*Simulation non contractuelle, à titre illustratif uniquement. Les performances passées ou simulées ne préjugent pas des performances futures. Le capital investi est soumis à un risque de perte. Rendements présentés hors frais, fiscalité et inflation.</a:t>
            </a:r>
          </a:p>
        </p:txBody>
      </p:sp>
      <p:sp>
        <p:nvSpPr>
          <p:cNvPr id="15" name="Rectangle 14">
            <a:extLst>
              <a:ext uri="{FF2B5EF4-FFF2-40B4-BE49-F238E27FC236}">
                <a16:creationId xmlns:a16="http://schemas.microsoft.com/office/drawing/2014/main" id="{00E1B5B9-64F8-0553-E931-79250D1BD32F}"/>
              </a:ext>
            </a:extLst>
          </p:cNvPr>
          <p:cNvSpPr/>
          <p:nvPr/>
        </p:nvSpPr>
        <p:spPr>
          <a:xfrm>
            <a:off x="929156" y="5670108"/>
            <a:ext cx="5166844" cy="661246"/>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50">
                <a:solidFill>
                  <a:schemeClr val="tx1"/>
                </a:solidFill>
                <a:latin typeface="Jost Light" pitchFamily="2" charset="77"/>
                <a:ea typeface="Jost Light" pitchFamily="2" charset="77"/>
                <a:cs typeface="Futura Medium" panose="020B0602020204020303" pitchFamily="34" charset="-79"/>
              </a:rPr>
              <a:t>À titre d’illustration, un capital initial de 500K EUR positionné sur notre profil spéculatif et intégralement capitalisé, pourrait atteindre environ 6.2M EUR au terme de 20 ans.</a:t>
            </a:r>
          </a:p>
        </p:txBody>
      </p:sp>
      <p:graphicFrame>
        <p:nvGraphicFramePr>
          <p:cNvPr id="21" name="Chart">
            <a:extLst>
              <a:ext uri="{FF2B5EF4-FFF2-40B4-BE49-F238E27FC236}">
                <a16:creationId xmlns:a16="http://schemas.microsoft.com/office/drawing/2014/main" id="{00000000-0008-0000-0800-000002000000}"/>
              </a:ext>
            </a:extLst>
          </p:cNvPr>
          <p:cNvGraphicFramePr>
            <a:graphicFrameLocks/>
          </p:cNvGraphicFramePr>
          <p:nvPr/>
        </p:nvGraphicFramePr>
        <p:xfrm>
          <a:off x="6699458" y="1809750"/>
          <a:ext cx="4275760" cy="337117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6676911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2E585-37F6-0F65-A230-28D08C130828}"/>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E2254DB1-B40B-1C4A-FBBF-AF7FE9E4DA99}"/>
              </a:ext>
            </a:extLst>
          </p:cNvPr>
          <p:cNvPicPr>
            <a:picLocks noChangeAspect="1"/>
          </p:cNvPicPr>
          <p:nvPr/>
        </p:nvPicPr>
        <p:blipFill>
          <a:blip r:embed="rId3">
            <a:alphaModFix amt="5000"/>
          </a:blip>
          <a:srcRect l="6207" b="6232"/>
          <a:stretch>
            <a:fillRect/>
          </a:stretch>
        </p:blipFill>
        <p:spPr>
          <a:xfrm>
            <a:off x="0" y="0"/>
            <a:ext cx="12191999" cy="6859822"/>
          </a:xfrm>
          <a:prstGeom prst="rect">
            <a:avLst/>
          </a:prstGeom>
        </p:spPr>
      </p:pic>
      <p:sp>
        <p:nvSpPr>
          <p:cNvPr id="4" name="Text 9">
            <a:extLst>
              <a:ext uri="{FF2B5EF4-FFF2-40B4-BE49-F238E27FC236}">
                <a16:creationId xmlns:a16="http://schemas.microsoft.com/office/drawing/2014/main" id="{398CE6D0-57D3-A584-C6B5-D78ACF1FC9F2}"/>
              </a:ext>
            </a:extLst>
          </p:cNvPr>
          <p:cNvSpPr/>
          <p:nvPr/>
        </p:nvSpPr>
        <p:spPr>
          <a:xfrm>
            <a:off x="947468" y="949911"/>
            <a:ext cx="5581079"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I. Exposition actions : complémentarité des moteurs de performance</a:t>
            </a:r>
          </a:p>
        </p:txBody>
      </p:sp>
      <p:sp>
        <p:nvSpPr>
          <p:cNvPr id="5" name="Text 9">
            <a:extLst>
              <a:ext uri="{FF2B5EF4-FFF2-40B4-BE49-F238E27FC236}">
                <a16:creationId xmlns:a16="http://schemas.microsoft.com/office/drawing/2014/main" id="{9D260A73-8B61-13E6-1DD5-2B2351096A67}"/>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a:t>
            </a:r>
          </a:p>
        </p:txBody>
      </p:sp>
      <p:sp>
        <p:nvSpPr>
          <p:cNvPr id="6" name="Rectangle 5">
            <a:extLst>
              <a:ext uri="{FF2B5EF4-FFF2-40B4-BE49-F238E27FC236}">
                <a16:creationId xmlns:a16="http://schemas.microsoft.com/office/drawing/2014/main" id="{AA7F2717-1ED1-A202-D584-901709A37F2E}"/>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D0CA68B2-D3FF-FD4C-DEAB-0DDB2CA9806C}"/>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8" name="Rectangle : avec coins arrondis en haut 7">
            <a:extLst>
              <a:ext uri="{FF2B5EF4-FFF2-40B4-BE49-F238E27FC236}">
                <a16:creationId xmlns:a16="http://schemas.microsoft.com/office/drawing/2014/main" id="{A8A0F839-CB0F-84C5-AFA2-C7C46A7FDAE4}"/>
              </a:ext>
            </a:extLst>
          </p:cNvPr>
          <p:cNvSpPr/>
          <p:nvPr/>
        </p:nvSpPr>
        <p:spPr>
          <a:xfrm>
            <a:off x="1126933" y="2118746"/>
            <a:ext cx="3421639" cy="371138"/>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a:latin typeface="Jost Black" pitchFamily="2" charset="77"/>
                <a:ea typeface="Jost Black" pitchFamily="2" charset="77"/>
              </a:rPr>
              <a:t>ETF</a:t>
            </a:r>
          </a:p>
        </p:txBody>
      </p:sp>
      <p:sp>
        <p:nvSpPr>
          <p:cNvPr id="14" name="Rectangle : avec coins arrondis en haut 13">
            <a:extLst>
              <a:ext uri="{FF2B5EF4-FFF2-40B4-BE49-F238E27FC236}">
                <a16:creationId xmlns:a16="http://schemas.microsoft.com/office/drawing/2014/main" id="{5A4A3035-2042-CAC4-23B3-1BB0E61A463A}"/>
              </a:ext>
            </a:extLst>
          </p:cNvPr>
          <p:cNvSpPr/>
          <p:nvPr/>
        </p:nvSpPr>
        <p:spPr>
          <a:xfrm>
            <a:off x="4661906" y="2123800"/>
            <a:ext cx="3421639" cy="366084"/>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a:latin typeface="Jost Black" pitchFamily="2" charset="77"/>
                <a:ea typeface="Jost Black" pitchFamily="2" charset="77"/>
              </a:rPr>
              <a:t>OPC</a:t>
            </a:r>
          </a:p>
        </p:txBody>
      </p:sp>
      <p:sp>
        <p:nvSpPr>
          <p:cNvPr id="20" name="Rectangle : avec coins arrondis en haut 19">
            <a:extLst>
              <a:ext uri="{FF2B5EF4-FFF2-40B4-BE49-F238E27FC236}">
                <a16:creationId xmlns:a16="http://schemas.microsoft.com/office/drawing/2014/main" id="{4303A09C-55D6-11CB-2CD3-41ED7F117159}"/>
              </a:ext>
            </a:extLst>
          </p:cNvPr>
          <p:cNvSpPr/>
          <p:nvPr/>
        </p:nvSpPr>
        <p:spPr>
          <a:xfrm>
            <a:off x="8196879" y="2117946"/>
            <a:ext cx="3421639" cy="371938"/>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a:latin typeface="Jost Black" pitchFamily="2" charset="77"/>
                <a:ea typeface="Jost Black" pitchFamily="2" charset="77"/>
              </a:rPr>
              <a:t>Titres vifs</a:t>
            </a:r>
          </a:p>
        </p:txBody>
      </p:sp>
      <p:sp>
        <p:nvSpPr>
          <p:cNvPr id="25" name="Rectangle 24">
            <a:extLst>
              <a:ext uri="{FF2B5EF4-FFF2-40B4-BE49-F238E27FC236}">
                <a16:creationId xmlns:a16="http://schemas.microsoft.com/office/drawing/2014/main" id="{BE798561-E144-E01E-1A1C-2017134209FF}"/>
              </a:ext>
            </a:extLst>
          </p:cNvPr>
          <p:cNvSpPr/>
          <p:nvPr/>
        </p:nvSpPr>
        <p:spPr>
          <a:xfrm>
            <a:off x="1126933" y="2579828"/>
            <a:ext cx="3421639"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Exposition très diversifiée sur les grandes zones de marché</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Outil privilégié pour capter le béta</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Cœur de portefeuille robuste et passif</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Frais de gestion très faibles</a:t>
            </a:r>
          </a:p>
        </p:txBody>
      </p:sp>
      <p:sp>
        <p:nvSpPr>
          <p:cNvPr id="26" name="Rectangle 25">
            <a:extLst>
              <a:ext uri="{FF2B5EF4-FFF2-40B4-BE49-F238E27FC236}">
                <a16:creationId xmlns:a16="http://schemas.microsoft.com/office/drawing/2014/main" id="{AFC2C6AE-9505-4B9C-88F9-EC4CC5CE776F}"/>
              </a:ext>
            </a:extLst>
          </p:cNvPr>
          <p:cNvSpPr/>
          <p:nvPr/>
        </p:nvSpPr>
        <p:spPr>
          <a:xfrm>
            <a:off x="4661905" y="2579826"/>
            <a:ext cx="3421639" cy="1682269"/>
          </a:xfrm>
          <a:prstGeom prst="rect">
            <a:avLst/>
          </a:prstGeom>
          <a:solidFill>
            <a:srgbClr val="E8DCC7"/>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Sélection rigoureuse (alpha) et maitrise du risque</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Recherche de surperformance par rapport à un indice</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Outils de couverture pour se prémunir d’événements de marchés majeurs</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Volatilité très contenue</a:t>
            </a:r>
          </a:p>
        </p:txBody>
      </p:sp>
      <p:sp>
        <p:nvSpPr>
          <p:cNvPr id="27" name="Rectangle 26">
            <a:extLst>
              <a:ext uri="{FF2B5EF4-FFF2-40B4-BE49-F238E27FC236}">
                <a16:creationId xmlns:a16="http://schemas.microsoft.com/office/drawing/2014/main" id="{2F0B4DCF-4315-699A-D559-06196EAFA6B1}"/>
              </a:ext>
            </a:extLst>
          </p:cNvPr>
          <p:cNvSpPr/>
          <p:nvPr/>
        </p:nvSpPr>
        <p:spPr>
          <a:xfrm>
            <a:off x="8196879" y="2590544"/>
            <a:ext cx="3421639" cy="1682268"/>
          </a:xfrm>
          <a:prstGeom prst="rect">
            <a:avLst/>
          </a:prstGeom>
          <a:solidFill>
            <a:srgbClr val="AB853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rPr>
              <a:t>✓ Lisibilité des lignes et personnalisation sur-mesure</a:t>
            </a:r>
          </a:p>
          <a:p>
            <a:pPr algn="ctr"/>
            <a:endParaRPr lang="fr-FR" sz="1000" dirty="0">
              <a:solidFill>
                <a:schemeClr val="bg1"/>
              </a:solidFill>
              <a:latin typeface="Jost Medium" pitchFamily="2" charset="77"/>
              <a:ea typeface="Jost Medium" pitchFamily="2" charset="77"/>
            </a:endParaRPr>
          </a:p>
          <a:p>
            <a:pPr algn="ctr"/>
            <a:r>
              <a:rPr lang="fr-FR" sz="1000" dirty="0">
                <a:solidFill>
                  <a:schemeClr val="bg1"/>
                </a:solidFill>
                <a:latin typeface="Jost Medium" pitchFamily="2" charset="77"/>
                <a:ea typeface="Jost Medium" pitchFamily="2" charset="77"/>
              </a:rPr>
              <a:t>✓ Sélection directe sur des convictions fortes</a:t>
            </a:r>
          </a:p>
          <a:p>
            <a:pPr algn="ctr"/>
            <a:endParaRPr lang="fr-FR" sz="1000" dirty="0">
              <a:solidFill>
                <a:schemeClr val="bg1"/>
              </a:solidFill>
              <a:latin typeface="Jost Medium" pitchFamily="2" charset="77"/>
              <a:ea typeface="Jost Medium" pitchFamily="2" charset="77"/>
            </a:endParaRPr>
          </a:p>
          <a:p>
            <a:pPr algn="ctr"/>
            <a:r>
              <a:rPr lang="fr-FR" sz="1000" dirty="0">
                <a:solidFill>
                  <a:schemeClr val="bg1"/>
                </a:solidFill>
                <a:latin typeface="Jost Medium" pitchFamily="2" charset="77"/>
                <a:ea typeface="Jost Medium" pitchFamily="2" charset="77"/>
              </a:rPr>
              <a:t>✓ Recherche maison (participation aux AG, visite d’usines)</a:t>
            </a:r>
          </a:p>
          <a:p>
            <a:pPr algn="ctr"/>
            <a:endParaRPr lang="fr-FR" sz="1000" dirty="0">
              <a:solidFill>
                <a:schemeClr val="bg1"/>
              </a:solidFill>
              <a:latin typeface="Jost Medium" pitchFamily="2" charset="77"/>
              <a:ea typeface="Jost Medium" pitchFamily="2" charset="77"/>
            </a:endParaRPr>
          </a:p>
          <a:p>
            <a:pPr algn="ctr"/>
            <a:r>
              <a:rPr lang="fr-FR" sz="1000" dirty="0">
                <a:solidFill>
                  <a:schemeClr val="bg1"/>
                </a:solidFill>
                <a:latin typeface="Jost Medium" pitchFamily="2" charset="77"/>
                <a:ea typeface="Jost Medium" pitchFamily="2" charset="77"/>
              </a:rPr>
              <a:t>✓ Aucun frais de gestion</a:t>
            </a:r>
          </a:p>
        </p:txBody>
      </p:sp>
      <p:sp>
        <p:nvSpPr>
          <p:cNvPr id="7" name="Rectangle 6">
            <a:extLst>
              <a:ext uri="{FF2B5EF4-FFF2-40B4-BE49-F238E27FC236}">
                <a16:creationId xmlns:a16="http://schemas.microsoft.com/office/drawing/2014/main" id="{B39ED1A7-DFB7-96C7-350D-E76E63341EA2}"/>
              </a:ext>
            </a:extLst>
          </p:cNvPr>
          <p:cNvSpPr/>
          <p:nvPr/>
        </p:nvSpPr>
        <p:spPr>
          <a:xfrm>
            <a:off x="1126933" y="4378760"/>
            <a:ext cx="3421639"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i="1" dirty="0">
                <a:solidFill>
                  <a:schemeClr val="tx1"/>
                </a:solidFill>
                <a:latin typeface="Cormorant Garamond Medium" pitchFamily="2" charset="77"/>
                <a:ea typeface="Cormorant Garamond Medium" pitchFamily="2" charset="77"/>
                <a:cs typeface="Cormorant Garamond Medium" pitchFamily="2" charset="77"/>
              </a:rPr>
              <a:t>Les critères de sélection :</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Qualité de réplication de l’indice</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Frais totaux</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Liquidité, encours du fonds</a:t>
            </a:r>
          </a:p>
          <a:p>
            <a:pPr algn="ctr"/>
            <a:endParaRPr lang="fr-FR" sz="1000" dirty="0">
              <a:solidFill>
                <a:schemeClr val="tx1"/>
              </a:solidFill>
              <a:latin typeface="Jost Medium" pitchFamily="2" charset="77"/>
              <a:ea typeface="Jost Medium" pitchFamily="2" charset="77"/>
            </a:endParaRPr>
          </a:p>
        </p:txBody>
      </p:sp>
      <p:sp>
        <p:nvSpPr>
          <p:cNvPr id="10" name="Rectangle 9">
            <a:extLst>
              <a:ext uri="{FF2B5EF4-FFF2-40B4-BE49-F238E27FC236}">
                <a16:creationId xmlns:a16="http://schemas.microsoft.com/office/drawing/2014/main" id="{714F328A-EB27-A290-BDF7-1A9033A7969C}"/>
              </a:ext>
            </a:extLst>
          </p:cNvPr>
          <p:cNvSpPr/>
          <p:nvPr/>
        </p:nvSpPr>
        <p:spPr>
          <a:xfrm>
            <a:off x="4669183" y="4373472"/>
            <a:ext cx="3421639" cy="1682269"/>
          </a:xfrm>
          <a:prstGeom prst="rect">
            <a:avLst/>
          </a:prstGeom>
          <a:solidFill>
            <a:srgbClr val="E8DCC7"/>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i="1" dirty="0">
                <a:solidFill>
                  <a:schemeClr val="tx1"/>
                </a:solidFill>
                <a:latin typeface="Cormorant Garamond Medium" pitchFamily="2" charset="77"/>
                <a:ea typeface="Cormorant Garamond Medium" pitchFamily="2" charset="77"/>
                <a:cs typeface="Cormorant Garamond Medium" pitchFamily="2" charset="77"/>
              </a:rPr>
              <a:t>Les critères de sélection :</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Performance ajustée du risque et de la volatilité</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Frais de gestion</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Équipe de gestion, philosophie d’investissement</a:t>
            </a:r>
          </a:p>
        </p:txBody>
      </p:sp>
      <p:sp>
        <p:nvSpPr>
          <p:cNvPr id="11" name="Rectangle 10">
            <a:extLst>
              <a:ext uri="{FF2B5EF4-FFF2-40B4-BE49-F238E27FC236}">
                <a16:creationId xmlns:a16="http://schemas.microsoft.com/office/drawing/2014/main" id="{A2C7C661-B244-8C7C-188C-1BD856DE6BB9}"/>
              </a:ext>
            </a:extLst>
          </p:cNvPr>
          <p:cNvSpPr/>
          <p:nvPr/>
        </p:nvSpPr>
        <p:spPr>
          <a:xfrm>
            <a:off x="8196879" y="4380657"/>
            <a:ext cx="3421639" cy="1682268"/>
          </a:xfrm>
          <a:prstGeom prst="rect">
            <a:avLst/>
          </a:prstGeom>
          <a:solidFill>
            <a:srgbClr val="AB853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i="1" dirty="0">
                <a:solidFill>
                  <a:schemeClr val="bg1"/>
                </a:solidFill>
                <a:latin typeface="Cormorant Garamond Medium" pitchFamily="2" charset="77"/>
                <a:ea typeface="Cormorant Garamond Medium" pitchFamily="2" charset="77"/>
                <a:cs typeface="Cormorant Garamond Medium" pitchFamily="2" charset="77"/>
              </a:rPr>
              <a:t>Les critères de sélection :</a:t>
            </a:r>
          </a:p>
          <a:p>
            <a:pPr algn="ctr"/>
            <a:endParaRPr lang="fr-FR" sz="1000" dirty="0">
              <a:solidFill>
                <a:schemeClr val="bg1"/>
              </a:solidFill>
              <a:latin typeface="Jost Medium" pitchFamily="2" charset="77"/>
              <a:ea typeface="Jost Medium" pitchFamily="2" charset="77"/>
            </a:endParaRPr>
          </a:p>
          <a:p>
            <a:pPr algn="ctr"/>
            <a:r>
              <a:rPr lang="fr-FR" sz="1000" dirty="0">
                <a:latin typeface="Jost Medium" pitchFamily="2" charset="77"/>
                <a:ea typeface="Jost Medium" pitchFamily="2" charset="77"/>
              </a:rPr>
              <a:t>Solidité bilancielle et qualité fondamentale</a:t>
            </a:r>
          </a:p>
          <a:p>
            <a:pPr algn="ctr"/>
            <a:endParaRPr lang="fr-FR" sz="1000" dirty="0">
              <a:solidFill>
                <a:schemeClr val="bg1"/>
              </a:solidFill>
              <a:latin typeface="Jost Medium" pitchFamily="2" charset="77"/>
              <a:ea typeface="Jost Medium" pitchFamily="2" charset="77"/>
            </a:endParaRPr>
          </a:p>
          <a:p>
            <a:pPr algn="ctr"/>
            <a:r>
              <a:rPr lang="fr-FR" sz="1000" dirty="0">
                <a:solidFill>
                  <a:schemeClr val="bg1"/>
                </a:solidFill>
                <a:latin typeface="Jost Medium" pitchFamily="2" charset="77"/>
                <a:ea typeface="Jost Medium" pitchFamily="2" charset="77"/>
              </a:rPr>
              <a:t>Perspectives de l’activité et récurrence des cash flows</a:t>
            </a:r>
          </a:p>
          <a:p>
            <a:pPr algn="ctr"/>
            <a:endParaRPr lang="fr-FR" sz="1000" dirty="0">
              <a:solidFill>
                <a:schemeClr val="bg1"/>
              </a:solidFill>
              <a:latin typeface="Jost Medium" pitchFamily="2" charset="77"/>
              <a:ea typeface="Jost Medium" pitchFamily="2" charset="77"/>
            </a:endParaRPr>
          </a:p>
          <a:p>
            <a:pPr algn="ctr"/>
            <a:r>
              <a:rPr lang="fr-FR" sz="1000" dirty="0">
                <a:solidFill>
                  <a:schemeClr val="bg1"/>
                </a:solidFill>
                <a:latin typeface="Jost Medium" pitchFamily="2" charset="77"/>
                <a:ea typeface="Jost Medium" pitchFamily="2" charset="77"/>
              </a:rPr>
              <a:t>Valorisation des entreprises</a:t>
            </a:r>
          </a:p>
        </p:txBody>
      </p:sp>
    </p:spTree>
    <p:extLst>
      <p:ext uri="{BB962C8B-B14F-4D97-AF65-F5344CB8AC3E}">
        <p14:creationId xmlns:p14="http://schemas.microsoft.com/office/powerpoint/2010/main" val="7926752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3">
            <a:alphaModFix amt="5000"/>
          </a:blip>
          <a:srcRect l="6207" b="6232"/>
          <a:stretch>
            <a:fillRect/>
          </a:stretch>
        </p:blipFill>
        <p:spPr>
          <a:xfrm>
            <a:off x="1" y="0"/>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9800000"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Gestion active vs gestion passive : deux philosophies, un même juge de paix</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9800000"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OPC vs ETF : comparaison des profils de performance</a:t>
            </a:r>
          </a:p>
        </p:txBody>
      </p:sp>
      <p:sp>
        <p:nvSpPr>
          <p:cNvPr id="210" name="Row Label 210"/>
          <p:cNvSpPr txBox="1"/>
          <p:nvPr/>
        </p:nvSpPr>
        <p:spPr>
          <a:xfrm>
            <a:off x="10089681" y="3771918"/>
            <a:ext cx="1016863" cy="280000"/>
          </a:xfrm>
          <a:prstGeom prst="rect">
            <a:avLst/>
          </a:prstGeom>
          <a:noFill/>
          <a:ln>
            <a:noFill/>
          </a:ln>
        </p:spPr>
        <p:txBody>
          <a:bodyPr wrap="square" lIns="0" tIns="0" rIns="0" bIns="0" rtlCol="0" anchor="ctr">
            <a:normAutofit/>
          </a:bodyPr>
          <a:lstStyle/>
          <a:p>
            <a:pPr algn="l">
              <a:buNone/>
            </a:pPr>
            <a:r>
              <a:rPr lang="fr-FR" sz="800" b="1" dirty="0">
                <a:solidFill>
                  <a:srgbClr val="001B00"/>
                </a:solidFill>
                <a:latin typeface="Jost Medium" pitchFamily="2" charset="77"/>
                <a:ea typeface="Jost Medium" pitchFamily="2" charset="77"/>
                <a:cs typeface="Jost Medium" pitchFamily="2" charset="77"/>
              </a:rPr>
              <a:t>Frais de gestion</a:t>
            </a:r>
          </a:p>
        </p:txBody>
      </p:sp>
      <p:sp>
        <p:nvSpPr>
          <p:cNvPr id="218" name="Case Title 218"/>
          <p:cNvSpPr txBox="1"/>
          <p:nvPr/>
        </p:nvSpPr>
        <p:spPr>
          <a:xfrm>
            <a:off x="947467" y="1677662"/>
            <a:ext cx="5148532" cy="280000"/>
          </a:xfrm>
          <a:prstGeom prst="rect">
            <a:avLst/>
          </a:prstGeom>
          <a:noFill/>
          <a:ln>
            <a:noFill/>
          </a:ln>
        </p:spPr>
        <p:txBody>
          <a:bodyPr wrap="square" lIns="0" tIns="0" rIns="0" bIns="0" rtlCol="0" anchor="t">
            <a:normAutofit/>
          </a:bodyPr>
          <a:lstStyle/>
          <a:p>
            <a:pPr algn="ctr">
              <a:buNone/>
            </a:pPr>
            <a:r>
              <a:rPr lang="fr-FR" sz="1200" b="1" dirty="0">
                <a:latin typeface="Cormorant Garamond SemiBold" pitchFamily="2" charset="77"/>
                <a:ea typeface="Cormorant Garamond SemiBold" pitchFamily="2" charset="77"/>
                <a:cs typeface="Cormorant Garamond SemiBold" pitchFamily="2" charset="77"/>
              </a:rPr>
              <a:t>HMG Découvertes comparé à son indice de référence sur 5 ans</a:t>
            </a:r>
          </a:p>
        </p:txBody>
      </p:sp>
      <p:sp>
        <p:nvSpPr>
          <p:cNvPr id="235" name="Footnote 235"/>
          <p:cNvSpPr txBox="1"/>
          <p:nvPr/>
        </p:nvSpPr>
        <p:spPr>
          <a:xfrm>
            <a:off x="947468" y="6560000"/>
            <a:ext cx="10744532" cy="300000"/>
          </a:xfrm>
          <a:prstGeom prst="rect">
            <a:avLst/>
          </a:prstGeom>
          <a:noFill/>
          <a:ln>
            <a:noFill/>
          </a:ln>
        </p:spPr>
        <p:txBody>
          <a:bodyPr wrap="square" lIns="0" tIns="0" rIns="0" bIns="0" rtlCol="0" anchor="t">
            <a:normAutofit/>
          </a:bodyPr>
          <a:lstStyle/>
          <a:p>
            <a:pPr algn="ctr">
              <a:buNone/>
            </a:pPr>
            <a:r>
              <a:rPr lang="fr-FR" sz="700" i="1" dirty="0">
                <a:solidFill>
                  <a:srgbClr val="6B6B6B"/>
                </a:solidFill>
                <a:latin typeface="Jost Light" pitchFamily="2" charset="77"/>
                <a:ea typeface="Jost Light" pitchFamily="2" charset="77"/>
                <a:cs typeface="Jost Light" pitchFamily="2" charset="77"/>
              </a:rPr>
              <a:t>HMG Découvertes OPC, données HMG Finance. Courbe base 100 construite à partir des performances annuelles 2019-2025 publiées. Performances passées non garanties, risque de perte en capital.</a:t>
            </a:r>
          </a:p>
        </p:txBody>
      </p:sp>
      <p:graphicFrame>
        <p:nvGraphicFramePr>
          <p:cNvPr id="7" name="Graphique 6">
            <a:extLst>
              <a:ext uri="{FF2B5EF4-FFF2-40B4-BE49-F238E27FC236}">
                <a16:creationId xmlns:a16="http://schemas.microsoft.com/office/drawing/2014/main" id="{0B2E7063-E3CE-BF15-6657-AE38F44051B6}"/>
              </a:ext>
            </a:extLst>
          </p:cNvPr>
          <p:cNvGraphicFramePr>
            <a:graphicFrameLocks/>
          </p:cNvGraphicFramePr>
          <p:nvPr/>
        </p:nvGraphicFramePr>
        <p:xfrm>
          <a:off x="947467" y="1957840"/>
          <a:ext cx="5148533" cy="4474937"/>
        </p:xfrm>
        <a:graphic>
          <a:graphicData uri="http://schemas.openxmlformats.org/drawingml/2006/chart">
            <c:chart xmlns:c="http://schemas.openxmlformats.org/drawingml/2006/chart" xmlns:r="http://schemas.openxmlformats.org/officeDocument/2006/relationships" r:id="rId5"/>
          </a:graphicData>
        </a:graphic>
      </p:graphicFrame>
      <p:sp>
        <p:nvSpPr>
          <p:cNvPr id="8" name="Rectangle : avec coins arrondis en haut 7">
            <a:extLst>
              <a:ext uri="{FF2B5EF4-FFF2-40B4-BE49-F238E27FC236}">
                <a16:creationId xmlns:a16="http://schemas.microsoft.com/office/drawing/2014/main" id="{B41CAE05-EE38-8832-1BAE-7762CA1C7C7D}"/>
              </a:ext>
            </a:extLst>
          </p:cNvPr>
          <p:cNvSpPr/>
          <p:nvPr/>
        </p:nvSpPr>
        <p:spPr>
          <a:xfrm>
            <a:off x="7878765" y="1488962"/>
            <a:ext cx="1824938" cy="385342"/>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ETF CAC Small NR</a:t>
            </a:r>
          </a:p>
        </p:txBody>
      </p:sp>
      <p:sp>
        <p:nvSpPr>
          <p:cNvPr id="9" name="Rectangle : avec coins arrondis en haut 8">
            <a:extLst>
              <a:ext uri="{FF2B5EF4-FFF2-40B4-BE49-F238E27FC236}">
                <a16:creationId xmlns:a16="http://schemas.microsoft.com/office/drawing/2014/main" id="{EC7FFD4C-433D-BB65-6B8F-EE4F2BD5CF88}"/>
              </a:ext>
            </a:extLst>
          </p:cNvPr>
          <p:cNvSpPr/>
          <p:nvPr/>
        </p:nvSpPr>
        <p:spPr>
          <a:xfrm>
            <a:off x="9779821" y="1486959"/>
            <a:ext cx="1824938" cy="385342"/>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HMG Découvertes</a:t>
            </a:r>
          </a:p>
        </p:txBody>
      </p:sp>
      <p:sp>
        <p:nvSpPr>
          <p:cNvPr id="11" name="Shape 205">
            <a:extLst>
              <a:ext uri="{FF2B5EF4-FFF2-40B4-BE49-F238E27FC236}">
                <a16:creationId xmlns:a16="http://schemas.microsoft.com/office/drawing/2014/main" id="{A3259F4E-C7AC-338B-AE4D-3930E47837E1}"/>
              </a:ext>
            </a:extLst>
          </p:cNvPr>
          <p:cNvSpPr/>
          <p:nvPr/>
        </p:nvSpPr>
        <p:spPr>
          <a:xfrm>
            <a:off x="7902271" y="1904856"/>
            <a:ext cx="1824938" cy="385335"/>
          </a:xfrm>
          <a:prstGeom prst="rect">
            <a:avLst/>
          </a:prstGeom>
          <a:solidFill>
            <a:srgbClr val="FCF9EF"/>
          </a:solidFill>
          <a:ln>
            <a:noFill/>
          </a:ln>
        </p:spPr>
        <p:txBody>
          <a:bodyPr rtlCol="0" anchor="ctr"/>
          <a:lstStyle/>
          <a:p>
            <a:pPr algn="ctr"/>
            <a:r>
              <a:rPr lang="fr-FR" sz="900" dirty="0">
                <a:latin typeface="Jost Light" pitchFamily="2" charset="77"/>
                <a:ea typeface="Jost Light" pitchFamily="2" charset="77"/>
                <a:cs typeface="Jost Light" pitchFamily="2" charset="77"/>
              </a:rPr>
              <a:t>Répliquer son indice de référence</a:t>
            </a:r>
          </a:p>
        </p:txBody>
      </p:sp>
      <p:sp>
        <p:nvSpPr>
          <p:cNvPr id="12" name="Shape 205">
            <a:extLst>
              <a:ext uri="{FF2B5EF4-FFF2-40B4-BE49-F238E27FC236}">
                <a16:creationId xmlns:a16="http://schemas.microsoft.com/office/drawing/2014/main" id="{FBA61846-57CE-D052-5338-80DD6A78327F}"/>
              </a:ext>
            </a:extLst>
          </p:cNvPr>
          <p:cNvSpPr/>
          <p:nvPr/>
        </p:nvSpPr>
        <p:spPr>
          <a:xfrm>
            <a:off x="9779821" y="1904856"/>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Battre son indice de référence</a:t>
            </a:r>
          </a:p>
        </p:txBody>
      </p:sp>
      <p:sp>
        <p:nvSpPr>
          <p:cNvPr id="13" name="Shape 205">
            <a:extLst>
              <a:ext uri="{FF2B5EF4-FFF2-40B4-BE49-F238E27FC236}">
                <a16:creationId xmlns:a16="http://schemas.microsoft.com/office/drawing/2014/main" id="{8004E229-9E11-0FFA-3BF6-38B4B9080B67}"/>
              </a:ext>
            </a:extLst>
          </p:cNvPr>
          <p:cNvSpPr/>
          <p:nvPr/>
        </p:nvSpPr>
        <p:spPr>
          <a:xfrm>
            <a:off x="7902271" y="2333090"/>
            <a:ext cx="1824938" cy="385335"/>
          </a:xfrm>
          <a:prstGeom prst="rect">
            <a:avLst/>
          </a:prstGeom>
          <a:solidFill>
            <a:srgbClr val="FCF9EF"/>
          </a:solidFill>
          <a:ln>
            <a:noFill/>
          </a:ln>
        </p:spPr>
        <p:txBody>
          <a:bodyPr rtlCol="0" anchor="ctr"/>
          <a:lstStyle/>
          <a:p>
            <a:pPr algn="ctr"/>
            <a:r>
              <a:rPr lang="fr-FR" sz="900" dirty="0">
                <a:latin typeface="Jost Light" pitchFamily="2" charset="77"/>
                <a:ea typeface="Jost Light" pitchFamily="2" charset="77"/>
                <a:cs typeface="Jost Light" pitchFamily="2" charset="77"/>
              </a:rPr>
              <a:t>0.2% à 0.6% par an</a:t>
            </a:r>
          </a:p>
        </p:txBody>
      </p:sp>
      <p:sp>
        <p:nvSpPr>
          <p:cNvPr id="14" name="Shape 205">
            <a:extLst>
              <a:ext uri="{FF2B5EF4-FFF2-40B4-BE49-F238E27FC236}">
                <a16:creationId xmlns:a16="http://schemas.microsoft.com/office/drawing/2014/main" id="{D9B1AAD7-B514-8624-7CBE-9604E85ECEB3}"/>
              </a:ext>
            </a:extLst>
          </p:cNvPr>
          <p:cNvSpPr/>
          <p:nvPr/>
        </p:nvSpPr>
        <p:spPr>
          <a:xfrm>
            <a:off x="9777083" y="2333344"/>
            <a:ext cx="1824938" cy="385335"/>
          </a:xfrm>
          <a:prstGeom prst="rect">
            <a:avLst/>
          </a:prstGeom>
          <a:solidFill>
            <a:srgbClr val="FCF9EF"/>
          </a:solidFill>
          <a:ln>
            <a:noFill/>
          </a:ln>
        </p:spPr>
        <p:txBody>
          <a:bodyPr rtlCol="0" anchor="ctr"/>
          <a:lstStyle/>
          <a:p>
            <a:pPr algn="ctr"/>
            <a:r>
              <a:rPr lang="fr-FR" sz="900" dirty="0">
                <a:latin typeface="Jost Light" pitchFamily="2" charset="77"/>
                <a:ea typeface="Jost Light" pitchFamily="2" charset="77"/>
                <a:cs typeface="Jost Light" pitchFamily="2" charset="77"/>
              </a:rPr>
              <a:t>2.2% par an</a:t>
            </a:r>
          </a:p>
        </p:txBody>
      </p:sp>
      <p:sp>
        <p:nvSpPr>
          <p:cNvPr id="16" name="Shape 205">
            <a:extLst>
              <a:ext uri="{FF2B5EF4-FFF2-40B4-BE49-F238E27FC236}">
                <a16:creationId xmlns:a16="http://schemas.microsoft.com/office/drawing/2014/main" id="{DD0CD2BC-5574-2C00-D4D5-C763E7F89E90}"/>
              </a:ext>
            </a:extLst>
          </p:cNvPr>
          <p:cNvSpPr/>
          <p:nvPr/>
        </p:nvSpPr>
        <p:spPr>
          <a:xfrm>
            <a:off x="7902271" y="2761343"/>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Réplication systématique, règles fixes</a:t>
            </a:r>
          </a:p>
        </p:txBody>
      </p:sp>
      <p:sp>
        <p:nvSpPr>
          <p:cNvPr id="17" name="Shape 205">
            <a:extLst>
              <a:ext uri="{FF2B5EF4-FFF2-40B4-BE49-F238E27FC236}">
                <a16:creationId xmlns:a16="http://schemas.microsoft.com/office/drawing/2014/main" id="{FE20BB5D-D474-BF95-3FA0-AB689115B631}"/>
              </a:ext>
            </a:extLst>
          </p:cNvPr>
          <p:cNvSpPr/>
          <p:nvPr/>
        </p:nvSpPr>
        <p:spPr>
          <a:xfrm>
            <a:off x="9777083" y="2761597"/>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Sélection discrétionnaire par un gérant</a:t>
            </a:r>
          </a:p>
        </p:txBody>
      </p:sp>
      <p:sp>
        <p:nvSpPr>
          <p:cNvPr id="19" name="Shape 205">
            <a:extLst>
              <a:ext uri="{FF2B5EF4-FFF2-40B4-BE49-F238E27FC236}">
                <a16:creationId xmlns:a16="http://schemas.microsoft.com/office/drawing/2014/main" id="{BD2C2CB2-7ABF-62F8-E45F-FEA7C9D6F70C}"/>
              </a:ext>
            </a:extLst>
          </p:cNvPr>
          <p:cNvSpPr/>
          <p:nvPr/>
        </p:nvSpPr>
        <p:spPr>
          <a:xfrm>
            <a:off x="7902271" y="3190275"/>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19.2% </a:t>
            </a:r>
            <a:r>
              <a:rPr lang="fr-FR" sz="900" baseline="30000" dirty="0">
                <a:latin typeface="Jost Light" pitchFamily="2" charset="77"/>
                <a:ea typeface="Jost Light" pitchFamily="2" charset="77"/>
                <a:cs typeface="Jost Light" pitchFamily="2" charset="77"/>
              </a:rPr>
              <a:t>(2021 - 2026)</a:t>
            </a:r>
          </a:p>
        </p:txBody>
      </p:sp>
      <p:sp>
        <p:nvSpPr>
          <p:cNvPr id="20" name="Shape 205">
            <a:extLst>
              <a:ext uri="{FF2B5EF4-FFF2-40B4-BE49-F238E27FC236}">
                <a16:creationId xmlns:a16="http://schemas.microsoft.com/office/drawing/2014/main" id="{303C886E-692A-E830-CF74-A0D3E7990812}"/>
              </a:ext>
            </a:extLst>
          </p:cNvPr>
          <p:cNvSpPr/>
          <p:nvPr/>
        </p:nvSpPr>
        <p:spPr>
          <a:xfrm>
            <a:off x="9777083" y="3190529"/>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10.7% </a:t>
            </a:r>
            <a:r>
              <a:rPr lang="fr-FR" sz="900" baseline="30000" dirty="0">
                <a:latin typeface="Jost Light" pitchFamily="2" charset="77"/>
                <a:ea typeface="Jost Light" pitchFamily="2" charset="77"/>
                <a:cs typeface="Jost Light" pitchFamily="2" charset="77"/>
              </a:rPr>
              <a:t>(2021 - 2026)</a:t>
            </a:r>
          </a:p>
        </p:txBody>
      </p:sp>
      <p:sp>
        <p:nvSpPr>
          <p:cNvPr id="22" name="Shape 205">
            <a:extLst>
              <a:ext uri="{FF2B5EF4-FFF2-40B4-BE49-F238E27FC236}">
                <a16:creationId xmlns:a16="http://schemas.microsoft.com/office/drawing/2014/main" id="{86879D44-9D23-4334-1CEF-A028585C73E0}"/>
              </a:ext>
            </a:extLst>
          </p:cNvPr>
          <p:cNvSpPr/>
          <p:nvPr/>
        </p:nvSpPr>
        <p:spPr>
          <a:xfrm>
            <a:off x="7902271" y="3619207"/>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- 33.1%</a:t>
            </a:r>
            <a:endParaRPr lang="fr-FR" sz="900" baseline="30000" dirty="0">
              <a:latin typeface="Jost Light" pitchFamily="2" charset="77"/>
              <a:ea typeface="Jost Light" pitchFamily="2" charset="77"/>
              <a:cs typeface="Jost Light" pitchFamily="2" charset="77"/>
            </a:endParaRPr>
          </a:p>
        </p:txBody>
      </p:sp>
      <p:sp>
        <p:nvSpPr>
          <p:cNvPr id="23" name="Shape 205">
            <a:extLst>
              <a:ext uri="{FF2B5EF4-FFF2-40B4-BE49-F238E27FC236}">
                <a16:creationId xmlns:a16="http://schemas.microsoft.com/office/drawing/2014/main" id="{ACEBACBE-CA13-DF8C-7D06-44360F395C70}"/>
              </a:ext>
            </a:extLst>
          </p:cNvPr>
          <p:cNvSpPr/>
          <p:nvPr/>
        </p:nvSpPr>
        <p:spPr>
          <a:xfrm>
            <a:off x="9777083" y="3619461"/>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- 11.6%</a:t>
            </a:r>
            <a:endParaRPr lang="fr-FR" sz="900" baseline="30000" dirty="0">
              <a:latin typeface="Jost Light" pitchFamily="2" charset="77"/>
              <a:ea typeface="Jost Light" pitchFamily="2" charset="77"/>
              <a:cs typeface="Jost Light" pitchFamily="2" charset="77"/>
            </a:endParaRPr>
          </a:p>
        </p:txBody>
      </p:sp>
      <p:sp>
        <p:nvSpPr>
          <p:cNvPr id="25" name="Shape 205">
            <a:extLst>
              <a:ext uri="{FF2B5EF4-FFF2-40B4-BE49-F238E27FC236}">
                <a16:creationId xmlns:a16="http://schemas.microsoft.com/office/drawing/2014/main" id="{E5C0160D-4083-30FD-37AB-EDDE4E3414F2}"/>
              </a:ext>
            </a:extLst>
          </p:cNvPr>
          <p:cNvSpPr/>
          <p:nvPr/>
        </p:nvSpPr>
        <p:spPr>
          <a:xfrm>
            <a:off x="7902271" y="4050847"/>
            <a:ext cx="1824938" cy="385335"/>
          </a:xfrm>
          <a:prstGeom prst="rect">
            <a:avLst/>
          </a:prstGeom>
          <a:solidFill>
            <a:srgbClr val="AB853F"/>
          </a:solidFill>
          <a:ln>
            <a:noFill/>
          </a:ln>
        </p:spPr>
        <p:txBody>
          <a:bodyPr rtlCol="0" anchor="ctr"/>
          <a:lstStyle/>
          <a:p>
            <a:pPr algn="ctr">
              <a:buNone/>
            </a:pPr>
            <a:r>
              <a:rPr lang="fr-FR" sz="1600" dirty="0">
                <a:solidFill>
                  <a:schemeClr val="bg1"/>
                </a:solidFill>
                <a:latin typeface="Cormorant Garamond Medium" pitchFamily="2" charset="77"/>
                <a:ea typeface="Cormorant Garamond Medium" pitchFamily="2" charset="77"/>
                <a:cs typeface="Cormorant Garamond Medium" pitchFamily="2" charset="77"/>
              </a:rPr>
              <a:t>4.0%</a:t>
            </a:r>
            <a:endParaRPr lang="fr-FR" sz="1600" baseline="30000" dirty="0">
              <a:solidFill>
                <a:schemeClr val="bg1"/>
              </a:solidFill>
              <a:latin typeface="Cormorant Garamond Medium" pitchFamily="2" charset="77"/>
              <a:ea typeface="Cormorant Garamond Medium" pitchFamily="2" charset="77"/>
              <a:cs typeface="Cormorant Garamond Medium" pitchFamily="2" charset="77"/>
            </a:endParaRPr>
          </a:p>
        </p:txBody>
      </p:sp>
      <p:sp>
        <p:nvSpPr>
          <p:cNvPr id="26" name="Shape 205">
            <a:extLst>
              <a:ext uri="{FF2B5EF4-FFF2-40B4-BE49-F238E27FC236}">
                <a16:creationId xmlns:a16="http://schemas.microsoft.com/office/drawing/2014/main" id="{BA33C1D2-1084-7F58-E1C7-E173EDC44379}"/>
              </a:ext>
            </a:extLst>
          </p:cNvPr>
          <p:cNvSpPr/>
          <p:nvPr/>
        </p:nvSpPr>
        <p:spPr>
          <a:xfrm>
            <a:off x="9777083" y="4051101"/>
            <a:ext cx="1824938" cy="385335"/>
          </a:xfrm>
          <a:prstGeom prst="rect">
            <a:avLst/>
          </a:prstGeom>
          <a:solidFill>
            <a:srgbClr val="AB853F"/>
          </a:solidFill>
          <a:ln>
            <a:noFill/>
          </a:ln>
        </p:spPr>
        <p:txBody>
          <a:bodyPr rtlCol="0" anchor="ctr"/>
          <a:lstStyle/>
          <a:p>
            <a:pPr algn="ctr"/>
            <a:r>
              <a:rPr lang="fr-FR" sz="1600" dirty="0">
                <a:solidFill>
                  <a:schemeClr val="bg1"/>
                </a:solidFill>
                <a:latin typeface="Cormorant Garamond Medium" pitchFamily="2" charset="77"/>
                <a:ea typeface="Cormorant Garamond Medium" pitchFamily="2" charset="77"/>
                <a:cs typeface="Cormorant Garamond Medium" pitchFamily="2" charset="77"/>
              </a:rPr>
              <a:t>6.9%</a:t>
            </a:r>
          </a:p>
        </p:txBody>
      </p:sp>
      <p:sp>
        <p:nvSpPr>
          <p:cNvPr id="27" name="Shape 205">
            <a:extLst>
              <a:ext uri="{FF2B5EF4-FFF2-40B4-BE49-F238E27FC236}">
                <a16:creationId xmlns:a16="http://schemas.microsoft.com/office/drawing/2014/main" id="{A12972C3-BE5C-61A0-7323-5B9B9F33F6EA}"/>
              </a:ext>
            </a:extLst>
          </p:cNvPr>
          <p:cNvSpPr/>
          <p:nvPr/>
        </p:nvSpPr>
        <p:spPr>
          <a:xfrm>
            <a:off x="6709328" y="1904856"/>
            <a:ext cx="1157110" cy="385335"/>
          </a:xfrm>
          <a:prstGeom prst="rect">
            <a:avLst/>
          </a:prstGeom>
          <a:solidFill>
            <a:srgbClr val="FCF9EF"/>
          </a:solidFill>
          <a:ln>
            <a:noFill/>
          </a:ln>
        </p:spPr>
        <p:txBody>
          <a:bodyPr rtlCol="0" anchor="ctr"/>
          <a:lstStyle/>
          <a:p>
            <a:r>
              <a:rPr lang="fr-FR" sz="900" dirty="0">
                <a:latin typeface="Jost Medium" pitchFamily="2" charset="77"/>
                <a:ea typeface="Jost Medium" pitchFamily="2" charset="77"/>
                <a:cs typeface="Jost Light" pitchFamily="2" charset="77"/>
              </a:rPr>
              <a:t>Objectif</a:t>
            </a:r>
          </a:p>
        </p:txBody>
      </p:sp>
      <p:sp>
        <p:nvSpPr>
          <p:cNvPr id="28" name="Shape 205">
            <a:extLst>
              <a:ext uri="{FF2B5EF4-FFF2-40B4-BE49-F238E27FC236}">
                <a16:creationId xmlns:a16="http://schemas.microsoft.com/office/drawing/2014/main" id="{E88D4580-39EF-C7F6-FD64-C5EE00AAE09E}"/>
              </a:ext>
            </a:extLst>
          </p:cNvPr>
          <p:cNvSpPr/>
          <p:nvPr/>
        </p:nvSpPr>
        <p:spPr>
          <a:xfrm>
            <a:off x="6695287" y="2327890"/>
            <a:ext cx="1157110" cy="385335"/>
          </a:xfrm>
          <a:prstGeom prst="rect">
            <a:avLst/>
          </a:prstGeom>
          <a:solidFill>
            <a:srgbClr val="FCF9EF"/>
          </a:solidFill>
          <a:ln>
            <a:noFill/>
          </a:ln>
        </p:spPr>
        <p:txBody>
          <a:bodyPr rtlCol="0" anchor="ctr"/>
          <a:lstStyle/>
          <a:p>
            <a:r>
              <a:rPr lang="fr-FR" sz="900" dirty="0">
                <a:latin typeface="Jost Medium" pitchFamily="2" charset="77"/>
                <a:ea typeface="Jost Medium" pitchFamily="2" charset="77"/>
                <a:cs typeface="Jost Light" pitchFamily="2" charset="77"/>
              </a:rPr>
              <a:t>Frais de gestion</a:t>
            </a:r>
          </a:p>
        </p:txBody>
      </p:sp>
      <p:sp>
        <p:nvSpPr>
          <p:cNvPr id="29" name="Shape 205">
            <a:extLst>
              <a:ext uri="{FF2B5EF4-FFF2-40B4-BE49-F238E27FC236}">
                <a16:creationId xmlns:a16="http://schemas.microsoft.com/office/drawing/2014/main" id="{AC6A0A8E-764A-5784-12EB-ED3DFA1A121A}"/>
              </a:ext>
            </a:extLst>
          </p:cNvPr>
          <p:cNvSpPr/>
          <p:nvPr/>
        </p:nvSpPr>
        <p:spPr>
          <a:xfrm>
            <a:off x="6695287" y="2754504"/>
            <a:ext cx="1157110" cy="385335"/>
          </a:xfrm>
          <a:prstGeom prst="rect">
            <a:avLst/>
          </a:prstGeom>
          <a:solidFill>
            <a:srgbClr val="FCF9EF"/>
          </a:solidFill>
          <a:ln>
            <a:noFill/>
          </a:ln>
        </p:spPr>
        <p:txBody>
          <a:bodyPr rtlCol="0" anchor="ctr"/>
          <a:lstStyle/>
          <a:p>
            <a:r>
              <a:rPr lang="fr-FR" sz="900" dirty="0">
                <a:latin typeface="Jost Medium" pitchFamily="2" charset="77"/>
                <a:ea typeface="Jost Medium" pitchFamily="2" charset="77"/>
                <a:cs typeface="Jost Light" pitchFamily="2" charset="77"/>
              </a:rPr>
              <a:t>Méthode</a:t>
            </a:r>
          </a:p>
        </p:txBody>
      </p:sp>
      <p:sp>
        <p:nvSpPr>
          <p:cNvPr id="30" name="Shape 205">
            <a:extLst>
              <a:ext uri="{FF2B5EF4-FFF2-40B4-BE49-F238E27FC236}">
                <a16:creationId xmlns:a16="http://schemas.microsoft.com/office/drawing/2014/main" id="{4DCD5EDD-5C9C-2098-9FCD-9CDCBD46727B}"/>
              </a:ext>
            </a:extLst>
          </p:cNvPr>
          <p:cNvSpPr/>
          <p:nvPr/>
        </p:nvSpPr>
        <p:spPr>
          <a:xfrm>
            <a:off x="6695287" y="3190609"/>
            <a:ext cx="1157110" cy="385335"/>
          </a:xfrm>
          <a:prstGeom prst="rect">
            <a:avLst/>
          </a:prstGeom>
          <a:solidFill>
            <a:srgbClr val="FCF9EF"/>
          </a:solidFill>
          <a:ln>
            <a:noFill/>
          </a:ln>
        </p:spPr>
        <p:txBody>
          <a:bodyPr rtlCol="0" anchor="ctr"/>
          <a:lstStyle/>
          <a:p>
            <a:r>
              <a:rPr lang="fr-FR" sz="900" dirty="0">
                <a:latin typeface="Jost Medium" pitchFamily="2" charset="77"/>
                <a:ea typeface="Jost Medium" pitchFamily="2" charset="77"/>
                <a:cs typeface="Jost Light" pitchFamily="2" charset="77"/>
              </a:rPr>
              <a:t>Volatilité</a:t>
            </a:r>
          </a:p>
        </p:txBody>
      </p:sp>
      <p:sp>
        <p:nvSpPr>
          <p:cNvPr id="31" name="Shape 205">
            <a:extLst>
              <a:ext uri="{FF2B5EF4-FFF2-40B4-BE49-F238E27FC236}">
                <a16:creationId xmlns:a16="http://schemas.microsoft.com/office/drawing/2014/main" id="{3B6EA67B-E9F8-74A3-AB11-737470832729}"/>
              </a:ext>
            </a:extLst>
          </p:cNvPr>
          <p:cNvSpPr/>
          <p:nvPr/>
        </p:nvSpPr>
        <p:spPr>
          <a:xfrm>
            <a:off x="6695287" y="3626714"/>
            <a:ext cx="1157110" cy="385335"/>
          </a:xfrm>
          <a:prstGeom prst="rect">
            <a:avLst/>
          </a:prstGeom>
          <a:solidFill>
            <a:srgbClr val="FCF9EF"/>
          </a:solidFill>
          <a:ln>
            <a:noFill/>
          </a:ln>
        </p:spPr>
        <p:txBody>
          <a:bodyPr rtlCol="0" anchor="ctr"/>
          <a:lstStyle/>
          <a:p>
            <a:r>
              <a:rPr lang="fr-FR" sz="900" dirty="0">
                <a:latin typeface="Jost Medium" pitchFamily="2" charset="77"/>
                <a:ea typeface="Jost Medium" pitchFamily="2" charset="77"/>
                <a:cs typeface="Jost Light" pitchFamily="2" charset="77"/>
              </a:rPr>
              <a:t>Maximum </a:t>
            </a:r>
            <a:r>
              <a:rPr lang="fr-FR" sz="900" dirty="0" err="1">
                <a:latin typeface="Jost Medium" pitchFamily="2" charset="77"/>
                <a:ea typeface="Jost Medium" pitchFamily="2" charset="77"/>
                <a:cs typeface="Jost Light" pitchFamily="2" charset="77"/>
              </a:rPr>
              <a:t>drawdown</a:t>
            </a:r>
            <a:endParaRPr lang="fr-FR" sz="900" dirty="0">
              <a:latin typeface="Jost Medium" pitchFamily="2" charset="77"/>
              <a:ea typeface="Jost Medium" pitchFamily="2" charset="77"/>
              <a:cs typeface="Jost Light" pitchFamily="2" charset="77"/>
            </a:endParaRPr>
          </a:p>
        </p:txBody>
      </p:sp>
      <p:sp>
        <p:nvSpPr>
          <p:cNvPr id="33" name="Shape 205">
            <a:extLst>
              <a:ext uri="{FF2B5EF4-FFF2-40B4-BE49-F238E27FC236}">
                <a16:creationId xmlns:a16="http://schemas.microsoft.com/office/drawing/2014/main" id="{104C71E5-D34C-130F-C836-1E098ABDFC49}"/>
              </a:ext>
            </a:extLst>
          </p:cNvPr>
          <p:cNvSpPr/>
          <p:nvPr/>
        </p:nvSpPr>
        <p:spPr>
          <a:xfrm>
            <a:off x="6713855" y="4050847"/>
            <a:ext cx="1138542" cy="385335"/>
          </a:xfrm>
          <a:prstGeom prst="rect">
            <a:avLst/>
          </a:prstGeom>
          <a:solidFill>
            <a:srgbClr val="AB853F"/>
          </a:solidFill>
          <a:ln>
            <a:noFill/>
          </a:ln>
        </p:spPr>
        <p:txBody>
          <a:bodyPr rtlCol="0" anchor="ctr"/>
          <a:lstStyle/>
          <a:p>
            <a:pPr>
              <a:buNone/>
            </a:pPr>
            <a:r>
              <a:rPr lang="fr-FR" sz="1100" dirty="0">
                <a:solidFill>
                  <a:schemeClr val="bg1"/>
                </a:solidFill>
                <a:latin typeface="Cormorant Garamond Medium" pitchFamily="2" charset="77"/>
                <a:ea typeface="Cormorant Garamond Medium" pitchFamily="2" charset="77"/>
                <a:cs typeface="Cormorant Garamond Medium" pitchFamily="2" charset="77"/>
              </a:rPr>
              <a:t>Perf. Annualisée</a:t>
            </a:r>
          </a:p>
          <a:p>
            <a:pPr>
              <a:buNone/>
            </a:pPr>
            <a:r>
              <a:rPr lang="fr-FR" sz="1400" baseline="30000" dirty="0">
                <a:solidFill>
                  <a:schemeClr val="bg1"/>
                </a:solidFill>
                <a:latin typeface="Cormorant Garamond Medium" pitchFamily="2" charset="77"/>
                <a:ea typeface="Cormorant Garamond Medium" pitchFamily="2" charset="77"/>
                <a:cs typeface="Cormorant Garamond Medium" pitchFamily="2" charset="77"/>
              </a:rPr>
              <a:t>(2021 – 2026)</a:t>
            </a:r>
          </a:p>
        </p:txBody>
      </p:sp>
      <p:sp>
        <p:nvSpPr>
          <p:cNvPr id="34" name="Shape 233">
            <a:extLst>
              <a:ext uri="{FF2B5EF4-FFF2-40B4-BE49-F238E27FC236}">
                <a16:creationId xmlns:a16="http://schemas.microsoft.com/office/drawing/2014/main" id="{26D56CD3-C265-E627-34A3-546AA45AF86F}"/>
              </a:ext>
            </a:extLst>
          </p:cNvPr>
          <p:cNvSpPr/>
          <p:nvPr/>
        </p:nvSpPr>
        <p:spPr>
          <a:xfrm>
            <a:off x="6709328" y="4746875"/>
            <a:ext cx="4892693" cy="1161214"/>
          </a:xfrm>
          <a:prstGeom prst="rect">
            <a:avLst/>
          </a:prstGeom>
          <a:solidFill>
            <a:srgbClr val="E7DCC7"/>
          </a:solidFill>
          <a:ln>
            <a:noFill/>
          </a:ln>
        </p:spPr>
        <p:txBody>
          <a:bodyPr rtlCol="0" anchor="ctr"/>
          <a:lstStyle/>
          <a:p>
            <a:pPr algn="just"/>
            <a:r>
              <a:rPr lang="fr-FR" sz="1000" dirty="0">
                <a:latin typeface="Jost ExtraLight" pitchFamily="2" charset="77"/>
                <a:ea typeface="Jost ExtraLight" pitchFamily="2" charset="77"/>
              </a:rPr>
              <a:t>Comme illustré, Des frais de gestion plus élevés ne constituent pas, en eux-mêmes, un désavantage si la gestion active crée suffisamment de valeur pour les compenser. </a:t>
            </a:r>
          </a:p>
          <a:p>
            <a:pPr algn="ctr"/>
            <a:endParaRPr lang="fr-FR" sz="1000" dirty="0">
              <a:latin typeface="Jost ExtraLight" pitchFamily="2" charset="77"/>
              <a:ea typeface="Jost ExtraLight" pitchFamily="2" charset="77"/>
            </a:endParaRPr>
          </a:p>
          <a:p>
            <a:pPr algn="just"/>
            <a:r>
              <a:rPr lang="fr-FR" sz="1000" dirty="0">
                <a:latin typeface="Jost ExtraLight" pitchFamily="2" charset="77"/>
                <a:ea typeface="Jost ExtraLight" pitchFamily="2" charset="77"/>
              </a:rPr>
              <a:t>Pour l’investisseur, le véritable critère d’appréciation reste la performance nette obtenue, au regard du risque pris et de la capacité du fonds à surperformer durablement son indice de référence.</a:t>
            </a:r>
          </a:p>
        </p:txBody>
      </p:sp>
    </p:spTree>
    <p:extLst>
      <p:ext uri="{BB962C8B-B14F-4D97-AF65-F5344CB8AC3E}">
        <p14:creationId xmlns:p14="http://schemas.microsoft.com/office/powerpoint/2010/main" val="32284889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58D01-4706-079C-4A1F-A5F6E82AD65D}"/>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221A36A6-1B4D-93A9-14A6-B568740D94E2}"/>
              </a:ext>
            </a:extLst>
          </p:cNvPr>
          <p:cNvPicPr>
            <a:picLocks noChangeAspect="1"/>
          </p:cNvPicPr>
          <p:nvPr/>
        </p:nvPicPr>
        <p:blipFill>
          <a:blip r:embed="rId3">
            <a:alphaModFix amt="5000"/>
          </a:blip>
          <a:srcRect l="6207" b="6232"/>
          <a:stretch>
            <a:fillRect/>
          </a:stretch>
        </p:blipFill>
        <p:spPr>
          <a:xfrm>
            <a:off x="1" y="14946"/>
            <a:ext cx="12191999" cy="6859822"/>
          </a:xfrm>
          <a:prstGeom prst="rect">
            <a:avLst/>
          </a:prstGeom>
        </p:spPr>
      </p:pic>
      <p:sp>
        <p:nvSpPr>
          <p:cNvPr id="4" name="Text 9">
            <a:extLst>
              <a:ext uri="{FF2B5EF4-FFF2-40B4-BE49-F238E27FC236}">
                <a16:creationId xmlns:a16="http://schemas.microsoft.com/office/drawing/2014/main" id="{5996BA1D-1115-CEB7-D721-2BD4117184FB}"/>
              </a:ext>
            </a:extLst>
          </p:cNvPr>
          <p:cNvSpPr/>
          <p:nvPr/>
        </p:nvSpPr>
        <p:spPr>
          <a:xfrm>
            <a:off x="947468" y="949911"/>
            <a:ext cx="6379021"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II. Exposition obligataire : construire une poche moins dépendante d’un seul scénario de taux</a:t>
            </a:r>
          </a:p>
        </p:txBody>
      </p:sp>
      <p:sp>
        <p:nvSpPr>
          <p:cNvPr id="5" name="Text 9">
            <a:extLst>
              <a:ext uri="{FF2B5EF4-FFF2-40B4-BE49-F238E27FC236}">
                <a16:creationId xmlns:a16="http://schemas.microsoft.com/office/drawing/2014/main" id="{38547379-CDFA-4572-5E50-6575260D37F2}"/>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a:t>
            </a:r>
          </a:p>
        </p:txBody>
      </p:sp>
      <p:sp>
        <p:nvSpPr>
          <p:cNvPr id="6" name="Rectangle 5">
            <a:extLst>
              <a:ext uri="{FF2B5EF4-FFF2-40B4-BE49-F238E27FC236}">
                <a16:creationId xmlns:a16="http://schemas.microsoft.com/office/drawing/2014/main" id="{1D2E494F-CC2F-7173-4F3C-3766EDF72056}"/>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D77E2C2A-924E-ECB6-3B26-1C2A50FB9729}"/>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8" name="Rectangle : avec coins arrondis en haut 7">
            <a:extLst>
              <a:ext uri="{FF2B5EF4-FFF2-40B4-BE49-F238E27FC236}">
                <a16:creationId xmlns:a16="http://schemas.microsoft.com/office/drawing/2014/main" id="{08AE0E33-9EEF-DF3B-2E32-8075806080A5}"/>
              </a:ext>
            </a:extLst>
          </p:cNvPr>
          <p:cNvSpPr/>
          <p:nvPr/>
        </p:nvSpPr>
        <p:spPr>
          <a:xfrm>
            <a:off x="8312563" y="4028303"/>
            <a:ext cx="3392402" cy="371138"/>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Fonds obligataires alternatifs</a:t>
            </a:r>
          </a:p>
        </p:txBody>
      </p:sp>
      <p:sp>
        <p:nvSpPr>
          <p:cNvPr id="20" name="Rectangle : avec coins arrondis en haut 19">
            <a:extLst>
              <a:ext uri="{FF2B5EF4-FFF2-40B4-BE49-F238E27FC236}">
                <a16:creationId xmlns:a16="http://schemas.microsoft.com/office/drawing/2014/main" id="{C16C306A-2C66-729B-627B-B46D4DC44502}"/>
              </a:ext>
            </a:extLst>
          </p:cNvPr>
          <p:cNvSpPr/>
          <p:nvPr/>
        </p:nvSpPr>
        <p:spPr>
          <a:xfrm>
            <a:off x="8312564" y="1431833"/>
            <a:ext cx="3392401" cy="419339"/>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ETF obligataires</a:t>
            </a:r>
          </a:p>
        </p:txBody>
      </p:sp>
      <p:sp>
        <p:nvSpPr>
          <p:cNvPr id="25" name="Rectangle 24">
            <a:extLst>
              <a:ext uri="{FF2B5EF4-FFF2-40B4-BE49-F238E27FC236}">
                <a16:creationId xmlns:a16="http://schemas.microsoft.com/office/drawing/2014/main" id="{FE873AA7-F21B-E6F9-D86D-1165BEB93412}"/>
              </a:ext>
            </a:extLst>
          </p:cNvPr>
          <p:cNvSpPr/>
          <p:nvPr/>
        </p:nvSpPr>
        <p:spPr>
          <a:xfrm>
            <a:off x="8312563" y="4490765"/>
            <a:ext cx="3392402"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Dépendance moindre à la direction des taux.</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Ajustement dynamique de la duration, du risque de crédit et des expositions.</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Multiplicité des moteurs de performance : arbitrages de courbe, relative value, crédit, portage et stratégies long/short.</a:t>
            </a:r>
          </a:p>
        </p:txBody>
      </p:sp>
      <p:sp>
        <p:nvSpPr>
          <p:cNvPr id="27" name="Rectangle 26">
            <a:extLst>
              <a:ext uri="{FF2B5EF4-FFF2-40B4-BE49-F238E27FC236}">
                <a16:creationId xmlns:a16="http://schemas.microsoft.com/office/drawing/2014/main" id="{3BEB9D8F-BA93-BE54-0EB8-2F79158B8FB0}"/>
              </a:ext>
            </a:extLst>
          </p:cNvPr>
          <p:cNvSpPr/>
          <p:nvPr/>
        </p:nvSpPr>
        <p:spPr>
          <a:xfrm>
            <a:off x="8312564" y="1941115"/>
            <a:ext cx="3392402"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Risque dilué par les différentes expositions.</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Exposition lisible et liquide aux principaux segments du marché obligataire. </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Frais de gestion faibles.</a:t>
            </a:r>
          </a:p>
        </p:txBody>
      </p:sp>
      <p:sp>
        <p:nvSpPr>
          <p:cNvPr id="50" name="ZoneTexte 49">
            <a:extLst>
              <a:ext uri="{FF2B5EF4-FFF2-40B4-BE49-F238E27FC236}">
                <a16:creationId xmlns:a16="http://schemas.microsoft.com/office/drawing/2014/main" id="{A646FBAD-552D-6EBC-A4C2-87882689959A}"/>
              </a:ext>
            </a:extLst>
          </p:cNvPr>
          <p:cNvSpPr txBox="1"/>
          <p:nvPr/>
        </p:nvSpPr>
        <p:spPr>
          <a:xfrm>
            <a:off x="13027231" y="5890161"/>
            <a:ext cx="184731" cy="369332"/>
          </a:xfrm>
          <a:prstGeom prst="rect">
            <a:avLst/>
          </a:prstGeom>
          <a:noFill/>
        </p:spPr>
        <p:txBody>
          <a:bodyPr wrap="none" rtlCol="0">
            <a:spAutoFit/>
          </a:bodyPr>
          <a:lstStyle/>
          <a:p>
            <a:endParaRPr lang="fr-FR"/>
          </a:p>
        </p:txBody>
      </p:sp>
      <p:graphicFrame>
        <p:nvGraphicFramePr>
          <p:cNvPr id="2" name="Chart">
            <a:extLst>
              <a:ext uri="{FF2B5EF4-FFF2-40B4-BE49-F238E27FC236}">
                <a16:creationId xmlns:a16="http://schemas.microsoft.com/office/drawing/2014/main" id="{00000000-0008-0000-0000-000002000000}"/>
              </a:ext>
            </a:extLst>
          </p:cNvPr>
          <p:cNvGraphicFramePr>
            <a:graphicFrameLocks/>
          </p:cNvGraphicFramePr>
          <p:nvPr/>
        </p:nvGraphicFramePr>
        <p:xfrm>
          <a:off x="753763" y="1851172"/>
          <a:ext cx="7255918" cy="4762988"/>
        </p:xfrm>
        <a:graphic>
          <a:graphicData uri="http://schemas.openxmlformats.org/drawingml/2006/chart">
            <c:chart xmlns:c="http://schemas.openxmlformats.org/drawingml/2006/chart" xmlns:r="http://schemas.openxmlformats.org/officeDocument/2006/relationships" r:id="rId5"/>
          </a:graphicData>
        </a:graphic>
      </p:graphicFrame>
      <p:sp>
        <p:nvSpPr>
          <p:cNvPr id="7" name="Case Title 218">
            <a:extLst>
              <a:ext uri="{FF2B5EF4-FFF2-40B4-BE49-F238E27FC236}">
                <a16:creationId xmlns:a16="http://schemas.microsoft.com/office/drawing/2014/main" id="{0FF46632-E05D-FFA5-2BC9-F9BA16320519}"/>
              </a:ext>
            </a:extLst>
          </p:cNvPr>
          <p:cNvSpPr txBox="1"/>
          <p:nvPr/>
        </p:nvSpPr>
        <p:spPr>
          <a:xfrm>
            <a:off x="1554480" y="1609058"/>
            <a:ext cx="6271049" cy="280000"/>
          </a:xfrm>
          <a:prstGeom prst="rect">
            <a:avLst/>
          </a:prstGeom>
          <a:noFill/>
          <a:ln>
            <a:noFill/>
          </a:ln>
        </p:spPr>
        <p:txBody>
          <a:bodyPr wrap="square" lIns="0" tIns="0" rIns="0" bIns="0" rtlCol="0" anchor="t">
            <a:normAutofit/>
          </a:bodyPr>
          <a:lstStyle/>
          <a:p>
            <a:pPr algn="ctr">
              <a:buNone/>
            </a:pPr>
            <a:r>
              <a:rPr lang="fr-FR" sz="1200" b="1" dirty="0">
                <a:latin typeface="Cormorant Garamond SemiBold" pitchFamily="2" charset="77"/>
                <a:ea typeface="Cormorant Garamond SemiBold" pitchFamily="2" charset="77"/>
                <a:cs typeface="Cormorant Garamond SemiBold" pitchFamily="2" charset="77"/>
              </a:rPr>
              <a:t>Rentabilité des fonds et ETF du marché par rapport à leur sensibilité aux taux directeurs</a:t>
            </a:r>
          </a:p>
        </p:txBody>
      </p:sp>
    </p:spTree>
    <p:extLst>
      <p:ext uri="{BB962C8B-B14F-4D97-AF65-F5344CB8AC3E}">
        <p14:creationId xmlns:p14="http://schemas.microsoft.com/office/powerpoint/2010/main" val="10884681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0B01F-058C-CC12-FBDA-BCEC32E8C56A}"/>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E4E5E60F-36A1-3BC9-C681-2B3E49B76872}"/>
              </a:ext>
            </a:extLst>
          </p:cNvPr>
          <p:cNvPicPr>
            <a:picLocks noChangeAspect="1"/>
          </p:cNvPicPr>
          <p:nvPr/>
        </p:nvPicPr>
        <p:blipFill>
          <a:blip r:embed="rId3">
            <a:alphaModFix amt="5000"/>
          </a:blip>
          <a:srcRect l="6207" b="6232"/>
          <a:stretch>
            <a:fillRect/>
          </a:stretch>
        </p:blipFill>
        <p:spPr>
          <a:xfrm>
            <a:off x="0" y="0"/>
            <a:ext cx="12191999" cy="6859822"/>
          </a:xfrm>
          <a:prstGeom prst="rect">
            <a:avLst/>
          </a:prstGeom>
        </p:spPr>
      </p:pic>
      <p:sp>
        <p:nvSpPr>
          <p:cNvPr id="4" name="Text 9">
            <a:extLst>
              <a:ext uri="{FF2B5EF4-FFF2-40B4-BE49-F238E27FC236}">
                <a16:creationId xmlns:a16="http://schemas.microsoft.com/office/drawing/2014/main" id="{FAAA5380-049B-E376-9AFF-509A3EDB182A}"/>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III. Exposition mixte : rechercher des moteurs de performance moins dépendants du bêta</a:t>
            </a:r>
          </a:p>
        </p:txBody>
      </p:sp>
      <p:sp>
        <p:nvSpPr>
          <p:cNvPr id="5" name="Text 9">
            <a:extLst>
              <a:ext uri="{FF2B5EF4-FFF2-40B4-BE49-F238E27FC236}">
                <a16:creationId xmlns:a16="http://schemas.microsoft.com/office/drawing/2014/main" id="{9C763C9D-2598-4330-DC2B-0E5636932C90}"/>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a:t>
            </a:r>
          </a:p>
        </p:txBody>
      </p:sp>
      <p:sp>
        <p:nvSpPr>
          <p:cNvPr id="6" name="Rectangle 5">
            <a:extLst>
              <a:ext uri="{FF2B5EF4-FFF2-40B4-BE49-F238E27FC236}">
                <a16:creationId xmlns:a16="http://schemas.microsoft.com/office/drawing/2014/main" id="{FAB4CCB8-1769-6C0E-3491-9E40A37CB8F9}"/>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75BB8E5A-14F9-1D0E-F401-17722AD05418}"/>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8" name="Rectangle : avec coins arrondis en haut 7">
            <a:extLst>
              <a:ext uri="{FF2B5EF4-FFF2-40B4-BE49-F238E27FC236}">
                <a16:creationId xmlns:a16="http://schemas.microsoft.com/office/drawing/2014/main" id="{322B34F4-0E70-2E36-6816-6C4CF02AB138}"/>
              </a:ext>
            </a:extLst>
          </p:cNvPr>
          <p:cNvSpPr/>
          <p:nvPr/>
        </p:nvSpPr>
        <p:spPr>
          <a:xfrm>
            <a:off x="947468" y="4288657"/>
            <a:ext cx="3305957" cy="371138"/>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Produits structurés</a:t>
            </a:r>
          </a:p>
        </p:txBody>
      </p:sp>
      <p:sp>
        <p:nvSpPr>
          <p:cNvPr id="20" name="Rectangle : avec coins arrondis en haut 19">
            <a:extLst>
              <a:ext uri="{FF2B5EF4-FFF2-40B4-BE49-F238E27FC236}">
                <a16:creationId xmlns:a16="http://schemas.microsoft.com/office/drawing/2014/main" id="{459F2B0A-10CB-7F3D-0201-3789D1715964}"/>
              </a:ext>
            </a:extLst>
          </p:cNvPr>
          <p:cNvSpPr/>
          <p:nvPr/>
        </p:nvSpPr>
        <p:spPr>
          <a:xfrm>
            <a:off x="947469" y="1692187"/>
            <a:ext cx="3305957" cy="419339"/>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Fonds de performance absolue</a:t>
            </a:r>
          </a:p>
        </p:txBody>
      </p:sp>
      <p:sp>
        <p:nvSpPr>
          <p:cNvPr id="25" name="Rectangle 24">
            <a:extLst>
              <a:ext uri="{FF2B5EF4-FFF2-40B4-BE49-F238E27FC236}">
                <a16:creationId xmlns:a16="http://schemas.microsoft.com/office/drawing/2014/main" id="{1795C3A7-B11A-2FF2-BEE0-BFA87F9BB260}"/>
              </a:ext>
            </a:extLst>
          </p:cNvPr>
          <p:cNvSpPr/>
          <p:nvPr/>
        </p:nvSpPr>
        <p:spPr>
          <a:xfrm>
            <a:off x="947468" y="4751119"/>
            <a:ext cx="3305957"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Rendement conditionnel prédéfini selon un scénario de marché connu à l’avance.</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Protection partielle ou totale du capital.</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Source de rendement complémentaire, permettant de diversifier les moteurs de performance du portefeuille.</a:t>
            </a:r>
          </a:p>
        </p:txBody>
      </p:sp>
      <p:sp>
        <p:nvSpPr>
          <p:cNvPr id="27" name="Rectangle 26">
            <a:extLst>
              <a:ext uri="{FF2B5EF4-FFF2-40B4-BE49-F238E27FC236}">
                <a16:creationId xmlns:a16="http://schemas.microsoft.com/office/drawing/2014/main" id="{B3E315F3-4180-C129-23D6-A4F251899A09}"/>
              </a:ext>
            </a:extLst>
          </p:cNvPr>
          <p:cNvSpPr/>
          <p:nvPr/>
        </p:nvSpPr>
        <p:spPr>
          <a:xfrm>
            <a:off x="947469" y="2201469"/>
            <a:ext cx="3305958"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Performance décorrélée du béta grâce à différentes stratégies (long/short, arbitrages de M&amp;A, quant).</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Volatilité limitée grâce aux outils de couverture.</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Résilience aux crises, </a:t>
            </a:r>
            <a:r>
              <a:rPr lang="fr-FR" sz="1000" dirty="0" err="1">
                <a:solidFill>
                  <a:schemeClr val="tx1"/>
                </a:solidFill>
                <a:latin typeface="Jost Medium" pitchFamily="2" charset="77"/>
                <a:ea typeface="Jost Medium" pitchFamily="2" charset="77"/>
              </a:rPr>
              <a:t>drawdowns</a:t>
            </a:r>
            <a:r>
              <a:rPr lang="fr-FR" sz="1000" dirty="0">
                <a:solidFill>
                  <a:schemeClr val="tx1"/>
                </a:solidFill>
                <a:latin typeface="Jost Medium" pitchFamily="2" charset="77"/>
                <a:ea typeface="Jost Medium" pitchFamily="2" charset="77"/>
              </a:rPr>
              <a:t> faibles.</a:t>
            </a:r>
          </a:p>
        </p:txBody>
      </p:sp>
      <p:graphicFrame>
        <p:nvGraphicFramePr>
          <p:cNvPr id="3" name="Graphique 2">
            <a:extLst>
              <a:ext uri="{FF2B5EF4-FFF2-40B4-BE49-F238E27FC236}">
                <a16:creationId xmlns:a16="http://schemas.microsoft.com/office/drawing/2014/main" id="{93D7BF4E-74B9-C340-6C6D-9251C9BFA9B9}"/>
              </a:ext>
            </a:extLst>
          </p:cNvPr>
          <p:cNvGraphicFramePr>
            <a:graphicFrameLocks/>
          </p:cNvGraphicFramePr>
          <p:nvPr/>
        </p:nvGraphicFramePr>
        <p:xfrm>
          <a:off x="4482027" y="1982579"/>
          <a:ext cx="7481373" cy="3009868"/>
        </p:xfrm>
        <a:graphic>
          <a:graphicData uri="http://schemas.openxmlformats.org/drawingml/2006/chart">
            <c:chart xmlns:c="http://schemas.openxmlformats.org/drawingml/2006/chart" xmlns:r="http://schemas.openxmlformats.org/officeDocument/2006/relationships" r:id="rId5"/>
          </a:graphicData>
        </a:graphic>
      </p:graphicFrame>
      <p:sp>
        <p:nvSpPr>
          <p:cNvPr id="7" name="Case Title 218">
            <a:extLst>
              <a:ext uri="{FF2B5EF4-FFF2-40B4-BE49-F238E27FC236}">
                <a16:creationId xmlns:a16="http://schemas.microsoft.com/office/drawing/2014/main" id="{2E366AD5-7EED-F35E-4B19-7275A5C89C58}"/>
              </a:ext>
            </a:extLst>
          </p:cNvPr>
          <p:cNvSpPr txBox="1"/>
          <p:nvPr/>
        </p:nvSpPr>
        <p:spPr>
          <a:xfrm>
            <a:off x="4973482" y="1702578"/>
            <a:ext cx="6271049" cy="280000"/>
          </a:xfrm>
          <a:prstGeom prst="rect">
            <a:avLst/>
          </a:prstGeom>
          <a:noFill/>
          <a:ln>
            <a:noFill/>
          </a:ln>
        </p:spPr>
        <p:txBody>
          <a:bodyPr wrap="square" lIns="0" tIns="0" rIns="0" bIns="0" rtlCol="0" anchor="t">
            <a:normAutofit/>
          </a:bodyPr>
          <a:lstStyle/>
          <a:p>
            <a:pPr algn="ctr">
              <a:buNone/>
            </a:pPr>
            <a:r>
              <a:rPr lang="fr-FR" sz="1200" b="1" dirty="0">
                <a:latin typeface="Cormorant Garamond SemiBold" pitchFamily="2" charset="77"/>
                <a:ea typeface="Cormorant Garamond SemiBold" pitchFamily="2" charset="77"/>
                <a:cs typeface="Cormorant Garamond SemiBold" pitchFamily="2" charset="77"/>
              </a:rPr>
              <a:t>Impacts des évènements de marché majeurs sur la performance de Hélium Sélection</a:t>
            </a:r>
          </a:p>
        </p:txBody>
      </p:sp>
      <p:sp>
        <p:nvSpPr>
          <p:cNvPr id="31" name="Footnote 235">
            <a:extLst>
              <a:ext uri="{FF2B5EF4-FFF2-40B4-BE49-F238E27FC236}">
                <a16:creationId xmlns:a16="http://schemas.microsoft.com/office/drawing/2014/main" id="{3D0A738F-F754-9E67-FF15-DBD27060B08D}"/>
              </a:ext>
            </a:extLst>
          </p:cNvPr>
          <p:cNvSpPr txBox="1"/>
          <p:nvPr/>
        </p:nvSpPr>
        <p:spPr>
          <a:xfrm>
            <a:off x="947468" y="6560000"/>
            <a:ext cx="10744532" cy="300000"/>
          </a:xfrm>
          <a:prstGeom prst="rect">
            <a:avLst/>
          </a:prstGeom>
          <a:noFill/>
          <a:ln>
            <a:noFill/>
          </a:ln>
        </p:spPr>
        <p:txBody>
          <a:bodyPr wrap="square" lIns="0" tIns="0" rIns="0" bIns="0" rtlCol="0" anchor="t">
            <a:normAutofit/>
          </a:bodyPr>
          <a:lstStyle/>
          <a:p>
            <a:pPr algn="ctr">
              <a:buNone/>
            </a:pPr>
            <a:r>
              <a:rPr lang="fr-FR" sz="700" i="1" dirty="0" err="1">
                <a:solidFill>
                  <a:srgbClr val="6B6B6B"/>
                </a:solidFill>
                <a:latin typeface="Jost Light" pitchFamily="2" charset="77"/>
                <a:ea typeface="Jost Light" pitchFamily="2" charset="77"/>
                <a:cs typeface="Jost Light" pitchFamily="2" charset="77"/>
              </a:rPr>
              <a:t>Syquant</a:t>
            </a:r>
            <a:r>
              <a:rPr lang="fr-FR" sz="700" i="1" dirty="0">
                <a:solidFill>
                  <a:srgbClr val="6B6B6B"/>
                </a:solidFill>
                <a:latin typeface="Jost Light" pitchFamily="2" charset="77"/>
                <a:ea typeface="Jost Light" pitchFamily="2" charset="77"/>
                <a:cs typeface="Jost Light" pitchFamily="2" charset="77"/>
              </a:rPr>
              <a:t> Capital, MSCI. Performances en base 100, dividendes réinvestis. Données au 31/08/2026. Les performances passées ne préjugent pas des performances futures.</a:t>
            </a:r>
          </a:p>
        </p:txBody>
      </p:sp>
      <p:pic>
        <p:nvPicPr>
          <p:cNvPr id="32" name="Image 31">
            <a:extLst>
              <a:ext uri="{FF2B5EF4-FFF2-40B4-BE49-F238E27FC236}">
                <a16:creationId xmlns:a16="http://schemas.microsoft.com/office/drawing/2014/main" id="{4EFF1E49-CA83-D49A-BAE7-98A453CCDE43}"/>
              </a:ext>
            </a:extLst>
          </p:cNvPr>
          <p:cNvPicPr>
            <a:picLocks noChangeAspect="1"/>
          </p:cNvPicPr>
          <p:nvPr/>
        </p:nvPicPr>
        <p:blipFill>
          <a:blip r:embed="rId6"/>
          <a:srcRect l="7010" t="4756" r="-1"/>
          <a:stretch>
            <a:fillRect/>
          </a:stretch>
        </p:blipFill>
        <p:spPr>
          <a:xfrm>
            <a:off x="4619625" y="4950186"/>
            <a:ext cx="7440940" cy="1669223"/>
          </a:xfrm>
          <a:prstGeom prst="rect">
            <a:avLst/>
          </a:prstGeom>
        </p:spPr>
      </p:pic>
    </p:spTree>
    <p:extLst>
      <p:ext uri="{BB962C8B-B14F-4D97-AF65-F5344CB8AC3E}">
        <p14:creationId xmlns:p14="http://schemas.microsoft.com/office/powerpoint/2010/main" val="4052244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62DBE-65A6-32D9-47A9-16D813C26DE7}"/>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8C44076C-5B55-DC7E-7A82-B9950F962B9A}"/>
              </a:ext>
            </a:extLst>
          </p:cNvPr>
          <p:cNvPicPr>
            <a:picLocks noChangeAspect="1"/>
          </p:cNvPicPr>
          <p:nvPr/>
        </p:nvPicPr>
        <p:blipFill>
          <a:blip r:embed="rId3">
            <a:alphaModFix amt="5000"/>
          </a:blip>
          <a:srcRect l="6207" b="6232"/>
          <a:stretch>
            <a:fillRect/>
          </a:stretch>
        </p:blipFill>
        <p:spPr>
          <a:xfrm>
            <a:off x="0" y="0"/>
            <a:ext cx="12191999" cy="6859822"/>
          </a:xfrm>
          <a:prstGeom prst="rect">
            <a:avLst/>
          </a:prstGeom>
        </p:spPr>
      </p:pic>
      <p:sp>
        <p:nvSpPr>
          <p:cNvPr id="4" name="Text 9">
            <a:extLst>
              <a:ext uri="{FF2B5EF4-FFF2-40B4-BE49-F238E27FC236}">
                <a16:creationId xmlns:a16="http://schemas.microsoft.com/office/drawing/2014/main" id="{966F3F86-414A-F17F-28E3-ACC741756459}"/>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III. Exposition mixte : focus produits structurés</a:t>
            </a:r>
          </a:p>
        </p:txBody>
      </p:sp>
      <p:sp>
        <p:nvSpPr>
          <p:cNvPr id="5" name="Text 9">
            <a:extLst>
              <a:ext uri="{FF2B5EF4-FFF2-40B4-BE49-F238E27FC236}">
                <a16:creationId xmlns:a16="http://schemas.microsoft.com/office/drawing/2014/main" id="{07293104-99BA-14F9-71F7-04792CC91A8E}"/>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a:t>
            </a:r>
          </a:p>
        </p:txBody>
      </p:sp>
      <p:sp>
        <p:nvSpPr>
          <p:cNvPr id="6" name="Rectangle 5">
            <a:extLst>
              <a:ext uri="{FF2B5EF4-FFF2-40B4-BE49-F238E27FC236}">
                <a16:creationId xmlns:a16="http://schemas.microsoft.com/office/drawing/2014/main" id="{BBB655EF-AFA2-0A39-1E79-4A16DFFF43DE}"/>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DEC9CCE4-5B11-0BA8-E226-C7C7B721DBE6}"/>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pic>
        <p:nvPicPr>
          <p:cNvPr id="11" name="Image 10">
            <a:extLst>
              <a:ext uri="{FF2B5EF4-FFF2-40B4-BE49-F238E27FC236}">
                <a16:creationId xmlns:a16="http://schemas.microsoft.com/office/drawing/2014/main" id="{3AA05D1C-086C-27BC-214A-A1B20BDB130F}"/>
              </a:ext>
            </a:extLst>
          </p:cNvPr>
          <p:cNvPicPr>
            <a:picLocks noChangeAspect="1"/>
          </p:cNvPicPr>
          <p:nvPr/>
        </p:nvPicPr>
        <p:blipFill>
          <a:blip r:embed="rId5"/>
          <a:srcRect l="899" r="434" b="1065"/>
          <a:stretch>
            <a:fillRect/>
          </a:stretch>
        </p:blipFill>
        <p:spPr>
          <a:xfrm>
            <a:off x="1197179" y="1321049"/>
            <a:ext cx="10351094" cy="5234399"/>
          </a:xfrm>
          <a:prstGeom prst="rect">
            <a:avLst/>
          </a:prstGeom>
        </p:spPr>
      </p:pic>
    </p:spTree>
    <p:extLst>
      <p:ext uri="{BB962C8B-B14F-4D97-AF65-F5344CB8AC3E}">
        <p14:creationId xmlns:p14="http://schemas.microsoft.com/office/powerpoint/2010/main" val="11253150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4C125-8D71-D53C-5D86-4EB2FDB590F1}"/>
            </a:ext>
          </a:extLst>
        </p:cNvPr>
        <p:cNvGrpSpPr/>
        <p:nvPr/>
      </p:nvGrpSpPr>
      <p:grpSpPr>
        <a:xfrm>
          <a:off x="0" y="0"/>
          <a:ext cx="0" cy="0"/>
          <a:chOff x="0" y="0"/>
          <a:chExt cx="0" cy="0"/>
        </a:xfrm>
      </p:grpSpPr>
      <p:sp>
        <p:nvSpPr>
          <p:cNvPr id="4" name="Text 9">
            <a:extLst>
              <a:ext uri="{FF2B5EF4-FFF2-40B4-BE49-F238E27FC236}">
                <a16:creationId xmlns:a16="http://schemas.microsoft.com/office/drawing/2014/main" id="{80093183-43B6-7CF2-D184-9838011E2AAF}"/>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Différentes stratégies pour diluer le risque</a:t>
            </a:r>
          </a:p>
        </p:txBody>
      </p:sp>
      <p:sp>
        <p:nvSpPr>
          <p:cNvPr id="5" name="Text 9">
            <a:extLst>
              <a:ext uri="{FF2B5EF4-FFF2-40B4-BE49-F238E27FC236}">
                <a16:creationId xmlns:a16="http://schemas.microsoft.com/office/drawing/2014/main" id="{0E3A1613-533C-6ABA-3D2D-694B2D1AB15B}"/>
              </a:ext>
            </a:extLst>
          </p:cNvPr>
          <p:cNvSpPr/>
          <p:nvPr/>
        </p:nvSpPr>
        <p:spPr>
          <a:xfrm>
            <a:off x="947468" y="578773"/>
            <a:ext cx="5020846"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 – Profil Conservateur</a:t>
            </a:r>
          </a:p>
        </p:txBody>
      </p:sp>
      <p:sp>
        <p:nvSpPr>
          <p:cNvPr id="6" name="Rectangle 5">
            <a:extLst>
              <a:ext uri="{FF2B5EF4-FFF2-40B4-BE49-F238E27FC236}">
                <a16:creationId xmlns:a16="http://schemas.microsoft.com/office/drawing/2014/main" id="{1FD3ED00-EA3A-CE98-8AF5-3CF07130E9AC}"/>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6A8899BC-5E3D-C204-3757-50F217302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3" name="Objet 2">
            <a:extLst>
              <a:ext uri="{FF2B5EF4-FFF2-40B4-BE49-F238E27FC236}">
                <a16:creationId xmlns:a16="http://schemas.microsoft.com/office/drawing/2014/main" id="{2D61181B-3EFD-374A-CF54-A78EFA2286C2}"/>
              </a:ext>
            </a:extLst>
          </p:cNvPr>
          <p:cNvGraphicFramePr>
            <a:graphicFrameLocks noChangeAspect="1"/>
          </p:cNvGraphicFramePr>
          <p:nvPr/>
        </p:nvGraphicFramePr>
        <p:xfrm>
          <a:off x="947468" y="1403240"/>
          <a:ext cx="10789162" cy="4875987"/>
        </p:xfrm>
        <a:graphic>
          <a:graphicData uri="http://schemas.openxmlformats.org/presentationml/2006/ole">
            <mc:AlternateContent xmlns:mc="http://schemas.openxmlformats.org/markup-compatibility/2006">
              <mc:Choice xmlns:v="urn:schemas-microsoft-com:vml" Requires="v">
                <p:oleObj name="Feuille de calcul" r:id="rId4" imgW="13411200" imgH="5600700" progId="Excel.Sheet.12">
                  <p:embed/>
                </p:oleObj>
              </mc:Choice>
              <mc:Fallback>
                <p:oleObj name="Feuille de calcul" r:id="rId4" imgW="13411200" imgH="5600700" progId="Excel.Sheet.12">
                  <p:embed/>
                  <p:pic>
                    <p:nvPicPr>
                      <p:cNvPr id="3" name="Objet 2">
                        <a:extLst>
                          <a:ext uri="{FF2B5EF4-FFF2-40B4-BE49-F238E27FC236}">
                            <a16:creationId xmlns:a16="http://schemas.microsoft.com/office/drawing/2014/main" id="{2D61181B-3EFD-374A-CF54-A78EFA2286C2}"/>
                          </a:ext>
                        </a:extLst>
                      </p:cNvPr>
                      <p:cNvPicPr/>
                      <p:nvPr/>
                    </p:nvPicPr>
                    <p:blipFill>
                      <a:blip r:embed="rId5"/>
                      <a:stretch>
                        <a:fillRect/>
                      </a:stretch>
                    </p:blipFill>
                    <p:spPr>
                      <a:xfrm>
                        <a:off x="947468" y="1403240"/>
                        <a:ext cx="10789162" cy="4875987"/>
                      </a:xfrm>
                      <a:prstGeom prst="rect">
                        <a:avLst/>
                      </a:prstGeom>
                    </p:spPr>
                  </p:pic>
                </p:oleObj>
              </mc:Fallback>
            </mc:AlternateContent>
          </a:graphicData>
        </a:graphic>
      </p:graphicFrame>
    </p:spTree>
    <p:extLst>
      <p:ext uri="{BB962C8B-B14F-4D97-AF65-F5344CB8AC3E}">
        <p14:creationId xmlns:p14="http://schemas.microsoft.com/office/powerpoint/2010/main" val="22918731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95B07-693A-9B72-C7F7-A98DFE72624C}"/>
            </a:ext>
          </a:extLst>
        </p:cNvPr>
        <p:cNvGrpSpPr/>
        <p:nvPr/>
      </p:nvGrpSpPr>
      <p:grpSpPr>
        <a:xfrm>
          <a:off x="0" y="0"/>
          <a:ext cx="0" cy="0"/>
          <a:chOff x="0" y="0"/>
          <a:chExt cx="0" cy="0"/>
        </a:xfrm>
      </p:grpSpPr>
      <p:sp>
        <p:nvSpPr>
          <p:cNvPr id="4" name="Text 9">
            <a:extLst>
              <a:ext uri="{FF2B5EF4-FFF2-40B4-BE49-F238E27FC236}">
                <a16:creationId xmlns:a16="http://schemas.microsoft.com/office/drawing/2014/main" id="{7FBA5DA8-FC7D-140F-8C97-EA8FABFA781E}"/>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Différentes stratégies pour diluer le risque</a:t>
            </a:r>
          </a:p>
        </p:txBody>
      </p:sp>
      <p:sp>
        <p:nvSpPr>
          <p:cNvPr id="5" name="Text 9">
            <a:extLst>
              <a:ext uri="{FF2B5EF4-FFF2-40B4-BE49-F238E27FC236}">
                <a16:creationId xmlns:a16="http://schemas.microsoft.com/office/drawing/2014/main" id="{0EB7FBB3-B4A1-2322-5E08-6C0473F39EEB}"/>
              </a:ext>
            </a:extLst>
          </p:cNvPr>
          <p:cNvSpPr/>
          <p:nvPr/>
        </p:nvSpPr>
        <p:spPr>
          <a:xfrm>
            <a:off x="947468" y="578773"/>
            <a:ext cx="5020846"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 – Profil Équilibré</a:t>
            </a:r>
          </a:p>
        </p:txBody>
      </p:sp>
      <p:sp>
        <p:nvSpPr>
          <p:cNvPr id="6" name="Rectangle 5">
            <a:extLst>
              <a:ext uri="{FF2B5EF4-FFF2-40B4-BE49-F238E27FC236}">
                <a16:creationId xmlns:a16="http://schemas.microsoft.com/office/drawing/2014/main" id="{38A3240B-F87A-DD26-137A-F7B9900D87DF}"/>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7F0D2246-4D02-CE2C-4609-80203D4444B6}"/>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12" name="Objet 11">
            <a:extLst>
              <a:ext uri="{FF2B5EF4-FFF2-40B4-BE49-F238E27FC236}">
                <a16:creationId xmlns:a16="http://schemas.microsoft.com/office/drawing/2014/main" id="{0CEADB35-A0E6-FF4B-A9A2-720B89D1C8AA}"/>
              </a:ext>
            </a:extLst>
          </p:cNvPr>
          <p:cNvGraphicFramePr>
            <a:graphicFrameLocks noChangeAspect="1"/>
          </p:cNvGraphicFramePr>
          <p:nvPr/>
        </p:nvGraphicFramePr>
        <p:xfrm>
          <a:off x="947467" y="1398793"/>
          <a:ext cx="10875621" cy="5084730"/>
        </p:xfrm>
        <a:graphic>
          <a:graphicData uri="http://schemas.openxmlformats.org/presentationml/2006/ole">
            <mc:AlternateContent xmlns:mc="http://schemas.openxmlformats.org/markup-compatibility/2006">
              <mc:Choice xmlns:v="urn:schemas-microsoft-com:vml" Requires="v">
                <p:oleObj name="Feuille de calcul" r:id="rId4" imgW="12903200" imgH="6032500" progId="Excel.Sheet.12">
                  <p:embed/>
                </p:oleObj>
              </mc:Choice>
              <mc:Fallback>
                <p:oleObj name="Feuille de calcul" r:id="rId4" imgW="12903200" imgH="6032500" progId="Excel.Sheet.12">
                  <p:embed/>
                  <p:pic>
                    <p:nvPicPr>
                      <p:cNvPr id="12" name="Objet 11">
                        <a:extLst>
                          <a:ext uri="{FF2B5EF4-FFF2-40B4-BE49-F238E27FC236}">
                            <a16:creationId xmlns:a16="http://schemas.microsoft.com/office/drawing/2014/main" id="{0CEADB35-A0E6-FF4B-A9A2-720B89D1C8AA}"/>
                          </a:ext>
                        </a:extLst>
                      </p:cNvPr>
                      <p:cNvPicPr/>
                      <p:nvPr/>
                    </p:nvPicPr>
                    <p:blipFill>
                      <a:blip r:embed="rId5"/>
                      <a:stretch>
                        <a:fillRect/>
                      </a:stretch>
                    </p:blipFill>
                    <p:spPr>
                      <a:xfrm>
                        <a:off x="947467" y="1398793"/>
                        <a:ext cx="10875621" cy="5084730"/>
                      </a:xfrm>
                      <a:prstGeom prst="rect">
                        <a:avLst/>
                      </a:prstGeom>
                    </p:spPr>
                  </p:pic>
                </p:oleObj>
              </mc:Fallback>
            </mc:AlternateContent>
          </a:graphicData>
        </a:graphic>
      </p:graphicFrame>
    </p:spTree>
    <p:extLst>
      <p:ext uri="{BB962C8B-B14F-4D97-AF65-F5344CB8AC3E}">
        <p14:creationId xmlns:p14="http://schemas.microsoft.com/office/powerpoint/2010/main" val="1420074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1EDD4-7533-ED8A-33CB-60182A71301B}"/>
            </a:ext>
          </a:extLst>
        </p:cNvPr>
        <p:cNvGrpSpPr/>
        <p:nvPr/>
      </p:nvGrpSpPr>
      <p:grpSpPr>
        <a:xfrm>
          <a:off x="0" y="0"/>
          <a:ext cx="0" cy="0"/>
          <a:chOff x="0" y="0"/>
          <a:chExt cx="0" cy="0"/>
        </a:xfrm>
      </p:grpSpPr>
      <p:sp>
        <p:nvSpPr>
          <p:cNvPr id="4" name="Text 9">
            <a:extLst>
              <a:ext uri="{FF2B5EF4-FFF2-40B4-BE49-F238E27FC236}">
                <a16:creationId xmlns:a16="http://schemas.microsoft.com/office/drawing/2014/main" id="{EC94755B-E543-74B2-7CB7-9F454A906886}"/>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Différentes stratégies pour diluer le risque</a:t>
            </a:r>
          </a:p>
        </p:txBody>
      </p:sp>
      <p:sp>
        <p:nvSpPr>
          <p:cNvPr id="5" name="Text 9">
            <a:extLst>
              <a:ext uri="{FF2B5EF4-FFF2-40B4-BE49-F238E27FC236}">
                <a16:creationId xmlns:a16="http://schemas.microsoft.com/office/drawing/2014/main" id="{BFA008FD-D47D-9783-C6F7-3E354AB3E514}"/>
              </a:ext>
            </a:extLst>
          </p:cNvPr>
          <p:cNvSpPr/>
          <p:nvPr/>
        </p:nvSpPr>
        <p:spPr>
          <a:xfrm>
            <a:off x="947468" y="578773"/>
            <a:ext cx="5020846"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 – Profil Opportuniste</a:t>
            </a:r>
          </a:p>
        </p:txBody>
      </p:sp>
      <p:sp>
        <p:nvSpPr>
          <p:cNvPr id="6" name="Rectangle 5">
            <a:extLst>
              <a:ext uri="{FF2B5EF4-FFF2-40B4-BE49-F238E27FC236}">
                <a16:creationId xmlns:a16="http://schemas.microsoft.com/office/drawing/2014/main" id="{FF320CD8-9EF8-D64E-434B-70850954DA85}"/>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18D5CEC0-B71B-498C-FC21-85D8701E09F8}"/>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9" name="Objet 8">
            <a:extLst>
              <a:ext uri="{FF2B5EF4-FFF2-40B4-BE49-F238E27FC236}">
                <a16:creationId xmlns:a16="http://schemas.microsoft.com/office/drawing/2014/main" id="{D1FFB2B3-E886-732B-D1DC-A9328B75AB6C}"/>
              </a:ext>
            </a:extLst>
          </p:cNvPr>
          <p:cNvGraphicFramePr>
            <a:graphicFrameLocks noChangeAspect="1"/>
          </p:cNvGraphicFramePr>
          <p:nvPr/>
        </p:nvGraphicFramePr>
        <p:xfrm>
          <a:off x="947468" y="1321050"/>
          <a:ext cx="10851064" cy="5364886"/>
        </p:xfrm>
        <a:graphic>
          <a:graphicData uri="http://schemas.openxmlformats.org/presentationml/2006/ole">
            <mc:AlternateContent xmlns:mc="http://schemas.openxmlformats.org/markup-compatibility/2006">
              <mc:Choice xmlns:v="urn:schemas-microsoft-com:vml" Requires="v">
                <p:oleObj name="Feuille de calcul" r:id="rId4" imgW="12903200" imgH="6464300" progId="Excel.Sheet.12">
                  <p:embed/>
                </p:oleObj>
              </mc:Choice>
              <mc:Fallback>
                <p:oleObj name="Feuille de calcul" r:id="rId4" imgW="12903200" imgH="6464300" progId="Excel.Sheet.12">
                  <p:embed/>
                  <p:pic>
                    <p:nvPicPr>
                      <p:cNvPr id="9" name="Objet 8">
                        <a:extLst>
                          <a:ext uri="{FF2B5EF4-FFF2-40B4-BE49-F238E27FC236}">
                            <a16:creationId xmlns:a16="http://schemas.microsoft.com/office/drawing/2014/main" id="{D1FFB2B3-E886-732B-D1DC-A9328B75AB6C}"/>
                          </a:ext>
                        </a:extLst>
                      </p:cNvPr>
                      <p:cNvPicPr/>
                      <p:nvPr/>
                    </p:nvPicPr>
                    <p:blipFill>
                      <a:blip r:embed="rId5"/>
                      <a:stretch>
                        <a:fillRect/>
                      </a:stretch>
                    </p:blipFill>
                    <p:spPr>
                      <a:xfrm>
                        <a:off x="947468" y="1321050"/>
                        <a:ext cx="10851064" cy="5364886"/>
                      </a:xfrm>
                      <a:prstGeom prst="rect">
                        <a:avLst/>
                      </a:prstGeom>
                    </p:spPr>
                  </p:pic>
                </p:oleObj>
              </mc:Fallback>
            </mc:AlternateContent>
          </a:graphicData>
        </a:graphic>
      </p:graphicFrame>
    </p:spTree>
    <p:extLst>
      <p:ext uri="{BB962C8B-B14F-4D97-AF65-F5344CB8AC3E}">
        <p14:creationId xmlns:p14="http://schemas.microsoft.com/office/powerpoint/2010/main" val="1243669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552F9-2BA0-4AC7-CF93-B2CBF28236CA}"/>
            </a:ext>
          </a:extLst>
        </p:cNvPr>
        <p:cNvGrpSpPr/>
        <p:nvPr/>
      </p:nvGrpSpPr>
      <p:grpSpPr>
        <a:xfrm>
          <a:off x="0" y="0"/>
          <a:ext cx="0" cy="0"/>
          <a:chOff x="0" y="0"/>
          <a:chExt cx="0" cy="0"/>
        </a:xfrm>
      </p:grpSpPr>
      <p:sp>
        <p:nvSpPr>
          <p:cNvPr id="4" name="Text 9">
            <a:extLst>
              <a:ext uri="{FF2B5EF4-FFF2-40B4-BE49-F238E27FC236}">
                <a16:creationId xmlns:a16="http://schemas.microsoft.com/office/drawing/2014/main" id="{A0307D87-6D07-B5BD-F9A4-692FC6B3E292}"/>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Différentes stratégies pour diluer le risque</a:t>
            </a:r>
          </a:p>
        </p:txBody>
      </p:sp>
      <p:sp>
        <p:nvSpPr>
          <p:cNvPr id="5" name="Text 9">
            <a:extLst>
              <a:ext uri="{FF2B5EF4-FFF2-40B4-BE49-F238E27FC236}">
                <a16:creationId xmlns:a16="http://schemas.microsoft.com/office/drawing/2014/main" id="{FA11E9FC-72B6-27EB-3861-86EF14CE750E}"/>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 – Profil Dynamique </a:t>
            </a:r>
          </a:p>
        </p:txBody>
      </p:sp>
      <p:sp>
        <p:nvSpPr>
          <p:cNvPr id="6" name="Rectangle 5">
            <a:extLst>
              <a:ext uri="{FF2B5EF4-FFF2-40B4-BE49-F238E27FC236}">
                <a16:creationId xmlns:a16="http://schemas.microsoft.com/office/drawing/2014/main" id="{24B5E456-6240-9BC6-D7EE-FB586FFBBAD2}"/>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60B7B8BF-6F35-BB62-3CE7-A93C8C567A05}"/>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11" name="Objet 10">
            <a:extLst>
              <a:ext uri="{FF2B5EF4-FFF2-40B4-BE49-F238E27FC236}">
                <a16:creationId xmlns:a16="http://schemas.microsoft.com/office/drawing/2014/main" id="{4D52E648-1F91-BD0A-7873-4C0ACB44260D}"/>
              </a:ext>
            </a:extLst>
          </p:cNvPr>
          <p:cNvGraphicFramePr>
            <a:graphicFrameLocks noChangeAspect="1"/>
          </p:cNvGraphicFramePr>
          <p:nvPr/>
        </p:nvGraphicFramePr>
        <p:xfrm>
          <a:off x="947468" y="1321049"/>
          <a:ext cx="10851064" cy="5313431"/>
        </p:xfrm>
        <a:graphic>
          <a:graphicData uri="http://schemas.openxmlformats.org/presentationml/2006/ole">
            <mc:AlternateContent xmlns:mc="http://schemas.openxmlformats.org/markup-compatibility/2006">
              <mc:Choice xmlns:v="urn:schemas-microsoft-com:vml" Requires="v">
                <p:oleObj name="Feuille de calcul" r:id="rId4" imgW="12776200" imgH="6464300" progId="Excel.Sheet.12">
                  <p:embed/>
                </p:oleObj>
              </mc:Choice>
              <mc:Fallback>
                <p:oleObj name="Feuille de calcul" r:id="rId4" imgW="12776200" imgH="6464300" progId="Excel.Sheet.12">
                  <p:embed/>
                  <p:pic>
                    <p:nvPicPr>
                      <p:cNvPr id="11" name="Objet 10">
                        <a:extLst>
                          <a:ext uri="{FF2B5EF4-FFF2-40B4-BE49-F238E27FC236}">
                            <a16:creationId xmlns:a16="http://schemas.microsoft.com/office/drawing/2014/main" id="{4D52E648-1F91-BD0A-7873-4C0ACB44260D}"/>
                          </a:ext>
                        </a:extLst>
                      </p:cNvPr>
                      <p:cNvPicPr/>
                      <p:nvPr/>
                    </p:nvPicPr>
                    <p:blipFill>
                      <a:blip r:embed="rId5"/>
                      <a:stretch>
                        <a:fillRect/>
                      </a:stretch>
                    </p:blipFill>
                    <p:spPr>
                      <a:xfrm>
                        <a:off x="947468" y="1321049"/>
                        <a:ext cx="10851064" cy="5313431"/>
                      </a:xfrm>
                      <a:prstGeom prst="rect">
                        <a:avLst/>
                      </a:prstGeom>
                    </p:spPr>
                  </p:pic>
                </p:oleObj>
              </mc:Fallback>
            </mc:AlternateContent>
          </a:graphicData>
        </a:graphic>
      </p:graphicFrame>
    </p:spTree>
    <p:extLst>
      <p:ext uri="{BB962C8B-B14F-4D97-AF65-F5344CB8AC3E}">
        <p14:creationId xmlns:p14="http://schemas.microsoft.com/office/powerpoint/2010/main" val="2677706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A48EE-C5E5-23FD-7AED-4AC32C9B7314}"/>
            </a:ext>
          </a:extLst>
        </p:cNvPr>
        <p:cNvGrpSpPr/>
        <p:nvPr/>
      </p:nvGrpSpPr>
      <p:grpSpPr>
        <a:xfrm>
          <a:off x="0" y="0"/>
          <a:ext cx="0" cy="0"/>
          <a:chOff x="0" y="0"/>
          <a:chExt cx="0" cy="0"/>
        </a:xfrm>
      </p:grpSpPr>
      <p:sp>
        <p:nvSpPr>
          <p:cNvPr id="4" name="Text 9">
            <a:extLst>
              <a:ext uri="{FF2B5EF4-FFF2-40B4-BE49-F238E27FC236}">
                <a16:creationId xmlns:a16="http://schemas.microsoft.com/office/drawing/2014/main" id="{C2FE27ED-65A0-EC0A-0160-29D666AEB43D}"/>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Différentes stratégies pour diluer le risque</a:t>
            </a:r>
          </a:p>
        </p:txBody>
      </p:sp>
      <p:sp>
        <p:nvSpPr>
          <p:cNvPr id="5" name="Text 9">
            <a:extLst>
              <a:ext uri="{FF2B5EF4-FFF2-40B4-BE49-F238E27FC236}">
                <a16:creationId xmlns:a16="http://schemas.microsoft.com/office/drawing/2014/main" id="{45515029-CCE8-3A2D-FE40-4F3CA2F17C52}"/>
              </a:ext>
            </a:extLst>
          </p:cNvPr>
          <p:cNvSpPr/>
          <p:nvPr/>
        </p:nvSpPr>
        <p:spPr>
          <a:xfrm>
            <a:off x="947468" y="578773"/>
            <a:ext cx="6849646"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 – Profil Conservateur (Luxembourg)</a:t>
            </a:r>
          </a:p>
        </p:txBody>
      </p:sp>
      <p:sp>
        <p:nvSpPr>
          <p:cNvPr id="6" name="Rectangle 5">
            <a:extLst>
              <a:ext uri="{FF2B5EF4-FFF2-40B4-BE49-F238E27FC236}">
                <a16:creationId xmlns:a16="http://schemas.microsoft.com/office/drawing/2014/main" id="{16A820A5-1F33-616A-06E5-37F58A3014D0}"/>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97C4F5A3-5A98-5335-FACD-A2F417FECCFE}"/>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7" name="Objet 6">
            <a:extLst>
              <a:ext uri="{FF2B5EF4-FFF2-40B4-BE49-F238E27FC236}">
                <a16:creationId xmlns:a16="http://schemas.microsoft.com/office/drawing/2014/main" id="{1A202C1F-7855-94A1-42E1-F4355D0602D0}"/>
              </a:ext>
            </a:extLst>
          </p:cNvPr>
          <p:cNvGraphicFramePr>
            <a:graphicFrameLocks noChangeAspect="1"/>
          </p:cNvGraphicFramePr>
          <p:nvPr/>
        </p:nvGraphicFramePr>
        <p:xfrm>
          <a:off x="947468" y="1692187"/>
          <a:ext cx="10882665" cy="4547670"/>
        </p:xfrm>
        <a:graphic>
          <a:graphicData uri="http://schemas.openxmlformats.org/presentationml/2006/ole">
            <mc:AlternateContent xmlns:mc="http://schemas.openxmlformats.org/markup-compatibility/2006">
              <mc:Choice xmlns:v="urn:schemas-microsoft-com:vml" Requires="v">
                <p:oleObj name="Feuille de calcul" r:id="rId4" imgW="13919200" imgH="5816600" progId="Excel.Sheet.12">
                  <p:embed/>
                </p:oleObj>
              </mc:Choice>
              <mc:Fallback>
                <p:oleObj name="Feuille de calcul" r:id="rId4" imgW="13919200" imgH="5816600" progId="Excel.Sheet.12">
                  <p:embed/>
                  <p:pic>
                    <p:nvPicPr>
                      <p:cNvPr id="7" name="Objet 6">
                        <a:extLst>
                          <a:ext uri="{FF2B5EF4-FFF2-40B4-BE49-F238E27FC236}">
                            <a16:creationId xmlns:a16="http://schemas.microsoft.com/office/drawing/2014/main" id="{1A202C1F-7855-94A1-42E1-F4355D0602D0}"/>
                          </a:ext>
                        </a:extLst>
                      </p:cNvPr>
                      <p:cNvPicPr/>
                      <p:nvPr/>
                    </p:nvPicPr>
                    <p:blipFill>
                      <a:blip r:embed="rId5"/>
                      <a:stretch>
                        <a:fillRect/>
                      </a:stretch>
                    </p:blipFill>
                    <p:spPr>
                      <a:xfrm>
                        <a:off x="947468" y="1692187"/>
                        <a:ext cx="10882665" cy="4547670"/>
                      </a:xfrm>
                      <a:prstGeom prst="rect">
                        <a:avLst/>
                      </a:prstGeom>
                    </p:spPr>
                  </p:pic>
                </p:oleObj>
              </mc:Fallback>
            </mc:AlternateContent>
          </a:graphicData>
        </a:graphic>
      </p:graphicFrame>
    </p:spTree>
    <p:extLst>
      <p:ext uri="{BB962C8B-B14F-4D97-AF65-F5344CB8AC3E}">
        <p14:creationId xmlns:p14="http://schemas.microsoft.com/office/powerpoint/2010/main" val="25038169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A8866-E7D1-AC96-690C-A9AC5104185D}"/>
            </a:ext>
          </a:extLst>
        </p:cNvPr>
        <p:cNvGrpSpPr/>
        <p:nvPr/>
      </p:nvGrpSpPr>
      <p:grpSpPr>
        <a:xfrm>
          <a:off x="0" y="0"/>
          <a:ext cx="0" cy="0"/>
          <a:chOff x="0" y="0"/>
          <a:chExt cx="0" cy="0"/>
        </a:xfrm>
      </p:grpSpPr>
      <p:sp>
        <p:nvSpPr>
          <p:cNvPr id="4" name="Text 9">
            <a:extLst>
              <a:ext uri="{FF2B5EF4-FFF2-40B4-BE49-F238E27FC236}">
                <a16:creationId xmlns:a16="http://schemas.microsoft.com/office/drawing/2014/main" id="{7628D869-AE4C-0225-408C-DA0A52B3DFF1}"/>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Différentes stratégies pour diluer le risque</a:t>
            </a:r>
          </a:p>
        </p:txBody>
      </p:sp>
      <p:sp>
        <p:nvSpPr>
          <p:cNvPr id="5" name="Text 9">
            <a:extLst>
              <a:ext uri="{FF2B5EF4-FFF2-40B4-BE49-F238E27FC236}">
                <a16:creationId xmlns:a16="http://schemas.microsoft.com/office/drawing/2014/main" id="{9FF6EF8C-B751-C618-8FC2-D8E6C49CA9BB}"/>
              </a:ext>
            </a:extLst>
          </p:cNvPr>
          <p:cNvSpPr/>
          <p:nvPr/>
        </p:nvSpPr>
        <p:spPr>
          <a:xfrm>
            <a:off x="947468" y="578773"/>
            <a:ext cx="6849646"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 – Profil Équilibré (Luxembourg)</a:t>
            </a:r>
          </a:p>
        </p:txBody>
      </p:sp>
      <p:sp>
        <p:nvSpPr>
          <p:cNvPr id="6" name="Rectangle 5">
            <a:extLst>
              <a:ext uri="{FF2B5EF4-FFF2-40B4-BE49-F238E27FC236}">
                <a16:creationId xmlns:a16="http://schemas.microsoft.com/office/drawing/2014/main" id="{0EDDBF16-7F56-5FD9-E710-E0D963DF2F3B}"/>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F0E2DCFA-E98D-1D59-F86A-91A2F27F633C}"/>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7" name="Objet 6">
            <a:extLst>
              <a:ext uri="{FF2B5EF4-FFF2-40B4-BE49-F238E27FC236}">
                <a16:creationId xmlns:a16="http://schemas.microsoft.com/office/drawing/2014/main" id="{F82A3480-4BA2-5F4B-BA27-71B6AB3E542B}"/>
              </a:ext>
            </a:extLst>
          </p:cNvPr>
          <p:cNvGraphicFramePr>
            <a:graphicFrameLocks noChangeAspect="1"/>
          </p:cNvGraphicFramePr>
          <p:nvPr/>
        </p:nvGraphicFramePr>
        <p:xfrm>
          <a:off x="947468" y="1321049"/>
          <a:ext cx="10851064" cy="5235262"/>
        </p:xfrm>
        <a:graphic>
          <a:graphicData uri="http://schemas.openxmlformats.org/presentationml/2006/ole">
            <mc:AlternateContent xmlns:mc="http://schemas.openxmlformats.org/markup-compatibility/2006">
              <mc:Choice xmlns:v="urn:schemas-microsoft-com:vml" Requires="v">
                <p:oleObj name="Feuille de calcul" r:id="rId4" imgW="15633700" imgH="7543800" progId="Excel.Sheet.12">
                  <p:embed/>
                </p:oleObj>
              </mc:Choice>
              <mc:Fallback>
                <p:oleObj name="Feuille de calcul" r:id="rId4" imgW="15633700" imgH="7543800" progId="Excel.Sheet.12">
                  <p:embed/>
                  <p:pic>
                    <p:nvPicPr>
                      <p:cNvPr id="7" name="Objet 6">
                        <a:extLst>
                          <a:ext uri="{FF2B5EF4-FFF2-40B4-BE49-F238E27FC236}">
                            <a16:creationId xmlns:a16="http://schemas.microsoft.com/office/drawing/2014/main" id="{F82A3480-4BA2-5F4B-BA27-71B6AB3E542B}"/>
                          </a:ext>
                        </a:extLst>
                      </p:cNvPr>
                      <p:cNvPicPr/>
                      <p:nvPr/>
                    </p:nvPicPr>
                    <p:blipFill>
                      <a:blip r:embed="rId5"/>
                      <a:stretch>
                        <a:fillRect/>
                      </a:stretch>
                    </p:blipFill>
                    <p:spPr>
                      <a:xfrm>
                        <a:off x="947468" y="1321049"/>
                        <a:ext cx="10851064" cy="5235262"/>
                      </a:xfrm>
                      <a:prstGeom prst="rect">
                        <a:avLst/>
                      </a:prstGeom>
                    </p:spPr>
                  </p:pic>
                </p:oleObj>
              </mc:Fallback>
            </mc:AlternateContent>
          </a:graphicData>
        </a:graphic>
      </p:graphicFrame>
    </p:spTree>
    <p:extLst>
      <p:ext uri="{BB962C8B-B14F-4D97-AF65-F5344CB8AC3E}">
        <p14:creationId xmlns:p14="http://schemas.microsoft.com/office/powerpoint/2010/main" val="32570361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2A85E-661E-C224-C088-51BAAD3F87B9}"/>
            </a:ext>
          </a:extLst>
        </p:cNvPr>
        <p:cNvGrpSpPr/>
        <p:nvPr/>
      </p:nvGrpSpPr>
      <p:grpSpPr>
        <a:xfrm>
          <a:off x="0" y="0"/>
          <a:ext cx="0" cy="0"/>
          <a:chOff x="0" y="0"/>
          <a:chExt cx="0" cy="0"/>
        </a:xfrm>
      </p:grpSpPr>
      <p:sp>
        <p:nvSpPr>
          <p:cNvPr id="4" name="Text 9">
            <a:extLst>
              <a:ext uri="{FF2B5EF4-FFF2-40B4-BE49-F238E27FC236}">
                <a16:creationId xmlns:a16="http://schemas.microsoft.com/office/drawing/2014/main" id="{2D446668-082F-F7BE-8A43-E012B616B83B}"/>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Différentes stratégies pour diluer le risque</a:t>
            </a:r>
          </a:p>
        </p:txBody>
      </p:sp>
      <p:sp>
        <p:nvSpPr>
          <p:cNvPr id="5" name="Text 9">
            <a:extLst>
              <a:ext uri="{FF2B5EF4-FFF2-40B4-BE49-F238E27FC236}">
                <a16:creationId xmlns:a16="http://schemas.microsoft.com/office/drawing/2014/main" id="{4C260DF5-3B50-E119-A22D-2A5D8E801B32}"/>
              </a:ext>
            </a:extLst>
          </p:cNvPr>
          <p:cNvSpPr/>
          <p:nvPr/>
        </p:nvSpPr>
        <p:spPr>
          <a:xfrm>
            <a:off x="947468" y="578773"/>
            <a:ext cx="6849646"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 – Profil Opportuniste (Luxembourg)</a:t>
            </a:r>
          </a:p>
        </p:txBody>
      </p:sp>
      <p:sp>
        <p:nvSpPr>
          <p:cNvPr id="6" name="Rectangle 5">
            <a:extLst>
              <a:ext uri="{FF2B5EF4-FFF2-40B4-BE49-F238E27FC236}">
                <a16:creationId xmlns:a16="http://schemas.microsoft.com/office/drawing/2014/main" id="{1AF434D2-793C-7CD8-9A76-2E034BD5EF73}"/>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3B7990C8-89D3-C477-C02F-3C3D3DD4F66C}"/>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2" name="Objet 1">
            <a:extLst>
              <a:ext uri="{FF2B5EF4-FFF2-40B4-BE49-F238E27FC236}">
                <a16:creationId xmlns:a16="http://schemas.microsoft.com/office/drawing/2014/main" id="{4CC3B659-8818-5F1D-9DAA-31E2A78411C6}"/>
              </a:ext>
            </a:extLst>
          </p:cNvPr>
          <p:cNvGraphicFramePr>
            <a:graphicFrameLocks noChangeAspect="1"/>
          </p:cNvGraphicFramePr>
          <p:nvPr/>
        </p:nvGraphicFramePr>
        <p:xfrm>
          <a:off x="947468" y="1410274"/>
          <a:ext cx="10851064" cy="5073249"/>
        </p:xfrm>
        <a:graphic>
          <a:graphicData uri="http://schemas.openxmlformats.org/presentationml/2006/ole">
            <mc:AlternateContent xmlns:mc="http://schemas.openxmlformats.org/markup-compatibility/2006">
              <mc:Choice xmlns:v="urn:schemas-microsoft-com:vml" Requires="v">
                <p:oleObj name="Feuille de calcul" r:id="rId4" imgW="17056100" imgH="7975600" progId="Excel.Sheet.12">
                  <p:embed/>
                </p:oleObj>
              </mc:Choice>
              <mc:Fallback>
                <p:oleObj name="Feuille de calcul" r:id="rId4" imgW="17056100" imgH="7975600" progId="Excel.Sheet.12">
                  <p:embed/>
                  <p:pic>
                    <p:nvPicPr>
                      <p:cNvPr id="2" name="Objet 1">
                        <a:extLst>
                          <a:ext uri="{FF2B5EF4-FFF2-40B4-BE49-F238E27FC236}">
                            <a16:creationId xmlns:a16="http://schemas.microsoft.com/office/drawing/2014/main" id="{4CC3B659-8818-5F1D-9DAA-31E2A78411C6}"/>
                          </a:ext>
                        </a:extLst>
                      </p:cNvPr>
                      <p:cNvPicPr/>
                      <p:nvPr/>
                    </p:nvPicPr>
                    <p:blipFill>
                      <a:blip r:embed="rId5"/>
                      <a:stretch>
                        <a:fillRect/>
                      </a:stretch>
                    </p:blipFill>
                    <p:spPr>
                      <a:xfrm>
                        <a:off x="947468" y="1410274"/>
                        <a:ext cx="10851064" cy="5073249"/>
                      </a:xfrm>
                      <a:prstGeom prst="rect">
                        <a:avLst/>
                      </a:prstGeom>
                    </p:spPr>
                  </p:pic>
                </p:oleObj>
              </mc:Fallback>
            </mc:AlternateContent>
          </a:graphicData>
        </a:graphic>
      </p:graphicFrame>
    </p:spTree>
    <p:extLst>
      <p:ext uri="{BB962C8B-B14F-4D97-AF65-F5344CB8AC3E}">
        <p14:creationId xmlns:p14="http://schemas.microsoft.com/office/powerpoint/2010/main" val="30146788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F5458-FD8D-C5CF-9C1C-B22FF21272C1}"/>
            </a:ext>
          </a:extLst>
        </p:cNvPr>
        <p:cNvGrpSpPr/>
        <p:nvPr/>
      </p:nvGrpSpPr>
      <p:grpSpPr>
        <a:xfrm>
          <a:off x="0" y="0"/>
          <a:ext cx="0" cy="0"/>
          <a:chOff x="0" y="0"/>
          <a:chExt cx="0" cy="0"/>
        </a:xfrm>
      </p:grpSpPr>
      <p:sp>
        <p:nvSpPr>
          <p:cNvPr id="4" name="Text 9">
            <a:extLst>
              <a:ext uri="{FF2B5EF4-FFF2-40B4-BE49-F238E27FC236}">
                <a16:creationId xmlns:a16="http://schemas.microsoft.com/office/drawing/2014/main" id="{53B5B3E8-6567-DE9E-A6ED-9558E68030CE}"/>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Différentes stratégies pour diluer le risque</a:t>
            </a:r>
          </a:p>
        </p:txBody>
      </p:sp>
      <p:sp>
        <p:nvSpPr>
          <p:cNvPr id="5" name="Text 9">
            <a:extLst>
              <a:ext uri="{FF2B5EF4-FFF2-40B4-BE49-F238E27FC236}">
                <a16:creationId xmlns:a16="http://schemas.microsoft.com/office/drawing/2014/main" id="{F65A67F5-C046-8A07-E1D1-ED1207150CE9}"/>
              </a:ext>
            </a:extLst>
          </p:cNvPr>
          <p:cNvSpPr/>
          <p:nvPr/>
        </p:nvSpPr>
        <p:spPr>
          <a:xfrm>
            <a:off x="947468" y="578773"/>
            <a:ext cx="6849646"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 – Profil Dynamique (Luxembourg)</a:t>
            </a:r>
          </a:p>
        </p:txBody>
      </p:sp>
      <p:sp>
        <p:nvSpPr>
          <p:cNvPr id="6" name="Rectangle 5">
            <a:extLst>
              <a:ext uri="{FF2B5EF4-FFF2-40B4-BE49-F238E27FC236}">
                <a16:creationId xmlns:a16="http://schemas.microsoft.com/office/drawing/2014/main" id="{EA864A5B-C37F-24B6-FE20-969B89F6FCA7}"/>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A75214AF-B1D0-AA40-CAD7-E17D38DA5DF2}"/>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3" name="Objet 2">
            <a:extLst>
              <a:ext uri="{FF2B5EF4-FFF2-40B4-BE49-F238E27FC236}">
                <a16:creationId xmlns:a16="http://schemas.microsoft.com/office/drawing/2014/main" id="{C852AEA0-4FFB-F5D9-7556-994D325F7694}"/>
              </a:ext>
            </a:extLst>
          </p:cNvPr>
          <p:cNvGraphicFramePr>
            <a:graphicFrameLocks noChangeAspect="1"/>
          </p:cNvGraphicFramePr>
          <p:nvPr/>
        </p:nvGraphicFramePr>
        <p:xfrm>
          <a:off x="947468" y="1321049"/>
          <a:ext cx="10851064" cy="5411771"/>
        </p:xfrm>
        <a:graphic>
          <a:graphicData uri="http://schemas.openxmlformats.org/presentationml/2006/ole">
            <mc:AlternateContent xmlns:mc="http://schemas.openxmlformats.org/markup-compatibility/2006">
              <mc:Choice xmlns:v="urn:schemas-microsoft-com:vml" Requires="v">
                <p:oleObj name="Feuille de calcul" r:id="rId4" imgW="16548100" imgH="8623300" progId="Excel.Sheet.12">
                  <p:embed/>
                </p:oleObj>
              </mc:Choice>
              <mc:Fallback>
                <p:oleObj name="Feuille de calcul" r:id="rId4" imgW="16548100" imgH="8623300" progId="Excel.Sheet.12">
                  <p:embed/>
                  <p:pic>
                    <p:nvPicPr>
                      <p:cNvPr id="3" name="Objet 2">
                        <a:extLst>
                          <a:ext uri="{FF2B5EF4-FFF2-40B4-BE49-F238E27FC236}">
                            <a16:creationId xmlns:a16="http://schemas.microsoft.com/office/drawing/2014/main" id="{C852AEA0-4FFB-F5D9-7556-994D325F7694}"/>
                          </a:ext>
                        </a:extLst>
                      </p:cNvPr>
                      <p:cNvPicPr/>
                      <p:nvPr/>
                    </p:nvPicPr>
                    <p:blipFill>
                      <a:blip r:embed="rId5"/>
                      <a:stretch>
                        <a:fillRect/>
                      </a:stretch>
                    </p:blipFill>
                    <p:spPr>
                      <a:xfrm>
                        <a:off x="947468" y="1321049"/>
                        <a:ext cx="10851064" cy="5411771"/>
                      </a:xfrm>
                      <a:prstGeom prst="rect">
                        <a:avLst/>
                      </a:prstGeom>
                    </p:spPr>
                  </p:pic>
                </p:oleObj>
              </mc:Fallback>
            </mc:AlternateContent>
          </a:graphicData>
        </a:graphic>
      </p:graphicFrame>
    </p:spTree>
    <p:extLst>
      <p:ext uri="{BB962C8B-B14F-4D97-AF65-F5344CB8AC3E}">
        <p14:creationId xmlns:p14="http://schemas.microsoft.com/office/powerpoint/2010/main" val="34417060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F4440-CA30-9FA1-AD3E-1CEE01AED9DC}"/>
            </a:ext>
          </a:extLst>
        </p:cNvPr>
        <p:cNvGrpSpPr/>
        <p:nvPr/>
      </p:nvGrpSpPr>
      <p:grpSpPr>
        <a:xfrm>
          <a:off x="0" y="0"/>
          <a:ext cx="0" cy="0"/>
          <a:chOff x="0" y="0"/>
          <a:chExt cx="0" cy="0"/>
        </a:xfrm>
      </p:grpSpPr>
      <p:sp>
        <p:nvSpPr>
          <p:cNvPr id="4" name="Text 9">
            <a:extLst>
              <a:ext uri="{FF2B5EF4-FFF2-40B4-BE49-F238E27FC236}">
                <a16:creationId xmlns:a16="http://schemas.microsoft.com/office/drawing/2014/main" id="{7186DC4B-F86C-BD3F-DBF4-7B053D05C85B}"/>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Différentes stratégies pour diluer le risque</a:t>
            </a:r>
          </a:p>
        </p:txBody>
      </p:sp>
      <p:sp>
        <p:nvSpPr>
          <p:cNvPr id="5" name="Text 9">
            <a:extLst>
              <a:ext uri="{FF2B5EF4-FFF2-40B4-BE49-F238E27FC236}">
                <a16:creationId xmlns:a16="http://schemas.microsoft.com/office/drawing/2014/main" id="{13153977-B69C-030C-DEC3-1F3458E69989}"/>
              </a:ext>
            </a:extLst>
          </p:cNvPr>
          <p:cNvSpPr/>
          <p:nvPr/>
        </p:nvSpPr>
        <p:spPr>
          <a:xfrm>
            <a:off x="947468" y="578773"/>
            <a:ext cx="6849646"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 – Profil Spéculatif (Luxembourg)</a:t>
            </a:r>
          </a:p>
        </p:txBody>
      </p:sp>
      <p:sp>
        <p:nvSpPr>
          <p:cNvPr id="6" name="Rectangle 5">
            <a:extLst>
              <a:ext uri="{FF2B5EF4-FFF2-40B4-BE49-F238E27FC236}">
                <a16:creationId xmlns:a16="http://schemas.microsoft.com/office/drawing/2014/main" id="{0ED36CA5-9DA8-E341-64D9-150048BB1EFF}"/>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0535D716-FF73-7DBE-4D22-05F23D9E0F2E}"/>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15" name="Objet 14">
            <a:extLst>
              <a:ext uri="{FF2B5EF4-FFF2-40B4-BE49-F238E27FC236}">
                <a16:creationId xmlns:a16="http://schemas.microsoft.com/office/drawing/2014/main" id="{972CEA63-7A8D-740C-FE70-54242A840203}"/>
              </a:ext>
            </a:extLst>
          </p:cNvPr>
          <p:cNvGraphicFramePr>
            <a:graphicFrameLocks noChangeAspect="1"/>
          </p:cNvGraphicFramePr>
          <p:nvPr/>
        </p:nvGraphicFramePr>
        <p:xfrm>
          <a:off x="947468" y="1321049"/>
          <a:ext cx="10851064" cy="5261635"/>
        </p:xfrm>
        <a:graphic>
          <a:graphicData uri="http://schemas.openxmlformats.org/presentationml/2006/ole">
            <mc:AlternateContent xmlns:mc="http://schemas.openxmlformats.org/markup-compatibility/2006">
              <mc:Choice xmlns:v="urn:schemas-microsoft-com:vml" Requires="v">
                <p:oleObj name="Feuille de calcul" r:id="rId4" imgW="14668500" imgH="7112000" progId="Excel.Sheet.12">
                  <p:embed/>
                </p:oleObj>
              </mc:Choice>
              <mc:Fallback>
                <p:oleObj name="Feuille de calcul" r:id="rId4" imgW="14668500" imgH="7112000" progId="Excel.Sheet.12">
                  <p:embed/>
                  <p:pic>
                    <p:nvPicPr>
                      <p:cNvPr id="15" name="Objet 14">
                        <a:extLst>
                          <a:ext uri="{FF2B5EF4-FFF2-40B4-BE49-F238E27FC236}">
                            <a16:creationId xmlns:a16="http://schemas.microsoft.com/office/drawing/2014/main" id="{972CEA63-7A8D-740C-FE70-54242A840203}"/>
                          </a:ext>
                        </a:extLst>
                      </p:cNvPr>
                      <p:cNvPicPr/>
                      <p:nvPr/>
                    </p:nvPicPr>
                    <p:blipFill>
                      <a:blip r:embed="rId5"/>
                      <a:stretch>
                        <a:fillRect/>
                      </a:stretch>
                    </p:blipFill>
                    <p:spPr>
                      <a:xfrm>
                        <a:off x="947468" y="1321049"/>
                        <a:ext cx="10851064" cy="5261635"/>
                      </a:xfrm>
                      <a:prstGeom prst="rect">
                        <a:avLst/>
                      </a:prstGeom>
                    </p:spPr>
                  </p:pic>
                </p:oleObj>
              </mc:Fallback>
            </mc:AlternateContent>
          </a:graphicData>
        </a:graphic>
      </p:graphicFrame>
    </p:spTree>
    <p:extLst>
      <p:ext uri="{BB962C8B-B14F-4D97-AF65-F5344CB8AC3E}">
        <p14:creationId xmlns:p14="http://schemas.microsoft.com/office/powerpoint/2010/main" val="30526085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56490-ABEF-F0ED-02EC-7D1EB5B2270E}"/>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9CA8F20D-EB8E-471D-F69C-720093BA01D3}"/>
              </a:ext>
            </a:extLst>
          </p:cNvPr>
          <p:cNvPicPr>
            <a:picLocks noChangeAspect="1"/>
          </p:cNvPicPr>
          <p:nvPr/>
        </p:nvPicPr>
        <p:blipFill>
          <a:blip r:embed="rId3">
            <a:alphaModFix amt="5000"/>
          </a:blip>
          <a:srcRect l="6207" b="6232"/>
          <a:stretch>
            <a:fillRect/>
          </a:stretch>
        </p:blipFill>
        <p:spPr>
          <a:xfrm>
            <a:off x="-20053" y="0"/>
            <a:ext cx="12191999" cy="6859822"/>
          </a:xfrm>
          <a:prstGeom prst="rect">
            <a:avLst/>
          </a:prstGeom>
        </p:spPr>
      </p:pic>
      <p:sp>
        <p:nvSpPr>
          <p:cNvPr id="4" name="Text 9">
            <a:extLst>
              <a:ext uri="{FF2B5EF4-FFF2-40B4-BE49-F238E27FC236}">
                <a16:creationId xmlns:a16="http://schemas.microsoft.com/office/drawing/2014/main" id="{05E94E40-9EA2-669D-58FD-590BB0357584}"/>
              </a:ext>
            </a:extLst>
          </p:cNvPr>
          <p:cNvSpPr/>
          <p:nvPr/>
        </p:nvSpPr>
        <p:spPr>
          <a:xfrm>
            <a:off x="947468" y="949911"/>
            <a:ext cx="5581079" cy="371138"/>
          </a:xfrm>
          <a:prstGeom prst="rect">
            <a:avLst/>
          </a:prstGeom>
          <a:noFill/>
          <a:ln/>
        </p:spPr>
        <p:txBody>
          <a:bodyPr wrap="square" lIns="0" tIns="0" rIns="0" bIns="0" rtlCol="0" anchor="t">
            <a:normAutofit/>
          </a:bodyPr>
          <a:lstStyle/>
          <a:p>
            <a:r>
              <a:rPr lang="fr-FR" sz="1200" noProof="0">
                <a:solidFill>
                  <a:srgbClr val="073527"/>
                </a:solidFill>
                <a:latin typeface="Jost Medium" pitchFamily="2" charset="77"/>
                <a:ea typeface="Jost Medium" pitchFamily="2" charset="77"/>
                <a:cs typeface="Futura Medium" panose="020B0602020204020303" pitchFamily="34" charset="-79"/>
              </a:rPr>
              <a:t>Une allocation diversifiée construite autour de plusieurs moteurs de performance</a:t>
            </a:r>
          </a:p>
        </p:txBody>
      </p:sp>
      <p:sp>
        <p:nvSpPr>
          <p:cNvPr id="5" name="Text 9">
            <a:extLst>
              <a:ext uri="{FF2B5EF4-FFF2-40B4-BE49-F238E27FC236}">
                <a16:creationId xmlns:a16="http://schemas.microsoft.com/office/drawing/2014/main" id="{62143CF2-9E2B-F9A5-7E66-EEE1C37A4FB4}"/>
              </a:ext>
            </a:extLst>
          </p:cNvPr>
          <p:cNvSpPr/>
          <p:nvPr/>
        </p:nvSpPr>
        <p:spPr>
          <a:xfrm>
            <a:off x="947468" y="578773"/>
            <a:ext cx="5751990" cy="371138"/>
          </a:xfrm>
          <a:prstGeom prst="rect">
            <a:avLst/>
          </a:prstGeom>
          <a:noFill/>
          <a:ln/>
        </p:spPr>
        <p:txBody>
          <a:bodyPr wrap="square" lIns="0" tIns="0" rIns="0" bIns="0" rtlCol="0" anchor="t">
            <a:normAutofit/>
          </a:bodyPr>
          <a:lstStyle/>
          <a:p>
            <a:r>
              <a:rPr lang="fr-FR" b="1" noProof="0">
                <a:solidFill>
                  <a:srgbClr val="A9853F"/>
                </a:solidFill>
                <a:latin typeface="Cormorant Garamond SemiBold" pitchFamily="2" charset="77"/>
                <a:ea typeface="Cormorant Garamond SemiBold" pitchFamily="2" charset="77"/>
                <a:cs typeface="Cormorant Garamond SemiBold" pitchFamily="2" charset="77"/>
              </a:rPr>
              <a:t>Composition du portefeuille – Profil Opportuniste</a:t>
            </a:r>
          </a:p>
        </p:txBody>
      </p:sp>
      <p:sp>
        <p:nvSpPr>
          <p:cNvPr id="6" name="Rectangle 5">
            <a:extLst>
              <a:ext uri="{FF2B5EF4-FFF2-40B4-BE49-F238E27FC236}">
                <a16:creationId xmlns:a16="http://schemas.microsoft.com/office/drawing/2014/main" id="{1917B9C8-4132-878C-4717-07776265E236}"/>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avec coins arrondis en haut 10">
            <a:extLst>
              <a:ext uri="{FF2B5EF4-FFF2-40B4-BE49-F238E27FC236}">
                <a16:creationId xmlns:a16="http://schemas.microsoft.com/office/drawing/2014/main" id="{D4330CEE-3854-E0E4-CE8F-CC2E05BA488B}"/>
              </a:ext>
            </a:extLst>
          </p:cNvPr>
          <p:cNvSpPr/>
          <p:nvPr/>
        </p:nvSpPr>
        <p:spPr>
          <a:xfrm>
            <a:off x="6699458" y="1321049"/>
            <a:ext cx="4275763" cy="466788"/>
          </a:xfrm>
          <a:prstGeom prst="round2SameRect">
            <a:avLst>
              <a:gd name="adj1" fmla="val 50000"/>
              <a:gd name="adj2" fmla="val 0"/>
            </a:avLst>
          </a:prstGeom>
          <a:solidFill>
            <a:srgbClr val="001B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a:latin typeface="Jost Black" pitchFamily="2" charset="77"/>
                <a:ea typeface="Jost Black" pitchFamily="2" charset="77"/>
              </a:rPr>
              <a:t>Évolution théorique de votre capital (base 100)*</a:t>
            </a:r>
          </a:p>
        </p:txBody>
      </p:sp>
      <p:sp>
        <p:nvSpPr>
          <p:cNvPr id="12" name="ZoneTexte 11">
            <a:extLst>
              <a:ext uri="{FF2B5EF4-FFF2-40B4-BE49-F238E27FC236}">
                <a16:creationId xmlns:a16="http://schemas.microsoft.com/office/drawing/2014/main" id="{3CABF495-FC78-5637-1CF3-13ACECE2303B}"/>
              </a:ext>
            </a:extLst>
          </p:cNvPr>
          <p:cNvSpPr txBox="1"/>
          <p:nvPr/>
        </p:nvSpPr>
        <p:spPr>
          <a:xfrm>
            <a:off x="11013236" y="4873149"/>
            <a:ext cx="983337" cy="307777"/>
          </a:xfrm>
          <a:prstGeom prst="rect">
            <a:avLst/>
          </a:prstGeom>
          <a:noFill/>
        </p:spPr>
        <p:txBody>
          <a:bodyPr wrap="square" rtlCol="0">
            <a:spAutoFit/>
          </a:bodyPr>
          <a:lstStyle/>
          <a:p>
            <a:r>
              <a:rPr lang="fr-FR" sz="700">
                <a:solidFill>
                  <a:srgbClr val="6A6A6A"/>
                </a:solidFill>
                <a:latin typeface="Jost Medium" pitchFamily="2" charset="77"/>
                <a:ea typeface="Jost Medium" pitchFamily="2" charset="77"/>
              </a:rPr>
              <a:t>Nombre d’années </a:t>
            </a:r>
          </a:p>
          <a:p>
            <a:r>
              <a:rPr lang="fr-FR" sz="700">
                <a:solidFill>
                  <a:srgbClr val="6A6A6A"/>
                </a:solidFill>
                <a:latin typeface="Jost Medium" pitchFamily="2" charset="77"/>
                <a:ea typeface="Jost Medium" pitchFamily="2" charset="77"/>
              </a:rPr>
              <a:t>capitalisées (a)</a:t>
            </a:r>
          </a:p>
        </p:txBody>
      </p:sp>
      <p:sp>
        <p:nvSpPr>
          <p:cNvPr id="16" name="Rectangle 15">
            <a:extLst>
              <a:ext uri="{FF2B5EF4-FFF2-40B4-BE49-F238E27FC236}">
                <a16:creationId xmlns:a16="http://schemas.microsoft.com/office/drawing/2014/main" id="{6BE355C1-D2D9-E7BD-8D2D-C4F220221FF3}"/>
              </a:ext>
            </a:extLst>
          </p:cNvPr>
          <p:cNvSpPr/>
          <p:nvPr/>
        </p:nvSpPr>
        <p:spPr>
          <a:xfrm>
            <a:off x="6687154"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Objectif annuel : </a:t>
            </a:r>
          </a:p>
          <a:p>
            <a:pPr algn="ctr"/>
            <a:r>
              <a:rPr lang="fr-FR" sz="1400">
                <a:solidFill>
                  <a:schemeClr val="bg1"/>
                </a:solidFill>
                <a:latin typeface="Jost Medium" pitchFamily="2" charset="77"/>
                <a:ea typeface="Jost Medium" pitchFamily="2" charset="77"/>
                <a:cs typeface="Futura Medium" panose="020B0602020204020303" pitchFamily="34" charset="-79"/>
              </a:rPr>
              <a:t>8.4% </a:t>
            </a:r>
            <a:r>
              <a:rPr lang="fr-FR" sz="1400" err="1">
                <a:solidFill>
                  <a:schemeClr val="bg1"/>
                </a:solidFill>
                <a:latin typeface="Jost Medium" pitchFamily="2" charset="77"/>
                <a:ea typeface="Jost Medium" pitchFamily="2" charset="77"/>
                <a:cs typeface="Futura Medium" panose="020B0602020204020303" pitchFamily="34" charset="-79"/>
              </a:rPr>
              <a:t>p.a</a:t>
            </a:r>
            <a:r>
              <a:rPr lang="fr-FR" sz="1400">
                <a:solidFill>
                  <a:schemeClr val="bg1"/>
                </a:solidFill>
                <a:latin typeface="Jost Medium" pitchFamily="2" charset="77"/>
                <a:ea typeface="Jost Medium" pitchFamily="2" charset="77"/>
                <a:cs typeface="Futura Medium" panose="020B0602020204020303" pitchFamily="34" charset="-79"/>
              </a:rPr>
              <a:t>.</a:t>
            </a:r>
          </a:p>
        </p:txBody>
      </p:sp>
      <p:sp>
        <p:nvSpPr>
          <p:cNvPr id="17" name="Rectangle 16">
            <a:extLst>
              <a:ext uri="{FF2B5EF4-FFF2-40B4-BE49-F238E27FC236}">
                <a16:creationId xmlns:a16="http://schemas.microsoft.com/office/drawing/2014/main" id="{95017D5C-7B26-B2F6-5B3B-0C68BD351470}"/>
              </a:ext>
            </a:extLst>
          </p:cNvPr>
          <p:cNvSpPr/>
          <p:nvPr/>
        </p:nvSpPr>
        <p:spPr>
          <a:xfrm>
            <a:off x="8837340" y="5670108"/>
            <a:ext cx="2125576" cy="661246"/>
          </a:xfrm>
          <a:prstGeom prst="rect">
            <a:avLst/>
          </a:prstGeom>
          <a:solidFill>
            <a:srgbClr val="14462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solidFill>
                  <a:schemeClr val="bg1"/>
                </a:solidFill>
                <a:latin typeface="Jost Light" pitchFamily="2" charset="77"/>
                <a:ea typeface="Jost Light" pitchFamily="2" charset="77"/>
                <a:cs typeface="Futura Medium" panose="020B0602020204020303" pitchFamily="34" charset="-79"/>
              </a:rPr>
              <a:t>SRRI : </a:t>
            </a:r>
          </a:p>
          <a:p>
            <a:pPr algn="ctr"/>
            <a:r>
              <a:rPr lang="fr-FR" sz="1400">
                <a:solidFill>
                  <a:schemeClr val="bg1"/>
                </a:solidFill>
                <a:latin typeface="Jost Medium" pitchFamily="2" charset="77"/>
                <a:ea typeface="Jost Medium" pitchFamily="2" charset="77"/>
                <a:cs typeface="Futura Medium" panose="020B0602020204020303" pitchFamily="34" charset="-79"/>
              </a:rPr>
              <a:t>4 à 6</a:t>
            </a:r>
          </a:p>
        </p:txBody>
      </p:sp>
      <p:sp>
        <p:nvSpPr>
          <p:cNvPr id="18" name="Rectangle 17">
            <a:extLst>
              <a:ext uri="{FF2B5EF4-FFF2-40B4-BE49-F238E27FC236}">
                <a16:creationId xmlns:a16="http://schemas.microsoft.com/office/drawing/2014/main" id="{C91840E0-EC18-7A1E-59E9-DD7DFF25014B}"/>
              </a:ext>
            </a:extLst>
          </p:cNvPr>
          <p:cNvSpPr/>
          <p:nvPr/>
        </p:nvSpPr>
        <p:spPr>
          <a:xfrm>
            <a:off x="6687154" y="5232537"/>
            <a:ext cx="4275760" cy="272760"/>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a:solidFill>
                  <a:srgbClr val="196B24"/>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optimiste   </a:t>
            </a:r>
            <a:r>
              <a:rPr lang="fr-FR" sz="800">
                <a:solidFill>
                  <a:srgbClr val="AB853F"/>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médian   </a:t>
            </a:r>
            <a:r>
              <a:rPr lang="fr-FR" sz="800">
                <a:solidFill>
                  <a:srgbClr val="001A00"/>
                </a:solidFill>
                <a:latin typeface="Jost Light" pitchFamily="2" charset="77"/>
                <a:ea typeface="Jost Light" pitchFamily="2" charset="77"/>
              </a:rPr>
              <a:t>o</a:t>
            </a:r>
            <a:r>
              <a:rPr lang="fr-FR" sz="800">
                <a:solidFill>
                  <a:srgbClr val="6A6A6A"/>
                </a:solidFill>
                <a:latin typeface="Jost Light" pitchFamily="2" charset="77"/>
                <a:ea typeface="Jost Light" pitchFamily="2" charset="77"/>
              </a:rPr>
              <a:t> : Scénario pessimiste</a:t>
            </a:r>
          </a:p>
        </p:txBody>
      </p:sp>
      <p:pic>
        <p:nvPicPr>
          <p:cNvPr id="19" name="Image 18">
            <a:extLst>
              <a:ext uri="{FF2B5EF4-FFF2-40B4-BE49-F238E27FC236}">
                <a16:creationId xmlns:a16="http://schemas.microsoft.com/office/drawing/2014/main" id="{E6626A2D-0822-68B6-C351-0A6EB633411C}"/>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7" name="Rectangle 6">
            <a:extLst>
              <a:ext uri="{FF2B5EF4-FFF2-40B4-BE49-F238E27FC236}">
                <a16:creationId xmlns:a16="http://schemas.microsoft.com/office/drawing/2014/main" id="{DE1B9DFE-6982-FB1D-B980-B441CFAD08E7}"/>
              </a:ext>
            </a:extLst>
          </p:cNvPr>
          <p:cNvSpPr/>
          <p:nvPr/>
        </p:nvSpPr>
        <p:spPr>
          <a:xfrm>
            <a:off x="909102" y="5670108"/>
            <a:ext cx="5166844" cy="661246"/>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050">
                <a:solidFill>
                  <a:schemeClr val="tx1"/>
                </a:solidFill>
                <a:latin typeface="Jost Light" pitchFamily="2" charset="77"/>
                <a:ea typeface="Jost Light" pitchFamily="2" charset="77"/>
                <a:cs typeface="Futura Medium" panose="020B0602020204020303" pitchFamily="34" charset="-79"/>
              </a:rPr>
              <a:t>À titre d’illustration, un capital initial de 500K EUR positionné sur notre profil opportuniste et intégralement capitalisé, pourrait atteindre environ 2.5M EUR au terme de 20 ans.</a:t>
            </a:r>
          </a:p>
        </p:txBody>
      </p:sp>
      <p:graphicFrame>
        <p:nvGraphicFramePr>
          <p:cNvPr id="2" name="Chart 5">
            <a:extLst>
              <a:ext uri="{FF2B5EF4-FFF2-40B4-BE49-F238E27FC236}">
                <a16:creationId xmlns:a16="http://schemas.microsoft.com/office/drawing/2014/main" id="{00000000-0008-0000-0000-000006000000}"/>
              </a:ext>
            </a:extLst>
          </p:cNvPr>
          <p:cNvGraphicFramePr>
            <a:graphicFrameLocks/>
          </p:cNvGraphicFramePr>
          <p:nvPr/>
        </p:nvGraphicFramePr>
        <p:xfrm>
          <a:off x="929582" y="1395454"/>
          <a:ext cx="5128478" cy="4204157"/>
        </p:xfrm>
        <a:graphic>
          <a:graphicData uri="http://schemas.openxmlformats.org/drawingml/2006/chart">
            <c:chart xmlns:c="http://schemas.openxmlformats.org/drawingml/2006/chart" xmlns:r="http://schemas.openxmlformats.org/officeDocument/2006/relationships" r:id="rId5"/>
          </a:graphicData>
        </a:graphic>
      </p:graphicFrame>
      <p:sp>
        <p:nvSpPr>
          <p:cNvPr id="15" name="ZoneTexte 14">
            <a:extLst>
              <a:ext uri="{FF2B5EF4-FFF2-40B4-BE49-F238E27FC236}">
                <a16:creationId xmlns:a16="http://schemas.microsoft.com/office/drawing/2014/main" id="{F131F4B3-96FA-7F79-D53B-3BE62E12F484}"/>
              </a:ext>
            </a:extLst>
          </p:cNvPr>
          <p:cNvSpPr txBox="1"/>
          <p:nvPr/>
        </p:nvSpPr>
        <p:spPr>
          <a:xfrm>
            <a:off x="947468" y="6553383"/>
            <a:ext cx="11409632" cy="215444"/>
          </a:xfrm>
          <a:prstGeom prst="rect">
            <a:avLst/>
          </a:prstGeom>
          <a:noFill/>
        </p:spPr>
        <p:txBody>
          <a:bodyPr wrap="square" rtlCol="0">
            <a:spAutoFit/>
          </a:bodyPr>
          <a:lstStyle/>
          <a:p>
            <a:pPr algn="ctr"/>
            <a:r>
              <a:rPr lang="fr-FR" sz="800" i="1">
                <a:latin typeface="Jost ExtraLight" pitchFamily="2" charset="77"/>
                <a:ea typeface="Jost ExtraLight" pitchFamily="2" charset="77"/>
              </a:rPr>
              <a:t>*Simulation non contractuelle, à titre illustratif uniquement. Les performances passées ou simulées ne préjugent pas des performances futures. Le capital investi est soumis à un risque de perte. Rendements présentés hors frais, fiscalité et inflation.</a:t>
            </a:r>
          </a:p>
        </p:txBody>
      </p:sp>
      <p:graphicFrame>
        <p:nvGraphicFramePr>
          <p:cNvPr id="20" name="Chart">
            <a:extLst>
              <a:ext uri="{FF2B5EF4-FFF2-40B4-BE49-F238E27FC236}">
                <a16:creationId xmlns:a16="http://schemas.microsoft.com/office/drawing/2014/main" id="{00000000-0008-0000-0600-000002000000}"/>
              </a:ext>
            </a:extLst>
          </p:cNvPr>
          <p:cNvGraphicFramePr>
            <a:graphicFrameLocks/>
          </p:cNvGraphicFramePr>
          <p:nvPr/>
        </p:nvGraphicFramePr>
        <p:xfrm>
          <a:off x="6699458" y="1829226"/>
          <a:ext cx="4275760" cy="33517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0815306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2E585-37F6-0F65-A230-28D08C130828}"/>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E2254DB1-B40B-1C4A-FBBF-AF7FE9E4DA99}"/>
              </a:ext>
            </a:extLst>
          </p:cNvPr>
          <p:cNvPicPr>
            <a:picLocks noChangeAspect="1"/>
          </p:cNvPicPr>
          <p:nvPr/>
        </p:nvPicPr>
        <p:blipFill>
          <a:blip r:embed="rId3">
            <a:alphaModFix amt="5000"/>
          </a:blip>
          <a:srcRect l="6207" b="6232"/>
          <a:stretch>
            <a:fillRect/>
          </a:stretch>
        </p:blipFill>
        <p:spPr>
          <a:xfrm>
            <a:off x="0" y="0"/>
            <a:ext cx="12191999" cy="6859822"/>
          </a:xfrm>
          <a:prstGeom prst="rect">
            <a:avLst/>
          </a:prstGeom>
        </p:spPr>
      </p:pic>
      <p:sp>
        <p:nvSpPr>
          <p:cNvPr id="4" name="Text 9">
            <a:extLst>
              <a:ext uri="{FF2B5EF4-FFF2-40B4-BE49-F238E27FC236}">
                <a16:creationId xmlns:a16="http://schemas.microsoft.com/office/drawing/2014/main" id="{398CE6D0-57D3-A584-C6B5-D78ACF1FC9F2}"/>
              </a:ext>
            </a:extLst>
          </p:cNvPr>
          <p:cNvSpPr/>
          <p:nvPr/>
        </p:nvSpPr>
        <p:spPr>
          <a:xfrm>
            <a:off x="947468" y="949911"/>
            <a:ext cx="5581079"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I. Exposition actions : complémentarité des moteurs de performance</a:t>
            </a:r>
          </a:p>
        </p:txBody>
      </p:sp>
      <p:sp>
        <p:nvSpPr>
          <p:cNvPr id="5" name="Text 9">
            <a:extLst>
              <a:ext uri="{FF2B5EF4-FFF2-40B4-BE49-F238E27FC236}">
                <a16:creationId xmlns:a16="http://schemas.microsoft.com/office/drawing/2014/main" id="{9D260A73-8B61-13E6-1DD5-2B2351096A67}"/>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a:t>
            </a:r>
          </a:p>
        </p:txBody>
      </p:sp>
      <p:sp>
        <p:nvSpPr>
          <p:cNvPr id="6" name="Rectangle 5">
            <a:extLst>
              <a:ext uri="{FF2B5EF4-FFF2-40B4-BE49-F238E27FC236}">
                <a16:creationId xmlns:a16="http://schemas.microsoft.com/office/drawing/2014/main" id="{AA7F2717-1ED1-A202-D584-901709A37F2E}"/>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D0CA68B2-D3FF-FD4C-DEAB-0DDB2CA9806C}"/>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8" name="Rectangle : avec coins arrondis en haut 7">
            <a:extLst>
              <a:ext uri="{FF2B5EF4-FFF2-40B4-BE49-F238E27FC236}">
                <a16:creationId xmlns:a16="http://schemas.microsoft.com/office/drawing/2014/main" id="{A8A0F839-CB0F-84C5-AFA2-C7C46A7FDAE4}"/>
              </a:ext>
            </a:extLst>
          </p:cNvPr>
          <p:cNvSpPr/>
          <p:nvPr/>
        </p:nvSpPr>
        <p:spPr>
          <a:xfrm>
            <a:off x="1126933" y="2118746"/>
            <a:ext cx="3421639" cy="371138"/>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a:latin typeface="Jost Black" pitchFamily="2" charset="77"/>
                <a:ea typeface="Jost Black" pitchFamily="2" charset="77"/>
              </a:rPr>
              <a:t>ETF</a:t>
            </a:r>
          </a:p>
        </p:txBody>
      </p:sp>
      <p:sp>
        <p:nvSpPr>
          <p:cNvPr id="14" name="Rectangle : avec coins arrondis en haut 13">
            <a:extLst>
              <a:ext uri="{FF2B5EF4-FFF2-40B4-BE49-F238E27FC236}">
                <a16:creationId xmlns:a16="http://schemas.microsoft.com/office/drawing/2014/main" id="{5A4A3035-2042-CAC4-23B3-1BB0E61A463A}"/>
              </a:ext>
            </a:extLst>
          </p:cNvPr>
          <p:cNvSpPr/>
          <p:nvPr/>
        </p:nvSpPr>
        <p:spPr>
          <a:xfrm>
            <a:off x="4661906" y="2123800"/>
            <a:ext cx="3421639" cy="366084"/>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a:latin typeface="Jost Black" pitchFamily="2" charset="77"/>
                <a:ea typeface="Jost Black" pitchFamily="2" charset="77"/>
              </a:rPr>
              <a:t>OPC</a:t>
            </a:r>
          </a:p>
        </p:txBody>
      </p:sp>
      <p:sp>
        <p:nvSpPr>
          <p:cNvPr id="20" name="Rectangle : avec coins arrondis en haut 19">
            <a:extLst>
              <a:ext uri="{FF2B5EF4-FFF2-40B4-BE49-F238E27FC236}">
                <a16:creationId xmlns:a16="http://schemas.microsoft.com/office/drawing/2014/main" id="{4303A09C-55D6-11CB-2CD3-41ED7F117159}"/>
              </a:ext>
            </a:extLst>
          </p:cNvPr>
          <p:cNvSpPr/>
          <p:nvPr/>
        </p:nvSpPr>
        <p:spPr>
          <a:xfrm>
            <a:off x="8196879" y="2117946"/>
            <a:ext cx="3421639" cy="371938"/>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a:latin typeface="Jost Black" pitchFamily="2" charset="77"/>
                <a:ea typeface="Jost Black" pitchFamily="2" charset="77"/>
              </a:rPr>
              <a:t>Titres vifs</a:t>
            </a:r>
          </a:p>
        </p:txBody>
      </p:sp>
      <p:sp>
        <p:nvSpPr>
          <p:cNvPr id="25" name="Rectangle 24">
            <a:extLst>
              <a:ext uri="{FF2B5EF4-FFF2-40B4-BE49-F238E27FC236}">
                <a16:creationId xmlns:a16="http://schemas.microsoft.com/office/drawing/2014/main" id="{BE798561-E144-E01E-1A1C-2017134209FF}"/>
              </a:ext>
            </a:extLst>
          </p:cNvPr>
          <p:cNvSpPr/>
          <p:nvPr/>
        </p:nvSpPr>
        <p:spPr>
          <a:xfrm>
            <a:off x="1126933" y="2579828"/>
            <a:ext cx="3421639"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Exposition très diversifiée sur les grandes zones de marché</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Outil privilégié pour capter le béta</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Cœur de portefeuille robuste et passif</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Frais de gestion très faibles</a:t>
            </a:r>
          </a:p>
        </p:txBody>
      </p:sp>
      <p:sp>
        <p:nvSpPr>
          <p:cNvPr id="26" name="Rectangle 25">
            <a:extLst>
              <a:ext uri="{FF2B5EF4-FFF2-40B4-BE49-F238E27FC236}">
                <a16:creationId xmlns:a16="http://schemas.microsoft.com/office/drawing/2014/main" id="{AFC2C6AE-9505-4B9C-88F9-EC4CC5CE776F}"/>
              </a:ext>
            </a:extLst>
          </p:cNvPr>
          <p:cNvSpPr/>
          <p:nvPr/>
        </p:nvSpPr>
        <p:spPr>
          <a:xfrm>
            <a:off x="4661905" y="2579826"/>
            <a:ext cx="3421639" cy="1682269"/>
          </a:xfrm>
          <a:prstGeom prst="rect">
            <a:avLst/>
          </a:prstGeom>
          <a:solidFill>
            <a:srgbClr val="E8DCC7"/>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Sélection rigoureuse (alpha) et maitrise du risque</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Recherche de surperformance par rapport à un indice</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Outils de couverture pour se prémunir d’événements de marchés majeurs</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Volatilité très contenue</a:t>
            </a:r>
          </a:p>
        </p:txBody>
      </p:sp>
      <p:sp>
        <p:nvSpPr>
          <p:cNvPr id="27" name="Rectangle 26">
            <a:extLst>
              <a:ext uri="{FF2B5EF4-FFF2-40B4-BE49-F238E27FC236}">
                <a16:creationId xmlns:a16="http://schemas.microsoft.com/office/drawing/2014/main" id="{2F0B4DCF-4315-699A-D559-06196EAFA6B1}"/>
              </a:ext>
            </a:extLst>
          </p:cNvPr>
          <p:cNvSpPr/>
          <p:nvPr/>
        </p:nvSpPr>
        <p:spPr>
          <a:xfrm>
            <a:off x="8196879" y="2590544"/>
            <a:ext cx="3421639" cy="1682268"/>
          </a:xfrm>
          <a:prstGeom prst="rect">
            <a:avLst/>
          </a:prstGeom>
          <a:solidFill>
            <a:srgbClr val="AB853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rPr>
              <a:t>✓ Lisibilité des lignes et personnalisation sur-mesure</a:t>
            </a:r>
          </a:p>
          <a:p>
            <a:pPr algn="ctr"/>
            <a:endParaRPr lang="fr-FR" sz="1000" dirty="0">
              <a:solidFill>
                <a:schemeClr val="bg1"/>
              </a:solidFill>
              <a:latin typeface="Jost Medium" pitchFamily="2" charset="77"/>
              <a:ea typeface="Jost Medium" pitchFamily="2" charset="77"/>
            </a:endParaRPr>
          </a:p>
          <a:p>
            <a:pPr algn="ctr"/>
            <a:r>
              <a:rPr lang="fr-FR" sz="1000" dirty="0">
                <a:solidFill>
                  <a:schemeClr val="bg1"/>
                </a:solidFill>
                <a:latin typeface="Jost Medium" pitchFamily="2" charset="77"/>
                <a:ea typeface="Jost Medium" pitchFamily="2" charset="77"/>
              </a:rPr>
              <a:t>✓ Sélection directe sur des convictions fortes</a:t>
            </a:r>
          </a:p>
          <a:p>
            <a:pPr algn="ctr"/>
            <a:endParaRPr lang="fr-FR" sz="1000" dirty="0">
              <a:solidFill>
                <a:schemeClr val="bg1"/>
              </a:solidFill>
              <a:latin typeface="Jost Medium" pitchFamily="2" charset="77"/>
              <a:ea typeface="Jost Medium" pitchFamily="2" charset="77"/>
            </a:endParaRPr>
          </a:p>
          <a:p>
            <a:pPr algn="ctr"/>
            <a:r>
              <a:rPr lang="fr-FR" sz="1000" dirty="0">
                <a:solidFill>
                  <a:schemeClr val="bg1"/>
                </a:solidFill>
                <a:latin typeface="Jost Medium" pitchFamily="2" charset="77"/>
                <a:ea typeface="Jost Medium" pitchFamily="2" charset="77"/>
              </a:rPr>
              <a:t>✓ Recherche maison (participation aux AG, visite d’usines)</a:t>
            </a:r>
          </a:p>
          <a:p>
            <a:pPr algn="ctr"/>
            <a:endParaRPr lang="fr-FR" sz="1000" dirty="0">
              <a:solidFill>
                <a:schemeClr val="bg1"/>
              </a:solidFill>
              <a:latin typeface="Jost Medium" pitchFamily="2" charset="77"/>
              <a:ea typeface="Jost Medium" pitchFamily="2" charset="77"/>
            </a:endParaRPr>
          </a:p>
          <a:p>
            <a:pPr algn="ctr"/>
            <a:r>
              <a:rPr lang="fr-FR" sz="1000" dirty="0">
                <a:solidFill>
                  <a:schemeClr val="bg1"/>
                </a:solidFill>
                <a:latin typeface="Jost Medium" pitchFamily="2" charset="77"/>
                <a:ea typeface="Jost Medium" pitchFamily="2" charset="77"/>
              </a:rPr>
              <a:t>✓ Aucun frais de gestion</a:t>
            </a:r>
          </a:p>
        </p:txBody>
      </p:sp>
      <p:sp>
        <p:nvSpPr>
          <p:cNvPr id="7" name="Rectangle 6">
            <a:extLst>
              <a:ext uri="{FF2B5EF4-FFF2-40B4-BE49-F238E27FC236}">
                <a16:creationId xmlns:a16="http://schemas.microsoft.com/office/drawing/2014/main" id="{B39ED1A7-DFB7-96C7-350D-E76E63341EA2}"/>
              </a:ext>
            </a:extLst>
          </p:cNvPr>
          <p:cNvSpPr/>
          <p:nvPr/>
        </p:nvSpPr>
        <p:spPr>
          <a:xfrm>
            <a:off x="1126933" y="4378760"/>
            <a:ext cx="3421639"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i="1" dirty="0">
                <a:solidFill>
                  <a:schemeClr val="tx1"/>
                </a:solidFill>
                <a:latin typeface="Cormorant Garamond Medium" pitchFamily="2" charset="77"/>
                <a:ea typeface="Cormorant Garamond Medium" pitchFamily="2" charset="77"/>
                <a:cs typeface="Cormorant Garamond Medium" pitchFamily="2" charset="77"/>
              </a:rPr>
              <a:t>Les critères de sélection :</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Qualité de réplication de l’indice</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Frais totaux</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Liquidité, encours du fonds</a:t>
            </a:r>
          </a:p>
          <a:p>
            <a:pPr algn="ctr"/>
            <a:endParaRPr lang="fr-FR" sz="1000" dirty="0">
              <a:solidFill>
                <a:schemeClr val="tx1"/>
              </a:solidFill>
              <a:latin typeface="Jost Medium" pitchFamily="2" charset="77"/>
              <a:ea typeface="Jost Medium" pitchFamily="2" charset="77"/>
            </a:endParaRPr>
          </a:p>
        </p:txBody>
      </p:sp>
      <p:sp>
        <p:nvSpPr>
          <p:cNvPr id="10" name="Rectangle 9">
            <a:extLst>
              <a:ext uri="{FF2B5EF4-FFF2-40B4-BE49-F238E27FC236}">
                <a16:creationId xmlns:a16="http://schemas.microsoft.com/office/drawing/2014/main" id="{714F328A-EB27-A290-BDF7-1A9033A7969C}"/>
              </a:ext>
            </a:extLst>
          </p:cNvPr>
          <p:cNvSpPr/>
          <p:nvPr/>
        </p:nvSpPr>
        <p:spPr>
          <a:xfrm>
            <a:off x="4669183" y="4373472"/>
            <a:ext cx="3421639" cy="1682269"/>
          </a:xfrm>
          <a:prstGeom prst="rect">
            <a:avLst/>
          </a:prstGeom>
          <a:solidFill>
            <a:srgbClr val="E8DCC7"/>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i="1" dirty="0">
                <a:solidFill>
                  <a:schemeClr val="tx1"/>
                </a:solidFill>
                <a:latin typeface="Cormorant Garamond Medium" pitchFamily="2" charset="77"/>
                <a:ea typeface="Cormorant Garamond Medium" pitchFamily="2" charset="77"/>
                <a:cs typeface="Cormorant Garamond Medium" pitchFamily="2" charset="77"/>
              </a:rPr>
              <a:t>Les critères de sélection :</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Performance ajustée du risque et de la volatilité</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Frais de gestion</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Équipe de gestion, philosophie d’investissement</a:t>
            </a:r>
          </a:p>
        </p:txBody>
      </p:sp>
      <p:sp>
        <p:nvSpPr>
          <p:cNvPr id="11" name="Rectangle 10">
            <a:extLst>
              <a:ext uri="{FF2B5EF4-FFF2-40B4-BE49-F238E27FC236}">
                <a16:creationId xmlns:a16="http://schemas.microsoft.com/office/drawing/2014/main" id="{A2C7C661-B244-8C7C-188C-1BD856DE6BB9}"/>
              </a:ext>
            </a:extLst>
          </p:cNvPr>
          <p:cNvSpPr/>
          <p:nvPr/>
        </p:nvSpPr>
        <p:spPr>
          <a:xfrm>
            <a:off x="8196879" y="4380657"/>
            <a:ext cx="3421639" cy="1682268"/>
          </a:xfrm>
          <a:prstGeom prst="rect">
            <a:avLst/>
          </a:prstGeom>
          <a:solidFill>
            <a:srgbClr val="AB853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i="1" dirty="0">
                <a:solidFill>
                  <a:schemeClr val="bg1"/>
                </a:solidFill>
                <a:latin typeface="Cormorant Garamond Medium" pitchFamily="2" charset="77"/>
                <a:ea typeface="Cormorant Garamond Medium" pitchFamily="2" charset="77"/>
                <a:cs typeface="Cormorant Garamond Medium" pitchFamily="2" charset="77"/>
              </a:rPr>
              <a:t>Les critères de sélection :</a:t>
            </a:r>
          </a:p>
          <a:p>
            <a:pPr algn="ctr"/>
            <a:endParaRPr lang="fr-FR" sz="1000" dirty="0">
              <a:solidFill>
                <a:schemeClr val="bg1"/>
              </a:solidFill>
              <a:latin typeface="Jost Medium" pitchFamily="2" charset="77"/>
              <a:ea typeface="Jost Medium" pitchFamily="2" charset="77"/>
            </a:endParaRPr>
          </a:p>
          <a:p>
            <a:pPr algn="ctr"/>
            <a:r>
              <a:rPr lang="fr-FR" sz="1000" dirty="0">
                <a:latin typeface="Jost Medium" pitchFamily="2" charset="77"/>
                <a:ea typeface="Jost Medium" pitchFamily="2" charset="77"/>
              </a:rPr>
              <a:t>Solidité bilancielle et qualité fondamentale</a:t>
            </a:r>
          </a:p>
          <a:p>
            <a:pPr algn="ctr"/>
            <a:endParaRPr lang="fr-FR" sz="1000" dirty="0">
              <a:solidFill>
                <a:schemeClr val="bg1"/>
              </a:solidFill>
              <a:latin typeface="Jost Medium" pitchFamily="2" charset="77"/>
              <a:ea typeface="Jost Medium" pitchFamily="2" charset="77"/>
            </a:endParaRPr>
          </a:p>
          <a:p>
            <a:pPr algn="ctr"/>
            <a:r>
              <a:rPr lang="fr-FR" sz="1000" dirty="0">
                <a:solidFill>
                  <a:schemeClr val="bg1"/>
                </a:solidFill>
                <a:latin typeface="Jost Medium" pitchFamily="2" charset="77"/>
                <a:ea typeface="Jost Medium" pitchFamily="2" charset="77"/>
              </a:rPr>
              <a:t>Perspectives de l’activité et récurrence des cash flows</a:t>
            </a:r>
          </a:p>
          <a:p>
            <a:pPr algn="ctr"/>
            <a:endParaRPr lang="fr-FR" sz="1000" dirty="0">
              <a:solidFill>
                <a:schemeClr val="bg1"/>
              </a:solidFill>
              <a:latin typeface="Jost Medium" pitchFamily="2" charset="77"/>
              <a:ea typeface="Jost Medium" pitchFamily="2" charset="77"/>
            </a:endParaRPr>
          </a:p>
          <a:p>
            <a:pPr algn="ctr"/>
            <a:r>
              <a:rPr lang="fr-FR" sz="1000" dirty="0">
                <a:solidFill>
                  <a:schemeClr val="bg1"/>
                </a:solidFill>
                <a:latin typeface="Jost Medium" pitchFamily="2" charset="77"/>
                <a:ea typeface="Jost Medium" pitchFamily="2" charset="77"/>
              </a:rPr>
              <a:t>Valorisation des entreprises</a:t>
            </a:r>
          </a:p>
        </p:txBody>
      </p:sp>
    </p:spTree>
    <p:extLst>
      <p:ext uri="{BB962C8B-B14F-4D97-AF65-F5344CB8AC3E}">
        <p14:creationId xmlns:p14="http://schemas.microsoft.com/office/powerpoint/2010/main" val="18591141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3">
            <a:alphaModFix amt="5000"/>
          </a:blip>
          <a:srcRect l="6207" b="6232"/>
          <a:stretch>
            <a:fillRect/>
          </a:stretch>
        </p:blipFill>
        <p:spPr>
          <a:xfrm>
            <a:off x="1" y="0"/>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9800000"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Gestion active vs gestion passive : deux philosophies, un même juge de paix</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9800000"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OPC vs ETF : comparaison des profils de performance</a:t>
            </a:r>
          </a:p>
        </p:txBody>
      </p:sp>
      <p:sp>
        <p:nvSpPr>
          <p:cNvPr id="210" name="Row Label 210"/>
          <p:cNvSpPr txBox="1"/>
          <p:nvPr/>
        </p:nvSpPr>
        <p:spPr>
          <a:xfrm>
            <a:off x="10089681" y="3771918"/>
            <a:ext cx="1016863" cy="280000"/>
          </a:xfrm>
          <a:prstGeom prst="rect">
            <a:avLst/>
          </a:prstGeom>
          <a:noFill/>
          <a:ln>
            <a:noFill/>
          </a:ln>
        </p:spPr>
        <p:txBody>
          <a:bodyPr wrap="square" lIns="0" tIns="0" rIns="0" bIns="0" rtlCol="0" anchor="ctr">
            <a:normAutofit/>
          </a:bodyPr>
          <a:lstStyle/>
          <a:p>
            <a:pPr algn="l">
              <a:buNone/>
            </a:pPr>
            <a:r>
              <a:rPr lang="fr-FR" sz="800" b="1" dirty="0">
                <a:solidFill>
                  <a:srgbClr val="001B00"/>
                </a:solidFill>
                <a:latin typeface="Jost Medium" pitchFamily="2" charset="77"/>
                <a:ea typeface="Jost Medium" pitchFamily="2" charset="77"/>
                <a:cs typeface="Jost Medium" pitchFamily="2" charset="77"/>
              </a:rPr>
              <a:t>Frais de gestion</a:t>
            </a:r>
          </a:p>
        </p:txBody>
      </p:sp>
      <p:sp>
        <p:nvSpPr>
          <p:cNvPr id="218" name="Case Title 218"/>
          <p:cNvSpPr txBox="1"/>
          <p:nvPr/>
        </p:nvSpPr>
        <p:spPr>
          <a:xfrm>
            <a:off x="947467" y="1677662"/>
            <a:ext cx="5148532" cy="280000"/>
          </a:xfrm>
          <a:prstGeom prst="rect">
            <a:avLst/>
          </a:prstGeom>
          <a:noFill/>
          <a:ln>
            <a:noFill/>
          </a:ln>
        </p:spPr>
        <p:txBody>
          <a:bodyPr wrap="square" lIns="0" tIns="0" rIns="0" bIns="0" rtlCol="0" anchor="t">
            <a:normAutofit/>
          </a:bodyPr>
          <a:lstStyle/>
          <a:p>
            <a:pPr algn="ctr">
              <a:buNone/>
            </a:pPr>
            <a:r>
              <a:rPr lang="fr-FR" sz="1200" b="1" dirty="0">
                <a:latin typeface="Cormorant Garamond SemiBold" pitchFamily="2" charset="77"/>
                <a:ea typeface="Cormorant Garamond SemiBold" pitchFamily="2" charset="77"/>
                <a:cs typeface="Cormorant Garamond SemiBold" pitchFamily="2" charset="77"/>
              </a:rPr>
              <a:t>HMG Découvertes comparé à son indice de référence sur 5 ans</a:t>
            </a:r>
          </a:p>
        </p:txBody>
      </p:sp>
      <p:sp>
        <p:nvSpPr>
          <p:cNvPr id="235" name="Footnote 235"/>
          <p:cNvSpPr txBox="1"/>
          <p:nvPr/>
        </p:nvSpPr>
        <p:spPr>
          <a:xfrm>
            <a:off x="947468" y="6560000"/>
            <a:ext cx="10744532" cy="300000"/>
          </a:xfrm>
          <a:prstGeom prst="rect">
            <a:avLst/>
          </a:prstGeom>
          <a:noFill/>
          <a:ln>
            <a:noFill/>
          </a:ln>
        </p:spPr>
        <p:txBody>
          <a:bodyPr wrap="square" lIns="0" tIns="0" rIns="0" bIns="0" rtlCol="0" anchor="t">
            <a:normAutofit/>
          </a:bodyPr>
          <a:lstStyle/>
          <a:p>
            <a:pPr algn="ctr">
              <a:buNone/>
            </a:pPr>
            <a:r>
              <a:rPr lang="fr-FR" sz="700" i="1" dirty="0">
                <a:solidFill>
                  <a:srgbClr val="6B6B6B"/>
                </a:solidFill>
                <a:latin typeface="Jost Light" pitchFamily="2" charset="77"/>
                <a:ea typeface="Jost Light" pitchFamily="2" charset="77"/>
                <a:cs typeface="Jost Light" pitchFamily="2" charset="77"/>
              </a:rPr>
              <a:t>HMG Découvertes OPC, données HMG Finance. Courbe base 100 construite à partir des performances annuelles 2019-2025 publiées. Performances passées non garanties, risque de perte en capital.</a:t>
            </a:r>
          </a:p>
        </p:txBody>
      </p:sp>
      <p:graphicFrame>
        <p:nvGraphicFramePr>
          <p:cNvPr id="7" name="Graphique 6">
            <a:extLst>
              <a:ext uri="{FF2B5EF4-FFF2-40B4-BE49-F238E27FC236}">
                <a16:creationId xmlns:a16="http://schemas.microsoft.com/office/drawing/2014/main" id="{0B2E7063-E3CE-BF15-6657-AE38F44051B6}"/>
              </a:ext>
            </a:extLst>
          </p:cNvPr>
          <p:cNvGraphicFramePr>
            <a:graphicFrameLocks/>
          </p:cNvGraphicFramePr>
          <p:nvPr/>
        </p:nvGraphicFramePr>
        <p:xfrm>
          <a:off x="947467" y="1957840"/>
          <a:ext cx="5148533" cy="4474937"/>
        </p:xfrm>
        <a:graphic>
          <a:graphicData uri="http://schemas.openxmlformats.org/drawingml/2006/chart">
            <c:chart xmlns:c="http://schemas.openxmlformats.org/drawingml/2006/chart" xmlns:r="http://schemas.openxmlformats.org/officeDocument/2006/relationships" r:id="rId5"/>
          </a:graphicData>
        </a:graphic>
      </p:graphicFrame>
      <p:sp>
        <p:nvSpPr>
          <p:cNvPr id="8" name="Rectangle : avec coins arrondis en haut 7">
            <a:extLst>
              <a:ext uri="{FF2B5EF4-FFF2-40B4-BE49-F238E27FC236}">
                <a16:creationId xmlns:a16="http://schemas.microsoft.com/office/drawing/2014/main" id="{B41CAE05-EE38-8832-1BAE-7762CA1C7C7D}"/>
              </a:ext>
            </a:extLst>
          </p:cNvPr>
          <p:cNvSpPr/>
          <p:nvPr/>
        </p:nvSpPr>
        <p:spPr>
          <a:xfrm>
            <a:off x="7878765" y="1488962"/>
            <a:ext cx="1824938" cy="385342"/>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ETF CAC Small NR</a:t>
            </a:r>
          </a:p>
        </p:txBody>
      </p:sp>
      <p:sp>
        <p:nvSpPr>
          <p:cNvPr id="9" name="Rectangle : avec coins arrondis en haut 8">
            <a:extLst>
              <a:ext uri="{FF2B5EF4-FFF2-40B4-BE49-F238E27FC236}">
                <a16:creationId xmlns:a16="http://schemas.microsoft.com/office/drawing/2014/main" id="{EC7FFD4C-433D-BB65-6B8F-EE4F2BD5CF88}"/>
              </a:ext>
            </a:extLst>
          </p:cNvPr>
          <p:cNvSpPr/>
          <p:nvPr/>
        </p:nvSpPr>
        <p:spPr>
          <a:xfrm>
            <a:off x="9779821" y="1486959"/>
            <a:ext cx="1824938" cy="385342"/>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HMG Découvertes</a:t>
            </a:r>
          </a:p>
        </p:txBody>
      </p:sp>
      <p:sp>
        <p:nvSpPr>
          <p:cNvPr id="11" name="Shape 205">
            <a:extLst>
              <a:ext uri="{FF2B5EF4-FFF2-40B4-BE49-F238E27FC236}">
                <a16:creationId xmlns:a16="http://schemas.microsoft.com/office/drawing/2014/main" id="{A3259F4E-C7AC-338B-AE4D-3930E47837E1}"/>
              </a:ext>
            </a:extLst>
          </p:cNvPr>
          <p:cNvSpPr/>
          <p:nvPr/>
        </p:nvSpPr>
        <p:spPr>
          <a:xfrm>
            <a:off x="7902271" y="1904856"/>
            <a:ext cx="1824938" cy="385335"/>
          </a:xfrm>
          <a:prstGeom prst="rect">
            <a:avLst/>
          </a:prstGeom>
          <a:solidFill>
            <a:srgbClr val="FCF9EF"/>
          </a:solidFill>
          <a:ln>
            <a:noFill/>
          </a:ln>
        </p:spPr>
        <p:txBody>
          <a:bodyPr rtlCol="0" anchor="ctr"/>
          <a:lstStyle/>
          <a:p>
            <a:pPr algn="ctr"/>
            <a:r>
              <a:rPr lang="fr-FR" sz="900" dirty="0">
                <a:latin typeface="Jost Light" pitchFamily="2" charset="77"/>
                <a:ea typeface="Jost Light" pitchFamily="2" charset="77"/>
                <a:cs typeface="Jost Light" pitchFamily="2" charset="77"/>
              </a:rPr>
              <a:t>Répliquer son indice de référence</a:t>
            </a:r>
          </a:p>
        </p:txBody>
      </p:sp>
      <p:sp>
        <p:nvSpPr>
          <p:cNvPr id="12" name="Shape 205">
            <a:extLst>
              <a:ext uri="{FF2B5EF4-FFF2-40B4-BE49-F238E27FC236}">
                <a16:creationId xmlns:a16="http://schemas.microsoft.com/office/drawing/2014/main" id="{FBA61846-57CE-D052-5338-80DD6A78327F}"/>
              </a:ext>
            </a:extLst>
          </p:cNvPr>
          <p:cNvSpPr/>
          <p:nvPr/>
        </p:nvSpPr>
        <p:spPr>
          <a:xfrm>
            <a:off x="9779821" y="1904856"/>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Battre son indice de référence</a:t>
            </a:r>
          </a:p>
        </p:txBody>
      </p:sp>
      <p:sp>
        <p:nvSpPr>
          <p:cNvPr id="13" name="Shape 205">
            <a:extLst>
              <a:ext uri="{FF2B5EF4-FFF2-40B4-BE49-F238E27FC236}">
                <a16:creationId xmlns:a16="http://schemas.microsoft.com/office/drawing/2014/main" id="{8004E229-9E11-0FFA-3BF6-38B4B9080B67}"/>
              </a:ext>
            </a:extLst>
          </p:cNvPr>
          <p:cNvSpPr/>
          <p:nvPr/>
        </p:nvSpPr>
        <p:spPr>
          <a:xfrm>
            <a:off x="7902271" y="2333090"/>
            <a:ext cx="1824938" cy="385335"/>
          </a:xfrm>
          <a:prstGeom prst="rect">
            <a:avLst/>
          </a:prstGeom>
          <a:solidFill>
            <a:srgbClr val="FCF9EF"/>
          </a:solidFill>
          <a:ln>
            <a:noFill/>
          </a:ln>
        </p:spPr>
        <p:txBody>
          <a:bodyPr rtlCol="0" anchor="ctr"/>
          <a:lstStyle/>
          <a:p>
            <a:pPr algn="ctr"/>
            <a:r>
              <a:rPr lang="fr-FR" sz="900" dirty="0">
                <a:latin typeface="Jost Light" pitchFamily="2" charset="77"/>
                <a:ea typeface="Jost Light" pitchFamily="2" charset="77"/>
                <a:cs typeface="Jost Light" pitchFamily="2" charset="77"/>
              </a:rPr>
              <a:t>0.2% à 0.6% par an</a:t>
            </a:r>
          </a:p>
        </p:txBody>
      </p:sp>
      <p:sp>
        <p:nvSpPr>
          <p:cNvPr id="14" name="Shape 205">
            <a:extLst>
              <a:ext uri="{FF2B5EF4-FFF2-40B4-BE49-F238E27FC236}">
                <a16:creationId xmlns:a16="http://schemas.microsoft.com/office/drawing/2014/main" id="{D9B1AAD7-B514-8624-7CBE-9604E85ECEB3}"/>
              </a:ext>
            </a:extLst>
          </p:cNvPr>
          <p:cNvSpPr/>
          <p:nvPr/>
        </p:nvSpPr>
        <p:spPr>
          <a:xfrm>
            <a:off x="9777083" y="2333344"/>
            <a:ext cx="1824938" cy="385335"/>
          </a:xfrm>
          <a:prstGeom prst="rect">
            <a:avLst/>
          </a:prstGeom>
          <a:solidFill>
            <a:srgbClr val="FCF9EF"/>
          </a:solidFill>
          <a:ln>
            <a:noFill/>
          </a:ln>
        </p:spPr>
        <p:txBody>
          <a:bodyPr rtlCol="0" anchor="ctr"/>
          <a:lstStyle/>
          <a:p>
            <a:pPr algn="ctr"/>
            <a:r>
              <a:rPr lang="fr-FR" sz="900" dirty="0">
                <a:latin typeface="Jost Light" pitchFamily="2" charset="77"/>
                <a:ea typeface="Jost Light" pitchFamily="2" charset="77"/>
                <a:cs typeface="Jost Light" pitchFamily="2" charset="77"/>
              </a:rPr>
              <a:t>2.2% par an</a:t>
            </a:r>
          </a:p>
        </p:txBody>
      </p:sp>
      <p:sp>
        <p:nvSpPr>
          <p:cNvPr id="16" name="Shape 205">
            <a:extLst>
              <a:ext uri="{FF2B5EF4-FFF2-40B4-BE49-F238E27FC236}">
                <a16:creationId xmlns:a16="http://schemas.microsoft.com/office/drawing/2014/main" id="{DD0CD2BC-5574-2C00-D4D5-C763E7F89E90}"/>
              </a:ext>
            </a:extLst>
          </p:cNvPr>
          <p:cNvSpPr/>
          <p:nvPr/>
        </p:nvSpPr>
        <p:spPr>
          <a:xfrm>
            <a:off x="7902271" y="2761343"/>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Réplication systématique, règles fixes</a:t>
            </a:r>
          </a:p>
        </p:txBody>
      </p:sp>
      <p:sp>
        <p:nvSpPr>
          <p:cNvPr id="17" name="Shape 205">
            <a:extLst>
              <a:ext uri="{FF2B5EF4-FFF2-40B4-BE49-F238E27FC236}">
                <a16:creationId xmlns:a16="http://schemas.microsoft.com/office/drawing/2014/main" id="{FE20BB5D-D474-BF95-3FA0-AB689115B631}"/>
              </a:ext>
            </a:extLst>
          </p:cNvPr>
          <p:cNvSpPr/>
          <p:nvPr/>
        </p:nvSpPr>
        <p:spPr>
          <a:xfrm>
            <a:off x="9777083" y="2761597"/>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Sélection discrétionnaire par un gérant</a:t>
            </a:r>
          </a:p>
        </p:txBody>
      </p:sp>
      <p:sp>
        <p:nvSpPr>
          <p:cNvPr id="19" name="Shape 205">
            <a:extLst>
              <a:ext uri="{FF2B5EF4-FFF2-40B4-BE49-F238E27FC236}">
                <a16:creationId xmlns:a16="http://schemas.microsoft.com/office/drawing/2014/main" id="{BD2C2CB2-7ABF-62F8-E45F-FEA7C9D6F70C}"/>
              </a:ext>
            </a:extLst>
          </p:cNvPr>
          <p:cNvSpPr/>
          <p:nvPr/>
        </p:nvSpPr>
        <p:spPr>
          <a:xfrm>
            <a:off x="7902271" y="3190275"/>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19.2% </a:t>
            </a:r>
            <a:r>
              <a:rPr lang="fr-FR" sz="900" baseline="30000" dirty="0">
                <a:latin typeface="Jost Light" pitchFamily="2" charset="77"/>
                <a:ea typeface="Jost Light" pitchFamily="2" charset="77"/>
                <a:cs typeface="Jost Light" pitchFamily="2" charset="77"/>
              </a:rPr>
              <a:t>(2021 - 2026)</a:t>
            </a:r>
          </a:p>
        </p:txBody>
      </p:sp>
      <p:sp>
        <p:nvSpPr>
          <p:cNvPr id="20" name="Shape 205">
            <a:extLst>
              <a:ext uri="{FF2B5EF4-FFF2-40B4-BE49-F238E27FC236}">
                <a16:creationId xmlns:a16="http://schemas.microsoft.com/office/drawing/2014/main" id="{303C886E-692A-E830-CF74-A0D3E7990812}"/>
              </a:ext>
            </a:extLst>
          </p:cNvPr>
          <p:cNvSpPr/>
          <p:nvPr/>
        </p:nvSpPr>
        <p:spPr>
          <a:xfrm>
            <a:off x="9777083" y="3190529"/>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10.7% </a:t>
            </a:r>
            <a:r>
              <a:rPr lang="fr-FR" sz="900" baseline="30000" dirty="0">
                <a:latin typeface="Jost Light" pitchFamily="2" charset="77"/>
                <a:ea typeface="Jost Light" pitchFamily="2" charset="77"/>
                <a:cs typeface="Jost Light" pitchFamily="2" charset="77"/>
              </a:rPr>
              <a:t>(2021 - 2026)</a:t>
            </a:r>
          </a:p>
        </p:txBody>
      </p:sp>
      <p:sp>
        <p:nvSpPr>
          <p:cNvPr id="22" name="Shape 205">
            <a:extLst>
              <a:ext uri="{FF2B5EF4-FFF2-40B4-BE49-F238E27FC236}">
                <a16:creationId xmlns:a16="http://schemas.microsoft.com/office/drawing/2014/main" id="{86879D44-9D23-4334-1CEF-A028585C73E0}"/>
              </a:ext>
            </a:extLst>
          </p:cNvPr>
          <p:cNvSpPr/>
          <p:nvPr/>
        </p:nvSpPr>
        <p:spPr>
          <a:xfrm>
            <a:off x="7902271" y="3619207"/>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- 33.1%</a:t>
            </a:r>
            <a:endParaRPr lang="fr-FR" sz="900" baseline="30000" dirty="0">
              <a:latin typeface="Jost Light" pitchFamily="2" charset="77"/>
              <a:ea typeface="Jost Light" pitchFamily="2" charset="77"/>
              <a:cs typeface="Jost Light" pitchFamily="2" charset="77"/>
            </a:endParaRPr>
          </a:p>
        </p:txBody>
      </p:sp>
      <p:sp>
        <p:nvSpPr>
          <p:cNvPr id="23" name="Shape 205">
            <a:extLst>
              <a:ext uri="{FF2B5EF4-FFF2-40B4-BE49-F238E27FC236}">
                <a16:creationId xmlns:a16="http://schemas.microsoft.com/office/drawing/2014/main" id="{ACEBACBE-CA13-DF8C-7D06-44360F395C70}"/>
              </a:ext>
            </a:extLst>
          </p:cNvPr>
          <p:cNvSpPr/>
          <p:nvPr/>
        </p:nvSpPr>
        <p:spPr>
          <a:xfrm>
            <a:off x="9777083" y="3619461"/>
            <a:ext cx="1824938" cy="385335"/>
          </a:xfrm>
          <a:prstGeom prst="rect">
            <a:avLst/>
          </a:prstGeom>
          <a:solidFill>
            <a:srgbClr val="FCF9EF"/>
          </a:solidFill>
          <a:ln>
            <a:noFill/>
          </a:ln>
        </p:spPr>
        <p:txBody>
          <a:bodyPr rtlCol="0" anchor="ctr"/>
          <a:lstStyle/>
          <a:p>
            <a:pPr algn="ctr">
              <a:buNone/>
            </a:pPr>
            <a:r>
              <a:rPr lang="fr-FR" sz="900" dirty="0">
                <a:latin typeface="Jost Light" pitchFamily="2" charset="77"/>
                <a:ea typeface="Jost Light" pitchFamily="2" charset="77"/>
                <a:cs typeface="Jost Light" pitchFamily="2" charset="77"/>
              </a:rPr>
              <a:t>- 11.6%</a:t>
            </a:r>
            <a:endParaRPr lang="fr-FR" sz="900" baseline="30000" dirty="0">
              <a:latin typeface="Jost Light" pitchFamily="2" charset="77"/>
              <a:ea typeface="Jost Light" pitchFamily="2" charset="77"/>
              <a:cs typeface="Jost Light" pitchFamily="2" charset="77"/>
            </a:endParaRPr>
          </a:p>
        </p:txBody>
      </p:sp>
      <p:sp>
        <p:nvSpPr>
          <p:cNvPr id="25" name="Shape 205">
            <a:extLst>
              <a:ext uri="{FF2B5EF4-FFF2-40B4-BE49-F238E27FC236}">
                <a16:creationId xmlns:a16="http://schemas.microsoft.com/office/drawing/2014/main" id="{E5C0160D-4083-30FD-37AB-EDDE4E3414F2}"/>
              </a:ext>
            </a:extLst>
          </p:cNvPr>
          <p:cNvSpPr/>
          <p:nvPr/>
        </p:nvSpPr>
        <p:spPr>
          <a:xfrm>
            <a:off x="7902271" y="4050847"/>
            <a:ext cx="1824938" cy="385335"/>
          </a:xfrm>
          <a:prstGeom prst="rect">
            <a:avLst/>
          </a:prstGeom>
          <a:solidFill>
            <a:srgbClr val="AB853F"/>
          </a:solidFill>
          <a:ln>
            <a:noFill/>
          </a:ln>
        </p:spPr>
        <p:txBody>
          <a:bodyPr rtlCol="0" anchor="ctr"/>
          <a:lstStyle/>
          <a:p>
            <a:pPr algn="ctr">
              <a:buNone/>
            </a:pPr>
            <a:r>
              <a:rPr lang="fr-FR" sz="1600" dirty="0">
                <a:solidFill>
                  <a:schemeClr val="bg1"/>
                </a:solidFill>
                <a:latin typeface="Cormorant Garamond Medium" pitchFamily="2" charset="77"/>
                <a:ea typeface="Cormorant Garamond Medium" pitchFamily="2" charset="77"/>
                <a:cs typeface="Cormorant Garamond Medium" pitchFamily="2" charset="77"/>
              </a:rPr>
              <a:t>4.0%</a:t>
            </a:r>
            <a:endParaRPr lang="fr-FR" sz="1600" baseline="30000" dirty="0">
              <a:solidFill>
                <a:schemeClr val="bg1"/>
              </a:solidFill>
              <a:latin typeface="Cormorant Garamond Medium" pitchFamily="2" charset="77"/>
              <a:ea typeface="Cormorant Garamond Medium" pitchFamily="2" charset="77"/>
              <a:cs typeface="Cormorant Garamond Medium" pitchFamily="2" charset="77"/>
            </a:endParaRPr>
          </a:p>
        </p:txBody>
      </p:sp>
      <p:sp>
        <p:nvSpPr>
          <p:cNvPr id="26" name="Shape 205">
            <a:extLst>
              <a:ext uri="{FF2B5EF4-FFF2-40B4-BE49-F238E27FC236}">
                <a16:creationId xmlns:a16="http://schemas.microsoft.com/office/drawing/2014/main" id="{BA33C1D2-1084-7F58-E1C7-E173EDC44379}"/>
              </a:ext>
            </a:extLst>
          </p:cNvPr>
          <p:cNvSpPr/>
          <p:nvPr/>
        </p:nvSpPr>
        <p:spPr>
          <a:xfrm>
            <a:off x="9777083" y="4051101"/>
            <a:ext cx="1824938" cy="385335"/>
          </a:xfrm>
          <a:prstGeom prst="rect">
            <a:avLst/>
          </a:prstGeom>
          <a:solidFill>
            <a:srgbClr val="AB853F"/>
          </a:solidFill>
          <a:ln>
            <a:noFill/>
          </a:ln>
        </p:spPr>
        <p:txBody>
          <a:bodyPr rtlCol="0" anchor="ctr"/>
          <a:lstStyle/>
          <a:p>
            <a:pPr algn="ctr"/>
            <a:r>
              <a:rPr lang="fr-FR" sz="1600" dirty="0">
                <a:solidFill>
                  <a:schemeClr val="bg1"/>
                </a:solidFill>
                <a:latin typeface="Cormorant Garamond Medium" pitchFamily="2" charset="77"/>
                <a:ea typeface="Cormorant Garamond Medium" pitchFamily="2" charset="77"/>
                <a:cs typeface="Cormorant Garamond Medium" pitchFamily="2" charset="77"/>
              </a:rPr>
              <a:t>6.9%</a:t>
            </a:r>
          </a:p>
        </p:txBody>
      </p:sp>
      <p:sp>
        <p:nvSpPr>
          <p:cNvPr id="27" name="Shape 205">
            <a:extLst>
              <a:ext uri="{FF2B5EF4-FFF2-40B4-BE49-F238E27FC236}">
                <a16:creationId xmlns:a16="http://schemas.microsoft.com/office/drawing/2014/main" id="{A12972C3-BE5C-61A0-7323-5B9B9F33F6EA}"/>
              </a:ext>
            </a:extLst>
          </p:cNvPr>
          <p:cNvSpPr/>
          <p:nvPr/>
        </p:nvSpPr>
        <p:spPr>
          <a:xfrm>
            <a:off x="6709328" y="1904856"/>
            <a:ext cx="1157110" cy="385335"/>
          </a:xfrm>
          <a:prstGeom prst="rect">
            <a:avLst/>
          </a:prstGeom>
          <a:solidFill>
            <a:srgbClr val="FCF9EF"/>
          </a:solidFill>
          <a:ln>
            <a:noFill/>
          </a:ln>
        </p:spPr>
        <p:txBody>
          <a:bodyPr rtlCol="0" anchor="ctr"/>
          <a:lstStyle/>
          <a:p>
            <a:r>
              <a:rPr lang="fr-FR" sz="900" dirty="0">
                <a:latin typeface="Jost Medium" pitchFamily="2" charset="77"/>
                <a:ea typeface="Jost Medium" pitchFamily="2" charset="77"/>
                <a:cs typeface="Jost Light" pitchFamily="2" charset="77"/>
              </a:rPr>
              <a:t>Objectif</a:t>
            </a:r>
          </a:p>
        </p:txBody>
      </p:sp>
      <p:sp>
        <p:nvSpPr>
          <p:cNvPr id="28" name="Shape 205">
            <a:extLst>
              <a:ext uri="{FF2B5EF4-FFF2-40B4-BE49-F238E27FC236}">
                <a16:creationId xmlns:a16="http://schemas.microsoft.com/office/drawing/2014/main" id="{E88D4580-39EF-C7F6-FD64-C5EE00AAE09E}"/>
              </a:ext>
            </a:extLst>
          </p:cNvPr>
          <p:cNvSpPr/>
          <p:nvPr/>
        </p:nvSpPr>
        <p:spPr>
          <a:xfrm>
            <a:off x="6695287" y="2327890"/>
            <a:ext cx="1157110" cy="385335"/>
          </a:xfrm>
          <a:prstGeom prst="rect">
            <a:avLst/>
          </a:prstGeom>
          <a:solidFill>
            <a:srgbClr val="FCF9EF"/>
          </a:solidFill>
          <a:ln>
            <a:noFill/>
          </a:ln>
        </p:spPr>
        <p:txBody>
          <a:bodyPr rtlCol="0" anchor="ctr"/>
          <a:lstStyle/>
          <a:p>
            <a:r>
              <a:rPr lang="fr-FR" sz="900" dirty="0">
                <a:latin typeface="Jost Medium" pitchFamily="2" charset="77"/>
                <a:ea typeface="Jost Medium" pitchFamily="2" charset="77"/>
                <a:cs typeface="Jost Light" pitchFamily="2" charset="77"/>
              </a:rPr>
              <a:t>Frais de gestion</a:t>
            </a:r>
          </a:p>
        </p:txBody>
      </p:sp>
      <p:sp>
        <p:nvSpPr>
          <p:cNvPr id="29" name="Shape 205">
            <a:extLst>
              <a:ext uri="{FF2B5EF4-FFF2-40B4-BE49-F238E27FC236}">
                <a16:creationId xmlns:a16="http://schemas.microsoft.com/office/drawing/2014/main" id="{AC6A0A8E-764A-5784-12EB-ED3DFA1A121A}"/>
              </a:ext>
            </a:extLst>
          </p:cNvPr>
          <p:cNvSpPr/>
          <p:nvPr/>
        </p:nvSpPr>
        <p:spPr>
          <a:xfrm>
            <a:off x="6695287" y="2754504"/>
            <a:ext cx="1157110" cy="385335"/>
          </a:xfrm>
          <a:prstGeom prst="rect">
            <a:avLst/>
          </a:prstGeom>
          <a:solidFill>
            <a:srgbClr val="FCF9EF"/>
          </a:solidFill>
          <a:ln>
            <a:noFill/>
          </a:ln>
        </p:spPr>
        <p:txBody>
          <a:bodyPr rtlCol="0" anchor="ctr"/>
          <a:lstStyle/>
          <a:p>
            <a:r>
              <a:rPr lang="fr-FR" sz="900" dirty="0">
                <a:latin typeface="Jost Medium" pitchFamily="2" charset="77"/>
                <a:ea typeface="Jost Medium" pitchFamily="2" charset="77"/>
                <a:cs typeface="Jost Light" pitchFamily="2" charset="77"/>
              </a:rPr>
              <a:t>Méthode</a:t>
            </a:r>
          </a:p>
        </p:txBody>
      </p:sp>
      <p:sp>
        <p:nvSpPr>
          <p:cNvPr id="30" name="Shape 205">
            <a:extLst>
              <a:ext uri="{FF2B5EF4-FFF2-40B4-BE49-F238E27FC236}">
                <a16:creationId xmlns:a16="http://schemas.microsoft.com/office/drawing/2014/main" id="{4DCD5EDD-5C9C-2098-9FCD-9CDCBD46727B}"/>
              </a:ext>
            </a:extLst>
          </p:cNvPr>
          <p:cNvSpPr/>
          <p:nvPr/>
        </p:nvSpPr>
        <p:spPr>
          <a:xfrm>
            <a:off x="6695287" y="3190609"/>
            <a:ext cx="1157110" cy="385335"/>
          </a:xfrm>
          <a:prstGeom prst="rect">
            <a:avLst/>
          </a:prstGeom>
          <a:solidFill>
            <a:srgbClr val="FCF9EF"/>
          </a:solidFill>
          <a:ln>
            <a:noFill/>
          </a:ln>
        </p:spPr>
        <p:txBody>
          <a:bodyPr rtlCol="0" anchor="ctr"/>
          <a:lstStyle/>
          <a:p>
            <a:r>
              <a:rPr lang="fr-FR" sz="900" dirty="0">
                <a:latin typeface="Jost Medium" pitchFamily="2" charset="77"/>
                <a:ea typeface="Jost Medium" pitchFamily="2" charset="77"/>
                <a:cs typeface="Jost Light" pitchFamily="2" charset="77"/>
              </a:rPr>
              <a:t>Volatilité</a:t>
            </a:r>
          </a:p>
        </p:txBody>
      </p:sp>
      <p:sp>
        <p:nvSpPr>
          <p:cNvPr id="31" name="Shape 205">
            <a:extLst>
              <a:ext uri="{FF2B5EF4-FFF2-40B4-BE49-F238E27FC236}">
                <a16:creationId xmlns:a16="http://schemas.microsoft.com/office/drawing/2014/main" id="{3B6EA67B-E9F8-74A3-AB11-737470832729}"/>
              </a:ext>
            </a:extLst>
          </p:cNvPr>
          <p:cNvSpPr/>
          <p:nvPr/>
        </p:nvSpPr>
        <p:spPr>
          <a:xfrm>
            <a:off x="6695287" y="3626714"/>
            <a:ext cx="1157110" cy="385335"/>
          </a:xfrm>
          <a:prstGeom prst="rect">
            <a:avLst/>
          </a:prstGeom>
          <a:solidFill>
            <a:srgbClr val="FCF9EF"/>
          </a:solidFill>
          <a:ln>
            <a:noFill/>
          </a:ln>
        </p:spPr>
        <p:txBody>
          <a:bodyPr rtlCol="0" anchor="ctr"/>
          <a:lstStyle/>
          <a:p>
            <a:r>
              <a:rPr lang="fr-FR" sz="900" dirty="0">
                <a:latin typeface="Jost Medium" pitchFamily="2" charset="77"/>
                <a:ea typeface="Jost Medium" pitchFamily="2" charset="77"/>
                <a:cs typeface="Jost Light" pitchFamily="2" charset="77"/>
              </a:rPr>
              <a:t>Maximum </a:t>
            </a:r>
            <a:r>
              <a:rPr lang="fr-FR" sz="900" dirty="0" err="1">
                <a:latin typeface="Jost Medium" pitchFamily="2" charset="77"/>
                <a:ea typeface="Jost Medium" pitchFamily="2" charset="77"/>
                <a:cs typeface="Jost Light" pitchFamily="2" charset="77"/>
              </a:rPr>
              <a:t>drawdown</a:t>
            </a:r>
            <a:endParaRPr lang="fr-FR" sz="900" dirty="0">
              <a:latin typeface="Jost Medium" pitchFamily="2" charset="77"/>
              <a:ea typeface="Jost Medium" pitchFamily="2" charset="77"/>
              <a:cs typeface="Jost Light" pitchFamily="2" charset="77"/>
            </a:endParaRPr>
          </a:p>
        </p:txBody>
      </p:sp>
      <p:sp>
        <p:nvSpPr>
          <p:cNvPr id="33" name="Shape 205">
            <a:extLst>
              <a:ext uri="{FF2B5EF4-FFF2-40B4-BE49-F238E27FC236}">
                <a16:creationId xmlns:a16="http://schemas.microsoft.com/office/drawing/2014/main" id="{104C71E5-D34C-130F-C836-1E098ABDFC49}"/>
              </a:ext>
            </a:extLst>
          </p:cNvPr>
          <p:cNvSpPr/>
          <p:nvPr/>
        </p:nvSpPr>
        <p:spPr>
          <a:xfrm>
            <a:off x="6713855" y="4050847"/>
            <a:ext cx="1138542" cy="385335"/>
          </a:xfrm>
          <a:prstGeom prst="rect">
            <a:avLst/>
          </a:prstGeom>
          <a:solidFill>
            <a:srgbClr val="AB853F"/>
          </a:solidFill>
          <a:ln>
            <a:noFill/>
          </a:ln>
        </p:spPr>
        <p:txBody>
          <a:bodyPr rtlCol="0" anchor="ctr"/>
          <a:lstStyle/>
          <a:p>
            <a:pPr>
              <a:buNone/>
            </a:pPr>
            <a:r>
              <a:rPr lang="fr-FR" sz="1100" dirty="0">
                <a:solidFill>
                  <a:schemeClr val="bg1"/>
                </a:solidFill>
                <a:latin typeface="Cormorant Garamond Medium" pitchFamily="2" charset="77"/>
                <a:ea typeface="Cormorant Garamond Medium" pitchFamily="2" charset="77"/>
                <a:cs typeface="Cormorant Garamond Medium" pitchFamily="2" charset="77"/>
              </a:rPr>
              <a:t>Perf. Annualisée</a:t>
            </a:r>
          </a:p>
          <a:p>
            <a:pPr>
              <a:buNone/>
            </a:pPr>
            <a:r>
              <a:rPr lang="fr-FR" sz="1400" baseline="30000" dirty="0">
                <a:solidFill>
                  <a:schemeClr val="bg1"/>
                </a:solidFill>
                <a:latin typeface="Cormorant Garamond Medium" pitchFamily="2" charset="77"/>
                <a:ea typeface="Cormorant Garamond Medium" pitchFamily="2" charset="77"/>
                <a:cs typeface="Cormorant Garamond Medium" pitchFamily="2" charset="77"/>
              </a:rPr>
              <a:t>(2021 – 2026)</a:t>
            </a:r>
          </a:p>
        </p:txBody>
      </p:sp>
      <p:sp>
        <p:nvSpPr>
          <p:cNvPr id="34" name="Shape 233">
            <a:extLst>
              <a:ext uri="{FF2B5EF4-FFF2-40B4-BE49-F238E27FC236}">
                <a16:creationId xmlns:a16="http://schemas.microsoft.com/office/drawing/2014/main" id="{26D56CD3-C265-E627-34A3-546AA45AF86F}"/>
              </a:ext>
            </a:extLst>
          </p:cNvPr>
          <p:cNvSpPr/>
          <p:nvPr/>
        </p:nvSpPr>
        <p:spPr>
          <a:xfrm>
            <a:off x="6709328" y="4746875"/>
            <a:ext cx="4892693" cy="1161214"/>
          </a:xfrm>
          <a:prstGeom prst="rect">
            <a:avLst/>
          </a:prstGeom>
          <a:solidFill>
            <a:srgbClr val="E7DCC7"/>
          </a:solidFill>
          <a:ln>
            <a:noFill/>
          </a:ln>
        </p:spPr>
        <p:txBody>
          <a:bodyPr rtlCol="0" anchor="ctr"/>
          <a:lstStyle/>
          <a:p>
            <a:pPr algn="just"/>
            <a:r>
              <a:rPr lang="fr-FR" sz="1000" dirty="0">
                <a:latin typeface="Jost ExtraLight" pitchFamily="2" charset="77"/>
                <a:ea typeface="Jost ExtraLight" pitchFamily="2" charset="77"/>
              </a:rPr>
              <a:t>Comme illustré, Des frais de gestion plus élevés ne constituent pas, en eux-mêmes, un désavantage si la gestion active crée suffisamment de valeur pour les compenser. </a:t>
            </a:r>
          </a:p>
          <a:p>
            <a:pPr algn="ctr"/>
            <a:endParaRPr lang="fr-FR" sz="1000" dirty="0">
              <a:latin typeface="Jost ExtraLight" pitchFamily="2" charset="77"/>
              <a:ea typeface="Jost ExtraLight" pitchFamily="2" charset="77"/>
            </a:endParaRPr>
          </a:p>
          <a:p>
            <a:pPr algn="just"/>
            <a:r>
              <a:rPr lang="fr-FR" sz="1000" dirty="0">
                <a:latin typeface="Jost ExtraLight" pitchFamily="2" charset="77"/>
                <a:ea typeface="Jost ExtraLight" pitchFamily="2" charset="77"/>
              </a:rPr>
              <a:t>Pour l’investisseur, le véritable critère d’appréciation reste la performance nette obtenue, au regard du risque pris et de la capacité du fonds à surperformer durablement son indice de référence.</a:t>
            </a:r>
          </a:p>
        </p:txBody>
      </p:sp>
    </p:spTree>
    <p:extLst>
      <p:ext uri="{BB962C8B-B14F-4D97-AF65-F5344CB8AC3E}">
        <p14:creationId xmlns:p14="http://schemas.microsoft.com/office/powerpoint/2010/main" val="32493915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58D01-4706-079C-4A1F-A5F6E82AD65D}"/>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221A36A6-1B4D-93A9-14A6-B568740D94E2}"/>
              </a:ext>
            </a:extLst>
          </p:cNvPr>
          <p:cNvPicPr>
            <a:picLocks noChangeAspect="1"/>
          </p:cNvPicPr>
          <p:nvPr/>
        </p:nvPicPr>
        <p:blipFill>
          <a:blip r:embed="rId3">
            <a:alphaModFix amt="5000"/>
          </a:blip>
          <a:srcRect l="6207" b="6232"/>
          <a:stretch>
            <a:fillRect/>
          </a:stretch>
        </p:blipFill>
        <p:spPr>
          <a:xfrm>
            <a:off x="1" y="14946"/>
            <a:ext cx="12191999" cy="6859822"/>
          </a:xfrm>
          <a:prstGeom prst="rect">
            <a:avLst/>
          </a:prstGeom>
        </p:spPr>
      </p:pic>
      <p:sp>
        <p:nvSpPr>
          <p:cNvPr id="4" name="Text 9">
            <a:extLst>
              <a:ext uri="{FF2B5EF4-FFF2-40B4-BE49-F238E27FC236}">
                <a16:creationId xmlns:a16="http://schemas.microsoft.com/office/drawing/2014/main" id="{5996BA1D-1115-CEB7-D721-2BD4117184FB}"/>
              </a:ext>
            </a:extLst>
          </p:cNvPr>
          <p:cNvSpPr/>
          <p:nvPr/>
        </p:nvSpPr>
        <p:spPr>
          <a:xfrm>
            <a:off x="947468" y="949911"/>
            <a:ext cx="6379021"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II. Exposition obligataire : construire une poche moins dépendante d’un seul scénario de taux</a:t>
            </a:r>
          </a:p>
        </p:txBody>
      </p:sp>
      <p:sp>
        <p:nvSpPr>
          <p:cNvPr id="5" name="Text 9">
            <a:extLst>
              <a:ext uri="{FF2B5EF4-FFF2-40B4-BE49-F238E27FC236}">
                <a16:creationId xmlns:a16="http://schemas.microsoft.com/office/drawing/2014/main" id="{38547379-CDFA-4572-5E50-6575260D37F2}"/>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a:t>
            </a:r>
          </a:p>
        </p:txBody>
      </p:sp>
      <p:sp>
        <p:nvSpPr>
          <p:cNvPr id="6" name="Rectangle 5">
            <a:extLst>
              <a:ext uri="{FF2B5EF4-FFF2-40B4-BE49-F238E27FC236}">
                <a16:creationId xmlns:a16="http://schemas.microsoft.com/office/drawing/2014/main" id="{1D2E494F-CC2F-7173-4F3C-3766EDF72056}"/>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D77E2C2A-924E-ECB6-3B26-1C2A50FB9729}"/>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8" name="Rectangle : avec coins arrondis en haut 7">
            <a:extLst>
              <a:ext uri="{FF2B5EF4-FFF2-40B4-BE49-F238E27FC236}">
                <a16:creationId xmlns:a16="http://schemas.microsoft.com/office/drawing/2014/main" id="{08AE0E33-9EEF-DF3B-2E32-8075806080A5}"/>
              </a:ext>
            </a:extLst>
          </p:cNvPr>
          <p:cNvSpPr/>
          <p:nvPr/>
        </p:nvSpPr>
        <p:spPr>
          <a:xfrm>
            <a:off x="8312563" y="4028303"/>
            <a:ext cx="3392402" cy="371138"/>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Fonds obligataires alternatifs</a:t>
            </a:r>
          </a:p>
        </p:txBody>
      </p:sp>
      <p:sp>
        <p:nvSpPr>
          <p:cNvPr id="20" name="Rectangle : avec coins arrondis en haut 19">
            <a:extLst>
              <a:ext uri="{FF2B5EF4-FFF2-40B4-BE49-F238E27FC236}">
                <a16:creationId xmlns:a16="http://schemas.microsoft.com/office/drawing/2014/main" id="{C16C306A-2C66-729B-627B-B46D4DC44502}"/>
              </a:ext>
            </a:extLst>
          </p:cNvPr>
          <p:cNvSpPr/>
          <p:nvPr/>
        </p:nvSpPr>
        <p:spPr>
          <a:xfrm>
            <a:off x="8312564" y="1431833"/>
            <a:ext cx="3392401" cy="419339"/>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ETF obligataires</a:t>
            </a:r>
          </a:p>
        </p:txBody>
      </p:sp>
      <p:sp>
        <p:nvSpPr>
          <p:cNvPr id="25" name="Rectangle 24">
            <a:extLst>
              <a:ext uri="{FF2B5EF4-FFF2-40B4-BE49-F238E27FC236}">
                <a16:creationId xmlns:a16="http://schemas.microsoft.com/office/drawing/2014/main" id="{FE873AA7-F21B-E6F9-D86D-1165BEB93412}"/>
              </a:ext>
            </a:extLst>
          </p:cNvPr>
          <p:cNvSpPr/>
          <p:nvPr/>
        </p:nvSpPr>
        <p:spPr>
          <a:xfrm>
            <a:off x="8312563" y="4490765"/>
            <a:ext cx="3392402"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Dépendance moindre à la direction des taux.</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Ajustement dynamique de la duration, du risque de crédit et des expositions.</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Multiplicité des moteurs de performance : arbitrages de courbe, relative value, crédit, portage et stratégies long/short.</a:t>
            </a:r>
          </a:p>
        </p:txBody>
      </p:sp>
      <p:sp>
        <p:nvSpPr>
          <p:cNvPr id="27" name="Rectangle 26">
            <a:extLst>
              <a:ext uri="{FF2B5EF4-FFF2-40B4-BE49-F238E27FC236}">
                <a16:creationId xmlns:a16="http://schemas.microsoft.com/office/drawing/2014/main" id="{3BEB9D8F-BA93-BE54-0EB8-2F79158B8FB0}"/>
              </a:ext>
            </a:extLst>
          </p:cNvPr>
          <p:cNvSpPr/>
          <p:nvPr/>
        </p:nvSpPr>
        <p:spPr>
          <a:xfrm>
            <a:off x="8312564" y="1941115"/>
            <a:ext cx="3392402"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Risque dilué par les différentes expositions.</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Exposition lisible et liquide aux principaux segments du marché obligataire. </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Frais de gestion faibles.</a:t>
            </a:r>
          </a:p>
        </p:txBody>
      </p:sp>
      <p:sp>
        <p:nvSpPr>
          <p:cNvPr id="50" name="ZoneTexte 49">
            <a:extLst>
              <a:ext uri="{FF2B5EF4-FFF2-40B4-BE49-F238E27FC236}">
                <a16:creationId xmlns:a16="http://schemas.microsoft.com/office/drawing/2014/main" id="{A646FBAD-552D-6EBC-A4C2-87882689959A}"/>
              </a:ext>
            </a:extLst>
          </p:cNvPr>
          <p:cNvSpPr txBox="1"/>
          <p:nvPr/>
        </p:nvSpPr>
        <p:spPr>
          <a:xfrm>
            <a:off x="13027231" y="5890161"/>
            <a:ext cx="184731" cy="369332"/>
          </a:xfrm>
          <a:prstGeom prst="rect">
            <a:avLst/>
          </a:prstGeom>
          <a:noFill/>
        </p:spPr>
        <p:txBody>
          <a:bodyPr wrap="none" rtlCol="0">
            <a:spAutoFit/>
          </a:bodyPr>
          <a:lstStyle/>
          <a:p>
            <a:endParaRPr lang="fr-FR"/>
          </a:p>
        </p:txBody>
      </p:sp>
      <p:graphicFrame>
        <p:nvGraphicFramePr>
          <p:cNvPr id="2" name="Chart">
            <a:extLst>
              <a:ext uri="{FF2B5EF4-FFF2-40B4-BE49-F238E27FC236}">
                <a16:creationId xmlns:a16="http://schemas.microsoft.com/office/drawing/2014/main" id="{00000000-0008-0000-0000-000002000000}"/>
              </a:ext>
            </a:extLst>
          </p:cNvPr>
          <p:cNvGraphicFramePr>
            <a:graphicFrameLocks/>
          </p:cNvGraphicFramePr>
          <p:nvPr/>
        </p:nvGraphicFramePr>
        <p:xfrm>
          <a:off x="753763" y="1851172"/>
          <a:ext cx="7255918" cy="4762988"/>
        </p:xfrm>
        <a:graphic>
          <a:graphicData uri="http://schemas.openxmlformats.org/drawingml/2006/chart">
            <c:chart xmlns:c="http://schemas.openxmlformats.org/drawingml/2006/chart" xmlns:r="http://schemas.openxmlformats.org/officeDocument/2006/relationships" r:id="rId5"/>
          </a:graphicData>
        </a:graphic>
      </p:graphicFrame>
      <p:sp>
        <p:nvSpPr>
          <p:cNvPr id="7" name="Case Title 218">
            <a:extLst>
              <a:ext uri="{FF2B5EF4-FFF2-40B4-BE49-F238E27FC236}">
                <a16:creationId xmlns:a16="http://schemas.microsoft.com/office/drawing/2014/main" id="{0FF46632-E05D-FFA5-2BC9-F9BA16320519}"/>
              </a:ext>
            </a:extLst>
          </p:cNvPr>
          <p:cNvSpPr txBox="1"/>
          <p:nvPr/>
        </p:nvSpPr>
        <p:spPr>
          <a:xfrm>
            <a:off x="1554480" y="1609058"/>
            <a:ext cx="6271049" cy="280000"/>
          </a:xfrm>
          <a:prstGeom prst="rect">
            <a:avLst/>
          </a:prstGeom>
          <a:noFill/>
          <a:ln>
            <a:noFill/>
          </a:ln>
        </p:spPr>
        <p:txBody>
          <a:bodyPr wrap="square" lIns="0" tIns="0" rIns="0" bIns="0" rtlCol="0" anchor="t">
            <a:normAutofit/>
          </a:bodyPr>
          <a:lstStyle/>
          <a:p>
            <a:pPr algn="ctr">
              <a:buNone/>
            </a:pPr>
            <a:r>
              <a:rPr lang="fr-FR" sz="1200" b="1" dirty="0">
                <a:latin typeface="Cormorant Garamond SemiBold" pitchFamily="2" charset="77"/>
                <a:ea typeface="Cormorant Garamond SemiBold" pitchFamily="2" charset="77"/>
                <a:cs typeface="Cormorant Garamond SemiBold" pitchFamily="2" charset="77"/>
              </a:rPr>
              <a:t>Rentabilité des fonds et ETF du marché par rapport à leur sensibilité aux taux directeurs</a:t>
            </a:r>
          </a:p>
        </p:txBody>
      </p:sp>
    </p:spTree>
    <p:extLst>
      <p:ext uri="{BB962C8B-B14F-4D97-AF65-F5344CB8AC3E}">
        <p14:creationId xmlns:p14="http://schemas.microsoft.com/office/powerpoint/2010/main" val="2401651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0B01F-058C-CC12-FBDA-BCEC32E8C56A}"/>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E4E5E60F-36A1-3BC9-C681-2B3E49B76872}"/>
              </a:ext>
            </a:extLst>
          </p:cNvPr>
          <p:cNvPicPr>
            <a:picLocks noChangeAspect="1"/>
          </p:cNvPicPr>
          <p:nvPr/>
        </p:nvPicPr>
        <p:blipFill>
          <a:blip r:embed="rId3">
            <a:alphaModFix amt="5000"/>
          </a:blip>
          <a:srcRect l="6207" b="6232"/>
          <a:stretch>
            <a:fillRect/>
          </a:stretch>
        </p:blipFill>
        <p:spPr>
          <a:xfrm>
            <a:off x="0" y="0"/>
            <a:ext cx="12191999" cy="6859822"/>
          </a:xfrm>
          <a:prstGeom prst="rect">
            <a:avLst/>
          </a:prstGeom>
        </p:spPr>
      </p:pic>
      <p:sp>
        <p:nvSpPr>
          <p:cNvPr id="4" name="Text 9">
            <a:extLst>
              <a:ext uri="{FF2B5EF4-FFF2-40B4-BE49-F238E27FC236}">
                <a16:creationId xmlns:a16="http://schemas.microsoft.com/office/drawing/2014/main" id="{FAAA5380-049B-E376-9AFF-509A3EDB182A}"/>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III. Exposition mixte : rechercher des moteurs de performance moins dépendants du bêta</a:t>
            </a:r>
          </a:p>
        </p:txBody>
      </p:sp>
      <p:sp>
        <p:nvSpPr>
          <p:cNvPr id="5" name="Text 9">
            <a:extLst>
              <a:ext uri="{FF2B5EF4-FFF2-40B4-BE49-F238E27FC236}">
                <a16:creationId xmlns:a16="http://schemas.microsoft.com/office/drawing/2014/main" id="{9C763C9D-2598-4330-DC2B-0E5636932C90}"/>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a:t>
            </a:r>
          </a:p>
        </p:txBody>
      </p:sp>
      <p:sp>
        <p:nvSpPr>
          <p:cNvPr id="6" name="Rectangle 5">
            <a:extLst>
              <a:ext uri="{FF2B5EF4-FFF2-40B4-BE49-F238E27FC236}">
                <a16:creationId xmlns:a16="http://schemas.microsoft.com/office/drawing/2014/main" id="{FAB4CCB8-1769-6C0E-3491-9E40A37CB8F9}"/>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75BB8E5A-14F9-1D0E-F401-17722AD05418}"/>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
        <p:nvSpPr>
          <p:cNvPr id="8" name="Rectangle : avec coins arrondis en haut 7">
            <a:extLst>
              <a:ext uri="{FF2B5EF4-FFF2-40B4-BE49-F238E27FC236}">
                <a16:creationId xmlns:a16="http://schemas.microsoft.com/office/drawing/2014/main" id="{322B34F4-0E70-2E36-6816-6C4CF02AB138}"/>
              </a:ext>
            </a:extLst>
          </p:cNvPr>
          <p:cNvSpPr/>
          <p:nvPr/>
        </p:nvSpPr>
        <p:spPr>
          <a:xfrm>
            <a:off x="947468" y="4288657"/>
            <a:ext cx="3305957" cy="371138"/>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Produits structurés</a:t>
            </a:r>
          </a:p>
        </p:txBody>
      </p:sp>
      <p:sp>
        <p:nvSpPr>
          <p:cNvPr id="20" name="Rectangle : avec coins arrondis en haut 19">
            <a:extLst>
              <a:ext uri="{FF2B5EF4-FFF2-40B4-BE49-F238E27FC236}">
                <a16:creationId xmlns:a16="http://schemas.microsoft.com/office/drawing/2014/main" id="{459F2B0A-10CB-7F3D-0201-3789D1715964}"/>
              </a:ext>
            </a:extLst>
          </p:cNvPr>
          <p:cNvSpPr/>
          <p:nvPr/>
        </p:nvSpPr>
        <p:spPr>
          <a:xfrm>
            <a:off x="947469" y="1692187"/>
            <a:ext cx="3305957" cy="419339"/>
          </a:xfrm>
          <a:prstGeom prst="round2SameRect">
            <a:avLst/>
          </a:prstGeom>
          <a:solidFill>
            <a:srgbClr val="001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Fonds de performance absolue</a:t>
            </a:r>
          </a:p>
        </p:txBody>
      </p:sp>
      <p:sp>
        <p:nvSpPr>
          <p:cNvPr id="25" name="Rectangle 24">
            <a:extLst>
              <a:ext uri="{FF2B5EF4-FFF2-40B4-BE49-F238E27FC236}">
                <a16:creationId xmlns:a16="http://schemas.microsoft.com/office/drawing/2014/main" id="{1795C3A7-B11A-2FF2-BEE0-BFA87F9BB260}"/>
              </a:ext>
            </a:extLst>
          </p:cNvPr>
          <p:cNvSpPr/>
          <p:nvPr/>
        </p:nvSpPr>
        <p:spPr>
          <a:xfrm>
            <a:off x="947468" y="4751119"/>
            <a:ext cx="3305957"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Rendement conditionnel prédéfini selon un scénario de marché connu à l’avance.</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Protection partielle ou totale du capital.</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Source de rendement complémentaire, permettant de diversifier les moteurs de performance du portefeuille.</a:t>
            </a:r>
          </a:p>
        </p:txBody>
      </p:sp>
      <p:sp>
        <p:nvSpPr>
          <p:cNvPr id="27" name="Rectangle 26">
            <a:extLst>
              <a:ext uri="{FF2B5EF4-FFF2-40B4-BE49-F238E27FC236}">
                <a16:creationId xmlns:a16="http://schemas.microsoft.com/office/drawing/2014/main" id="{B3E315F3-4180-C129-23D6-A4F251899A09}"/>
              </a:ext>
            </a:extLst>
          </p:cNvPr>
          <p:cNvSpPr/>
          <p:nvPr/>
        </p:nvSpPr>
        <p:spPr>
          <a:xfrm>
            <a:off x="947469" y="2201469"/>
            <a:ext cx="3305958" cy="1682268"/>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rPr>
              <a:t>✓ Performance décorrélée du béta grâce à différentes stratégies (long/short, arbitrages de M&amp;A, quant).</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Volatilité limitée grâce aux outils de couverture.</a:t>
            </a:r>
          </a:p>
          <a:p>
            <a:pPr algn="ctr"/>
            <a:endParaRPr lang="fr-FR" sz="1000" dirty="0">
              <a:solidFill>
                <a:schemeClr val="tx1"/>
              </a:solidFill>
              <a:latin typeface="Jost Medium" pitchFamily="2" charset="77"/>
              <a:ea typeface="Jost Medium" pitchFamily="2" charset="77"/>
            </a:endParaRPr>
          </a:p>
          <a:p>
            <a:pPr algn="ctr"/>
            <a:r>
              <a:rPr lang="fr-FR" sz="1000" dirty="0">
                <a:solidFill>
                  <a:schemeClr val="tx1"/>
                </a:solidFill>
                <a:latin typeface="Jost Medium" pitchFamily="2" charset="77"/>
                <a:ea typeface="Jost Medium" pitchFamily="2" charset="77"/>
              </a:rPr>
              <a:t>✓ Résilience aux crises, </a:t>
            </a:r>
            <a:r>
              <a:rPr lang="fr-FR" sz="1000" dirty="0" err="1">
                <a:solidFill>
                  <a:schemeClr val="tx1"/>
                </a:solidFill>
                <a:latin typeface="Jost Medium" pitchFamily="2" charset="77"/>
                <a:ea typeface="Jost Medium" pitchFamily="2" charset="77"/>
              </a:rPr>
              <a:t>drawdowns</a:t>
            </a:r>
            <a:r>
              <a:rPr lang="fr-FR" sz="1000" dirty="0">
                <a:solidFill>
                  <a:schemeClr val="tx1"/>
                </a:solidFill>
                <a:latin typeface="Jost Medium" pitchFamily="2" charset="77"/>
                <a:ea typeface="Jost Medium" pitchFamily="2" charset="77"/>
              </a:rPr>
              <a:t> faibles.</a:t>
            </a:r>
          </a:p>
        </p:txBody>
      </p:sp>
      <p:graphicFrame>
        <p:nvGraphicFramePr>
          <p:cNvPr id="3" name="Graphique 2">
            <a:extLst>
              <a:ext uri="{FF2B5EF4-FFF2-40B4-BE49-F238E27FC236}">
                <a16:creationId xmlns:a16="http://schemas.microsoft.com/office/drawing/2014/main" id="{93D7BF4E-74B9-C340-6C6D-9251C9BFA9B9}"/>
              </a:ext>
            </a:extLst>
          </p:cNvPr>
          <p:cNvGraphicFramePr>
            <a:graphicFrameLocks/>
          </p:cNvGraphicFramePr>
          <p:nvPr/>
        </p:nvGraphicFramePr>
        <p:xfrm>
          <a:off x="4482027" y="1982579"/>
          <a:ext cx="7481373" cy="3009868"/>
        </p:xfrm>
        <a:graphic>
          <a:graphicData uri="http://schemas.openxmlformats.org/drawingml/2006/chart">
            <c:chart xmlns:c="http://schemas.openxmlformats.org/drawingml/2006/chart" xmlns:r="http://schemas.openxmlformats.org/officeDocument/2006/relationships" r:id="rId5"/>
          </a:graphicData>
        </a:graphic>
      </p:graphicFrame>
      <p:sp>
        <p:nvSpPr>
          <p:cNvPr id="7" name="Case Title 218">
            <a:extLst>
              <a:ext uri="{FF2B5EF4-FFF2-40B4-BE49-F238E27FC236}">
                <a16:creationId xmlns:a16="http://schemas.microsoft.com/office/drawing/2014/main" id="{2E366AD5-7EED-F35E-4B19-7275A5C89C58}"/>
              </a:ext>
            </a:extLst>
          </p:cNvPr>
          <p:cNvSpPr txBox="1"/>
          <p:nvPr/>
        </p:nvSpPr>
        <p:spPr>
          <a:xfrm>
            <a:off x="4973482" y="1702578"/>
            <a:ext cx="6271049" cy="280000"/>
          </a:xfrm>
          <a:prstGeom prst="rect">
            <a:avLst/>
          </a:prstGeom>
          <a:noFill/>
          <a:ln>
            <a:noFill/>
          </a:ln>
        </p:spPr>
        <p:txBody>
          <a:bodyPr wrap="square" lIns="0" tIns="0" rIns="0" bIns="0" rtlCol="0" anchor="t">
            <a:normAutofit/>
          </a:bodyPr>
          <a:lstStyle/>
          <a:p>
            <a:pPr algn="ctr">
              <a:buNone/>
            </a:pPr>
            <a:r>
              <a:rPr lang="fr-FR" sz="1200" b="1" dirty="0">
                <a:latin typeface="Cormorant Garamond SemiBold" pitchFamily="2" charset="77"/>
                <a:ea typeface="Cormorant Garamond SemiBold" pitchFamily="2" charset="77"/>
                <a:cs typeface="Cormorant Garamond SemiBold" pitchFamily="2" charset="77"/>
              </a:rPr>
              <a:t>Impacts des évènements de marché majeurs sur la performance de Hélium Sélection</a:t>
            </a:r>
          </a:p>
        </p:txBody>
      </p:sp>
      <p:sp>
        <p:nvSpPr>
          <p:cNvPr id="31" name="Footnote 235">
            <a:extLst>
              <a:ext uri="{FF2B5EF4-FFF2-40B4-BE49-F238E27FC236}">
                <a16:creationId xmlns:a16="http://schemas.microsoft.com/office/drawing/2014/main" id="{3D0A738F-F754-9E67-FF15-DBD27060B08D}"/>
              </a:ext>
            </a:extLst>
          </p:cNvPr>
          <p:cNvSpPr txBox="1"/>
          <p:nvPr/>
        </p:nvSpPr>
        <p:spPr>
          <a:xfrm>
            <a:off x="947468" y="6560000"/>
            <a:ext cx="10744532" cy="300000"/>
          </a:xfrm>
          <a:prstGeom prst="rect">
            <a:avLst/>
          </a:prstGeom>
          <a:noFill/>
          <a:ln>
            <a:noFill/>
          </a:ln>
        </p:spPr>
        <p:txBody>
          <a:bodyPr wrap="square" lIns="0" tIns="0" rIns="0" bIns="0" rtlCol="0" anchor="t">
            <a:normAutofit/>
          </a:bodyPr>
          <a:lstStyle/>
          <a:p>
            <a:pPr algn="ctr">
              <a:buNone/>
            </a:pPr>
            <a:r>
              <a:rPr lang="fr-FR" sz="700" i="1" dirty="0" err="1">
                <a:solidFill>
                  <a:srgbClr val="6B6B6B"/>
                </a:solidFill>
                <a:latin typeface="Jost Light" pitchFamily="2" charset="77"/>
                <a:ea typeface="Jost Light" pitchFamily="2" charset="77"/>
                <a:cs typeface="Jost Light" pitchFamily="2" charset="77"/>
              </a:rPr>
              <a:t>Syquant</a:t>
            </a:r>
            <a:r>
              <a:rPr lang="fr-FR" sz="700" i="1" dirty="0">
                <a:solidFill>
                  <a:srgbClr val="6B6B6B"/>
                </a:solidFill>
                <a:latin typeface="Jost Light" pitchFamily="2" charset="77"/>
                <a:ea typeface="Jost Light" pitchFamily="2" charset="77"/>
                <a:cs typeface="Jost Light" pitchFamily="2" charset="77"/>
              </a:rPr>
              <a:t> Capital, MSCI. Performances en base 100, dividendes réinvestis. Données au 31/08/2026. Les performances passées ne préjugent pas des performances futures.</a:t>
            </a:r>
          </a:p>
        </p:txBody>
      </p:sp>
      <p:pic>
        <p:nvPicPr>
          <p:cNvPr id="32" name="Image 31">
            <a:extLst>
              <a:ext uri="{FF2B5EF4-FFF2-40B4-BE49-F238E27FC236}">
                <a16:creationId xmlns:a16="http://schemas.microsoft.com/office/drawing/2014/main" id="{4EFF1E49-CA83-D49A-BAE7-98A453CCDE43}"/>
              </a:ext>
            </a:extLst>
          </p:cNvPr>
          <p:cNvPicPr>
            <a:picLocks noChangeAspect="1"/>
          </p:cNvPicPr>
          <p:nvPr/>
        </p:nvPicPr>
        <p:blipFill>
          <a:blip r:embed="rId6"/>
          <a:srcRect l="7010" t="4756" r="-1"/>
          <a:stretch>
            <a:fillRect/>
          </a:stretch>
        </p:blipFill>
        <p:spPr>
          <a:xfrm>
            <a:off x="4619625" y="4950186"/>
            <a:ext cx="7440940" cy="1669223"/>
          </a:xfrm>
          <a:prstGeom prst="rect">
            <a:avLst/>
          </a:prstGeom>
        </p:spPr>
      </p:pic>
    </p:spTree>
    <p:extLst>
      <p:ext uri="{BB962C8B-B14F-4D97-AF65-F5344CB8AC3E}">
        <p14:creationId xmlns:p14="http://schemas.microsoft.com/office/powerpoint/2010/main" val="4135407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62DBE-65A6-32D9-47A9-16D813C26DE7}"/>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8C44076C-5B55-DC7E-7A82-B9950F962B9A}"/>
              </a:ext>
            </a:extLst>
          </p:cNvPr>
          <p:cNvPicPr>
            <a:picLocks noChangeAspect="1"/>
          </p:cNvPicPr>
          <p:nvPr/>
        </p:nvPicPr>
        <p:blipFill>
          <a:blip r:embed="rId3">
            <a:alphaModFix amt="5000"/>
          </a:blip>
          <a:srcRect l="6207" b="6232"/>
          <a:stretch>
            <a:fillRect/>
          </a:stretch>
        </p:blipFill>
        <p:spPr>
          <a:xfrm>
            <a:off x="0" y="0"/>
            <a:ext cx="12191999" cy="6859822"/>
          </a:xfrm>
          <a:prstGeom prst="rect">
            <a:avLst/>
          </a:prstGeom>
        </p:spPr>
      </p:pic>
      <p:sp>
        <p:nvSpPr>
          <p:cNvPr id="4" name="Text 9">
            <a:extLst>
              <a:ext uri="{FF2B5EF4-FFF2-40B4-BE49-F238E27FC236}">
                <a16:creationId xmlns:a16="http://schemas.microsoft.com/office/drawing/2014/main" id="{966F3F86-414A-F17F-28E3-ACC741756459}"/>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III. Exposition mixte : focus produits structurés</a:t>
            </a:r>
          </a:p>
        </p:txBody>
      </p:sp>
      <p:sp>
        <p:nvSpPr>
          <p:cNvPr id="5" name="Text 9">
            <a:extLst>
              <a:ext uri="{FF2B5EF4-FFF2-40B4-BE49-F238E27FC236}">
                <a16:creationId xmlns:a16="http://schemas.microsoft.com/office/drawing/2014/main" id="{07293104-99BA-14F9-71F7-04792CC91A8E}"/>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a:t>
            </a:r>
          </a:p>
        </p:txBody>
      </p:sp>
      <p:sp>
        <p:nvSpPr>
          <p:cNvPr id="6" name="Rectangle 5">
            <a:extLst>
              <a:ext uri="{FF2B5EF4-FFF2-40B4-BE49-F238E27FC236}">
                <a16:creationId xmlns:a16="http://schemas.microsoft.com/office/drawing/2014/main" id="{BBB655EF-AFA2-0A39-1E79-4A16DFFF43DE}"/>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DEC9CCE4-5B11-0BA8-E226-C7C7B721DBE6}"/>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pic>
        <p:nvPicPr>
          <p:cNvPr id="11" name="Image 10">
            <a:extLst>
              <a:ext uri="{FF2B5EF4-FFF2-40B4-BE49-F238E27FC236}">
                <a16:creationId xmlns:a16="http://schemas.microsoft.com/office/drawing/2014/main" id="{3AA05D1C-086C-27BC-214A-A1B20BDB130F}"/>
              </a:ext>
            </a:extLst>
          </p:cNvPr>
          <p:cNvPicPr>
            <a:picLocks noChangeAspect="1"/>
          </p:cNvPicPr>
          <p:nvPr/>
        </p:nvPicPr>
        <p:blipFill>
          <a:blip r:embed="rId5"/>
          <a:srcRect l="899" r="434" b="1065"/>
          <a:stretch>
            <a:fillRect/>
          </a:stretch>
        </p:blipFill>
        <p:spPr>
          <a:xfrm>
            <a:off x="1197179" y="1321049"/>
            <a:ext cx="10351094" cy="5234399"/>
          </a:xfrm>
          <a:prstGeom prst="rect">
            <a:avLst/>
          </a:prstGeom>
        </p:spPr>
      </p:pic>
    </p:spTree>
    <p:extLst>
      <p:ext uri="{BB962C8B-B14F-4D97-AF65-F5344CB8AC3E}">
        <p14:creationId xmlns:p14="http://schemas.microsoft.com/office/powerpoint/2010/main" val="16068001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2A85E-661E-C224-C088-51BAAD3F87B9}"/>
            </a:ext>
          </a:extLst>
        </p:cNvPr>
        <p:cNvGrpSpPr/>
        <p:nvPr/>
      </p:nvGrpSpPr>
      <p:grpSpPr>
        <a:xfrm>
          <a:off x="0" y="0"/>
          <a:ext cx="0" cy="0"/>
          <a:chOff x="0" y="0"/>
          <a:chExt cx="0" cy="0"/>
        </a:xfrm>
      </p:grpSpPr>
      <p:sp>
        <p:nvSpPr>
          <p:cNvPr id="4" name="Text 9">
            <a:extLst>
              <a:ext uri="{FF2B5EF4-FFF2-40B4-BE49-F238E27FC236}">
                <a16:creationId xmlns:a16="http://schemas.microsoft.com/office/drawing/2014/main" id="{2D446668-082F-F7BE-8A43-E012B616B83B}"/>
              </a:ext>
            </a:extLst>
          </p:cNvPr>
          <p:cNvSpPr/>
          <p:nvPr/>
        </p:nvSpPr>
        <p:spPr>
          <a:xfrm>
            <a:off x="947468" y="949911"/>
            <a:ext cx="6164532"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Différentes stratégies pour diluer le risque</a:t>
            </a:r>
          </a:p>
        </p:txBody>
      </p:sp>
      <p:sp>
        <p:nvSpPr>
          <p:cNvPr id="5" name="Text 9">
            <a:extLst>
              <a:ext uri="{FF2B5EF4-FFF2-40B4-BE49-F238E27FC236}">
                <a16:creationId xmlns:a16="http://schemas.microsoft.com/office/drawing/2014/main" id="{4C260DF5-3B50-E119-A22D-2A5D8E801B32}"/>
              </a:ext>
            </a:extLst>
          </p:cNvPr>
          <p:cNvSpPr/>
          <p:nvPr/>
        </p:nvSpPr>
        <p:spPr>
          <a:xfrm>
            <a:off x="947468" y="578773"/>
            <a:ext cx="6849646"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Construction de l’allocation – Profil Opportuniste (Luxembourg)</a:t>
            </a:r>
          </a:p>
        </p:txBody>
      </p:sp>
      <p:sp>
        <p:nvSpPr>
          <p:cNvPr id="6" name="Rectangle 5">
            <a:extLst>
              <a:ext uri="{FF2B5EF4-FFF2-40B4-BE49-F238E27FC236}">
                <a16:creationId xmlns:a16="http://schemas.microsoft.com/office/drawing/2014/main" id="{1AF434D2-793C-7CD8-9A76-2E034BD5EF73}"/>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3B7990C8-89D3-C477-C02F-3C3D3DD4F66C}"/>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graphicFrame>
        <p:nvGraphicFramePr>
          <p:cNvPr id="2" name="Objet 1">
            <a:extLst>
              <a:ext uri="{FF2B5EF4-FFF2-40B4-BE49-F238E27FC236}">
                <a16:creationId xmlns:a16="http://schemas.microsoft.com/office/drawing/2014/main" id="{4CC3B659-8818-5F1D-9DAA-31E2A78411C6}"/>
              </a:ext>
            </a:extLst>
          </p:cNvPr>
          <p:cNvGraphicFramePr>
            <a:graphicFrameLocks noChangeAspect="1"/>
          </p:cNvGraphicFramePr>
          <p:nvPr/>
        </p:nvGraphicFramePr>
        <p:xfrm>
          <a:off x="947468" y="1410274"/>
          <a:ext cx="10851064" cy="5073249"/>
        </p:xfrm>
        <a:graphic>
          <a:graphicData uri="http://schemas.openxmlformats.org/presentationml/2006/ole">
            <mc:AlternateContent xmlns:mc="http://schemas.openxmlformats.org/markup-compatibility/2006">
              <mc:Choice xmlns:v="urn:schemas-microsoft-com:vml" Requires="v">
                <p:oleObj name="Feuille de calcul" r:id="rId4" imgW="17056100" imgH="7975600" progId="Excel.Sheet.12">
                  <p:embed/>
                </p:oleObj>
              </mc:Choice>
              <mc:Fallback>
                <p:oleObj name="Feuille de calcul" r:id="rId4" imgW="17056100" imgH="7975600" progId="Excel.Sheet.12">
                  <p:embed/>
                  <p:pic>
                    <p:nvPicPr>
                      <p:cNvPr id="2" name="Objet 1">
                        <a:extLst>
                          <a:ext uri="{FF2B5EF4-FFF2-40B4-BE49-F238E27FC236}">
                            <a16:creationId xmlns:a16="http://schemas.microsoft.com/office/drawing/2014/main" id="{4CC3B659-8818-5F1D-9DAA-31E2A78411C6}"/>
                          </a:ext>
                        </a:extLst>
                      </p:cNvPr>
                      <p:cNvPicPr/>
                      <p:nvPr/>
                    </p:nvPicPr>
                    <p:blipFill>
                      <a:blip r:embed="rId5"/>
                      <a:stretch>
                        <a:fillRect/>
                      </a:stretch>
                    </p:blipFill>
                    <p:spPr>
                      <a:xfrm>
                        <a:off x="947468" y="1410274"/>
                        <a:ext cx="10851064" cy="5073249"/>
                      </a:xfrm>
                      <a:prstGeom prst="rect">
                        <a:avLst/>
                      </a:prstGeom>
                    </p:spPr>
                  </p:pic>
                </p:oleObj>
              </mc:Fallback>
            </mc:AlternateContent>
          </a:graphicData>
        </a:graphic>
      </p:graphicFrame>
    </p:spTree>
    <p:extLst>
      <p:ext uri="{BB962C8B-B14F-4D97-AF65-F5344CB8AC3E}">
        <p14:creationId xmlns:p14="http://schemas.microsoft.com/office/powerpoint/2010/main" val="9992733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20178"/>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Le PACS organise la vie à deux, pas </a:t>
            </a:r>
            <a:r>
              <a:rPr lang="fr-FR" sz="1200">
                <a:solidFill>
                  <a:srgbClr val="073527"/>
                </a:solidFill>
                <a:latin typeface="Jost Medium" pitchFamily="2" charset="77"/>
                <a:ea typeface="Jost Medium" pitchFamily="2" charset="77"/>
                <a:cs typeface="Futura Medium" panose="020B0602020204020303" pitchFamily="34" charset="-79"/>
              </a:rPr>
              <a:t>la succession</a:t>
            </a:r>
            <a:endParaRPr lang="fr-FR" sz="1200" dirty="0">
              <a:solidFill>
                <a:srgbClr val="073527"/>
              </a:solidFill>
              <a:latin typeface="Jost Medium" pitchFamily="2" charset="77"/>
              <a:ea typeface="Jost Medium" pitchFamily="2" charset="77"/>
              <a:cs typeface="Futura Medium" panose="020B0602020204020303" pitchFamily="34" charset="-79"/>
            </a:endParaRP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Protéger son partenaire de PACS</a:t>
            </a:r>
          </a:p>
        </p:txBody>
      </p:sp>
      <p:sp>
        <p:nvSpPr>
          <p:cNvPr id="33002" name="Shape 33002"/>
          <p:cNvSpPr/>
          <p:nvPr/>
        </p:nvSpPr>
        <p:spPr>
          <a:xfrm>
            <a:off x="8792000" y="1780000"/>
            <a:ext cx="2900000" cy="4640000"/>
          </a:xfrm>
          <a:prstGeom prst="rect">
            <a:avLst/>
          </a:prstGeom>
          <a:solidFill>
            <a:srgbClr val="001B00"/>
          </a:solidFill>
          <a:ln>
            <a:noFill/>
          </a:ln>
        </p:spPr>
        <p:txBody>
          <a:bodyPr rtlCol="0" anchor="ctr"/>
          <a:lstStyle/>
          <a:p>
            <a:endParaRPr lang="fr-FR"/>
          </a:p>
        </p:txBody>
      </p:sp>
      <p:sp>
        <p:nvSpPr>
          <p:cNvPr id="33003" name="Text 33003"/>
          <p:cNvSpPr txBox="1"/>
          <p:nvPr/>
        </p:nvSpPr>
        <p:spPr>
          <a:xfrm>
            <a:off x="9072000" y="2080000"/>
            <a:ext cx="2340000" cy="300000"/>
          </a:xfrm>
          <a:prstGeom prst="rect">
            <a:avLst/>
          </a:prstGeom>
          <a:noFill/>
          <a:ln>
            <a:noFill/>
          </a:ln>
        </p:spPr>
        <p:txBody>
          <a:bodyPr wrap="square" lIns="0" tIns="0" rIns="0" bIns="0" rtlCol="0" anchor="t">
            <a:normAutofit/>
          </a:bodyPr>
          <a:lstStyle/>
          <a:p>
            <a:pPr algn="l">
              <a:buNone/>
            </a:pPr>
            <a:r>
              <a:rPr lang="fr-FR" sz="850" dirty="0">
                <a:solidFill>
                  <a:srgbClr val="A9853F"/>
                </a:solidFill>
                <a:latin typeface="Jost Medium" pitchFamily="2" charset="77"/>
                <a:ea typeface="Jost Medium" pitchFamily="2" charset="77"/>
                <a:cs typeface="Jost Medium" pitchFamily="2" charset="77"/>
              </a:rPr>
              <a:t>LES REPÈRES</a:t>
            </a:r>
          </a:p>
        </p:txBody>
      </p:sp>
      <p:sp>
        <p:nvSpPr>
          <p:cNvPr id="33004" name="Text 33004"/>
          <p:cNvSpPr txBox="1"/>
          <p:nvPr/>
        </p:nvSpPr>
        <p:spPr>
          <a:xfrm>
            <a:off x="9072000" y="2530000"/>
            <a:ext cx="2340000" cy="480000"/>
          </a:xfrm>
          <a:prstGeom prst="rect">
            <a:avLst/>
          </a:prstGeom>
          <a:noFill/>
          <a:ln>
            <a:noFill/>
          </a:ln>
        </p:spPr>
        <p:txBody>
          <a:bodyPr wrap="square" lIns="0" tIns="0" rIns="0" bIns="0" rtlCol="0" anchor="ctr">
            <a:normAutofit/>
          </a:bodyPr>
          <a:lstStyle/>
          <a:p>
            <a:pPr algn="l">
              <a:buNone/>
            </a:pPr>
            <a:r>
              <a:rPr lang="fr-FR" sz="2400" b="1" dirty="0">
                <a:solidFill>
                  <a:srgbClr val="FFFFFF"/>
                </a:solidFill>
                <a:latin typeface="Cormorant Garamond SemiBold" pitchFamily="2" charset="77"/>
                <a:ea typeface="Cormorant Garamond SemiBold" pitchFamily="2" charset="77"/>
                <a:cs typeface="Cormorant Garamond SemiBold" pitchFamily="2" charset="77"/>
              </a:rPr>
              <a:t>0 </a:t>
            </a:r>
            <a:r>
              <a:rPr lang="fr-FR" b="1" dirty="0">
                <a:solidFill>
                  <a:srgbClr val="FFFFFF"/>
                </a:solidFill>
                <a:latin typeface="Cormorant Garamond SemiBold" pitchFamily="2" charset="77"/>
                <a:ea typeface="Cormorant Garamond SemiBold" pitchFamily="2" charset="77"/>
                <a:cs typeface="Cormorant Garamond SemiBold" pitchFamily="2" charset="77"/>
              </a:rPr>
              <a:t>EUR</a:t>
            </a:r>
            <a:endParaRPr lang="fr-FR" sz="2400" b="1" dirty="0">
              <a:solidFill>
                <a:srgbClr val="FFFFFF"/>
              </a:solidFill>
              <a:latin typeface="Cormorant Garamond SemiBold" pitchFamily="2" charset="77"/>
              <a:ea typeface="Cormorant Garamond SemiBold" pitchFamily="2" charset="77"/>
              <a:cs typeface="Cormorant Garamond SemiBold" pitchFamily="2" charset="77"/>
            </a:endParaRPr>
          </a:p>
        </p:txBody>
      </p:sp>
      <p:sp>
        <p:nvSpPr>
          <p:cNvPr id="33005" name="Text 33005"/>
          <p:cNvSpPr txBox="1"/>
          <p:nvPr/>
        </p:nvSpPr>
        <p:spPr>
          <a:xfrm>
            <a:off x="9072000" y="3030000"/>
            <a:ext cx="2340000" cy="600000"/>
          </a:xfrm>
          <a:prstGeom prst="rect">
            <a:avLst/>
          </a:prstGeom>
          <a:noFill/>
          <a:ln>
            <a:noFill/>
          </a:ln>
        </p:spPr>
        <p:txBody>
          <a:bodyPr wrap="square" lIns="0" tIns="0" rIns="0" bIns="0" rtlCol="0" anchor="t">
            <a:normAutofit/>
          </a:bodyPr>
          <a:lstStyle/>
          <a:p>
            <a:pPr algn="l">
              <a:buNone/>
            </a:pPr>
            <a:r>
              <a:rPr lang="fr-FR" sz="950" dirty="0">
                <a:solidFill>
                  <a:srgbClr val="A9853F"/>
                </a:solidFill>
                <a:latin typeface="Jost Light" pitchFamily="2" charset="77"/>
                <a:ea typeface="Jost Light" pitchFamily="2" charset="77"/>
                <a:cs typeface="Jost Light" pitchFamily="2" charset="77"/>
              </a:rPr>
              <a:t>de droits de succession pour le partenaire qui hérite par testament.</a:t>
            </a:r>
          </a:p>
        </p:txBody>
      </p:sp>
      <p:sp>
        <p:nvSpPr>
          <p:cNvPr id="33006" name="Shape 33006"/>
          <p:cNvSpPr/>
          <p:nvPr/>
        </p:nvSpPr>
        <p:spPr>
          <a:xfrm>
            <a:off x="9072000" y="3563333"/>
            <a:ext cx="2340000" cy="1"/>
          </a:xfrm>
          <a:prstGeom prst="line">
            <a:avLst/>
          </a:prstGeom>
          <a:noFill/>
          <a:ln w="6350">
            <a:solidFill>
              <a:srgbClr val="3A5347"/>
            </a:solidFill>
          </a:ln>
        </p:spPr>
        <p:txBody>
          <a:bodyPr rtlCol="0" anchor="ctr"/>
          <a:lstStyle/>
          <a:p>
            <a:endParaRPr lang="fr-FR"/>
          </a:p>
        </p:txBody>
      </p:sp>
      <p:sp>
        <p:nvSpPr>
          <p:cNvPr id="33007" name="Text 33007"/>
          <p:cNvSpPr txBox="1"/>
          <p:nvPr/>
        </p:nvSpPr>
        <p:spPr>
          <a:xfrm>
            <a:off x="9072000" y="3743333"/>
            <a:ext cx="2340000" cy="480000"/>
          </a:xfrm>
          <a:prstGeom prst="rect">
            <a:avLst/>
          </a:prstGeom>
          <a:noFill/>
          <a:ln>
            <a:noFill/>
          </a:ln>
        </p:spPr>
        <p:txBody>
          <a:bodyPr wrap="square" lIns="0" tIns="0" rIns="0" bIns="0" rtlCol="0" anchor="ctr">
            <a:normAutofit/>
          </a:bodyPr>
          <a:lstStyle/>
          <a:p>
            <a:pPr algn="l">
              <a:buNone/>
            </a:pPr>
            <a:r>
              <a:rPr lang="fr-FR" sz="2400" b="1" dirty="0">
                <a:solidFill>
                  <a:srgbClr val="FFFFFF"/>
                </a:solidFill>
                <a:latin typeface="Cormorant Garamond SemiBold" pitchFamily="2" charset="77"/>
                <a:ea typeface="Cormorant Garamond SemiBold" pitchFamily="2" charset="77"/>
                <a:cs typeface="Cormorant Garamond SemiBold" pitchFamily="2" charset="77"/>
              </a:rPr>
              <a:t>1 an</a:t>
            </a:r>
          </a:p>
        </p:txBody>
      </p:sp>
      <p:sp>
        <p:nvSpPr>
          <p:cNvPr id="33008" name="Text 33008"/>
          <p:cNvSpPr txBox="1"/>
          <p:nvPr/>
        </p:nvSpPr>
        <p:spPr>
          <a:xfrm>
            <a:off x="9072000" y="4243333"/>
            <a:ext cx="2340000" cy="600000"/>
          </a:xfrm>
          <a:prstGeom prst="rect">
            <a:avLst/>
          </a:prstGeom>
          <a:noFill/>
          <a:ln>
            <a:noFill/>
          </a:ln>
        </p:spPr>
        <p:txBody>
          <a:bodyPr wrap="square" lIns="0" tIns="0" rIns="0" bIns="0" rtlCol="0" anchor="t">
            <a:normAutofit/>
          </a:bodyPr>
          <a:lstStyle/>
          <a:p>
            <a:pPr algn="l">
              <a:buNone/>
            </a:pPr>
            <a:r>
              <a:rPr lang="fr-FR" sz="950" dirty="0">
                <a:solidFill>
                  <a:srgbClr val="A9853F"/>
                </a:solidFill>
                <a:latin typeface="Jost Light" pitchFamily="2" charset="77"/>
                <a:ea typeface="Jost Light" pitchFamily="2" charset="77"/>
                <a:cs typeface="Jost Light" pitchFamily="2" charset="77"/>
              </a:rPr>
              <a:t>de droit d’occupation du logement, et rien au-delà sans disposition.</a:t>
            </a:r>
          </a:p>
        </p:txBody>
      </p:sp>
      <p:sp>
        <p:nvSpPr>
          <p:cNvPr id="33009" name="Shape 33009"/>
          <p:cNvSpPr/>
          <p:nvPr/>
        </p:nvSpPr>
        <p:spPr>
          <a:xfrm>
            <a:off x="9072000" y="4776666"/>
            <a:ext cx="2340000" cy="1"/>
          </a:xfrm>
          <a:prstGeom prst="line">
            <a:avLst/>
          </a:prstGeom>
          <a:noFill/>
          <a:ln w="6350">
            <a:solidFill>
              <a:srgbClr val="3A5347"/>
            </a:solidFill>
          </a:ln>
        </p:spPr>
        <p:txBody>
          <a:bodyPr rtlCol="0" anchor="ctr"/>
          <a:lstStyle/>
          <a:p>
            <a:endParaRPr lang="fr-FR"/>
          </a:p>
        </p:txBody>
      </p:sp>
      <p:sp>
        <p:nvSpPr>
          <p:cNvPr id="33010" name="Text 33010"/>
          <p:cNvSpPr txBox="1"/>
          <p:nvPr/>
        </p:nvSpPr>
        <p:spPr>
          <a:xfrm>
            <a:off x="9072000" y="4956666"/>
            <a:ext cx="2340000" cy="480000"/>
          </a:xfrm>
          <a:prstGeom prst="rect">
            <a:avLst/>
          </a:prstGeom>
          <a:noFill/>
          <a:ln>
            <a:noFill/>
          </a:ln>
        </p:spPr>
        <p:txBody>
          <a:bodyPr wrap="square" lIns="0" tIns="0" rIns="0" bIns="0" rtlCol="0" anchor="ctr">
            <a:normAutofit/>
          </a:bodyPr>
          <a:lstStyle/>
          <a:p>
            <a:pPr algn="l">
              <a:buNone/>
            </a:pPr>
            <a:r>
              <a:rPr lang="fr-FR" sz="2400" b="1" dirty="0">
                <a:solidFill>
                  <a:srgbClr val="FFFFFF"/>
                </a:solidFill>
                <a:latin typeface="Cormorant Garamond SemiBold" pitchFamily="2" charset="77"/>
                <a:ea typeface="Cormorant Garamond SemiBold" pitchFamily="2" charset="77"/>
                <a:cs typeface="Cormorant Garamond SemiBold" pitchFamily="2" charset="77"/>
              </a:rPr>
              <a:t>80 724 </a:t>
            </a:r>
            <a:r>
              <a:rPr lang="fr-FR" b="1" dirty="0">
                <a:solidFill>
                  <a:srgbClr val="FFFFFF"/>
                </a:solidFill>
                <a:latin typeface="Cormorant Garamond SemiBold" pitchFamily="2" charset="77"/>
                <a:ea typeface="Cormorant Garamond SemiBold" pitchFamily="2" charset="77"/>
                <a:cs typeface="Cormorant Garamond SemiBold" pitchFamily="2" charset="77"/>
              </a:rPr>
              <a:t>EUR</a:t>
            </a:r>
            <a:endParaRPr lang="fr-FR" sz="2400" b="1" dirty="0">
              <a:solidFill>
                <a:srgbClr val="FFFFFF"/>
              </a:solidFill>
              <a:latin typeface="Cormorant Garamond SemiBold" pitchFamily="2" charset="77"/>
              <a:ea typeface="Cormorant Garamond SemiBold" pitchFamily="2" charset="77"/>
              <a:cs typeface="Cormorant Garamond SemiBold" pitchFamily="2" charset="77"/>
            </a:endParaRPr>
          </a:p>
        </p:txBody>
      </p:sp>
      <p:sp>
        <p:nvSpPr>
          <p:cNvPr id="33011" name="Text 33011"/>
          <p:cNvSpPr txBox="1"/>
          <p:nvPr/>
        </p:nvSpPr>
        <p:spPr>
          <a:xfrm>
            <a:off x="9072000" y="5456666"/>
            <a:ext cx="2340000" cy="600000"/>
          </a:xfrm>
          <a:prstGeom prst="rect">
            <a:avLst/>
          </a:prstGeom>
          <a:noFill/>
          <a:ln>
            <a:noFill/>
          </a:ln>
        </p:spPr>
        <p:txBody>
          <a:bodyPr wrap="square" lIns="0" tIns="0" rIns="0" bIns="0" rtlCol="0" anchor="t">
            <a:normAutofit/>
          </a:bodyPr>
          <a:lstStyle/>
          <a:p>
            <a:pPr algn="l">
              <a:buNone/>
            </a:pPr>
            <a:r>
              <a:rPr lang="fr-FR" sz="950" dirty="0">
                <a:solidFill>
                  <a:srgbClr val="A9853F"/>
                </a:solidFill>
                <a:latin typeface="Jost Light" pitchFamily="2" charset="77"/>
                <a:ea typeface="Jost Light" pitchFamily="2" charset="77"/>
                <a:cs typeface="Jost Light" pitchFamily="2" charset="77"/>
              </a:rPr>
              <a:t>d’abattement sur les donations entre partenaires, tous les 15 ans.</a:t>
            </a:r>
          </a:p>
        </p:txBody>
      </p:sp>
      <p:sp>
        <p:nvSpPr>
          <p:cNvPr id="33012" name="Shape 33012"/>
          <p:cNvSpPr/>
          <p:nvPr/>
        </p:nvSpPr>
        <p:spPr>
          <a:xfrm>
            <a:off x="947468" y="1840000"/>
            <a:ext cx="60000" cy="1096666"/>
          </a:xfrm>
          <a:prstGeom prst="rect">
            <a:avLst/>
          </a:prstGeom>
          <a:solidFill>
            <a:srgbClr val="A9853F"/>
          </a:solidFill>
          <a:ln>
            <a:noFill/>
          </a:ln>
        </p:spPr>
        <p:txBody>
          <a:bodyPr rtlCol="0" anchor="ctr"/>
          <a:lstStyle/>
          <a:p>
            <a:endParaRPr lang="fr-FR"/>
          </a:p>
        </p:txBody>
      </p:sp>
      <p:sp>
        <p:nvSpPr>
          <p:cNvPr id="33013" name="Text 33013"/>
          <p:cNvSpPr txBox="1"/>
          <p:nvPr/>
        </p:nvSpPr>
        <p:spPr>
          <a:xfrm>
            <a:off x="1247468" y="1780000"/>
            <a:ext cx="7224532" cy="520000"/>
          </a:xfrm>
          <a:prstGeom prst="rect">
            <a:avLst/>
          </a:prstGeom>
          <a:noFill/>
          <a:ln>
            <a:noFill/>
          </a:ln>
        </p:spPr>
        <p:txBody>
          <a:bodyPr wrap="square" lIns="0" tIns="0" rIns="0" bIns="0" rtlCol="0" anchor="ctr">
            <a:normAutofit/>
          </a:bodyPr>
          <a:lstStyle/>
          <a:p>
            <a:pPr algn="l">
              <a:buNone/>
            </a:pPr>
            <a:r>
              <a:rPr lang="fr-FR" sz="1700" b="1" dirty="0">
                <a:solidFill>
                  <a:srgbClr val="073527"/>
                </a:solidFill>
                <a:latin typeface="Cormorant Garamond SemiBold" pitchFamily="2" charset="77"/>
                <a:ea typeface="Cormorant Garamond SemiBold" pitchFamily="2" charset="77"/>
                <a:cs typeface="Cormorant Garamond SemiBold" pitchFamily="2" charset="77"/>
              </a:rPr>
              <a:t>Que reçoit votre partenaire si rien n’est prévu ?</a:t>
            </a:r>
          </a:p>
        </p:txBody>
      </p:sp>
      <p:sp>
        <p:nvSpPr>
          <p:cNvPr id="33014" name="Text 33014"/>
          <p:cNvSpPr txBox="1"/>
          <p:nvPr/>
        </p:nvSpPr>
        <p:spPr>
          <a:xfrm>
            <a:off x="1247468" y="2300000"/>
            <a:ext cx="7224532" cy="656666"/>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RIEN. Le PACS ne crée aucune vocation successorale, le partenaire n’est pas héritier.</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Il conserve seulement le droit d’occuper le logement pendant un an après le décès.</a:t>
            </a:r>
          </a:p>
        </p:txBody>
      </p:sp>
      <p:sp>
        <p:nvSpPr>
          <p:cNvPr id="33015" name="Shape 33015"/>
          <p:cNvSpPr/>
          <p:nvPr/>
        </p:nvSpPr>
        <p:spPr>
          <a:xfrm>
            <a:off x="947468" y="3126666"/>
            <a:ext cx="7524532" cy="1"/>
          </a:xfrm>
          <a:prstGeom prst="line">
            <a:avLst/>
          </a:prstGeom>
          <a:noFill/>
          <a:ln w="6350">
            <a:solidFill>
              <a:srgbClr val="D9CBA8"/>
            </a:solidFill>
          </a:ln>
        </p:spPr>
        <p:txBody>
          <a:bodyPr rtlCol="0" anchor="ctr"/>
          <a:lstStyle/>
          <a:p>
            <a:endParaRPr lang="fr-FR"/>
          </a:p>
        </p:txBody>
      </p:sp>
      <p:sp>
        <p:nvSpPr>
          <p:cNvPr id="33016" name="Shape 33016"/>
          <p:cNvSpPr/>
          <p:nvPr/>
        </p:nvSpPr>
        <p:spPr>
          <a:xfrm>
            <a:off x="947468" y="3316666"/>
            <a:ext cx="60000" cy="1096666"/>
          </a:xfrm>
          <a:prstGeom prst="rect">
            <a:avLst/>
          </a:prstGeom>
          <a:solidFill>
            <a:srgbClr val="A9853F"/>
          </a:solidFill>
          <a:ln>
            <a:noFill/>
          </a:ln>
        </p:spPr>
        <p:txBody>
          <a:bodyPr rtlCol="0" anchor="ctr"/>
          <a:lstStyle/>
          <a:p>
            <a:endParaRPr lang="fr-FR"/>
          </a:p>
        </p:txBody>
      </p:sp>
      <p:sp>
        <p:nvSpPr>
          <p:cNvPr id="33017" name="Text 33017"/>
          <p:cNvSpPr txBox="1"/>
          <p:nvPr/>
        </p:nvSpPr>
        <p:spPr>
          <a:xfrm>
            <a:off x="1247468" y="3256666"/>
            <a:ext cx="7224532" cy="520000"/>
          </a:xfrm>
          <a:prstGeom prst="rect">
            <a:avLst/>
          </a:prstGeom>
          <a:noFill/>
          <a:ln>
            <a:noFill/>
          </a:ln>
        </p:spPr>
        <p:txBody>
          <a:bodyPr wrap="square" lIns="0" tIns="0" rIns="0" bIns="0" rtlCol="0" anchor="ctr">
            <a:normAutofit/>
          </a:bodyPr>
          <a:lstStyle/>
          <a:p>
            <a:pPr algn="l">
              <a:buNone/>
            </a:pPr>
            <a:r>
              <a:rPr lang="fr-FR" sz="1700" b="1" dirty="0">
                <a:solidFill>
                  <a:srgbClr val="073527"/>
                </a:solidFill>
                <a:latin typeface="Cormorant Garamond SemiBold" pitchFamily="2" charset="77"/>
                <a:ea typeface="Cormorant Garamond SemiBold" pitchFamily="2" charset="77"/>
                <a:cs typeface="Cormorant Garamond SemiBold" pitchFamily="2" charset="77"/>
              </a:rPr>
              <a:t>Comment lui transmettre ?</a:t>
            </a:r>
          </a:p>
        </p:txBody>
      </p:sp>
      <p:sp>
        <p:nvSpPr>
          <p:cNvPr id="33018" name="Text 33018"/>
          <p:cNvSpPr txBox="1"/>
          <p:nvPr/>
        </p:nvSpPr>
        <p:spPr>
          <a:xfrm>
            <a:off x="1247468" y="3776666"/>
            <a:ext cx="7224532" cy="656666"/>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Par testament, dans la limite de la quotité disponible : la moitié avec un enfant, un tiers avec deux, un quart avec trois.</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Par l’assurance vie, versée hors succession et totalement exonérée de droits pour le partenaire.</a:t>
            </a:r>
          </a:p>
        </p:txBody>
      </p:sp>
      <p:sp>
        <p:nvSpPr>
          <p:cNvPr id="33019" name="Shape 33019"/>
          <p:cNvSpPr/>
          <p:nvPr/>
        </p:nvSpPr>
        <p:spPr>
          <a:xfrm>
            <a:off x="947468" y="4603333"/>
            <a:ext cx="7524532" cy="1"/>
          </a:xfrm>
          <a:prstGeom prst="line">
            <a:avLst/>
          </a:prstGeom>
          <a:noFill/>
          <a:ln w="6350">
            <a:solidFill>
              <a:srgbClr val="D9CBA8"/>
            </a:solidFill>
          </a:ln>
        </p:spPr>
        <p:txBody>
          <a:bodyPr rtlCol="0" anchor="ctr"/>
          <a:lstStyle/>
          <a:p>
            <a:endParaRPr lang="fr-FR"/>
          </a:p>
        </p:txBody>
      </p:sp>
      <p:sp>
        <p:nvSpPr>
          <p:cNvPr id="33020" name="Shape 33020"/>
          <p:cNvSpPr/>
          <p:nvPr/>
        </p:nvSpPr>
        <p:spPr>
          <a:xfrm>
            <a:off x="947468" y="4793333"/>
            <a:ext cx="60000" cy="1096666"/>
          </a:xfrm>
          <a:prstGeom prst="rect">
            <a:avLst/>
          </a:prstGeom>
          <a:solidFill>
            <a:srgbClr val="A9853F"/>
          </a:solidFill>
          <a:ln>
            <a:noFill/>
          </a:ln>
        </p:spPr>
        <p:txBody>
          <a:bodyPr rtlCol="0" anchor="ctr"/>
          <a:lstStyle/>
          <a:p>
            <a:endParaRPr lang="fr-FR"/>
          </a:p>
        </p:txBody>
      </p:sp>
      <p:sp>
        <p:nvSpPr>
          <p:cNvPr id="33021" name="Text 33021"/>
          <p:cNvSpPr txBox="1"/>
          <p:nvPr/>
        </p:nvSpPr>
        <p:spPr>
          <a:xfrm>
            <a:off x="1247468" y="4733333"/>
            <a:ext cx="7224532" cy="520000"/>
          </a:xfrm>
          <a:prstGeom prst="rect">
            <a:avLst/>
          </a:prstGeom>
          <a:noFill/>
          <a:ln>
            <a:noFill/>
          </a:ln>
        </p:spPr>
        <p:txBody>
          <a:bodyPr wrap="square" lIns="0" tIns="0" rIns="0" bIns="0" rtlCol="0" anchor="ctr">
            <a:normAutofit/>
          </a:bodyPr>
          <a:lstStyle/>
          <a:p>
            <a:pPr algn="l">
              <a:buNone/>
            </a:pPr>
            <a:r>
              <a:rPr lang="fr-FR" sz="1700" b="1" dirty="0">
                <a:solidFill>
                  <a:srgbClr val="073527"/>
                </a:solidFill>
                <a:latin typeface="Cormorant Garamond SemiBold" pitchFamily="2" charset="77"/>
                <a:ea typeface="Cormorant Garamond SemiBold" pitchFamily="2" charset="77"/>
                <a:cs typeface="Cormorant Garamond SemiBold" pitchFamily="2" charset="77"/>
              </a:rPr>
              <a:t>Comment sécuriser le logement ?</a:t>
            </a:r>
          </a:p>
        </p:txBody>
      </p:sp>
      <p:sp>
        <p:nvSpPr>
          <p:cNvPr id="33022" name="Text 33022"/>
          <p:cNvSpPr txBox="1"/>
          <p:nvPr/>
        </p:nvSpPr>
        <p:spPr>
          <a:xfrm>
            <a:off x="1247468" y="5253333"/>
            <a:ext cx="7224532" cy="656666"/>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Convention/achat en indivision du logement.</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Le droit viager d’habitation n’existe pour un partenaire que s’il est prévu par testament.</a:t>
            </a:r>
          </a:p>
        </p:txBody>
      </p:sp>
      <p:sp>
        <p:nvSpPr>
          <p:cNvPr id="33023" name="Text 33023"/>
          <p:cNvSpPr txBox="1"/>
          <p:nvPr/>
        </p:nvSpPr>
        <p:spPr>
          <a:xfrm>
            <a:off x="947468" y="6120000"/>
            <a:ext cx="7524532" cy="320000"/>
          </a:xfrm>
          <a:prstGeom prst="rect">
            <a:avLst/>
          </a:prstGeom>
          <a:noFill/>
          <a:ln>
            <a:noFill/>
          </a:ln>
        </p:spPr>
        <p:txBody>
          <a:bodyPr wrap="square" lIns="0" tIns="0" rIns="0" bIns="0" rtlCol="0" anchor="t">
            <a:normAutofit/>
          </a:bodyPr>
          <a:lstStyle/>
          <a:p>
            <a:pPr algn="l">
              <a:buNone/>
            </a:pPr>
            <a:r>
              <a:rPr lang="fr-FR" sz="850" dirty="0">
                <a:solidFill>
                  <a:srgbClr val="A9853F"/>
                </a:solidFill>
                <a:latin typeface="Jost Medium" pitchFamily="2" charset="77"/>
                <a:ea typeface="Jost Medium" pitchFamily="2" charset="77"/>
                <a:cs typeface="Jost Medium" pitchFamily="2" charset="77"/>
              </a:rPr>
              <a:t>LE RÉFLEXE   </a:t>
            </a:r>
            <a:r>
              <a:rPr lang="fr-FR" sz="1000" dirty="0">
                <a:solidFill>
                  <a:srgbClr val="073527"/>
                </a:solidFill>
                <a:latin typeface="Jost Light" pitchFamily="2" charset="77"/>
                <a:ea typeface="Jost Light" pitchFamily="2" charset="77"/>
                <a:cs typeface="Jost Light" pitchFamily="2" charset="77"/>
              </a:rPr>
              <a:t>la clause bénéficiaire prime sur le testament : c’est par elle qu’il faut commencer.</a:t>
            </a:r>
          </a:p>
        </p:txBody>
      </p:sp>
    </p:spTree>
    <p:extLst>
      <p:ext uri="{BB962C8B-B14F-4D97-AF65-F5344CB8AC3E}">
        <p14:creationId xmlns:p14="http://schemas.microsoft.com/office/powerpoint/2010/main" val="10013695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20178"/>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Le conjoint hérite, mais souvent moins que ce que l’on imagine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Protéger son conjoint marié en séparation de biens</a:t>
            </a:r>
          </a:p>
        </p:txBody>
      </p:sp>
      <p:sp>
        <p:nvSpPr>
          <p:cNvPr id="33025" name="Shape 33025"/>
          <p:cNvSpPr/>
          <p:nvPr/>
        </p:nvSpPr>
        <p:spPr>
          <a:xfrm>
            <a:off x="8792000" y="1780000"/>
            <a:ext cx="2900000" cy="4640000"/>
          </a:xfrm>
          <a:prstGeom prst="rect">
            <a:avLst/>
          </a:prstGeom>
          <a:solidFill>
            <a:srgbClr val="001B00"/>
          </a:solidFill>
          <a:ln>
            <a:noFill/>
          </a:ln>
        </p:spPr>
        <p:txBody>
          <a:bodyPr rtlCol="0" anchor="ctr"/>
          <a:lstStyle/>
          <a:p>
            <a:endParaRPr lang="fr-FR"/>
          </a:p>
        </p:txBody>
      </p:sp>
      <p:sp>
        <p:nvSpPr>
          <p:cNvPr id="33026" name="Text 33026"/>
          <p:cNvSpPr txBox="1"/>
          <p:nvPr/>
        </p:nvSpPr>
        <p:spPr>
          <a:xfrm>
            <a:off x="9072000" y="2080000"/>
            <a:ext cx="2340000" cy="300000"/>
          </a:xfrm>
          <a:prstGeom prst="rect">
            <a:avLst/>
          </a:prstGeom>
          <a:noFill/>
          <a:ln>
            <a:noFill/>
          </a:ln>
        </p:spPr>
        <p:txBody>
          <a:bodyPr wrap="square" lIns="0" tIns="0" rIns="0" bIns="0" rtlCol="0" anchor="t">
            <a:normAutofit/>
          </a:bodyPr>
          <a:lstStyle/>
          <a:p>
            <a:pPr algn="l">
              <a:buNone/>
            </a:pPr>
            <a:r>
              <a:rPr lang="fr-FR" sz="850" dirty="0">
                <a:solidFill>
                  <a:srgbClr val="A9853F"/>
                </a:solidFill>
                <a:latin typeface="Jost Medium" pitchFamily="2" charset="77"/>
                <a:ea typeface="Jost Medium" pitchFamily="2" charset="77"/>
                <a:cs typeface="Jost Medium" pitchFamily="2" charset="77"/>
              </a:rPr>
              <a:t>LES REPÈRES</a:t>
            </a:r>
          </a:p>
        </p:txBody>
      </p:sp>
      <p:sp>
        <p:nvSpPr>
          <p:cNvPr id="33027" name="Text 33027"/>
          <p:cNvSpPr txBox="1"/>
          <p:nvPr/>
        </p:nvSpPr>
        <p:spPr>
          <a:xfrm>
            <a:off x="9072000" y="2530000"/>
            <a:ext cx="2340000" cy="480000"/>
          </a:xfrm>
          <a:prstGeom prst="rect">
            <a:avLst/>
          </a:prstGeom>
          <a:noFill/>
          <a:ln>
            <a:noFill/>
          </a:ln>
        </p:spPr>
        <p:txBody>
          <a:bodyPr wrap="square" lIns="0" tIns="0" rIns="0" bIns="0" rtlCol="0" anchor="ctr">
            <a:normAutofit/>
          </a:bodyPr>
          <a:lstStyle/>
          <a:p>
            <a:pPr algn="l">
              <a:buNone/>
            </a:pPr>
            <a:r>
              <a:rPr lang="fr-FR" sz="2400" b="1" dirty="0">
                <a:solidFill>
                  <a:srgbClr val="FFFFFF"/>
                </a:solidFill>
                <a:latin typeface="Cormorant Garamond SemiBold" pitchFamily="2" charset="77"/>
                <a:ea typeface="Cormorant Garamond SemiBold" pitchFamily="2" charset="77"/>
                <a:cs typeface="Cormorant Garamond SemiBold" pitchFamily="2" charset="77"/>
              </a:rPr>
              <a:t>1/4</a:t>
            </a:r>
          </a:p>
        </p:txBody>
      </p:sp>
      <p:sp>
        <p:nvSpPr>
          <p:cNvPr id="33028" name="Text 33028"/>
          <p:cNvSpPr txBox="1"/>
          <p:nvPr/>
        </p:nvSpPr>
        <p:spPr>
          <a:xfrm>
            <a:off x="9072000" y="3030000"/>
            <a:ext cx="2340000" cy="600000"/>
          </a:xfrm>
          <a:prstGeom prst="rect">
            <a:avLst/>
          </a:prstGeom>
          <a:noFill/>
          <a:ln>
            <a:noFill/>
          </a:ln>
        </p:spPr>
        <p:txBody>
          <a:bodyPr wrap="square" lIns="0" tIns="0" rIns="0" bIns="0" rtlCol="0" anchor="t">
            <a:normAutofit/>
          </a:bodyPr>
          <a:lstStyle/>
          <a:p>
            <a:pPr algn="l">
              <a:buNone/>
            </a:pPr>
            <a:r>
              <a:rPr lang="fr-FR" sz="950" dirty="0">
                <a:solidFill>
                  <a:srgbClr val="A9853F"/>
                </a:solidFill>
                <a:latin typeface="Jost Light" pitchFamily="2" charset="77"/>
                <a:ea typeface="Jost Light" pitchFamily="2" charset="77"/>
                <a:cs typeface="Jost Light" pitchFamily="2" charset="77"/>
              </a:rPr>
              <a:t>en pleine propriété, ou la totalité en usufruit avec des enfants communs</a:t>
            </a:r>
          </a:p>
        </p:txBody>
      </p:sp>
      <p:sp>
        <p:nvSpPr>
          <p:cNvPr id="33029" name="Shape 33029"/>
          <p:cNvSpPr/>
          <p:nvPr/>
        </p:nvSpPr>
        <p:spPr>
          <a:xfrm>
            <a:off x="9072000" y="3563333"/>
            <a:ext cx="2340000" cy="1"/>
          </a:xfrm>
          <a:prstGeom prst="line">
            <a:avLst/>
          </a:prstGeom>
          <a:noFill/>
          <a:ln w="6350">
            <a:solidFill>
              <a:srgbClr val="3A5347"/>
            </a:solidFill>
          </a:ln>
        </p:spPr>
        <p:txBody>
          <a:bodyPr rtlCol="0" anchor="ctr"/>
          <a:lstStyle/>
          <a:p>
            <a:endParaRPr lang="fr-FR"/>
          </a:p>
        </p:txBody>
      </p:sp>
      <p:sp>
        <p:nvSpPr>
          <p:cNvPr id="33030" name="Text 33030"/>
          <p:cNvSpPr txBox="1"/>
          <p:nvPr/>
        </p:nvSpPr>
        <p:spPr>
          <a:xfrm>
            <a:off x="9072000" y="3743333"/>
            <a:ext cx="2340000" cy="480000"/>
          </a:xfrm>
          <a:prstGeom prst="rect">
            <a:avLst/>
          </a:prstGeom>
          <a:noFill/>
          <a:ln>
            <a:noFill/>
          </a:ln>
        </p:spPr>
        <p:txBody>
          <a:bodyPr wrap="square" lIns="0" tIns="0" rIns="0" bIns="0" rtlCol="0" anchor="ctr">
            <a:normAutofit/>
          </a:bodyPr>
          <a:lstStyle/>
          <a:p>
            <a:pPr algn="l">
              <a:buNone/>
            </a:pPr>
            <a:r>
              <a:rPr lang="fr-FR" sz="2400" b="1" dirty="0">
                <a:solidFill>
                  <a:srgbClr val="FFFFFF"/>
                </a:solidFill>
                <a:latin typeface="Cormorant Garamond SemiBold" pitchFamily="2" charset="77"/>
                <a:ea typeface="Cormorant Garamond SemiBold" pitchFamily="2" charset="77"/>
                <a:cs typeface="Cormorant Garamond SemiBold" pitchFamily="2" charset="77"/>
              </a:rPr>
              <a:t>0 </a:t>
            </a:r>
            <a:r>
              <a:rPr lang="fr-FR" b="1" dirty="0">
                <a:solidFill>
                  <a:srgbClr val="FFFFFF"/>
                </a:solidFill>
                <a:latin typeface="Cormorant Garamond SemiBold" pitchFamily="2" charset="77"/>
                <a:ea typeface="Cormorant Garamond SemiBold" pitchFamily="2" charset="77"/>
                <a:cs typeface="Cormorant Garamond SemiBold" pitchFamily="2" charset="77"/>
              </a:rPr>
              <a:t>EUR</a:t>
            </a:r>
            <a:endParaRPr lang="fr-FR" sz="2400" b="1" dirty="0">
              <a:solidFill>
                <a:srgbClr val="FFFFFF"/>
              </a:solidFill>
              <a:latin typeface="Cormorant Garamond SemiBold" pitchFamily="2" charset="77"/>
              <a:ea typeface="Cormorant Garamond SemiBold" pitchFamily="2" charset="77"/>
              <a:cs typeface="Cormorant Garamond SemiBold" pitchFamily="2" charset="77"/>
            </a:endParaRPr>
          </a:p>
        </p:txBody>
      </p:sp>
      <p:sp>
        <p:nvSpPr>
          <p:cNvPr id="33031" name="Text 33031"/>
          <p:cNvSpPr txBox="1"/>
          <p:nvPr/>
        </p:nvSpPr>
        <p:spPr>
          <a:xfrm>
            <a:off x="9072000" y="4243333"/>
            <a:ext cx="2340000" cy="600000"/>
          </a:xfrm>
          <a:prstGeom prst="rect">
            <a:avLst/>
          </a:prstGeom>
          <a:noFill/>
          <a:ln>
            <a:noFill/>
          </a:ln>
        </p:spPr>
        <p:txBody>
          <a:bodyPr wrap="square" lIns="0" tIns="0" rIns="0" bIns="0" rtlCol="0" anchor="t">
            <a:normAutofit/>
          </a:bodyPr>
          <a:lstStyle/>
          <a:p>
            <a:pPr algn="l">
              <a:buNone/>
            </a:pPr>
            <a:r>
              <a:rPr lang="fr-FR" sz="950" dirty="0">
                <a:solidFill>
                  <a:srgbClr val="A9853F"/>
                </a:solidFill>
                <a:latin typeface="Jost Light" pitchFamily="2" charset="77"/>
                <a:ea typeface="Jost Light" pitchFamily="2" charset="77"/>
                <a:cs typeface="Jost Light" pitchFamily="2" charset="77"/>
              </a:rPr>
              <a:t>de droits de succession pour le conjoint, quel que soit le montant reçu</a:t>
            </a:r>
          </a:p>
        </p:txBody>
      </p:sp>
      <p:sp>
        <p:nvSpPr>
          <p:cNvPr id="33032" name="Shape 33032"/>
          <p:cNvSpPr/>
          <p:nvPr/>
        </p:nvSpPr>
        <p:spPr>
          <a:xfrm>
            <a:off x="9072000" y="4776666"/>
            <a:ext cx="2340000" cy="1"/>
          </a:xfrm>
          <a:prstGeom prst="line">
            <a:avLst/>
          </a:prstGeom>
          <a:noFill/>
          <a:ln w="6350">
            <a:solidFill>
              <a:srgbClr val="3A5347"/>
            </a:solidFill>
          </a:ln>
        </p:spPr>
        <p:txBody>
          <a:bodyPr rtlCol="0" anchor="ctr"/>
          <a:lstStyle/>
          <a:p>
            <a:endParaRPr lang="fr-FR"/>
          </a:p>
        </p:txBody>
      </p:sp>
      <p:sp>
        <p:nvSpPr>
          <p:cNvPr id="33033" name="Text 33033"/>
          <p:cNvSpPr txBox="1"/>
          <p:nvPr/>
        </p:nvSpPr>
        <p:spPr>
          <a:xfrm>
            <a:off x="9072000" y="4956666"/>
            <a:ext cx="2340000" cy="480000"/>
          </a:xfrm>
          <a:prstGeom prst="rect">
            <a:avLst/>
          </a:prstGeom>
          <a:noFill/>
          <a:ln>
            <a:noFill/>
          </a:ln>
        </p:spPr>
        <p:txBody>
          <a:bodyPr wrap="square" lIns="0" tIns="0" rIns="0" bIns="0" rtlCol="0" anchor="ctr">
            <a:normAutofit/>
          </a:bodyPr>
          <a:lstStyle/>
          <a:p>
            <a:pPr algn="l">
              <a:buNone/>
            </a:pPr>
            <a:r>
              <a:rPr lang="fr-FR" sz="2400" b="1" dirty="0">
                <a:solidFill>
                  <a:srgbClr val="FFFFFF"/>
                </a:solidFill>
                <a:latin typeface="Cormorant Garamond SemiBold" pitchFamily="2" charset="77"/>
                <a:ea typeface="Cormorant Garamond SemiBold" pitchFamily="2" charset="77"/>
                <a:cs typeface="Cormorant Garamond SemiBold" pitchFamily="2" charset="77"/>
              </a:rPr>
              <a:t>1 an</a:t>
            </a:r>
          </a:p>
        </p:txBody>
      </p:sp>
      <p:sp>
        <p:nvSpPr>
          <p:cNvPr id="33034" name="Text 33034"/>
          <p:cNvSpPr txBox="1"/>
          <p:nvPr/>
        </p:nvSpPr>
        <p:spPr>
          <a:xfrm>
            <a:off x="9072000" y="5456666"/>
            <a:ext cx="2340000" cy="600000"/>
          </a:xfrm>
          <a:prstGeom prst="rect">
            <a:avLst/>
          </a:prstGeom>
          <a:noFill/>
          <a:ln>
            <a:noFill/>
          </a:ln>
        </p:spPr>
        <p:txBody>
          <a:bodyPr wrap="square" lIns="0" tIns="0" rIns="0" bIns="0" rtlCol="0" anchor="t">
            <a:normAutofit/>
          </a:bodyPr>
          <a:lstStyle/>
          <a:p>
            <a:pPr algn="l">
              <a:buNone/>
            </a:pPr>
            <a:r>
              <a:rPr lang="fr-FR" sz="950" dirty="0">
                <a:solidFill>
                  <a:srgbClr val="A9853F"/>
                </a:solidFill>
                <a:latin typeface="Jost Light" pitchFamily="2" charset="77"/>
                <a:ea typeface="Jost Light" pitchFamily="2" charset="77"/>
                <a:cs typeface="Jost Light" pitchFamily="2" charset="77"/>
              </a:rPr>
              <a:t>pour demander le droit viager sur le logement après le décès</a:t>
            </a:r>
          </a:p>
        </p:txBody>
      </p:sp>
      <p:sp>
        <p:nvSpPr>
          <p:cNvPr id="33035" name="Shape 33035"/>
          <p:cNvSpPr/>
          <p:nvPr/>
        </p:nvSpPr>
        <p:spPr>
          <a:xfrm>
            <a:off x="947468" y="1840000"/>
            <a:ext cx="60000" cy="1096666"/>
          </a:xfrm>
          <a:prstGeom prst="rect">
            <a:avLst/>
          </a:prstGeom>
          <a:solidFill>
            <a:srgbClr val="A9853F"/>
          </a:solidFill>
          <a:ln>
            <a:noFill/>
          </a:ln>
        </p:spPr>
        <p:txBody>
          <a:bodyPr rtlCol="0" anchor="ctr"/>
          <a:lstStyle/>
          <a:p>
            <a:endParaRPr lang="fr-FR"/>
          </a:p>
        </p:txBody>
      </p:sp>
      <p:sp>
        <p:nvSpPr>
          <p:cNvPr id="33036" name="Text 33036"/>
          <p:cNvSpPr txBox="1"/>
          <p:nvPr/>
        </p:nvSpPr>
        <p:spPr>
          <a:xfrm>
            <a:off x="1247468" y="1780000"/>
            <a:ext cx="7224532" cy="520000"/>
          </a:xfrm>
          <a:prstGeom prst="rect">
            <a:avLst/>
          </a:prstGeom>
          <a:noFill/>
          <a:ln>
            <a:noFill/>
          </a:ln>
        </p:spPr>
        <p:txBody>
          <a:bodyPr wrap="square" lIns="0" tIns="0" rIns="0" bIns="0" rtlCol="0" anchor="ctr">
            <a:normAutofit/>
          </a:bodyPr>
          <a:lstStyle/>
          <a:p>
            <a:pPr algn="l">
              <a:buNone/>
            </a:pPr>
            <a:r>
              <a:rPr lang="fr-FR" sz="1700" b="1" dirty="0">
                <a:solidFill>
                  <a:srgbClr val="073527"/>
                </a:solidFill>
                <a:latin typeface="Cormorant Garamond SemiBold" pitchFamily="2" charset="77"/>
                <a:ea typeface="Cormorant Garamond SemiBold" pitchFamily="2" charset="77"/>
                <a:cs typeface="Cormorant Garamond SemiBold" pitchFamily="2" charset="77"/>
              </a:rPr>
              <a:t>Que reçoit votre conjoint si rien n’est prévu ?</a:t>
            </a:r>
          </a:p>
        </p:txBody>
      </p:sp>
      <p:sp>
        <p:nvSpPr>
          <p:cNvPr id="33037" name="Text 33037"/>
          <p:cNvSpPr txBox="1"/>
          <p:nvPr/>
        </p:nvSpPr>
        <p:spPr>
          <a:xfrm>
            <a:off x="1247468" y="2300000"/>
            <a:ext cx="7224532" cy="656666"/>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Il n’y a aucun bien commun à partager : la succession ne comprend que vos biens propres.</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Avec des enfants communs, il choisit entre un quart en pleine propriété et la totalité en usufruit ; avec des enfants d’une autre union, seulement un quart en pleine propriété.</a:t>
            </a:r>
          </a:p>
        </p:txBody>
      </p:sp>
      <p:sp>
        <p:nvSpPr>
          <p:cNvPr id="33038" name="Shape 33038"/>
          <p:cNvSpPr/>
          <p:nvPr/>
        </p:nvSpPr>
        <p:spPr>
          <a:xfrm>
            <a:off x="947468" y="3126666"/>
            <a:ext cx="7524532" cy="1"/>
          </a:xfrm>
          <a:prstGeom prst="line">
            <a:avLst/>
          </a:prstGeom>
          <a:noFill/>
          <a:ln w="6350">
            <a:solidFill>
              <a:srgbClr val="D9CBA8"/>
            </a:solidFill>
          </a:ln>
        </p:spPr>
        <p:txBody>
          <a:bodyPr rtlCol="0" anchor="ctr"/>
          <a:lstStyle/>
          <a:p>
            <a:endParaRPr lang="fr-FR"/>
          </a:p>
        </p:txBody>
      </p:sp>
      <p:sp>
        <p:nvSpPr>
          <p:cNvPr id="33039" name="Shape 33039"/>
          <p:cNvSpPr/>
          <p:nvPr/>
        </p:nvSpPr>
        <p:spPr>
          <a:xfrm>
            <a:off x="947468" y="3316666"/>
            <a:ext cx="60000" cy="1096666"/>
          </a:xfrm>
          <a:prstGeom prst="rect">
            <a:avLst/>
          </a:prstGeom>
          <a:solidFill>
            <a:srgbClr val="A9853F"/>
          </a:solidFill>
          <a:ln>
            <a:noFill/>
          </a:ln>
        </p:spPr>
        <p:txBody>
          <a:bodyPr rtlCol="0" anchor="ctr"/>
          <a:lstStyle/>
          <a:p>
            <a:endParaRPr lang="fr-FR"/>
          </a:p>
        </p:txBody>
      </p:sp>
      <p:sp>
        <p:nvSpPr>
          <p:cNvPr id="33040" name="Text 33040"/>
          <p:cNvSpPr txBox="1"/>
          <p:nvPr/>
        </p:nvSpPr>
        <p:spPr>
          <a:xfrm>
            <a:off x="1247468" y="3256666"/>
            <a:ext cx="7224532" cy="520000"/>
          </a:xfrm>
          <a:prstGeom prst="rect">
            <a:avLst/>
          </a:prstGeom>
          <a:noFill/>
          <a:ln>
            <a:noFill/>
          </a:ln>
        </p:spPr>
        <p:txBody>
          <a:bodyPr wrap="square" lIns="0" tIns="0" rIns="0" bIns="0" rtlCol="0" anchor="ctr">
            <a:normAutofit/>
          </a:bodyPr>
          <a:lstStyle/>
          <a:p>
            <a:pPr algn="l">
              <a:buNone/>
            </a:pPr>
            <a:r>
              <a:rPr lang="fr-FR" sz="1700" b="1" dirty="0">
                <a:solidFill>
                  <a:srgbClr val="073527"/>
                </a:solidFill>
                <a:latin typeface="Cormorant Garamond SemiBold" pitchFamily="2" charset="77"/>
                <a:ea typeface="Cormorant Garamond SemiBold" pitchFamily="2" charset="77"/>
                <a:cs typeface="Cormorant Garamond SemiBold" pitchFamily="2" charset="77"/>
              </a:rPr>
              <a:t>Comment lui donner davantage ?</a:t>
            </a:r>
          </a:p>
        </p:txBody>
      </p:sp>
      <p:sp>
        <p:nvSpPr>
          <p:cNvPr id="33041" name="Text 33041"/>
          <p:cNvSpPr txBox="1"/>
          <p:nvPr/>
        </p:nvSpPr>
        <p:spPr>
          <a:xfrm>
            <a:off x="1247468" y="3776666"/>
            <a:ext cx="7224532" cy="656666"/>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Par la donation entre époux : quotité disponible en pleine propriété, un quart en pleine propriété et trois quarts en usufruit, ou la totalité en usufruit.</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Par l’assurance vie, qui lui apporte des liquidités hors succession, sans droits à payer.</a:t>
            </a:r>
          </a:p>
        </p:txBody>
      </p:sp>
      <p:sp>
        <p:nvSpPr>
          <p:cNvPr id="33042" name="Shape 33042"/>
          <p:cNvSpPr/>
          <p:nvPr/>
        </p:nvSpPr>
        <p:spPr>
          <a:xfrm>
            <a:off x="947468" y="4603333"/>
            <a:ext cx="7524532" cy="1"/>
          </a:xfrm>
          <a:prstGeom prst="line">
            <a:avLst/>
          </a:prstGeom>
          <a:noFill/>
          <a:ln w="6350">
            <a:solidFill>
              <a:srgbClr val="D9CBA8"/>
            </a:solidFill>
          </a:ln>
        </p:spPr>
        <p:txBody>
          <a:bodyPr rtlCol="0" anchor="ctr"/>
          <a:lstStyle/>
          <a:p>
            <a:endParaRPr lang="fr-FR"/>
          </a:p>
        </p:txBody>
      </p:sp>
      <p:sp>
        <p:nvSpPr>
          <p:cNvPr id="33043" name="Shape 33043"/>
          <p:cNvSpPr/>
          <p:nvPr/>
        </p:nvSpPr>
        <p:spPr>
          <a:xfrm>
            <a:off x="947468" y="4793333"/>
            <a:ext cx="60000" cy="1096666"/>
          </a:xfrm>
          <a:prstGeom prst="rect">
            <a:avLst/>
          </a:prstGeom>
          <a:solidFill>
            <a:srgbClr val="A9853F"/>
          </a:solidFill>
          <a:ln>
            <a:noFill/>
          </a:ln>
        </p:spPr>
        <p:txBody>
          <a:bodyPr rtlCol="0" anchor="ctr"/>
          <a:lstStyle/>
          <a:p>
            <a:endParaRPr lang="fr-FR"/>
          </a:p>
        </p:txBody>
      </p:sp>
      <p:sp>
        <p:nvSpPr>
          <p:cNvPr id="33044" name="Text 33044"/>
          <p:cNvSpPr txBox="1"/>
          <p:nvPr/>
        </p:nvSpPr>
        <p:spPr>
          <a:xfrm>
            <a:off x="1247468" y="4733333"/>
            <a:ext cx="7224532" cy="520000"/>
          </a:xfrm>
          <a:prstGeom prst="rect">
            <a:avLst/>
          </a:prstGeom>
          <a:noFill/>
          <a:ln>
            <a:noFill/>
          </a:ln>
        </p:spPr>
        <p:txBody>
          <a:bodyPr wrap="square" lIns="0" tIns="0" rIns="0" bIns="0" rtlCol="0" anchor="ctr">
            <a:normAutofit/>
          </a:bodyPr>
          <a:lstStyle/>
          <a:p>
            <a:pPr algn="l">
              <a:buNone/>
            </a:pPr>
            <a:r>
              <a:rPr lang="fr-FR" sz="1700" b="1" dirty="0">
                <a:solidFill>
                  <a:srgbClr val="073527"/>
                </a:solidFill>
                <a:latin typeface="Cormorant Garamond SemiBold" pitchFamily="2" charset="77"/>
                <a:ea typeface="Cormorant Garamond SemiBold" pitchFamily="2" charset="77"/>
                <a:cs typeface="Cormorant Garamond SemiBold" pitchFamily="2" charset="77"/>
              </a:rPr>
              <a:t>Comment sécuriser le logement ?</a:t>
            </a:r>
          </a:p>
        </p:txBody>
      </p:sp>
      <p:sp>
        <p:nvSpPr>
          <p:cNvPr id="33045" name="Text 33045"/>
          <p:cNvSpPr txBox="1"/>
          <p:nvPr/>
        </p:nvSpPr>
        <p:spPr>
          <a:xfrm>
            <a:off x="1247468" y="5253333"/>
            <a:ext cx="7224532" cy="656666"/>
          </a:xfrm>
          <a:prstGeom prst="rect">
            <a:avLst/>
          </a:prstGeom>
          <a:noFill/>
          <a:ln>
            <a:noFill/>
          </a:ln>
        </p:spPr>
        <p:txBody>
          <a:bodyPr wrap="square" lIns="0" tIns="0" rIns="0" bIns="0" rtlCol="0" anchor="t">
            <a:normAutofit/>
          </a:bodyPr>
          <a:lstStyle/>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En aménageant le régime : société d’acquêts limitée à la résidence principale, avec clause de préciput.</a:t>
            </a:r>
          </a:p>
          <a:p>
            <a:pPr marL="182880" indent="-182880" algn="l">
              <a:spcAft>
                <a:spcPts val="350"/>
              </a:spcAft>
              <a:buFont typeface="Arial" pitchFamily="34" charset="0"/>
              <a:buChar char="▪"/>
            </a:pPr>
            <a:r>
              <a:rPr lang="fr-FR" sz="1000" dirty="0">
                <a:solidFill>
                  <a:srgbClr val="6B6B6B"/>
                </a:solidFill>
                <a:latin typeface="Jost Light" pitchFamily="2" charset="77"/>
                <a:ea typeface="Jost Light" pitchFamily="2" charset="77"/>
                <a:cs typeface="Jost Light" pitchFamily="2" charset="77"/>
              </a:rPr>
              <a:t>En demandant le droit viager d’habitation, et en évitant l’indivision subie avec les enfants.</a:t>
            </a:r>
          </a:p>
        </p:txBody>
      </p:sp>
      <p:sp>
        <p:nvSpPr>
          <p:cNvPr id="33046" name="Text 33046"/>
          <p:cNvSpPr txBox="1"/>
          <p:nvPr/>
        </p:nvSpPr>
        <p:spPr>
          <a:xfrm>
            <a:off x="947468" y="6120000"/>
            <a:ext cx="7524532" cy="320000"/>
          </a:xfrm>
          <a:prstGeom prst="rect">
            <a:avLst/>
          </a:prstGeom>
          <a:noFill/>
          <a:ln>
            <a:noFill/>
          </a:ln>
        </p:spPr>
        <p:txBody>
          <a:bodyPr wrap="square" lIns="0" tIns="0" rIns="0" bIns="0" rtlCol="0" anchor="t">
            <a:normAutofit/>
          </a:bodyPr>
          <a:lstStyle/>
          <a:p>
            <a:pPr algn="l">
              <a:buNone/>
            </a:pPr>
            <a:r>
              <a:rPr lang="fr-FR" sz="850" dirty="0">
                <a:solidFill>
                  <a:srgbClr val="A9853F"/>
                </a:solidFill>
                <a:latin typeface="Jost Medium" pitchFamily="2" charset="77"/>
                <a:ea typeface="Jost Medium" pitchFamily="2" charset="77"/>
                <a:cs typeface="Jost Medium" pitchFamily="2" charset="77"/>
              </a:rPr>
              <a:t>LE RÉFLEXE   </a:t>
            </a:r>
            <a:r>
              <a:rPr lang="fr-FR" sz="1000" dirty="0">
                <a:solidFill>
                  <a:srgbClr val="073527"/>
                </a:solidFill>
                <a:latin typeface="Jost Light" pitchFamily="2" charset="77"/>
                <a:ea typeface="Jost Light" pitchFamily="2" charset="77"/>
                <a:cs typeface="Jost Light" pitchFamily="2" charset="77"/>
              </a:rPr>
              <a:t>avec des enfants d’une première union, la donation entre époux n’est plus une option.</a:t>
            </a:r>
          </a:p>
        </p:txBody>
      </p:sp>
    </p:spTree>
    <p:extLst>
      <p:ext uri="{BB962C8B-B14F-4D97-AF65-F5344CB8AC3E}">
        <p14:creationId xmlns:p14="http://schemas.microsoft.com/office/powerpoint/2010/main" val="41303532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B89D7-C138-4895-80F2-F7E71E0BAB4E}"/>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23F5B1EA-6769-7ED3-F7E3-454C31CE259C}"/>
              </a:ext>
            </a:extLst>
          </p:cNvPr>
          <p:cNvSpPr/>
          <p:nvPr/>
        </p:nvSpPr>
        <p:spPr>
          <a:xfrm>
            <a:off x="464234" y="351693"/>
            <a:ext cx="93036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2E3EE8D9-E1D4-626E-BA85-E2A92102FBB3}"/>
              </a:ext>
            </a:extLst>
          </p:cNvPr>
          <p:cNvSpPr txBox="1"/>
          <p:nvPr/>
        </p:nvSpPr>
        <p:spPr>
          <a:xfrm>
            <a:off x="1310516" y="3429000"/>
            <a:ext cx="5139711" cy="1200329"/>
          </a:xfrm>
          <a:prstGeom prst="rect">
            <a:avLst/>
          </a:prstGeom>
          <a:noFill/>
        </p:spPr>
        <p:txBody>
          <a:bodyPr wrap="square" rtlCol="0">
            <a:spAutoFit/>
          </a:bodyPr>
          <a:lstStyle/>
          <a:p>
            <a:r>
              <a:rPr lang="fr-FR" sz="3600" b="1" dirty="0">
                <a:solidFill>
                  <a:srgbClr val="E7DCC7"/>
                </a:solidFill>
                <a:latin typeface="Jost SemiBold" pitchFamily="2" charset="77"/>
                <a:ea typeface="Jost SemiBold" pitchFamily="2" charset="77"/>
                <a:cs typeface="Futura" panose="020B0602020204020303" pitchFamily="34" charset="-79"/>
              </a:rPr>
              <a:t>4. La reprise de nos objectifs patrimoniaux</a:t>
            </a:r>
          </a:p>
        </p:txBody>
      </p:sp>
      <p:sp>
        <p:nvSpPr>
          <p:cNvPr id="12" name="Shape 8">
            <a:extLst>
              <a:ext uri="{FF2B5EF4-FFF2-40B4-BE49-F238E27FC236}">
                <a16:creationId xmlns:a16="http://schemas.microsoft.com/office/drawing/2014/main" id="{D4F84BA2-186F-3D56-E480-0F166626944B}"/>
              </a:ext>
            </a:extLst>
          </p:cNvPr>
          <p:cNvSpPr/>
          <p:nvPr/>
        </p:nvSpPr>
        <p:spPr>
          <a:xfrm>
            <a:off x="1371476" y="5012467"/>
            <a:ext cx="2009154" cy="0"/>
          </a:xfrm>
          <a:prstGeom prst="line">
            <a:avLst/>
          </a:prstGeom>
          <a:noFill/>
          <a:ln w="19050">
            <a:solidFill>
              <a:srgbClr val="A9853F"/>
            </a:solidFill>
            <a:prstDash val="solid"/>
          </a:ln>
        </p:spPr>
        <p:txBody>
          <a:bodyPr/>
          <a:lstStyle/>
          <a:p>
            <a:endParaRPr lang="fr-FR"/>
          </a:p>
        </p:txBody>
      </p:sp>
      <p:pic>
        <p:nvPicPr>
          <p:cNvPr id="19" name="Image 18">
            <a:extLst>
              <a:ext uri="{FF2B5EF4-FFF2-40B4-BE49-F238E27FC236}">
                <a16:creationId xmlns:a16="http://schemas.microsoft.com/office/drawing/2014/main" id="{D9FF2A72-B5ED-601E-3468-A5B4030F0589}"/>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156744"/>
            <a:ext cx="2441045" cy="7327940"/>
          </a:xfrm>
          <a:prstGeom prst="rect">
            <a:avLst/>
          </a:prstGeom>
        </p:spPr>
      </p:pic>
      <p:pic>
        <p:nvPicPr>
          <p:cNvPr id="20" name="Image 19">
            <a:extLst>
              <a:ext uri="{FF2B5EF4-FFF2-40B4-BE49-F238E27FC236}">
                <a16:creationId xmlns:a16="http://schemas.microsoft.com/office/drawing/2014/main" id="{042E1A3A-002C-B886-18DD-1205A0D27623}"/>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36781754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0"/>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Assurance vie luxembourgeoise pour le cadre, produits structurés pour le moteur</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Vos objectifs : sécuriser le patrimoine tout en le faisant fructifier</a:t>
            </a:r>
          </a:p>
        </p:txBody>
      </p:sp>
      <p:sp>
        <p:nvSpPr>
          <p:cNvPr id="15052" name="Text 15052"/>
          <p:cNvSpPr txBox="1"/>
          <p:nvPr/>
        </p:nvSpPr>
        <p:spPr>
          <a:xfrm>
            <a:off x="947468" y="1835592"/>
            <a:ext cx="3000000"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VOS OBJECTIFS</a:t>
            </a:r>
          </a:p>
        </p:txBody>
      </p:sp>
      <p:sp>
        <p:nvSpPr>
          <p:cNvPr id="15053" name="Shape 15053"/>
          <p:cNvSpPr/>
          <p:nvPr/>
        </p:nvSpPr>
        <p:spPr>
          <a:xfrm>
            <a:off x="947468" y="2165592"/>
            <a:ext cx="3150000" cy="1066666"/>
          </a:xfrm>
          <a:prstGeom prst="rect">
            <a:avLst/>
          </a:prstGeom>
          <a:solidFill>
            <a:srgbClr val="FCF9EF"/>
          </a:solidFill>
          <a:ln w="9525">
            <a:solidFill>
              <a:srgbClr val="A9853F"/>
            </a:solidFill>
          </a:ln>
        </p:spPr>
        <p:txBody>
          <a:bodyPr rtlCol="0" anchor="ctr"/>
          <a:lstStyle/>
          <a:p>
            <a:endParaRPr lang="fr-FR"/>
          </a:p>
        </p:txBody>
      </p:sp>
      <p:sp>
        <p:nvSpPr>
          <p:cNvPr id="15054" name="Shape 15054"/>
          <p:cNvSpPr/>
          <p:nvPr/>
        </p:nvSpPr>
        <p:spPr>
          <a:xfrm>
            <a:off x="947468" y="2165592"/>
            <a:ext cx="90000" cy="1066666"/>
          </a:xfrm>
          <a:prstGeom prst="rect">
            <a:avLst/>
          </a:prstGeom>
          <a:solidFill>
            <a:srgbClr val="A9853F"/>
          </a:solidFill>
          <a:ln>
            <a:noFill/>
          </a:ln>
        </p:spPr>
        <p:txBody>
          <a:bodyPr rtlCol="0" anchor="ctr"/>
          <a:lstStyle/>
          <a:p>
            <a:endParaRPr lang="fr-FR"/>
          </a:p>
        </p:txBody>
      </p:sp>
      <p:sp>
        <p:nvSpPr>
          <p:cNvPr id="15055" name="Text 15055"/>
          <p:cNvSpPr txBox="1"/>
          <p:nvPr/>
        </p:nvSpPr>
        <p:spPr>
          <a:xfrm>
            <a:off x="1227468" y="2165592"/>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Protéger un patrimoine important</a:t>
            </a:r>
          </a:p>
        </p:txBody>
      </p:sp>
      <p:sp>
        <p:nvSpPr>
          <p:cNvPr id="15056" name="Shape 15056"/>
          <p:cNvSpPr/>
          <p:nvPr/>
        </p:nvSpPr>
        <p:spPr>
          <a:xfrm>
            <a:off x="947468" y="3412258"/>
            <a:ext cx="3150000" cy="1066666"/>
          </a:xfrm>
          <a:prstGeom prst="rect">
            <a:avLst/>
          </a:prstGeom>
          <a:solidFill>
            <a:srgbClr val="FCF9EF"/>
          </a:solidFill>
          <a:ln w="9525">
            <a:solidFill>
              <a:srgbClr val="A9853F"/>
            </a:solidFill>
          </a:ln>
        </p:spPr>
        <p:txBody>
          <a:bodyPr rtlCol="0" anchor="ctr"/>
          <a:lstStyle/>
          <a:p>
            <a:endParaRPr lang="fr-FR"/>
          </a:p>
        </p:txBody>
      </p:sp>
      <p:sp>
        <p:nvSpPr>
          <p:cNvPr id="15057" name="Shape 15057"/>
          <p:cNvSpPr/>
          <p:nvPr/>
        </p:nvSpPr>
        <p:spPr>
          <a:xfrm>
            <a:off x="947468" y="3412258"/>
            <a:ext cx="90000" cy="1066666"/>
          </a:xfrm>
          <a:prstGeom prst="rect">
            <a:avLst/>
          </a:prstGeom>
          <a:solidFill>
            <a:srgbClr val="A9853F"/>
          </a:solidFill>
          <a:ln>
            <a:noFill/>
          </a:ln>
        </p:spPr>
        <p:txBody>
          <a:bodyPr rtlCol="0" anchor="ctr"/>
          <a:lstStyle/>
          <a:p>
            <a:endParaRPr lang="fr-FR"/>
          </a:p>
        </p:txBody>
      </p:sp>
      <p:sp>
        <p:nvSpPr>
          <p:cNvPr id="15058" name="Text 15058"/>
          <p:cNvSpPr txBox="1"/>
          <p:nvPr/>
        </p:nvSpPr>
        <p:spPr>
          <a:xfrm>
            <a:off x="1227468" y="3412258"/>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Rechercher un rendement encadré</a:t>
            </a:r>
          </a:p>
        </p:txBody>
      </p:sp>
      <p:sp>
        <p:nvSpPr>
          <p:cNvPr id="15059" name="Shape 15059"/>
          <p:cNvSpPr/>
          <p:nvPr/>
        </p:nvSpPr>
        <p:spPr>
          <a:xfrm>
            <a:off x="947468" y="4658925"/>
            <a:ext cx="3150000" cy="1066666"/>
          </a:xfrm>
          <a:prstGeom prst="rect">
            <a:avLst/>
          </a:prstGeom>
          <a:solidFill>
            <a:srgbClr val="FCF9EF"/>
          </a:solidFill>
          <a:ln w="9525">
            <a:solidFill>
              <a:srgbClr val="A9853F"/>
            </a:solidFill>
          </a:ln>
        </p:spPr>
        <p:txBody>
          <a:bodyPr rtlCol="0" anchor="ctr"/>
          <a:lstStyle/>
          <a:p>
            <a:endParaRPr lang="fr-FR"/>
          </a:p>
        </p:txBody>
      </p:sp>
      <p:sp>
        <p:nvSpPr>
          <p:cNvPr id="15060" name="Shape 15060"/>
          <p:cNvSpPr/>
          <p:nvPr/>
        </p:nvSpPr>
        <p:spPr>
          <a:xfrm>
            <a:off x="947468" y="4658925"/>
            <a:ext cx="90000" cy="1066666"/>
          </a:xfrm>
          <a:prstGeom prst="rect">
            <a:avLst/>
          </a:prstGeom>
          <a:solidFill>
            <a:srgbClr val="A9853F"/>
          </a:solidFill>
          <a:ln>
            <a:noFill/>
          </a:ln>
        </p:spPr>
        <p:txBody>
          <a:bodyPr rtlCol="0" anchor="ctr"/>
          <a:lstStyle/>
          <a:p>
            <a:endParaRPr lang="fr-FR"/>
          </a:p>
        </p:txBody>
      </p:sp>
      <p:sp>
        <p:nvSpPr>
          <p:cNvPr id="15061" name="Text 15061"/>
          <p:cNvSpPr txBox="1"/>
          <p:nvPr/>
        </p:nvSpPr>
        <p:spPr>
          <a:xfrm>
            <a:off x="1227468" y="4658925"/>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Conserver la fiscalité française</a:t>
            </a:r>
          </a:p>
        </p:txBody>
      </p:sp>
      <p:sp>
        <p:nvSpPr>
          <p:cNvPr id="15062" name="Shape 15062"/>
          <p:cNvSpPr/>
          <p:nvPr/>
        </p:nvSpPr>
        <p:spPr>
          <a:xfrm>
            <a:off x="4427468" y="3685592"/>
            <a:ext cx="520000" cy="520000"/>
          </a:xfrm>
          <a:prstGeom prst="rightArrow">
            <a:avLst/>
          </a:prstGeom>
          <a:solidFill>
            <a:srgbClr val="A9853F"/>
          </a:solidFill>
          <a:ln>
            <a:noFill/>
          </a:ln>
        </p:spPr>
        <p:txBody>
          <a:bodyPr rtlCol="0" anchor="ctr"/>
          <a:lstStyle/>
          <a:p>
            <a:endParaRPr lang="fr-FR"/>
          </a:p>
        </p:txBody>
      </p:sp>
      <p:sp>
        <p:nvSpPr>
          <p:cNvPr id="15063" name="Text 15063"/>
          <p:cNvSpPr txBox="1"/>
          <p:nvPr/>
        </p:nvSpPr>
        <p:spPr>
          <a:xfrm>
            <a:off x="5277468" y="1835592"/>
            <a:ext cx="4000000"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LA RÉPONSE</a:t>
            </a:r>
          </a:p>
        </p:txBody>
      </p:sp>
      <p:sp>
        <p:nvSpPr>
          <p:cNvPr id="15064" name="Shape 15064"/>
          <p:cNvSpPr/>
          <p:nvPr/>
        </p:nvSpPr>
        <p:spPr>
          <a:xfrm>
            <a:off x="5277468" y="2165592"/>
            <a:ext cx="6414532" cy="440000"/>
          </a:xfrm>
          <a:prstGeom prst="rect">
            <a:avLst/>
          </a:prstGeom>
          <a:solidFill>
            <a:srgbClr val="001B00"/>
          </a:solidFill>
          <a:ln>
            <a:noFill/>
          </a:ln>
        </p:spPr>
        <p:txBody>
          <a:bodyPr rtlCol="0" anchor="ctr"/>
          <a:lstStyle/>
          <a:p>
            <a:endParaRPr lang="fr-FR"/>
          </a:p>
        </p:txBody>
      </p:sp>
      <p:sp>
        <p:nvSpPr>
          <p:cNvPr id="15065" name="Text 15065"/>
          <p:cNvSpPr txBox="1"/>
          <p:nvPr/>
        </p:nvSpPr>
        <p:spPr>
          <a:xfrm>
            <a:off x="5537468" y="2165592"/>
            <a:ext cx="4814532" cy="440000"/>
          </a:xfrm>
          <a:prstGeom prst="rect">
            <a:avLst/>
          </a:prstGeom>
          <a:noFill/>
          <a:ln>
            <a:noFill/>
          </a:ln>
        </p:spPr>
        <p:txBody>
          <a:bodyPr wrap="square" lIns="0" tIns="0" rIns="0" bIns="0" rtlCol="0" anchor="ctr">
            <a:normAutofit/>
          </a:bodyPr>
          <a:lstStyle/>
          <a:p>
            <a:pPr algn="l">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L’assurance vie luxembourgeoise</a:t>
            </a:r>
          </a:p>
        </p:txBody>
      </p:sp>
      <p:sp>
        <p:nvSpPr>
          <p:cNvPr id="15066" name="Text 15066"/>
          <p:cNvSpPr txBox="1"/>
          <p:nvPr/>
        </p:nvSpPr>
        <p:spPr>
          <a:xfrm>
            <a:off x="9099933" y="2165592"/>
            <a:ext cx="2332067" cy="440000"/>
          </a:xfrm>
          <a:prstGeom prst="rect">
            <a:avLst/>
          </a:prstGeom>
          <a:noFill/>
          <a:ln>
            <a:noFill/>
          </a:ln>
        </p:spPr>
        <p:txBody>
          <a:bodyPr wrap="square" lIns="0" tIns="0" rIns="0" bIns="0" rtlCol="0" anchor="ctr">
            <a:normAutofit/>
          </a:bodyPr>
          <a:lstStyle/>
          <a:p>
            <a:pPr algn="r">
              <a:buNone/>
            </a:pPr>
            <a:r>
              <a:rPr lang="fr-FR" sz="850" dirty="0">
                <a:solidFill>
                  <a:srgbClr val="A9853F"/>
                </a:solidFill>
                <a:latin typeface="Jost Medium" pitchFamily="2" charset="77"/>
                <a:ea typeface="Jost Medium" pitchFamily="2" charset="77"/>
                <a:cs typeface="Jost Medium" pitchFamily="2" charset="77"/>
              </a:rPr>
              <a:t>LE MEILLEUR CADRE POUR CAPITALISER</a:t>
            </a:r>
          </a:p>
        </p:txBody>
      </p:sp>
      <p:sp>
        <p:nvSpPr>
          <p:cNvPr id="15067" name="Shape 15067"/>
          <p:cNvSpPr/>
          <p:nvPr/>
        </p:nvSpPr>
        <p:spPr>
          <a:xfrm>
            <a:off x="5277468" y="2605592"/>
            <a:ext cx="6414532" cy="1230000"/>
          </a:xfrm>
          <a:prstGeom prst="rect">
            <a:avLst/>
          </a:prstGeom>
          <a:solidFill>
            <a:srgbClr val="FCF9EF"/>
          </a:solidFill>
          <a:ln>
            <a:noFill/>
          </a:ln>
        </p:spPr>
        <p:txBody>
          <a:bodyPr rtlCol="0" anchor="ctr"/>
          <a:lstStyle/>
          <a:p>
            <a:endParaRPr lang="fr-FR"/>
          </a:p>
        </p:txBody>
      </p:sp>
      <p:sp>
        <p:nvSpPr>
          <p:cNvPr id="15068" name="Text 15068"/>
          <p:cNvSpPr txBox="1"/>
          <p:nvPr/>
        </p:nvSpPr>
        <p:spPr>
          <a:xfrm>
            <a:off x="5577468" y="2765592"/>
            <a:ext cx="5814532" cy="910000"/>
          </a:xfrm>
          <a:prstGeom prst="rect">
            <a:avLst/>
          </a:prstGeom>
          <a:noFill/>
          <a:ln>
            <a:noFill/>
          </a:ln>
        </p:spPr>
        <p:txBody>
          <a:bodyPr wrap="square" lIns="0" tIns="0" rIns="0" bIns="0" rtlCol="0" anchor="t">
            <a:normAutofit/>
          </a:bodyPr>
          <a:lstStyle/>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Triangle de sécurité : vos actifs sont ségrégués chez la banque dépositaire, pas de loi Sapin 2.</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Super privilège : créancier de premier rang, sans plafond, contre 70 000 EUR en France.</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rPr>
              <a:t>FE avec 100 000 EUR, FID ou FAS dès 250 000 EUR : une stratégie patrimoniale à forte valeur ajoutée.</a:t>
            </a:r>
          </a:p>
          <a:p>
            <a:pPr marL="182880" indent="-182880" algn="l">
              <a:spcAft>
                <a:spcPts val="500"/>
              </a:spcAft>
              <a:buFont typeface="Arial" pitchFamily="34" charset="0"/>
              <a:buChar char="▪"/>
            </a:pPr>
            <a:endParaRPr lang="fr-FR" sz="1000" dirty="0">
              <a:solidFill>
                <a:srgbClr val="073527"/>
              </a:solidFill>
              <a:latin typeface="Jost Light" pitchFamily="2" charset="77"/>
              <a:ea typeface="Jost Light" pitchFamily="2" charset="77"/>
              <a:cs typeface="Jost Light" pitchFamily="2" charset="77"/>
            </a:endParaRPr>
          </a:p>
        </p:txBody>
      </p:sp>
      <p:sp>
        <p:nvSpPr>
          <p:cNvPr id="15069" name="Shape 15069"/>
          <p:cNvSpPr/>
          <p:nvPr/>
        </p:nvSpPr>
        <p:spPr>
          <a:xfrm>
            <a:off x="5277468" y="4055592"/>
            <a:ext cx="6414532" cy="440000"/>
          </a:xfrm>
          <a:prstGeom prst="rect">
            <a:avLst/>
          </a:prstGeom>
          <a:solidFill>
            <a:srgbClr val="001B00"/>
          </a:solidFill>
          <a:ln>
            <a:noFill/>
          </a:ln>
        </p:spPr>
        <p:txBody>
          <a:bodyPr rtlCol="0" anchor="ctr"/>
          <a:lstStyle/>
          <a:p>
            <a:endParaRPr lang="fr-FR"/>
          </a:p>
        </p:txBody>
      </p:sp>
      <p:sp>
        <p:nvSpPr>
          <p:cNvPr id="15070" name="Text 15070"/>
          <p:cNvSpPr txBox="1"/>
          <p:nvPr/>
        </p:nvSpPr>
        <p:spPr>
          <a:xfrm>
            <a:off x="5537468" y="4055592"/>
            <a:ext cx="4814532" cy="440000"/>
          </a:xfrm>
          <a:prstGeom prst="rect">
            <a:avLst/>
          </a:prstGeom>
          <a:noFill/>
          <a:ln>
            <a:noFill/>
          </a:ln>
        </p:spPr>
        <p:txBody>
          <a:bodyPr wrap="square" lIns="0" tIns="0" rIns="0" bIns="0" rtlCol="0" anchor="ctr">
            <a:normAutofit/>
          </a:bodyPr>
          <a:lstStyle/>
          <a:p>
            <a:pPr algn="l">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Les produits structurés</a:t>
            </a:r>
          </a:p>
        </p:txBody>
      </p:sp>
      <p:sp>
        <p:nvSpPr>
          <p:cNvPr id="15071" name="Text 15071"/>
          <p:cNvSpPr txBox="1"/>
          <p:nvPr/>
        </p:nvSpPr>
        <p:spPr>
          <a:xfrm>
            <a:off x="9485523" y="4055592"/>
            <a:ext cx="1946477" cy="440000"/>
          </a:xfrm>
          <a:prstGeom prst="rect">
            <a:avLst/>
          </a:prstGeom>
          <a:noFill/>
          <a:ln>
            <a:noFill/>
          </a:ln>
        </p:spPr>
        <p:txBody>
          <a:bodyPr wrap="square" lIns="0" tIns="0" rIns="0" bIns="0" rtlCol="0" anchor="ctr">
            <a:normAutofit/>
          </a:bodyPr>
          <a:lstStyle/>
          <a:p>
            <a:pPr algn="r">
              <a:buNone/>
            </a:pPr>
            <a:r>
              <a:rPr lang="fr-FR" sz="850" dirty="0">
                <a:solidFill>
                  <a:srgbClr val="A9853F"/>
                </a:solidFill>
                <a:latin typeface="Jost Medium" pitchFamily="2" charset="77"/>
                <a:ea typeface="Jost Medium" pitchFamily="2" charset="77"/>
                <a:cs typeface="Jost Medium" pitchFamily="2" charset="77"/>
              </a:rPr>
              <a:t>VOTRE MOTEUR DE PERFORMANCE</a:t>
            </a:r>
          </a:p>
        </p:txBody>
      </p:sp>
      <p:sp>
        <p:nvSpPr>
          <p:cNvPr id="15072" name="Shape 15072"/>
          <p:cNvSpPr/>
          <p:nvPr/>
        </p:nvSpPr>
        <p:spPr>
          <a:xfrm>
            <a:off x="5277468" y="4495592"/>
            <a:ext cx="6414532" cy="1230000"/>
          </a:xfrm>
          <a:prstGeom prst="rect">
            <a:avLst/>
          </a:prstGeom>
          <a:solidFill>
            <a:srgbClr val="FCF9EF"/>
          </a:solidFill>
          <a:ln>
            <a:noFill/>
          </a:ln>
        </p:spPr>
        <p:txBody>
          <a:bodyPr rtlCol="0" anchor="ctr"/>
          <a:lstStyle/>
          <a:p>
            <a:endParaRPr lang="fr-FR"/>
          </a:p>
        </p:txBody>
      </p:sp>
      <p:sp>
        <p:nvSpPr>
          <p:cNvPr id="15073" name="Text 15073"/>
          <p:cNvSpPr txBox="1"/>
          <p:nvPr/>
        </p:nvSpPr>
        <p:spPr>
          <a:xfrm>
            <a:off x="5577468" y="4655592"/>
            <a:ext cx="5814532" cy="910000"/>
          </a:xfrm>
          <a:prstGeom prst="rect">
            <a:avLst/>
          </a:prstGeom>
          <a:noFill/>
          <a:ln>
            <a:noFill/>
          </a:ln>
        </p:spPr>
        <p:txBody>
          <a:bodyPr wrap="square" lIns="0" tIns="0" rIns="0" bIns="0" rtlCol="0" anchor="t">
            <a:normAutofit/>
          </a:bodyPr>
          <a:lstStyle/>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Un coupon conditionnel, connu à l’avance, versé si votre sous-jacent respecte les conditions.</a:t>
            </a:r>
          </a:p>
          <a:p>
            <a:pPr marL="182880" indent="-182880">
              <a:spcAft>
                <a:spcPts val="500"/>
              </a:spcAft>
              <a:buFont typeface="Arial" pitchFamily="34" charset="0"/>
              <a:buChar char="▪"/>
            </a:pPr>
            <a:r>
              <a:rPr lang="fr-FR" sz="1000" dirty="0">
                <a:solidFill>
                  <a:srgbClr val="073527"/>
                </a:solidFill>
                <a:latin typeface="Jost Light" pitchFamily="2" charset="77"/>
                <a:ea typeface="Jost Light" pitchFamily="2" charset="77"/>
              </a:rPr>
              <a:t>Une protection du capital à l’échéance tant que la barrière n’est pas franchie.</a:t>
            </a:r>
          </a:p>
          <a:p>
            <a:pPr marL="182880" lvl="0" indent="-182880">
              <a:spcAft>
                <a:spcPts val="500"/>
              </a:spcAft>
              <a:buFont typeface="Arial" pitchFamily="34" charset="0"/>
              <a:buChar char="▪"/>
            </a:pPr>
            <a:r>
              <a:rPr lang="fr-FR" sz="1000" dirty="0">
                <a:solidFill>
                  <a:srgbClr val="073527"/>
                </a:solidFill>
                <a:latin typeface="Jost Light" pitchFamily="2" charset="77"/>
                <a:ea typeface="Jost Light" pitchFamily="2" charset="77"/>
              </a:rPr>
              <a:t>Une gestion et un potentiel de rendement adaptés à votre profil de risque.</a:t>
            </a:r>
          </a:p>
        </p:txBody>
      </p:sp>
    </p:spTree>
    <p:extLst>
      <p:ext uri="{BB962C8B-B14F-4D97-AF65-F5344CB8AC3E}">
        <p14:creationId xmlns:p14="http://schemas.microsoft.com/office/powerpoint/2010/main" val="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0"/>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Assurance vie française pour capitaliser, SCPI en direct pour encaisser vos revenus</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Vos objectifs : faire fructifier, alléger l’impôt et percevoir des revenus</a:t>
            </a:r>
          </a:p>
        </p:txBody>
      </p:sp>
      <p:sp>
        <p:nvSpPr>
          <p:cNvPr id="15002" name="Text 15002"/>
          <p:cNvSpPr txBox="1"/>
          <p:nvPr/>
        </p:nvSpPr>
        <p:spPr>
          <a:xfrm>
            <a:off x="947468" y="1835591"/>
            <a:ext cx="3000000"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VOS OBJECTIFS</a:t>
            </a:r>
          </a:p>
        </p:txBody>
      </p:sp>
      <p:sp>
        <p:nvSpPr>
          <p:cNvPr id="15003" name="Shape 15003"/>
          <p:cNvSpPr/>
          <p:nvPr/>
        </p:nvSpPr>
        <p:spPr>
          <a:xfrm>
            <a:off x="947468" y="2165591"/>
            <a:ext cx="3150000" cy="1066666"/>
          </a:xfrm>
          <a:prstGeom prst="rect">
            <a:avLst/>
          </a:prstGeom>
          <a:solidFill>
            <a:srgbClr val="FCF9EF"/>
          </a:solidFill>
          <a:ln w="9525">
            <a:solidFill>
              <a:srgbClr val="A9853F"/>
            </a:solidFill>
          </a:ln>
        </p:spPr>
        <p:txBody>
          <a:bodyPr rtlCol="0" anchor="ctr"/>
          <a:lstStyle/>
          <a:p>
            <a:endParaRPr lang="fr-FR"/>
          </a:p>
        </p:txBody>
      </p:sp>
      <p:sp>
        <p:nvSpPr>
          <p:cNvPr id="15004" name="Shape 15004"/>
          <p:cNvSpPr/>
          <p:nvPr/>
        </p:nvSpPr>
        <p:spPr>
          <a:xfrm>
            <a:off x="947468" y="2165591"/>
            <a:ext cx="90000" cy="1066666"/>
          </a:xfrm>
          <a:prstGeom prst="rect">
            <a:avLst/>
          </a:prstGeom>
          <a:solidFill>
            <a:srgbClr val="A9853F"/>
          </a:solidFill>
          <a:ln>
            <a:noFill/>
          </a:ln>
        </p:spPr>
        <p:txBody>
          <a:bodyPr rtlCol="0" anchor="ctr"/>
          <a:lstStyle/>
          <a:p>
            <a:endParaRPr lang="fr-FR"/>
          </a:p>
        </p:txBody>
      </p:sp>
      <p:sp>
        <p:nvSpPr>
          <p:cNvPr id="15005" name="Text 15005"/>
          <p:cNvSpPr txBox="1"/>
          <p:nvPr/>
        </p:nvSpPr>
        <p:spPr>
          <a:xfrm>
            <a:off x="1227468" y="2165591"/>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Faire fructifier le capital à long terme</a:t>
            </a:r>
          </a:p>
        </p:txBody>
      </p:sp>
      <p:sp>
        <p:nvSpPr>
          <p:cNvPr id="15006" name="Shape 15006"/>
          <p:cNvSpPr/>
          <p:nvPr/>
        </p:nvSpPr>
        <p:spPr>
          <a:xfrm>
            <a:off x="947468" y="3412257"/>
            <a:ext cx="3150000" cy="1066666"/>
          </a:xfrm>
          <a:prstGeom prst="rect">
            <a:avLst/>
          </a:prstGeom>
          <a:solidFill>
            <a:srgbClr val="FCF9EF"/>
          </a:solidFill>
          <a:ln w="9525">
            <a:solidFill>
              <a:srgbClr val="A9853F"/>
            </a:solidFill>
          </a:ln>
        </p:spPr>
        <p:txBody>
          <a:bodyPr rtlCol="0" anchor="ctr"/>
          <a:lstStyle/>
          <a:p>
            <a:endParaRPr lang="fr-FR"/>
          </a:p>
        </p:txBody>
      </p:sp>
      <p:sp>
        <p:nvSpPr>
          <p:cNvPr id="15007" name="Shape 15007"/>
          <p:cNvSpPr/>
          <p:nvPr/>
        </p:nvSpPr>
        <p:spPr>
          <a:xfrm>
            <a:off x="947468" y="3412257"/>
            <a:ext cx="90000" cy="1066666"/>
          </a:xfrm>
          <a:prstGeom prst="rect">
            <a:avLst/>
          </a:prstGeom>
          <a:solidFill>
            <a:srgbClr val="A9853F"/>
          </a:solidFill>
          <a:ln>
            <a:noFill/>
          </a:ln>
        </p:spPr>
        <p:txBody>
          <a:bodyPr rtlCol="0" anchor="ctr"/>
          <a:lstStyle/>
          <a:p>
            <a:endParaRPr lang="fr-FR"/>
          </a:p>
        </p:txBody>
      </p:sp>
      <p:sp>
        <p:nvSpPr>
          <p:cNvPr id="15008" name="Text 15008"/>
          <p:cNvSpPr txBox="1"/>
          <p:nvPr/>
        </p:nvSpPr>
        <p:spPr>
          <a:xfrm>
            <a:off x="1227468" y="3412257"/>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Alléger la fiscalité de l’épargne</a:t>
            </a:r>
          </a:p>
        </p:txBody>
      </p:sp>
      <p:sp>
        <p:nvSpPr>
          <p:cNvPr id="15009" name="Shape 15009"/>
          <p:cNvSpPr/>
          <p:nvPr/>
        </p:nvSpPr>
        <p:spPr>
          <a:xfrm>
            <a:off x="947468" y="4658924"/>
            <a:ext cx="3150000" cy="1066666"/>
          </a:xfrm>
          <a:prstGeom prst="rect">
            <a:avLst/>
          </a:prstGeom>
          <a:solidFill>
            <a:srgbClr val="FCF9EF"/>
          </a:solidFill>
          <a:ln w="9525">
            <a:solidFill>
              <a:srgbClr val="A9853F"/>
            </a:solidFill>
          </a:ln>
        </p:spPr>
        <p:txBody>
          <a:bodyPr rtlCol="0" anchor="ctr"/>
          <a:lstStyle/>
          <a:p>
            <a:endParaRPr lang="fr-FR"/>
          </a:p>
        </p:txBody>
      </p:sp>
      <p:sp>
        <p:nvSpPr>
          <p:cNvPr id="15010" name="Shape 15010"/>
          <p:cNvSpPr/>
          <p:nvPr/>
        </p:nvSpPr>
        <p:spPr>
          <a:xfrm>
            <a:off x="947468" y="4658924"/>
            <a:ext cx="90000" cy="1066666"/>
          </a:xfrm>
          <a:prstGeom prst="rect">
            <a:avLst/>
          </a:prstGeom>
          <a:solidFill>
            <a:srgbClr val="A9853F"/>
          </a:solidFill>
          <a:ln>
            <a:noFill/>
          </a:ln>
        </p:spPr>
        <p:txBody>
          <a:bodyPr rtlCol="0" anchor="ctr"/>
          <a:lstStyle/>
          <a:p>
            <a:endParaRPr lang="fr-FR"/>
          </a:p>
        </p:txBody>
      </p:sp>
      <p:sp>
        <p:nvSpPr>
          <p:cNvPr id="15011" name="Text 15011"/>
          <p:cNvSpPr txBox="1"/>
          <p:nvPr/>
        </p:nvSpPr>
        <p:spPr>
          <a:xfrm>
            <a:off x="1227468" y="4658924"/>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Percevoir des revenus complémentaires</a:t>
            </a:r>
          </a:p>
        </p:txBody>
      </p:sp>
      <p:sp>
        <p:nvSpPr>
          <p:cNvPr id="15012" name="Shape 15012"/>
          <p:cNvSpPr/>
          <p:nvPr/>
        </p:nvSpPr>
        <p:spPr>
          <a:xfrm>
            <a:off x="4427468" y="3685591"/>
            <a:ext cx="520000" cy="520000"/>
          </a:xfrm>
          <a:prstGeom prst="rightArrow">
            <a:avLst/>
          </a:prstGeom>
          <a:solidFill>
            <a:srgbClr val="A9853F"/>
          </a:solidFill>
          <a:ln>
            <a:noFill/>
          </a:ln>
        </p:spPr>
        <p:txBody>
          <a:bodyPr rtlCol="0" anchor="ctr"/>
          <a:lstStyle/>
          <a:p>
            <a:endParaRPr lang="fr-FR"/>
          </a:p>
        </p:txBody>
      </p:sp>
      <p:sp>
        <p:nvSpPr>
          <p:cNvPr id="15013" name="Text 15013"/>
          <p:cNvSpPr txBox="1"/>
          <p:nvPr/>
        </p:nvSpPr>
        <p:spPr>
          <a:xfrm>
            <a:off x="5277468" y="1835591"/>
            <a:ext cx="4000000"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LA RÉPONSE</a:t>
            </a:r>
          </a:p>
        </p:txBody>
      </p:sp>
      <p:sp>
        <p:nvSpPr>
          <p:cNvPr id="15014" name="Shape 15014"/>
          <p:cNvSpPr/>
          <p:nvPr/>
        </p:nvSpPr>
        <p:spPr>
          <a:xfrm>
            <a:off x="5277468" y="2165591"/>
            <a:ext cx="6414532" cy="440000"/>
          </a:xfrm>
          <a:prstGeom prst="rect">
            <a:avLst/>
          </a:prstGeom>
          <a:solidFill>
            <a:srgbClr val="001B00"/>
          </a:solidFill>
          <a:ln>
            <a:noFill/>
          </a:ln>
        </p:spPr>
        <p:txBody>
          <a:bodyPr rtlCol="0" anchor="ctr"/>
          <a:lstStyle/>
          <a:p>
            <a:endParaRPr lang="fr-FR"/>
          </a:p>
        </p:txBody>
      </p:sp>
      <p:sp>
        <p:nvSpPr>
          <p:cNvPr id="15015" name="Text 15015"/>
          <p:cNvSpPr txBox="1"/>
          <p:nvPr/>
        </p:nvSpPr>
        <p:spPr>
          <a:xfrm>
            <a:off x="5537468" y="2165591"/>
            <a:ext cx="4814532" cy="440000"/>
          </a:xfrm>
          <a:prstGeom prst="rect">
            <a:avLst/>
          </a:prstGeom>
          <a:noFill/>
          <a:ln>
            <a:noFill/>
          </a:ln>
        </p:spPr>
        <p:txBody>
          <a:bodyPr wrap="square" lIns="0" tIns="0" rIns="0" bIns="0" rtlCol="0" anchor="ctr">
            <a:normAutofit/>
          </a:bodyPr>
          <a:lstStyle/>
          <a:p>
            <a:pPr algn="l">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L’assurance vie française</a:t>
            </a:r>
          </a:p>
        </p:txBody>
      </p:sp>
      <p:sp>
        <p:nvSpPr>
          <p:cNvPr id="15016" name="Text 15016"/>
          <p:cNvSpPr txBox="1"/>
          <p:nvPr/>
        </p:nvSpPr>
        <p:spPr>
          <a:xfrm>
            <a:off x="10192000" y="2165591"/>
            <a:ext cx="1240000" cy="440000"/>
          </a:xfrm>
          <a:prstGeom prst="rect">
            <a:avLst/>
          </a:prstGeom>
          <a:noFill/>
          <a:ln>
            <a:noFill/>
          </a:ln>
        </p:spPr>
        <p:txBody>
          <a:bodyPr wrap="square" lIns="0" tIns="0" rIns="0" bIns="0" rtlCol="0" anchor="ctr">
            <a:normAutofit/>
          </a:bodyPr>
          <a:lstStyle/>
          <a:p>
            <a:pPr algn="r">
              <a:buNone/>
            </a:pPr>
            <a:r>
              <a:rPr lang="fr-FR" sz="850" dirty="0">
                <a:solidFill>
                  <a:srgbClr val="A9853F"/>
                </a:solidFill>
                <a:latin typeface="Jost Medium" pitchFamily="2" charset="77"/>
                <a:ea typeface="Jost Medium" pitchFamily="2" charset="77"/>
                <a:cs typeface="Jost Medium" pitchFamily="2" charset="77"/>
              </a:rPr>
              <a:t>POUR CAPITALISER</a:t>
            </a:r>
          </a:p>
        </p:txBody>
      </p:sp>
      <p:sp>
        <p:nvSpPr>
          <p:cNvPr id="15017" name="Shape 15017"/>
          <p:cNvSpPr/>
          <p:nvPr/>
        </p:nvSpPr>
        <p:spPr>
          <a:xfrm>
            <a:off x="5277468" y="2605591"/>
            <a:ext cx="6414532" cy="1230000"/>
          </a:xfrm>
          <a:prstGeom prst="rect">
            <a:avLst/>
          </a:prstGeom>
          <a:solidFill>
            <a:srgbClr val="FCF9EF"/>
          </a:solidFill>
          <a:ln>
            <a:noFill/>
          </a:ln>
        </p:spPr>
        <p:txBody>
          <a:bodyPr rtlCol="0" anchor="ctr"/>
          <a:lstStyle/>
          <a:p>
            <a:endParaRPr lang="fr-FR"/>
          </a:p>
        </p:txBody>
      </p:sp>
      <p:sp>
        <p:nvSpPr>
          <p:cNvPr id="15018" name="Text 15018"/>
          <p:cNvSpPr txBox="1"/>
          <p:nvPr/>
        </p:nvSpPr>
        <p:spPr>
          <a:xfrm>
            <a:off x="5577468" y="2765591"/>
            <a:ext cx="5814532" cy="910000"/>
          </a:xfrm>
          <a:prstGeom prst="rect">
            <a:avLst/>
          </a:prstGeom>
          <a:noFill/>
          <a:ln>
            <a:noFill/>
          </a:ln>
        </p:spPr>
        <p:txBody>
          <a:bodyPr wrap="square" lIns="0" tIns="0" rIns="0" bIns="0" rtlCol="0" anchor="t">
            <a:normAutofit/>
          </a:bodyPr>
          <a:lstStyle/>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Aucun impôt tant qu’il n’y a pas de rachat sur le contrat. Enveloppe 100% liquide.</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Après 8 ans : abattement de 4 600 EUR par an, puis 7,5% d’impôt jusqu’à 150 000 EUR de primes.</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Prélèvements sociaux à 17,2%, contre 18,6% sur un compte-titres.</a:t>
            </a:r>
          </a:p>
        </p:txBody>
      </p:sp>
      <p:sp>
        <p:nvSpPr>
          <p:cNvPr id="15019" name="Shape 15019"/>
          <p:cNvSpPr/>
          <p:nvPr/>
        </p:nvSpPr>
        <p:spPr>
          <a:xfrm>
            <a:off x="5277468" y="4055591"/>
            <a:ext cx="6414532" cy="440000"/>
          </a:xfrm>
          <a:prstGeom prst="rect">
            <a:avLst/>
          </a:prstGeom>
          <a:solidFill>
            <a:srgbClr val="001B00"/>
          </a:solidFill>
          <a:ln>
            <a:noFill/>
          </a:ln>
        </p:spPr>
        <p:txBody>
          <a:bodyPr rtlCol="0" anchor="ctr"/>
          <a:lstStyle/>
          <a:p>
            <a:endParaRPr lang="fr-FR"/>
          </a:p>
        </p:txBody>
      </p:sp>
      <p:sp>
        <p:nvSpPr>
          <p:cNvPr id="15020" name="Text 15020"/>
          <p:cNvSpPr txBox="1"/>
          <p:nvPr/>
        </p:nvSpPr>
        <p:spPr>
          <a:xfrm>
            <a:off x="5537468" y="4055591"/>
            <a:ext cx="4814532" cy="440000"/>
          </a:xfrm>
          <a:prstGeom prst="rect">
            <a:avLst/>
          </a:prstGeom>
          <a:noFill/>
          <a:ln>
            <a:noFill/>
          </a:ln>
        </p:spPr>
        <p:txBody>
          <a:bodyPr wrap="square" lIns="0" tIns="0" rIns="0" bIns="0" rtlCol="0" anchor="ctr">
            <a:normAutofit/>
          </a:bodyPr>
          <a:lstStyle/>
          <a:p>
            <a:pPr algn="l">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Les SCPI en direct</a:t>
            </a:r>
          </a:p>
        </p:txBody>
      </p:sp>
      <p:sp>
        <p:nvSpPr>
          <p:cNvPr id="15021" name="Text 15021"/>
          <p:cNvSpPr txBox="1"/>
          <p:nvPr/>
        </p:nvSpPr>
        <p:spPr>
          <a:xfrm>
            <a:off x="10192000" y="4055591"/>
            <a:ext cx="1240000" cy="440000"/>
          </a:xfrm>
          <a:prstGeom prst="rect">
            <a:avLst/>
          </a:prstGeom>
          <a:noFill/>
          <a:ln>
            <a:noFill/>
          </a:ln>
        </p:spPr>
        <p:txBody>
          <a:bodyPr wrap="square" lIns="0" tIns="0" rIns="0" bIns="0" rtlCol="0" anchor="ctr">
            <a:normAutofit/>
          </a:bodyPr>
          <a:lstStyle/>
          <a:p>
            <a:pPr algn="r">
              <a:buNone/>
            </a:pPr>
            <a:r>
              <a:rPr lang="fr-FR" sz="850" dirty="0">
                <a:solidFill>
                  <a:srgbClr val="A9853F"/>
                </a:solidFill>
                <a:latin typeface="Jost Medium" pitchFamily="2" charset="77"/>
                <a:ea typeface="Jost Medium" pitchFamily="2" charset="77"/>
                <a:cs typeface="Jost Medium" pitchFamily="2" charset="77"/>
              </a:rPr>
              <a:t>POUR ENCAISSER</a:t>
            </a:r>
          </a:p>
        </p:txBody>
      </p:sp>
      <p:sp>
        <p:nvSpPr>
          <p:cNvPr id="15022" name="Shape 15022"/>
          <p:cNvSpPr/>
          <p:nvPr/>
        </p:nvSpPr>
        <p:spPr>
          <a:xfrm>
            <a:off x="5277468" y="4495591"/>
            <a:ext cx="6414532" cy="1230000"/>
          </a:xfrm>
          <a:prstGeom prst="rect">
            <a:avLst/>
          </a:prstGeom>
          <a:solidFill>
            <a:srgbClr val="FCF9EF"/>
          </a:solidFill>
          <a:ln>
            <a:noFill/>
          </a:ln>
        </p:spPr>
        <p:txBody>
          <a:bodyPr rtlCol="0" anchor="ctr"/>
          <a:lstStyle/>
          <a:p>
            <a:endParaRPr lang="fr-FR"/>
          </a:p>
        </p:txBody>
      </p:sp>
      <p:sp>
        <p:nvSpPr>
          <p:cNvPr id="15023" name="Text 15023"/>
          <p:cNvSpPr txBox="1"/>
          <p:nvPr/>
        </p:nvSpPr>
        <p:spPr>
          <a:xfrm>
            <a:off x="5577468" y="4655591"/>
            <a:ext cx="5814532" cy="910000"/>
          </a:xfrm>
          <a:prstGeom prst="rect">
            <a:avLst/>
          </a:prstGeom>
          <a:noFill/>
          <a:ln>
            <a:noFill/>
          </a:ln>
        </p:spPr>
        <p:txBody>
          <a:bodyPr wrap="square" lIns="0" tIns="0" rIns="0" bIns="0" rtlCol="0" anchor="t">
            <a:normAutofit/>
          </a:bodyPr>
          <a:lstStyle/>
          <a:p>
            <a:pPr marL="182880" indent="-182880">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Des revenus mensuel ou trimestriels immédiats, sans rachat à organiser.</a:t>
            </a:r>
          </a:p>
          <a:p>
            <a:pPr marL="182880" indent="-182880">
              <a:spcAft>
                <a:spcPts val="500"/>
              </a:spcAft>
              <a:buFont typeface="Arial" pitchFamily="34" charset="0"/>
              <a:buChar char="▪"/>
            </a:pPr>
            <a:r>
              <a:rPr lang="fr-FR" sz="1000" dirty="0">
                <a:solidFill>
                  <a:srgbClr val="073527"/>
                </a:solidFill>
                <a:latin typeface="Jost Light" pitchFamily="2" charset="77"/>
                <a:ea typeface="Jost Light" pitchFamily="2" charset="77"/>
              </a:rPr>
              <a:t>SCPI européennes : bénéficiez d’une fiscalité sans prélèvements sociaux.</a:t>
            </a:r>
          </a:p>
          <a:p>
            <a:pPr marL="182880" indent="-182880">
              <a:spcAft>
                <a:spcPts val="500"/>
              </a:spcAft>
              <a:buFont typeface="Arial" pitchFamily="34" charset="0"/>
              <a:buChar char="▪"/>
            </a:pPr>
            <a:r>
              <a:rPr lang="fr-FR" sz="1000" dirty="0">
                <a:solidFill>
                  <a:srgbClr val="073527"/>
                </a:solidFill>
                <a:latin typeface="Jost Light" pitchFamily="2" charset="77"/>
                <a:ea typeface="Jost Light" pitchFamily="2" charset="77"/>
              </a:rPr>
              <a:t>Investir en direct : permet plus de revenus nets, sans additionner les frais liés à une enveloppe.</a:t>
            </a:r>
          </a:p>
        </p:txBody>
      </p:sp>
    </p:spTree>
    <p:extLst>
      <p:ext uri="{BB962C8B-B14F-4D97-AF65-F5344CB8AC3E}">
        <p14:creationId xmlns:p14="http://schemas.microsoft.com/office/powerpoint/2010/main" val="25664586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1" y="0"/>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Compte-titres pour investir sans contrainte, SCPI en direct pour les revenus</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pPr lvl="0"/>
            <a:r>
              <a:rPr lang="fr-FR" sz="2000" b="1" dirty="0">
                <a:solidFill>
                  <a:srgbClr val="A9853F"/>
                </a:solidFill>
                <a:latin typeface="Cormorant Garamond SemiBold" pitchFamily="2" charset="77"/>
                <a:ea typeface="Cormorant Garamond SemiBold" pitchFamily="2" charset="77"/>
                <a:cs typeface="Cormorant Garamond SemiBold" pitchFamily="2" charset="77"/>
              </a:rPr>
              <a:t>Vos objectifs : valoriser son capital et préparer ses revenus</a:t>
            </a:r>
          </a:p>
        </p:txBody>
      </p:sp>
      <p:sp>
        <p:nvSpPr>
          <p:cNvPr id="15027" name="Text 15027"/>
          <p:cNvSpPr txBox="1"/>
          <p:nvPr/>
        </p:nvSpPr>
        <p:spPr>
          <a:xfrm>
            <a:off x="947468" y="1846610"/>
            <a:ext cx="3000000"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VOS OBJECTIFS</a:t>
            </a:r>
          </a:p>
        </p:txBody>
      </p:sp>
      <p:sp>
        <p:nvSpPr>
          <p:cNvPr id="15028" name="Shape 15028"/>
          <p:cNvSpPr/>
          <p:nvPr/>
        </p:nvSpPr>
        <p:spPr>
          <a:xfrm>
            <a:off x="947468" y="2176610"/>
            <a:ext cx="3150000" cy="1066666"/>
          </a:xfrm>
          <a:prstGeom prst="rect">
            <a:avLst/>
          </a:prstGeom>
          <a:solidFill>
            <a:srgbClr val="FCF9EF"/>
          </a:solidFill>
          <a:ln w="9525">
            <a:solidFill>
              <a:srgbClr val="A9853F"/>
            </a:solidFill>
          </a:ln>
        </p:spPr>
        <p:txBody>
          <a:bodyPr rtlCol="0" anchor="ctr"/>
          <a:lstStyle/>
          <a:p>
            <a:endParaRPr lang="fr-FR"/>
          </a:p>
        </p:txBody>
      </p:sp>
      <p:sp>
        <p:nvSpPr>
          <p:cNvPr id="15029" name="Shape 15029"/>
          <p:cNvSpPr/>
          <p:nvPr/>
        </p:nvSpPr>
        <p:spPr>
          <a:xfrm>
            <a:off x="947468" y="2176610"/>
            <a:ext cx="90000" cy="1066666"/>
          </a:xfrm>
          <a:prstGeom prst="rect">
            <a:avLst/>
          </a:prstGeom>
          <a:solidFill>
            <a:srgbClr val="A9853F"/>
          </a:solidFill>
          <a:ln>
            <a:noFill/>
          </a:ln>
        </p:spPr>
        <p:txBody>
          <a:bodyPr rtlCol="0" anchor="ctr"/>
          <a:lstStyle/>
          <a:p>
            <a:endParaRPr lang="fr-FR"/>
          </a:p>
        </p:txBody>
      </p:sp>
      <p:sp>
        <p:nvSpPr>
          <p:cNvPr id="15030" name="Text 15030"/>
          <p:cNvSpPr txBox="1"/>
          <p:nvPr/>
        </p:nvSpPr>
        <p:spPr>
          <a:xfrm>
            <a:off x="1227468" y="2176610"/>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Faire fructifier le capital à long terme</a:t>
            </a:r>
          </a:p>
        </p:txBody>
      </p:sp>
      <p:sp>
        <p:nvSpPr>
          <p:cNvPr id="15031" name="Shape 15031"/>
          <p:cNvSpPr/>
          <p:nvPr/>
        </p:nvSpPr>
        <p:spPr>
          <a:xfrm>
            <a:off x="947468" y="3423276"/>
            <a:ext cx="3150000" cy="1066666"/>
          </a:xfrm>
          <a:prstGeom prst="rect">
            <a:avLst/>
          </a:prstGeom>
          <a:solidFill>
            <a:srgbClr val="FCF9EF"/>
          </a:solidFill>
          <a:ln w="9525">
            <a:solidFill>
              <a:srgbClr val="A9853F"/>
            </a:solidFill>
          </a:ln>
        </p:spPr>
        <p:txBody>
          <a:bodyPr rtlCol="0" anchor="ctr"/>
          <a:lstStyle/>
          <a:p>
            <a:endParaRPr lang="fr-FR"/>
          </a:p>
        </p:txBody>
      </p:sp>
      <p:sp>
        <p:nvSpPr>
          <p:cNvPr id="15032" name="Shape 15032"/>
          <p:cNvSpPr/>
          <p:nvPr/>
        </p:nvSpPr>
        <p:spPr>
          <a:xfrm>
            <a:off x="947468" y="3423276"/>
            <a:ext cx="90000" cy="1066666"/>
          </a:xfrm>
          <a:prstGeom prst="rect">
            <a:avLst/>
          </a:prstGeom>
          <a:solidFill>
            <a:srgbClr val="A9853F"/>
          </a:solidFill>
          <a:ln>
            <a:noFill/>
          </a:ln>
        </p:spPr>
        <p:txBody>
          <a:bodyPr rtlCol="0" anchor="ctr"/>
          <a:lstStyle/>
          <a:p>
            <a:endParaRPr lang="fr-FR"/>
          </a:p>
        </p:txBody>
      </p:sp>
      <p:sp>
        <p:nvSpPr>
          <p:cNvPr id="15033" name="Text 15033"/>
          <p:cNvSpPr txBox="1"/>
          <p:nvPr/>
        </p:nvSpPr>
        <p:spPr>
          <a:xfrm>
            <a:off x="1227468" y="3423276"/>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Garder une liberté totale de gestion</a:t>
            </a:r>
          </a:p>
        </p:txBody>
      </p:sp>
      <p:sp>
        <p:nvSpPr>
          <p:cNvPr id="15034" name="Shape 15034"/>
          <p:cNvSpPr/>
          <p:nvPr/>
        </p:nvSpPr>
        <p:spPr>
          <a:xfrm>
            <a:off x="947468" y="4669943"/>
            <a:ext cx="3150000" cy="1066666"/>
          </a:xfrm>
          <a:prstGeom prst="rect">
            <a:avLst/>
          </a:prstGeom>
          <a:solidFill>
            <a:srgbClr val="FCF9EF"/>
          </a:solidFill>
          <a:ln w="9525">
            <a:solidFill>
              <a:srgbClr val="A9853F"/>
            </a:solidFill>
          </a:ln>
        </p:spPr>
        <p:txBody>
          <a:bodyPr rtlCol="0" anchor="ctr"/>
          <a:lstStyle/>
          <a:p>
            <a:endParaRPr lang="fr-FR"/>
          </a:p>
        </p:txBody>
      </p:sp>
      <p:sp>
        <p:nvSpPr>
          <p:cNvPr id="15035" name="Shape 15035"/>
          <p:cNvSpPr/>
          <p:nvPr/>
        </p:nvSpPr>
        <p:spPr>
          <a:xfrm>
            <a:off x="947468" y="4669943"/>
            <a:ext cx="90000" cy="1066666"/>
          </a:xfrm>
          <a:prstGeom prst="rect">
            <a:avLst/>
          </a:prstGeom>
          <a:solidFill>
            <a:srgbClr val="A9853F"/>
          </a:solidFill>
          <a:ln>
            <a:noFill/>
          </a:ln>
        </p:spPr>
        <p:txBody>
          <a:bodyPr rtlCol="0" anchor="ctr"/>
          <a:lstStyle/>
          <a:p>
            <a:endParaRPr lang="fr-FR"/>
          </a:p>
        </p:txBody>
      </p:sp>
      <p:sp>
        <p:nvSpPr>
          <p:cNvPr id="15036" name="Text 15036"/>
          <p:cNvSpPr txBox="1"/>
          <p:nvPr/>
        </p:nvSpPr>
        <p:spPr>
          <a:xfrm>
            <a:off x="1227468" y="4669943"/>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Percevoir des revenus complémentaires</a:t>
            </a:r>
          </a:p>
        </p:txBody>
      </p:sp>
      <p:sp>
        <p:nvSpPr>
          <p:cNvPr id="15037" name="Shape 15037"/>
          <p:cNvSpPr/>
          <p:nvPr/>
        </p:nvSpPr>
        <p:spPr>
          <a:xfrm>
            <a:off x="4427468" y="3696610"/>
            <a:ext cx="520000" cy="520000"/>
          </a:xfrm>
          <a:prstGeom prst="rightArrow">
            <a:avLst/>
          </a:prstGeom>
          <a:solidFill>
            <a:srgbClr val="A9853F"/>
          </a:solidFill>
          <a:ln>
            <a:noFill/>
          </a:ln>
        </p:spPr>
        <p:txBody>
          <a:bodyPr rtlCol="0" anchor="ctr"/>
          <a:lstStyle/>
          <a:p>
            <a:endParaRPr lang="fr-FR"/>
          </a:p>
        </p:txBody>
      </p:sp>
      <p:sp>
        <p:nvSpPr>
          <p:cNvPr id="15038" name="Text 15038"/>
          <p:cNvSpPr txBox="1"/>
          <p:nvPr/>
        </p:nvSpPr>
        <p:spPr>
          <a:xfrm>
            <a:off x="5277468" y="1846610"/>
            <a:ext cx="4000000"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LA RÉPONSE</a:t>
            </a:r>
          </a:p>
        </p:txBody>
      </p:sp>
      <p:sp>
        <p:nvSpPr>
          <p:cNvPr id="15039" name="Shape 15039"/>
          <p:cNvSpPr/>
          <p:nvPr/>
        </p:nvSpPr>
        <p:spPr>
          <a:xfrm>
            <a:off x="5277468" y="2176610"/>
            <a:ext cx="6414532" cy="440000"/>
          </a:xfrm>
          <a:prstGeom prst="rect">
            <a:avLst/>
          </a:prstGeom>
          <a:solidFill>
            <a:srgbClr val="001B00"/>
          </a:solidFill>
          <a:ln>
            <a:noFill/>
          </a:ln>
        </p:spPr>
        <p:txBody>
          <a:bodyPr rtlCol="0" anchor="ctr"/>
          <a:lstStyle/>
          <a:p>
            <a:endParaRPr lang="fr-FR"/>
          </a:p>
        </p:txBody>
      </p:sp>
      <p:sp>
        <p:nvSpPr>
          <p:cNvPr id="15040" name="Text 15040"/>
          <p:cNvSpPr txBox="1"/>
          <p:nvPr/>
        </p:nvSpPr>
        <p:spPr>
          <a:xfrm>
            <a:off x="5537468" y="2176610"/>
            <a:ext cx="4814532" cy="440000"/>
          </a:xfrm>
          <a:prstGeom prst="rect">
            <a:avLst/>
          </a:prstGeom>
          <a:noFill/>
          <a:ln>
            <a:noFill/>
          </a:ln>
        </p:spPr>
        <p:txBody>
          <a:bodyPr wrap="square" lIns="0" tIns="0" rIns="0" bIns="0" rtlCol="0" anchor="ctr">
            <a:normAutofit/>
          </a:bodyPr>
          <a:lstStyle/>
          <a:p>
            <a:pPr algn="l">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Le compte-titres ordinaire</a:t>
            </a:r>
          </a:p>
        </p:txBody>
      </p:sp>
      <p:sp>
        <p:nvSpPr>
          <p:cNvPr id="15041" name="Text 15041"/>
          <p:cNvSpPr txBox="1"/>
          <p:nvPr/>
        </p:nvSpPr>
        <p:spPr>
          <a:xfrm>
            <a:off x="10192000" y="2176610"/>
            <a:ext cx="1240000" cy="440000"/>
          </a:xfrm>
          <a:prstGeom prst="rect">
            <a:avLst/>
          </a:prstGeom>
          <a:noFill/>
          <a:ln>
            <a:noFill/>
          </a:ln>
        </p:spPr>
        <p:txBody>
          <a:bodyPr wrap="square" lIns="0" tIns="0" rIns="0" bIns="0" rtlCol="0" anchor="ctr">
            <a:normAutofit/>
          </a:bodyPr>
          <a:lstStyle/>
          <a:p>
            <a:pPr algn="r">
              <a:buNone/>
            </a:pPr>
            <a:r>
              <a:rPr lang="fr-FR" sz="850" dirty="0">
                <a:solidFill>
                  <a:srgbClr val="A9853F"/>
                </a:solidFill>
                <a:latin typeface="Jost Medium" pitchFamily="2" charset="77"/>
                <a:ea typeface="Jost Medium" pitchFamily="2" charset="77"/>
                <a:cs typeface="Jost Medium" pitchFamily="2" charset="77"/>
              </a:rPr>
              <a:t>POUR CAPITALISER</a:t>
            </a:r>
          </a:p>
        </p:txBody>
      </p:sp>
      <p:sp>
        <p:nvSpPr>
          <p:cNvPr id="15042" name="Shape 15042"/>
          <p:cNvSpPr/>
          <p:nvPr/>
        </p:nvSpPr>
        <p:spPr>
          <a:xfrm>
            <a:off x="5277468" y="2616610"/>
            <a:ext cx="6414532" cy="1230000"/>
          </a:xfrm>
          <a:prstGeom prst="rect">
            <a:avLst/>
          </a:prstGeom>
          <a:solidFill>
            <a:srgbClr val="FCF9EF"/>
          </a:solidFill>
          <a:ln>
            <a:noFill/>
          </a:ln>
        </p:spPr>
        <p:txBody>
          <a:bodyPr rtlCol="0" anchor="ctr"/>
          <a:lstStyle/>
          <a:p>
            <a:endParaRPr lang="fr-FR"/>
          </a:p>
        </p:txBody>
      </p:sp>
      <p:sp>
        <p:nvSpPr>
          <p:cNvPr id="15043" name="Text 15043"/>
          <p:cNvSpPr txBox="1"/>
          <p:nvPr/>
        </p:nvSpPr>
        <p:spPr>
          <a:xfrm>
            <a:off x="5577468" y="2776610"/>
            <a:ext cx="5814532" cy="910000"/>
          </a:xfrm>
          <a:prstGeom prst="rect">
            <a:avLst/>
          </a:prstGeom>
          <a:noFill/>
          <a:ln>
            <a:noFill/>
          </a:ln>
        </p:spPr>
        <p:txBody>
          <a:bodyPr wrap="square" lIns="0" tIns="0" rIns="0" bIns="0" rtlCol="0" anchor="t">
            <a:normAutofit/>
          </a:bodyPr>
          <a:lstStyle/>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Aucune limite : titres vifs, ETF, OP, Obligataire, produits structurés, toutes devises</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rPr>
              <a:t>Des frais réduits, mais une fiscalité plus lourde</a:t>
            </a:r>
          </a:p>
          <a:p>
            <a:pPr marL="182880" indent="-182880">
              <a:spcAft>
                <a:spcPts val="500"/>
              </a:spcAft>
              <a:buFont typeface="Arial" pitchFamily="34" charset="0"/>
              <a:buChar char="▪"/>
            </a:pPr>
            <a:r>
              <a:rPr lang="fr-FR" sz="1000" dirty="0">
                <a:solidFill>
                  <a:srgbClr val="073527"/>
                </a:solidFill>
                <a:latin typeface="Jost Light" pitchFamily="2" charset="77"/>
                <a:ea typeface="Jost Light" pitchFamily="2" charset="77"/>
              </a:rPr>
              <a:t>Possibilité de percevoir des dividendes</a:t>
            </a:r>
          </a:p>
          <a:p>
            <a:pPr marL="182880" indent="-182880" algn="l">
              <a:spcAft>
                <a:spcPts val="500"/>
              </a:spcAft>
              <a:buFont typeface="Arial" pitchFamily="34" charset="0"/>
              <a:buChar char="▪"/>
            </a:pPr>
            <a:endParaRPr lang="fr-FR" sz="1000" dirty="0">
              <a:solidFill>
                <a:srgbClr val="073527"/>
              </a:solidFill>
              <a:latin typeface="Jost Light" pitchFamily="2" charset="77"/>
              <a:ea typeface="Jost Light" pitchFamily="2" charset="77"/>
            </a:endParaRPr>
          </a:p>
          <a:p>
            <a:pPr marL="182880" indent="-182880" algn="l">
              <a:spcAft>
                <a:spcPts val="500"/>
              </a:spcAft>
              <a:buFont typeface="Arial" pitchFamily="34" charset="0"/>
              <a:buChar char="▪"/>
            </a:pPr>
            <a:endParaRPr lang="fr-FR" sz="1000" dirty="0">
              <a:solidFill>
                <a:srgbClr val="073527"/>
              </a:solidFill>
              <a:latin typeface="Jost Light" pitchFamily="2" charset="77"/>
              <a:ea typeface="Jost Light" pitchFamily="2" charset="77"/>
            </a:endParaRPr>
          </a:p>
          <a:p>
            <a:pPr marL="182880" indent="-182880" algn="l">
              <a:spcAft>
                <a:spcPts val="500"/>
              </a:spcAft>
              <a:buFont typeface="Arial" pitchFamily="34" charset="0"/>
              <a:buChar char="▪"/>
            </a:pPr>
            <a:endParaRPr lang="fr-FR" sz="1000" dirty="0">
              <a:solidFill>
                <a:srgbClr val="073527"/>
              </a:solidFill>
              <a:latin typeface="Jost Light" pitchFamily="2" charset="77"/>
              <a:ea typeface="Jost Light" pitchFamily="2" charset="77"/>
            </a:endParaRPr>
          </a:p>
        </p:txBody>
      </p:sp>
      <p:sp>
        <p:nvSpPr>
          <p:cNvPr id="15044" name="Shape 15044"/>
          <p:cNvSpPr/>
          <p:nvPr/>
        </p:nvSpPr>
        <p:spPr>
          <a:xfrm>
            <a:off x="5277468" y="4066610"/>
            <a:ext cx="6414532" cy="440000"/>
          </a:xfrm>
          <a:prstGeom prst="rect">
            <a:avLst/>
          </a:prstGeom>
          <a:solidFill>
            <a:srgbClr val="001B00"/>
          </a:solidFill>
          <a:ln>
            <a:noFill/>
          </a:ln>
        </p:spPr>
        <p:txBody>
          <a:bodyPr rtlCol="0" anchor="ctr"/>
          <a:lstStyle/>
          <a:p>
            <a:endParaRPr lang="fr-FR"/>
          </a:p>
        </p:txBody>
      </p:sp>
      <p:sp>
        <p:nvSpPr>
          <p:cNvPr id="15045" name="Text 15045"/>
          <p:cNvSpPr txBox="1"/>
          <p:nvPr/>
        </p:nvSpPr>
        <p:spPr>
          <a:xfrm>
            <a:off x="5537468" y="4066610"/>
            <a:ext cx="4814532" cy="440000"/>
          </a:xfrm>
          <a:prstGeom prst="rect">
            <a:avLst/>
          </a:prstGeom>
          <a:noFill/>
          <a:ln>
            <a:noFill/>
          </a:ln>
        </p:spPr>
        <p:txBody>
          <a:bodyPr wrap="square" lIns="0" tIns="0" rIns="0" bIns="0" rtlCol="0" anchor="ctr">
            <a:normAutofit/>
          </a:bodyPr>
          <a:lstStyle/>
          <a:p>
            <a:pPr algn="l">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Les SCPI en direct</a:t>
            </a:r>
          </a:p>
        </p:txBody>
      </p:sp>
      <p:sp>
        <p:nvSpPr>
          <p:cNvPr id="15046" name="Text 15046"/>
          <p:cNvSpPr txBox="1"/>
          <p:nvPr/>
        </p:nvSpPr>
        <p:spPr>
          <a:xfrm>
            <a:off x="10192000" y="4066610"/>
            <a:ext cx="1240000" cy="440000"/>
          </a:xfrm>
          <a:prstGeom prst="rect">
            <a:avLst/>
          </a:prstGeom>
          <a:noFill/>
          <a:ln>
            <a:noFill/>
          </a:ln>
        </p:spPr>
        <p:txBody>
          <a:bodyPr wrap="square" lIns="0" tIns="0" rIns="0" bIns="0" rtlCol="0" anchor="ctr">
            <a:normAutofit/>
          </a:bodyPr>
          <a:lstStyle/>
          <a:p>
            <a:pPr algn="r">
              <a:buNone/>
            </a:pPr>
            <a:r>
              <a:rPr lang="fr-FR" sz="850" dirty="0">
                <a:solidFill>
                  <a:srgbClr val="A9853F"/>
                </a:solidFill>
                <a:latin typeface="Jost Medium" pitchFamily="2" charset="77"/>
                <a:ea typeface="Jost Medium" pitchFamily="2" charset="77"/>
                <a:cs typeface="Jost Medium" pitchFamily="2" charset="77"/>
              </a:rPr>
              <a:t>POUR ENCAISSER</a:t>
            </a:r>
          </a:p>
        </p:txBody>
      </p:sp>
      <p:sp>
        <p:nvSpPr>
          <p:cNvPr id="15047" name="Shape 15047"/>
          <p:cNvSpPr/>
          <p:nvPr/>
        </p:nvSpPr>
        <p:spPr>
          <a:xfrm>
            <a:off x="5277468" y="4506610"/>
            <a:ext cx="6414532" cy="1230000"/>
          </a:xfrm>
          <a:prstGeom prst="rect">
            <a:avLst/>
          </a:prstGeom>
          <a:solidFill>
            <a:srgbClr val="FCF9EF"/>
          </a:solidFill>
          <a:ln>
            <a:noFill/>
          </a:ln>
        </p:spPr>
        <p:txBody>
          <a:bodyPr rtlCol="0" anchor="ctr"/>
          <a:lstStyle/>
          <a:p>
            <a:endParaRPr lang="fr-FR"/>
          </a:p>
        </p:txBody>
      </p:sp>
      <p:sp>
        <p:nvSpPr>
          <p:cNvPr id="6" name="Text 15023">
            <a:extLst>
              <a:ext uri="{FF2B5EF4-FFF2-40B4-BE49-F238E27FC236}">
                <a16:creationId xmlns:a16="http://schemas.microsoft.com/office/drawing/2014/main" id="{F5877714-7D4C-CD9A-5B02-D32C39340407}"/>
              </a:ext>
            </a:extLst>
          </p:cNvPr>
          <p:cNvSpPr txBox="1"/>
          <p:nvPr/>
        </p:nvSpPr>
        <p:spPr>
          <a:xfrm>
            <a:off x="5577468" y="4666610"/>
            <a:ext cx="5814532" cy="910000"/>
          </a:xfrm>
          <a:prstGeom prst="rect">
            <a:avLst/>
          </a:prstGeom>
          <a:noFill/>
          <a:ln>
            <a:noFill/>
          </a:ln>
        </p:spPr>
        <p:txBody>
          <a:bodyPr wrap="square" lIns="0" tIns="0" rIns="0" bIns="0" rtlCol="0" anchor="t">
            <a:normAutofit/>
          </a:bodyPr>
          <a:lstStyle/>
          <a:p>
            <a:pPr marL="182880" indent="-182880">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Des revenus mensuel ou trimestriels immédiats, sans rachat à organiser.</a:t>
            </a:r>
          </a:p>
          <a:p>
            <a:pPr marL="182880" indent="-182880">
              <a:spcAft>
                <a:spcPts val="500"/>
              </a:spcAft>
              <a:buFont typeface="Arial" pitchFamily="34" charset="0"/>
              <a:buChar char="▪"/>
            </a:pPr>
            <a:r>
              <a:rPr lang="fr-FR" sz="1000" dirty="0">
                <a:solidFill>
                  <a:srgbClr val="073527"/>
                </a:solidFill>
                <a:latin typeface="Jost Light" pitchFamily="2" charset="77"/>
                <a:ea typeface="Jost Light" pitchFamily="2" charset="77"/>
              </a:rPr>
              <a:t>SCPI européennes : bénéficiez d’une fiscalité sans prélèvements sociaux.</a:t>
            </a:r>
          </a:p>
          <a:p>
            <a:pPr marL="182880" indent="-182880">
              <a:spcAft>
                <a:spcPts val="500"/>
              </a:spcAft>
              <a:buFont typeface="Arial" pitchFamily="34" charset="0"/>
              <a:buChar char="▪"/>
            </a:pPr>
            <a:r>
              <a:rPr lang="fr-FR" sz="1000" dirty="0">
                <a:solidFill>
                  <a:srgbClr val="073527"/>
                </a:solidFill>
                <a:latin typeface="Jost Light" pitchFamily="2" charset="77"/>
                <a:ea typeface="Jost Light" pitchFamily="2" charset="77"/>
              </a:rPr>
              <a:t>Investir en direct : permet plus de revenus nets, sans additionner les frais liés à une enveloppe.</a:t>
            </a:r>
          </a:p>
        </p:txBody>
      </p:sp>
    </p:spTree>
    <p:extLst>
      <p:ext uri="{BB962C8B-B14F-4D97-AF65-F5344CB8AC3E}">
        <p14:creationId xmlns:p14="http://schemas.microsoft.com/office/powerpoint/2010/main" val="303180227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0"/>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Assurance vie luxembourgeoise pour le cadre, produits structurés pour le moteur</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Vos objectifs : sécuriser le patrimoine tout en le faisant fructifier</a:t>
            </a:r>
          </a:p>
        </p:txBody>
      </p:sp>
      <p:sp>
        <p:nvSpPr>
          <p:cNvPr id="15052" name="Text 15052"/>
          <p:cNvSpPr txBox="1"/>
          <p:nvPr/>
        </p:nvSpPr>
        <p:spPr>
          <a:xfrm>
            <a:off x="947468" y="1835592"/>
            <a:ext cx="3000000"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VOS OBJECTIFS</a:t>
            </a:r>
          </a:p>
        </p:txBody>
      </p:sp>
      <p:sp>
        <p:nvSpPr>
          <p:cNvPr id="15053" name="Shape 15053"/>
          <p:cNvSpPr/>
          <p:nvPr/>
        </p:nvSpPr>
        <p:spPr>
          <a:xfrm>
            <a:off x="947468" y="2165592"/>
            <a:ext cx="3150000" cy="1066666"/>
          </a:xfrm>
          <a:prstGeom prst="rect">
            <a:avLst/>
          </a:prstGeom>
          <a:solidFill>
            <a:srgbClr val="FCF9EF"/>
          </a:solidFill>
          <a:ln w="9525">
            <a:solidFill>
              <a:srgbClr val="A9853F"/>
            </a:solidFill>
          </a:ln>
        </p:spPr>
        <p:txBody>
          <a:bodyPr rtlCol="0" anchor="ctr"/>
          <a:lstStyle/>
          <a:p>
            <a:endParaRPr lang="fr-FR"/>
          </a:p>
        </p:txBody>
      </p:sp>
      <p:sp>
        <p:nvSpPr>
          <p:cNvPr id="15054" name="Shape 15054"/>
          <p:cNvSpPr/>
          <p:nvPr/>
        </p:nvSpPr>
        <p:spPr>
          <a:xfrm>
            <a:off x="947468" y="2165592"/>
            <a:ext cx="90000" cy="1066666"/>
          </a:xfrm>
          <a:prstGeom prst="rect">
            <a:avLst/>
          </a:prstGeom>
          <a:solidFill>
            <a:srgbClr val="A9853F"/>
          </a:solidFill>
          <a:ln>
            <a:noFill/>
          </a:ln>
        </p:spPr>
        <p:txBody>
          <a:bodyPr rtlCol="0" anchor="ctr"/>
          <a:lstStyle/>
          <a:p>
            <a:endParaRPr lang="fr-FR"/>
          </a:p>
        </p:txBody>
      </p:sp>
      <p:sp>
        <p:nvSpPr>
          <p:cNvPr id="15055" name="Text 15055"/>
          <p:cNvSpPr txBox="1"/>
          <p:nvPr/>
        </p:nvSpPr>
        <p:spPr>
          <a:xfrm>
            <a:off x="1227468" y="2165592"/>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Protéger un patrimoine important</a:t>
            </a:r>
          </a:p>
        </p:txBody>
      </p:sp>
      <p:sp>
        <p:nvSpPr>
          <p:cNvPr id="15056" name="Shape 15056"/>
          <p:cNvSpPr/>
          <p:nvPr/>
        </p:nvSpPr>
        <p:spPr>
          <a:xfrm>
            <a:off x="947468" y="3412258"/>
            <a:ext cx="3150000" cy="1066666"/>
          </a:xfrm>
          <a:prstGeom prst="rect">
            <a:avLst/>
          </a:prstGeom>
          <a:solidFill>
            <a:srgbClr val="FCF9EF"/>
          </a:solidFill>
          <a:ln w="9525">
            <a:solidFill>
              <a:srgbClr val="A9853F"/>
            </a:solidFill>
          </a:ln>
        </p:spPr>
        <p:txBody>
          <a:bodyPr rtlCol="0" anchor="ctr"/>
          <a:lstStyle/>
          <a:p>
            <a:endParaRPr lang="fr-FR"/>
          </a:p>
        </p:txBody>
      </p:sp>
      <p:sp>
        <p:nvSpPr>
          <p:cNvPr id="15057" name="Shape 15057"/>
          <p:cNvSpPr/>
          <p:nvPr/>
        </p:nvSpPr>
        <p:spPr>
          <a:xfrm>
            <a:off x="947468" y="3412258"/>
            <a:ext cx="90000" cy="1066666"/>
          </a:xfrm>
          <a:prstGeom prst="rect">
            <a:avLst/>
          </a:prstGeom>
          <a:solidFill>
            <a:srgbClr val="A9853F"/>
          </a:solidFill>
          <a:ln>
            <a:noFill/>
          </a:ln>
        </p:spPr>
        <p:txBody>
          <a:bodyPr rtlCol="0" anchor="ctr"/>
          <a:lstStyle/>
          <a:p>
            <a:endParaRPr lang="fr-FR"/>
          </a:p>
        </p:txBody>
      </p:sp>
      <p:sp>
        <p:nvSpPr>
          <p:cNvPr id="15058" name="Text 15058"/>
          <p:cNvSpPr txBox="1"/>
          <p:nvPr/>
        </p:nvSpPr>
        <p:spPr>
          <a:xfrm>
            <a:off x="1227468" y="3412258"/>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Rechercher un rendement encadré</a:t>
            </a:r>
          </a:p>
        </p:txBody>
      </p:sp>
      <p:sp>
        <p:nvSpPr>
          <p:cNvPr id="15059" name="Shape 15059"/>
          <p:cNvSpPr/>
          <p:nvPr/>
        </p:nvSpPr>
        <p:spPr>
          <a:xfrm>
            <a:off x="947468" y="4658925"/>
            <a:ext cx="3150000" cy="1066666"/>
          </a:xfrm>
          <a:prstGeom prst="rect">
            <a:avLst/>
          </a:prstGeom>
          <a:solidFill>
            <a:srgbClr val="FCF9EF"/>
          </a:solidFill>
          <a:ln w="9525">
            <a:solidFill>
              <a:srgbClr val="A9853F"/>
            </a:solidFill>
          </a:ln>
        </p:spPr>
        <p:txBody>
          <a:bodyPr rtlCol="0" anchor="ctr"/>
          <a:lstStyle/>
          <a:p>
            <a:endParaRPr lang="fr-FR"/>
          </a:p>
        </p:txBody>
      </p:sp>
      <p:sp>
        <p:nvSpPr>
          <p:cNvPr id="15060" name="Shape 15060"/>
          <p:cNvSpPr/>
          <p:nvPr/>
        </p:nvSpPr>
        <p:spPr>
          <a:xfrm>
            <a:off x="947468" y="4658925"/>
            <a:ext cx="90000" cy="1066666"/>
          </a:xfrm>
          <a:prstGeom prst="rect">
            <a:avLst/>
          </a:prstGeom>
          <a:solidFill>
            <a:srgbClr val="A9853F"/>
          </a:solidFill>
          <a:ln>
            <a:noFill/>
          </a:ln>
        </p:spPr>
        <p:txBody>
          <a:bodyPr rtlCol="0" anchor="ctr"/>
          <a:lstStyle/>
          <a:p>
            <a:endParaRPr lang="fr-FR"/>
          </a:p>
        </p:txBody>
      </p:sp>
      <p:sp>
        <p:nvSpPr>
          <p:cNvPr id="15061" name="Text 15061"/>
          <p:cNvSpPr txBox="1"/>
          <p:nvPr/>
        </p:nvSpPr>
        <p:spPr>
          <a:xfrm>
            <a:off x="1227468" y="4658925"/>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Conserver la fiscalité française</a:t>
            </a:r>
          </a:p>
        </p:txBody>
      </p:sp>
      <p:sp>
        <p:nvSpPr>
          <p:cNvPr id="15062" name="Shape 15062"/>
          <p:cNvSpPr/>
          <p:nvPr/>
        </p:nvSpPr>
        <p:spPr>
          <a:xfrm>
            <a:off x="4427468" y="3685592"/>
            <a:ext cx="520000" cy="520000"/>
          </a:xfrm>
          <a:prstGeom prst="rightArrow">
            <a:avLst/>
          </a:prstGeom>
          <a:solidFill>
            <a:srgbClr val="A9853F"/>
          </a:solidFill>
          <a:ln>
            <a:noFill/>
          </a:ln>
        </p:spPr>
        <p:txBody>
          <a:bodyPr rtlCol="0" anchor="ctr"/>
          <a:lstStyle/>
          <a:p>
            <a:endParaRPr lang="fr-FR"/>
          </a:p>
        </p:txBody>
      </p:sp>
      <p:sp>
        <p:nvSpPr>
          <p:cNvPr id="15063" name="Text 15063"/>
          <p:cNvSpPr txBox="1"/>
          <p:nvPr/>
        </p:nvSpPr>
        <p:spPr>
          <a:xfrm>
            <a:off x="5277468" y="1835592"/>
            <a:ext cx="4000000"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LA RÉPONSE</a:t>
            </a:r>
          </a:p>
        </p:txBody>
      </p:sp>
      <p:sp>
        <p:nvSpPr>
          <p:cNvPr id="15064" name="Shape 15064"/>
          <p:cNvSpPr/>
          <p:nvPr/>
        </p:nvSpPr>
        <p:spPr>
          <a:xfrm>
            <a:off x="5277468" y="2165592"/>
            <a:ext cx="6414532" cy="440000"/>
          </a:xfrm>
          <a:prstGeom prst="rect">
            <a:avLst/>
          </a:prstGeom>
          <a:solidFill>
            <a:srgbClr val="001B00"/>
          </a:solidFill>
          <a:ln>
            <a:noFill/>
          </a:ln>
        </p:spPr>
        <p:txBody>
          <a:bodyPr rtlCol="0" anchor="ctr"/>
          <a:lstStyle/>
          <a:p>
            <a:endParaRPr lang="fr-FR"/>
          </a:p>
        </p:txBody>
      </p:sp>
      <p:sp>
        <p:nvSpPr>
          <p:cNvPr id="15065" name="Text 15065"/>
          <p:cNvSpPr txBox="1"/>
          <p:nvPr/>
        </p:nvSpPr>
        <p:spPr>
          <a:xfrm>
            <a:off x="5537468" y="2165592"/>
            <a:ext cx="4814532" cy="440000"/>
          </a:xfrm>
          <a:prstGeom prst="rect">
            <a:avLst/>
          </a:prstGeom>
          <a:noFill/>
          <a:ln>
            <a:noFill/>
          </a:ln>
        </p:spPr>
        <p:txBody>
          <a:bodyPr wrap="square" lIns="0" tIns="0" rIns="0" bIns="0" rtlCol="0" anchor="ctr">
            <a:normAutofit/>
          </a:bodyPr>
          <a:lstStyle/>
          <a:p>
            <a:pPr algn="l">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L’assurance vie luxembourgeoise</a:t>
            </a:r>
          </a:p>
        </p:txBody>
      </p:sp>
      <p:sp>
        <p:nvSpPr>
          <p:cNvPr id="15066" name="Text 15066"/>
          <p:cNvSpPr txBox="1"/>
          <p:nvPr/>
        </p:nvSpPr>
        <p:spPr>
          <a:xfrm>
            <a:off x="9099933" y="2165592"/>
            <a:ext cx="2332067" cy="440000"/>
          </a:xfrm>
          <a:prstGeom prst="rect">
            <a:avLst/>
          </a:prstGeom>
          <a:noFill/>
          <a:ln>
            <a:noFill/>
          </a:ln>
        </p:spPr>
        <p:txBody>
          <a:bodyPr wrap="square" lIns="0" tIns="0" rIns="0" bIns="0" rtlCol="0" anchor="ctr">
            <a:normAutofit/>
          </a:bodyPr>
          <a:lstStyle/>
          <a:p>
            <a:pPr algn="r">
              <a:buNone/>
            </a:pPr>
            <a:r>
              <a:rPr lang="fr-FR" sz="850" dirty="0">
                <a:solidFill>
                  <a:srgbClr val="A9853F"/>
                </a:solidFill>
                <a:latin typeface="Jost Medium" pitchFamily="2" charset="77"/>
                <a:ea typeface="Jost Medium" pitchFamily="2" charset="77"/>
                <a:cs typeface="Jost Medium" pitchFamily="2" charset="77"/>
              </a:rPr>
              <a:t>LE MEILLEUR CADRE POUR CAPITALISER</a:t>
            </a:r>
          </a:p>
        </p:txBody>
      </p:sp>
      <p:sp>
        <p:nvSpPr>
          <p:cNvPr id="15067" name="Shape 15067"/>
          <p:cNvSpPr/>
          <p:nvPr/>
        </p:nvSpPr>
        <p:spPr>
          <a:xfrm>
            <a:off x="5277468" y="2605592"/>
            <a:ext cx="6414532" cy="1230000"/>
          </a:xfrm>
          <a:prstGeom prst="rect">
            <a:avLst/>
          </a:prstGeom>
          <a:solidFill>
            <a:srgbClr val="FCF9EF"/>
          </a:solidFill>
          <a:ln>
            <a:noFill/>
          </a:ln>
        </p:spPr>
        <p:txBody>
          <a:bodyPr rtlCol="0" anchor="ctr"/>
          <a:lstStyle/>
          <a:p>
            <a:endParaRPr lang="fr-FR"/>
          </a:p>
        </p:txBody>
      </p:sp>
      <p:sp>
        <p:nvSpPr>
          <p:cNvPr id="15068" name="Text 15068"/>
          <p:cNvSpPr txBox="1"/>
          <p:nvPr/>
        </p:nvSpPr>
        <p:spPr>
          <a:xfrm>
            <a:off x="5577468" y="2765592"/>
            <a:ext cx="5814532" cy="910000"/>
          </a:xfrm>
          <a:prstGeom prst="rect">
            <a:avLst/>
          </a:prstGeom>
          <a:noFill/>
          <a:ln>
            <a:noFill/>
          </a:ln>
        </p:spPr>
        <p:txBody>
          <a:bodyPr wrap="square" lIns="0" tIns="0" rIns="0" bIns="0" rtlCol="0" anchor="t">
            <a:normAutofit/>
          </a:bodyPr>
          <a:lstStyle/>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Triangle de sécurité : vos actifs sont ségrégués chez la banque dépositaire, pas de loi Sapin 2.</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Super privilège : créancier de premier rang, sans plafond, contre 70 000 EUR en France.</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rPr>
              <a:t>FE avec 100 000 EUR, FID ou FAS dès 250 000 EUR : une stratégie patrimoniale à forte valeur ajoutée.</a:t>
            </a:r>
          </a:p>
          <a:p>
            <a:pPr marL="182880" indent="-182880" algn="l">
              <a:spcAft>
                <a:spcPts val="500"/>
              </a:spcAft>
              <a:buFont typeface="Arial" pitchFamily="34" charset="0"/>
              <a:buChar char="▪"/>
            </a:pPr>
            <a:endParaRPr lang="fr-FR" sz="1000" dirty="0">
              <a:solidFill>
                <a:srgbClr val="073527"/>
              </a:solidFill>
              <a:latin typeface="Jost Light" pitchFamily="2" charset="77"/>
              <a:ea typeface="Jost Light" pitchFamily="2" charset="77"/>
              <a:cs typeface="Jost Light" pitchFamily="2" charset="77"/>
            </a:endParaRPr>
          </a:p>
        </p:txBody>
      </p:sp>
      <p:sp>
        <p:nvSpPr>
          <p:cNvPr id="15069" name="Shape 15069"/>
          <p:cNvSpPr/>
          <p:nvPr/>
        </p:nvSpPr>
        <p:spPr>
          <a:xfrm>
            <a:off x="5277468" y="4055592"/>
            <a:ext cx="6414532" cy="440000"/>
          </a:xfrm>
          <a:prstGeom prst="rect">
            <a:avLst/>
          </a:prstGeom>
          <a:solidFill>
            <a:srgbClr val="001B00"/>
          </a:solidFill>
          <a:ln>
            <a:noFill/>
          </a:ln>
        </p:spPr>
        <p:txBody>
          <a:bodyPr rtlCol="0" anchor="ctr"/>
          <a:lstStyle/>
          <a:p>
            <a:endParaRPr lang="fr-FR"/>
          </a:p>
        </p:txBody>
      </p:sp>
      <p:sp>
        <p:nvSpPr>
          <p:cNvPr id="15070" name="Text 15070"/>
          <p:cNvSpPr txBox="1"/>
          <p:nvPr/>
        </p:nvSpPr>
        <p:spPr>
          <a:xfrm>
            <a:off x="5537468" y="4055592"/>
            <a:ext cx="4814532" cy="440000"/>
          </a:xfrm>
          <a:prstGeom prst="rect">
            <a:avLst/>
          </a:prstGeom>
          <a:noFill/>
          <a:ln>
            <a:noFill/>
          </a:ln>
        </p:spPr>
        <p:txBody>
          <a:bodyPr wrap="square" lIns="0" tIns="0" rIns="0" bIns="0" rtlCol="0" anchor="ctr">
            <a:normAutofit/>
          </a:bodyPr>
          <a:lstStyle/>
          <a:p>
            <a:pPr algn="l">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Les produits structurés</a:t>
            </a:r>
          </a:p>
        </p:txBody>
      </p:sp>
      <p:sp>
        <p:nvSpPr>
          <p:cNvPr id="15071" name="Text 15071"/>
          <p:cNvSpPr txBox="1"/>
          <p:nvPr/>
        </p:nvSpPr>
        <p:spPr>
          <a:xfrm>
            <a:off x="9485523" y="4055592"/>
            <a:ext cx="1946477" cy="440000"/>
          </a:xfrm>
          <a:prstGeom prst="rect">
            <a:avLst/>
          </a:prstGeom>
          <a:noFill/>
          <a:ln>
            <a:noFill/>
          </a:ln>
        </p:spPr>
        <p:txBody>
          <a:bodyPr wrap="square" lIns="0" tIns="0" rIns="0" bIns="0" rtlCol="0" anchor="ctr">
            <a:normAutofit/>
          </a:bodyPr>
          <a:lstStyle/>
          <a:p>
            <a:pPr algn="r">
              <a:buNone/>
            </a:pPr>
            <a:r>
              <a:rPr lang="fr-FR" sz="850" dirty="0">
                <a:solidFill>
                  <a:srgbClr val="A9853F"/>
                </a:solidFill>
                <a:latin typeface="Jost Medium" pitchFamily="2" charset="77"/>
                <a:ea typeface="Jost Medium" pitchFamily="2" charset="77"/>
                <a:cs typeface="Jost Medium" pitchFamily="2" charset="77"/>
              </a:rPr>
              <a:t>VOTRE MOTEUR DE PERFORMANCE</a:t>
            </a:r>
          </a:p>
        </p:txBody>
      </p:sp>
      <p:sp>
        <p:nvSpPr>
          <p:cNvPr id="15072" name="Shape 15072"/>
          <p:cNvSpPr/>
          <p:nvPr/>
        </p:nvSpPr>
        <p:spPr>
          <a:xfrm>
            <a:off x="5277468" y="4495592"/>
            <a:ext cx="6414532" cy="1230000"/>
          </a:xfrm>
          <a:prstGeom prst="rect">
            <a:avLst/>
          </a:prstGeom>
          <a:solidFill>
            <a:srgbClr val="FCF9EF"/>
          </a:solidFill>
          <a:ln>
            <a:noFill/>
          </a:ln>
        </p:spPr>
        <p:txBody>
          <a:bodyPr rtlCol="0" anchor="ctr"/>
          <a:lstStyle/>
          <a:p>
            <a:endParaRPr lang="fr-FR"/>
          </a:p>
        </p:txBody>
      </p:sp>
      <p:sp>
        <p:nvSpPr>
          <p:cNvPr id="15073" name="Text 15073"/>
          <p:cNvSpPr txBox="1"/>
          <p:nvPr/>
        </p:nvSpPr>
        <p:spPr>
          <a:xfrm>
            <a:off x="5577468" y="4655592"/>
            <a:ext cx="5814532" cy="910000"/>
          </a:xfrm>
          <a:prstGeom prst="rect">
            <a:avLst/>
          </a:prstGeom>
          <a:noFill/>
          <a:ln>
            <a:noFill/>
          </a:ln>
        </p:spPr>
        <p:txBody>
          <a:bodyPr wrap="square" lIns="0" tIns="0" rIns="0" bIns="0" rtlCol="0" anchor="t">
            <a:normAutofit/>
          </a:bodyPr>
          <a:lstStyle/>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Un coupon conditionnel, connu à l’avance, versé si votre sous-jacent respecte les conditions.</a:t>
            </a:r>
          </a:p>
          <a:p>
            <a:pPr marL="182880" indent="-182880">
              <a:spcAft>
                <a:spcPts val="500"/>
              </a:spcAft>
              <a:buFont typeface="Arial" pitchFamily="34" charset="0"/>
              <a:buChar char="▪"/>
            </a:pPr>
            <a:r>
              <a:rPr lang="fr-FR" sz="1000" dirty="0">
                <a:solidFill>
                  <a:srgbClr val="073527"/>
                </a:solidFill>
                <a:latin typeface="Jost Light" pitchFamily="2" charset="77"/>
                <a:ea typeface="Jost Light" pitchFamily="2" charset="77"/>
              </a:rPr>
              <a:t>Une protection du capital à l’échéance tant que la barrière n’est pas franchie.</a:t>
            </a:r>
          </a:p>
          <a:p>
            <a:pPr marL="182880" lvl="0" indent="-182880">
              <a:spcAft>
                <a:spcPts val="500"/>
              </a:spcAft>
              <a:buFont typeface="Arial" pitchFamily="34" charset="0"/>
              <a:buChar char="▪"/>
            </a:pPr>
            <a:r>
              <a:rPr lang="fr-FR" sz="1000" dirty="0">
                <a:solidFill>
                  <a:srgbClr val="073527"/>
                </a:solidFill>
                <a:latin typeface="Jost Light" pitchFamily="2" charset="77"/>
                <a:ea typeface="Jost Light" pitchFamily="2" charset="77"/>
              </a:rPr>
              <a:t>Une gestion et un potentiel de rendement adaptés à votre profil de risque.</a:t>
            </a:r>
          </a:p>
        </p:txBody>
      </p:sp>
    </p:spTree>
    <p:extLst>
      <p:ext uri="{BB962C8B-B14F-4D97-AF65-F5344CB8AC3E}">
        <p14:creationId xmlns:p14="http://schemas.microsoft.com/office/powerpoint/2010/main" val="31425883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20089"/>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10000000"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Vous gardez votre contrat et son antériorité, nous en reprenons la gestion</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10000000" cy="371138"/>
          </a:xfrm>
          <a:prstGeom prst="rect">
            <a:avLst/>
          </a:prstGeom>
          <a:noFill/>
          <a:ln/>
        </p:spPr>
        <p:txBody>
          <a:bodyPr wrap="square" lIns="0" tIns="0" rIns="0" bIns="0" rtlCol="0" anchor="t">
            <a:normAutofit/>
          </a:bodyPr>
          <a:lstStyle/>
          <a:p>
            <a:r>
              <a:rPr lang="fr-FR" sz="2000" b="1" noProof="0" dirty="0">
                <a:solidFill>
                  <a:srgbClr val="A9853F"/>
                </a:solidFill>
                <a:latin typeface="Cormorant Garamond SemiBold" pitchFamily="2" charset="77"/>
                <a:ea typeface="Cormorant Garamond SemiBold" pitchFamily="2" charset="77"/>
                <a:cs typeface="Cormorant Garamond SemiBold" pitchFamily="2" charset="77"/>
              </a:rPr>
              <a:t>Reprendre la gestion de votre contrat existant</a:t>
            </a:r>
          </a:p>
        </p:txBody>
      </p:sp>
      <p:sp>
        <p:nvSpPr>
          <p:cNvPr id="18002" name="Text 18002"/>
          <p:cNvSpPr txBox="1"/>
          <p:nvPr/>
        </p:nvSpPr>
        <p:spPr>
          <a:xfrm>
            <a:off x="947468" y="1450000"/>
            <a:ext cx="3000000"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CE QUI NE CHANGE PAS</a:t>
            </a:r>
          </a:p>
        </p:txBody>
      </p:sp>
      <p:sp>
        <p:nvSpPr>
          <p:cNvPr id="18003" name="Shape 18003"/>
          <p:cNvSpPr/>
          <p:nvPr/>
        </p:nvSpPr>
        <p:spPr>
          <a:xfrm>
            <a:off x="947468" y="1780000"/>
            <a:ext cx="3150000" cy="1066666"/>
          </a:xfrm>
          <a:prstGeom prst="rect">
            <a:avLst/>
          </a:prstGeom>
          <a:solidFill>
            <a:srgbClr val="FCF9EF"/>
          </a:solidFill>
          <a:ln w="9525">
            <a:solidFill>
              <a:srgbClr val="A9853F"/>
            </a:solidFill>
          </a:ln>
        </p:spPr>
        <p:txBody>
          <a:bodyPr rtlCol="0" anchor="ctr"/>
          <a:lstStyle/>
          <a:p>
            <a:endParaRPr lang="fr-FR"/>
          </a:p>
        </p:txBody>
      </p:sp>
      <p:sp>
        <p:nvSpPr>
          <p:cNvPr id="18004" name="Shape 18004"/>
          <p:cNvSpPr/>
          <p:nvPr/>
        </p:nvSpPr>
        <p:spPr>
          <a:xfrm>
            <a:off x="947468" y="1780000"/>
            <a:ext cx="90000" cy="1066666"/>
          </a:xfrm>
          <a:prstGeom prst="rect">
            <a:avLst/>
          </a:prstGeom>
          <a:solidFill>
            <a:srgbClr val="A9853F"/>
          </a:solidFill>
          <a:ln>
            <a:noFill/>
          </a:ln>
        </p:spPr>
        <p:txBody>
          <a:bodyPr rtlCol="0" anchor="ctr"/>
          <a:lstStyle/>
          <a:p>
            <a:endParaRPr lang="fr-FR"/>
          </a:p>
        </p:txBody>
      </p:sp>
      <p:sp>
        <p:nvSpPr>
          <p:cNvPr id="18005" name="Text 18005"/>
          <p:cNvSpPr txBox="1"/>
          <p:nvPr/>
        </p:nvSpPr>
        <p:spPr>
          <a:xfrm>
            <a:off x="1227468" y="1780000"/>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Votre contrat, votre assureur/banque et votre antériorité fiscale.</a:t>
            </a:r>
          </a:p>
        </p:txBody>
      </p:sp>
      <p:sp>
        <p:nvSpPr>
          <p:cNvPr id="18006" name="Shape 18006"/>
          <p:cNvSpPr/>
          <p:nvPr/>
        </p:nvSpPr>
        <p:spPr>
          <a:xfrm>
            <a:off x="947468" y="3026666"/>
            <a:ext cx="3150000" cy="1066666"/>
          </a:xfrm>
          <a:prstGeom prst="rect">
            <a:avLst/>
          </a:prstGeom>
          <a:solidFill>
            <a:srgbClr val="FCF9EF"/>
          </a:solidFill>
          <a:ln w="9525">
            <a:solidFill>
              <a:srgbClr val="A9853F"/>
            </a:solidFill>
          </a:ln>
        </p:spPr>
        <p:txBody>
          <a:bodyPr rtlCol="0" anchor="ctr"/>
          <a:lstStyle/>
          <a:p>
            <a:endParaRPr lang="fr-FR"/>
          </a:p>
        </p:txBody>
      </p:sp>
      <p:sp>
        <p:nvSpPr>
          <p:cNvPr id="18007" name="Shape 18007"/>
          <p:cNvSpPr/>
          <p:nvPr/>
        </p:nvSpPr>
        <p:spPr>
          <a:xfrm>
            <a:off x="947468" y="3026666"/>
            <a:ext cx="90000" cy="1066666"/>
          </a:xfrm>
          <a:prstGeom prst="rect">
            <a:avLst/>
          </a:prstGeom>
          <a:solidFill>
            <a:srgbClr val="A9853F"/>
          </a:solidFill>
          <a:ln>
            <a:noFill/>
          </a:ln>
        </p:spPr>
        <p:txBody>
          <a:bodyPr rtlCol="0" anchor="ctr"/>
          <a:lstStyle/>
          <a:p>
            <a:endParaRPr lang="fr-FR"/>
          </a:p>
        </p:txBody>
      </p:sp>
      <p:sp>
        <p:nvSpPr>
          <p:cNvPr id="18008" name="Text 18008"/>
          <p:cNvSpPr txBox="1"/>
          <p:nvPr/>
        </p:nvSpPr>
        <p:spPr>
          <a:xfrm>
            <a:off x="1227468" y="3026666"/>
            <a:ext cx="2670000" cy="1066666"/>
          </a:xfrm>
          <a:prstGeom prst="rect">
            <a:avLst/>
          </a:prstGeom>
          <a:noFill/>
          <a:ln>
            <a:noFill/>
          </a:ln>
        </p:spPr>
        <p:txBody>
          <a:bodyPr wrap="square" lIns="0" tIns="0" rIns="0" bIns="0" rtlCol="0" anchor="ctr">
            <a:normAutofit/>
          </a:bodyPr>
          <a:lstStyle/>
          <a:p>
            <a:pPr algn="l">
              <a:buNone/>
            </a:pPr>
            <a:r>
              <a:rPr lang="fr-FR" sz="1100" dirty="0">
                <a:solidFill>
                  <a:srgbClr val="073527"/>
                </a:solidFill>
                <a:latin typeface="Jost Medium" pitchFamily="2" charset="77"/>
                <a:ea typeface="Jost Medium" pitchFamily="2" charset="77"/>
                <a:cs typeface="Jost Medium" pitchFamily="2" charset="77"/>
              </a:rPr>
              <a:t>Le transfert de courtage est offert : il ne vous coûte rien.</a:t>
            </a:r>
          </a:p>
        </p:txBody>
      </p:sp>
      <p:sp>
        <p:nvSpPr>
          <p:cNvPr id="18009" name="Shape 18009"/>
          <p:cNvSpPr/>
          <p:nvPr/>
        </p:nvSpPr>
        <p:spPr>
          <a:xfrm>
            <a:off x="947468" y="4273333"/>
            <a:ext cx="3150000" cy="1066666"/>
          </a:xfrm>
          <a:prstGeom prst="rect">
            <a:avLst/>
          </a:prstGeom>
          <a:solidFill>
            <a:srgbClr val="FCF9EF"/>
          </a:solidFill>
          <a:ln w="9525">
            <a:solidFill>
              <a:srgbClr val="A9853F"/>
            </a:solidFill>
          </a:ln>
        </p:spPr>
        <p:txBody>
          <a:bodyPr rtlCol="0" anchor="ctr"/>
          <a:lstStyle/>
          <a:p>
            <a:endParaRPr lang="fr-FR"/>
          </a:p>
        </p:txBody>
      </p:sp>
      <p:sp>
        <p:nvSpPr>
          <p:cNvPr id="18010" name="Shape 18010"/>
          <p:cNvSpPr/>
          <p:nvPr/>
        </p:nvSpPr>
        <p:spPr>
          <a:xfrm>
            <a:off x="947468" y="4273333"/>
            <a:ext cx="90000" cy="1066666"/>
          </a:xfrm>
          <a:prstGeom prst="rect">
            <a:avLst/>
          </a:prstGeom>
          <a:solidFill>
            <a:srgbClr val="A9853F"/>
          </a:solidFill>
          <a:ln>
            <a:noFill/>
          </a:ln>
        </p:spPr>
        <p:txBody>
          <a:bodyPr rtlCol="0" anchor="ctr"/>
          <a:lstStyle/>
          <a:p>
            <a:endParaRPr lang="fr-FR"/>
          </a:p>
        </p:txBody>
      </p:sp>
      <p:sp>
        <p:nvSpPr>
          <p:cNvPr id="18011" name="Text 18011"/>
          <p:cNvSpPr txBox="1"/>
          <p:nvPr/>
        </p:nvSpPr>
        <p:spPr>
          <a:xfrm>
            <a:off x="1227468" y="4273333"/>
            <a:ext cx="2670000" cy="1066666"/>
          </a:xfrm>
          <a:prstGeom prst="rect">
            <a:avLst/>
          </a:prstGeom>
          <a:noFill/>
          <a:ln>
            <a:noFill/>
          </a:ln>
        </p:spPr>
        <p:txBody>
          <a:bodyPr wrap="square" lIns="0" tIns="0" rIns="0" bIns="0" rtlCol="0" anchor="ctr">
            <a:normAutofit/>
          </a:bodyPr>
          <a:lstStyle/>
          <a:p>
            <a:r>
              <a:rPr lang="fr-FR" sz="1100" dirty="0">
                <a:solidFill>
                  <a:srgbClr val="073527"/>
                </a:solidFill>
                <a:latin typeface="Jost Medium" pitchFamily="2" charset="77"/>
                <a:ea typeface="Jost Medium" pitchFamily="2" charset="77"/>
              </a:rPr>
              <a:t>Une structure tarifaire adaptable, avec la possibilité de réduire les frais de gestion.</a:t>
            </a:r>
          </a:p>
        </p:txBody>
      </p:sp>
      <p:sp>
        <p:nvSpPr>
          <p:cNvPr id="18012" name="Shape 18012"/>
          <p:cNvSpPr/>
          <p:nvPr/>
        </p:nvSpPr>
        <p:spPr>
          <a:xfrm>
            <a:off x="4427468" y="3300000"/>
            <a:ext cx="520000" cy="520000"/>
          </a:xfrm>
          <a:prstGeom prst="rightArrow">
            <a:avLst/>
          </a:prstGeom>
          <a:solidFill>
            <a:srgbClr val="A9853F"/>
          </a:solidFill>
          <a:ln>
            <a:noFill/>
          </a:ln>
        </p:spPr>
        <p:txBody>
          <a:bodyPr rtlCol="0" anchor="ctr"/>
          <a:lstStyle/>
          <a:p>
            <a:endParaRPr lang="fr-FR"/>
          </a:p>
        </p:txBody>
      </p:sp>
      <p:sp>
        <p:nvSpPr>
          <p:cNvPr id="18013" name="Text 18013"/>
          <p:cNvSpPr txBox="1"/>
          <p:nvPr/>
        </p:nvSpPr>
        <p:spPr>
          <a:xfrm>
            <a:off x="5277468" y="1450000"/>
            <a:ext cx="4000000" cy="300000"/>
          </a:xfrm>
          <a:prstGeom prst="rect">
            <a:avLst/>
          </a:prstGeom>
          <a:noFill/>
          <a:ln>
            <a:noFill/>
          </a:ln>
        </p:spPr>
        <p:txBody>
          <a:bodyPr wrap="square" lIns="0" tIns="0" rIns="0" bIns="0" rtlCol="0" anchor="t">
            <a:normAutofit/>
          </a:bodyPr>
          <a:lstStyle/>
          <a:p>
            <a:pPr algn="l">
              <a:buNone/>
            </a:pPr>
            <a:r>
              <a:rPr lang="fr-FR" sz="900" dirty="0">
                <a:solidFill>
                  <a:srgbClr val="A9853F"/>
                </a:solidFill>
                <a:latin typeface="Jost Medium" pitchFamily="2" charset="77"/>
                <a:ea typeface="Jost Medium" pitchFamily="2" charset="77"/>
                <a:cs typeface="Jost Medium" pitchFamily="2" charset="77"/>
              </a:rPr>
              <a:t>CE QUE NOUS APPORTONS</a:t>
            </a:r>
          </a:p>
        </p:txBody>
      </p:sp>
      <p:sp>
        <p:nvSpPr>
          <p:cNvPr id="18014" name="Shape 18014"/>
          <p:cNvSpPr/>
          <p:nvPr/>
        </p:nvSpPr>
        <p:spPr>
          <a:xfrm>
            <a:off x="5277468" y="1780000"/>
            <a:ext cx="6414532" cy="440000"/>
          </a:xfrm>
          <a:prstGeom prst="rect">
            <a:avLst/>
          </a:prstGeom>
          <a:solidFill>
            <a:srgbClr val="001B00"/>
          </a:solidFill>
          <a:ln>
            <a:noFill/>
          </a:ln>
        </p:spPr>
        <p:txBody>
          <a:bodyPr rtlCol="0" anchor="ctr"/>
          <a:lstStyle/>
          <a:p>
            <a:endParaRPr lang="fr-FR"/>
          </a:p>
        </p:txBody>
      </p:sp>
      <p:sp>
        <p:nvSpPr>
          <p:cNvPr id="18015" name="Text 18015"/>
          <p:cNvSpPr txBox="1"/>
          <p:nvPr/>
        </p:nvSpPr>
        <p:spPr>
          <a:xfrm>
            <a:off x="5537468" y="1780000"/>
            <a:ext cx="4814532" cy="440000"/>
          </a:xfrm>
          <a:prstGeom prst="rect">
            <a:avLst/>
          </a:prstGeom>
          <a:noFill/>
          <a:ln>
            <a:noFill/>
          </a:ln>
        </p:spPr>
        <p:txBody>
          <a:bodyPr wrap="square" lIns="0" tIns="0" rIns="0" bIns="0" rtlCol="0" anchor="ctr">
            <a:normAutofit/>
          </a:bodyPr>
          <a:lstStyle/>
          <a:p>
            <a:pPr algn="l">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La gestion La Financière de Rochechouart</a:t>
            </a:r>
          </a:p>
        </p:txBody>
      </p:sp>
      <p:sp>
        <p:nvSpPr>
          <p:cNvPr id="18016" name="Text 18016"/>
          <p:cNvSpPr txBox="1"/>
          <p:nvPr/>
        </p:nvSpPr>
        <p:spPr>
          <a:xfrm>
            <a:off x="10192000" y="1780000"/>
            <a:ext cx="1240000" cy="440000"/>
          </a:xfrm>
          <a:prstGeom prst="rect">
            <a:avLst/>
          </a:prstGeom>
          <a:noFill/>
          <a:ln>
            <a:noFill/>
          </a:ln>
        </p:spPr>
        <p:txBody>
          <a:bodyPr wrap="square" lIns="0" tIns="0" rIns="0" bIns="0" rtlCol="0" anchor="ctr">
            <a:normAutofit/>
          </a:bodyPr>
          <a:lstStyle/>
          <a:p>
            <a:pPr algn="r">
              <a:buNone/>
            </a:pPr>
            <a:r>
              <a:rPr lang="fr-FR" sz="850" dirty="0">
                <a:solidFill>
                  <a:srgbClr val="A9853F"/>
                </a:solidFill>
                <a:latin typeface="Jost Medium" pitchFamily="2" charset="77"/>
                <a:ea typeface="Jost Medium" pitchFamily="2" charset="77"/>
                <a:cs typeface="Jost Medium" pitchFamily="2" charset="77"/>
              </a:rPr>
              <a:t>LE MOTEUR</a:t>
            </a:r>
          </a:p>
        </p:txBody>
      </p:sp>
      <p:sp>
        <p:nvSpPr>
          <p:cNvPr id="18017" name="Shape 18017"/>
          <p:cNvSpPr/>
          <p:nvPr/>
        </p:nvSpPr>
        <p:spPr>
          <a:xfrm>
            <a:off x="5277468" y="2220000"/>
            <a:ext cx="6414532" cy="1230000"/>
          </a:xfrm>
          <a:prstGeom prst="rect">
            <a:avLst/>
          </a:prstGeom>
          <a:solidFill>
            <a:srgbClr val="FCF9EF"/>
          </a:solidFill>
          <a:ln>
            <a:noFill/>
          </a:ln>
        </p:spPr>
        <p:txBody>
          <a:bodyPr rtlCol="0" anchor="ctr"/>
          <a:lstStyle/>
          <a:p>
            <a:endParaRPr lang="fr-FR"/>
          </a:p>
        </p:txBody>
      </p:sp>
      <p:sp>
        <p:nvSpPr>
          <p:cNvPr id="18018" name="Text 18018"/>
          <p:cNvSpPr txBox="1"/>
          <p:nvPr/>
        </p:nvSpPr>
        <p:spPr>
          <a:xfrm>
            <a:off x="5577468" y="2380000"/>
            <a:ext cx="5814532" cy="910000"/>
          </a:xfrm>
          <a:prstGeom prst="rect">
            <a:avLst/>
          </a:prstGeom>
          <a:noFill/>
          <a:ln>
            <a:noFill/>
          </a:ln>
        </p:spPr>
        <p:txBody>
          <a:bodyPr wrap="square" lIns="0" tIns="0" rIns="0" bIns="0" rtlCol="0" anchor="t">
            <a:normAutofit/>
          </a:bodyPr>
          <a:lstStyle/>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Une gestion mixte, qui associe stratégies flexibles et fonds de performance absolue.</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Des produits structurés construits pour vous, calibrés sur votre horizon et votre niveau de protection.</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Une allocation en OPC et ETF, ou intégralement en ETF si vous le souhaitez.</a:t>
            </a:r>
          </a:p>
        </p:txBody>
      </p:sp>
      <p:sp>
        <p:nvSpPr>
          <p:cNvPr id="18019" name="Shape 18019"/>
          <p:cNvSpPr/>
          <p:nvPr/>
        </p:nvSpPr>
        <p:spPr>
          <a:xfrm>
            <a:off x="5277468" y="3670000"/>
            <a:ext cx="6414532" cy="440000"/>
          </a:xfrm>
          <a:prstGeom prst="rect">
            <a:avLst/>
          </a:prstGeom>
          <a:solidFill>
            <a:srgbClr val="001B00"/>
          </a:solidFill>
          <a:ln>
            <a:noFill/>
          </a:ln>
        </p:spPr>
        <p:txBody>
          <a:bodyPr rtlCol="0" anchor="ctr"/>
          <a:lstStyle/>
          <a:p>
            <a:endParaRPr lang="fr-FR"/>
          </a:p>
        </p:txBody>
      </p:sp>
      <p:sp>
        <p:nvSpPr>
          <p:cNvPr id="18020" name="Text 18020"/>
          <p:cNvSpPr txBox="1"/>
          <p:nvPr/>
        </p:nvSpPr>
        <p:spPr>
          <a:xfrm>
            <a:off x="5537468" y="3670000"/>
            <a:ext cx="4814532" cy="440000"/>
          </a:xfrm>
          <a:prstGeom prst="rect">
            <a:avLst/>
          </a:prstGeom>
          <a:noFill/>
          <a:ln>
            <a:noFill/>
          </a:ln>
        </p:spPr>
        <p:txBody>
          <a:bodyPr wrap="square" lIns="0" tIns="0" rIns="0" bIns="0" rtlCol="0" anchor="ctr">
            <a:normAutofit/>
          </a:bodyPr>
          <a:lstStyle/>
          <a:p>
            <a:pPr algn="l">
              <a:buNone/>
            </a:pPr>
            <a:r>
              <a:rPr lang="fr-FR" sz="1300" b="1" dirty="0">
                <a:solidFill>
                  <a:srgbClr val="FFFFFF"/>
                </a:solidFill>
                <a:latin typeface="Cormorant Garamond SemiBold" pitchFamily="2" charset="77"/>
                <a:ea typeface="Cormorant Garamond SemiBold" pitchFamily="2" charset="77"/>
                <a:cs typeface="Cormorant Garamond SemiBold" pitchFamily="2" charset="77"/>
              </a:rPr>
              <a:t>L’ingénierie patrimoniale</a:t>
            </a:r>
          </a:p>
        </p:txBody>
      </p:sp>
      <p:sp>
        <p:nvSpPr>
          <p:cNvPr id="18021" name="Text 18021"/>
          <p:cNvSpPr txBox="1"/>
          <p:nvPr/>
        </p:nvSpPr>
        <p:spPr>
          <a:xfrm>
            <a:off x="10192000" y="3670000"/>
            <a:ext cx="1240000" cy="440000"/>
          </a:xfrm>
          <a:prstGeom prst="rect">
            <a:avLst/>
          </a:prstGeom>
          <a:noFill/>
          <a:ln>
            <a:noFill/>
          </a:ln>
        </p:spPr>
        <p:txBody>
          <a:bodyPr wrap="square" lIns="0" tIns="0" rIns="0" bIns="0" rtlCol="0" anchor="ctr">
            <a:normAutofit/>
          </a:bodyPr>
          <a:lstStyle/>
          <a:p>
            <a:pPr algn="r">
              <a:buNone/>
            </a:pPr>
            <a:r>
              <a:rPr lang="fr-FR" sz="850" dirty="0">
                <a:solidFill>
                  <a:srgbClr val="A9853F"/>
                </a:solidFill>
                <a:latin typeface="Jost Medium" pitchFamily="2" charset="77"/>
                <a:ea typeface="Jost Medium" pitchFamily="2" charset="77"/>
                <a:cs typeface="Jost Medium" pitchFamily="2" charset="77"/>
              </a:rPr>
              <a:t>L’ACCOMPAGNEMENT</a:t>
            </a:r>
          </a:p>
        </p:txBody>
      </p:sp>
      <p:sp>
        <p:nvSpPr>
          <p:cNvPr id="18022" name="Shape 18022"/>
          <p:cNvSpPr/>
          <p:nvPr/>
        </p:nvSpPr>
        <p:spPr>
          <a:xfrm>
            <a:off x="5277468" y="4110000"/>
            <a:ext cx="6414532" cy="1230000"/>
          </a:xfrm>
          <a:prstGeom prst="rect">
            <a:avLst/>
          </a:prstGeom>
          <a:solidFill>
            <a:srgbClr val="FCF9EF"/>
          </a:solidFill>
          <a:ln>
            <a:noFill/>
          </a:ln>
        </p:spPr>
        <p:txBody>
          <a:bodyPr rtlCol="0" anchor="ctr"/>
          <a:lstStyle/>
          <a:p>
            <a:endParaRPr lang="fr-FR"/>
          </a:p>
        </p:txBody>
      </p:sp>
      <p:sp>
        <p:nvSpPr>
          <p:cNvPr id="18023" name="Text 18023"/>
          <p:cNvSpPr txBox="1"/>
          <p:nvPr/>
        </p:nvSpPr>
        <p:spPr>
          <a:xfrm>
            <a:off x="5577468" y="4270000"/>
            <a:ext cx="5814532" cy="910000"/>
          </a:xfrm>
          <a:prstGeom prst="rect">
            <a:avLst/>
          </a:prstGeom>
          <a:noFill/>
          <a:ln>
            <a:noFill/>
          </a:ln>
        </p:spPr>
        <p:txBody>
          <a:bodyPr wrap="square" lIns="0" tIns="0" rIns="0" bIns="0" rtlCol="0" anchor="t">
            <a:normAutofit/>
          </a:bodyPr>
          <a:lstStyle/>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Une clause bénéficiaire rédigée sur mesure : démembrée, à options, ou répartie par parts.</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Réflexion sur l’articulation de votre contrat avec vos autres enveloppes et votre structure patrimoniale.</a:t>
            </a:r>
          </a:p>
          <a:p>
            <a:pPr marL="182880" indent="-182880" algn="l">
              <a:spcAft>
                <a:spcPts val="500"/>
              </a:spcAft>
              <a:buFont typeface="Arial" pitchFamily="34" charset="0"/>
              <a:buChar char="▪"/>
            </a:pPr>
            <a:r>
              <a:rPr lang="fr-FR" sz="1000" dirty="0">
                <a:solidFill>
                  <a:srgbClr val="073527"/>
                </a:solidFill>
                <a:latin typeface="Jost Light" pitchFamily="2" charset="77"/>
                <a:ea typeface="Jost Light" pitchFamily="2" charset="77"/>
                <a:cs typeface="Jost Light" pitchFamily="2" charset="77"/>
              </a:rPr>
              <a:t>Un suivi régulier, avec des arbitrages proposés, expliqués et validés avec vous.</a:t>
            </a:r>
          </a:p>
        </p:txBody>
      </p:sp>
      <p:sp>
        <p:nvSpPr>
          <p:cNvPr id="6" name="Shape 21022">
            <a:extLst>
              <a:ext uri="{FF2B5EF4-FFF2-40B4-BE49-F238E27FC236}">
                <a16:creationId xmlns:a16="http://schemas.microsoft.com/office/drawing/2014/main" id="{085AC18B-5DF4-76E8-1080-735D5922A470}"/>
              </a:ext>
            </a:extLst>
          </p:cNvPr>
          <p:cNvSpPr/>
          <p:nvPr/>
        </p:nvSpPr>
        <p:spPr>
          <a:xfrm>
            <a:off x="947468" y="5719009"/>
            <a:ext cx="3521511" cy="529221"/>
          </a:xfrm>
          <a:prstGeom prst="chevron">
            <a:avLst/>
          </a:prstGeom>
          <a:solidFill>
            <a:srgbClr val="001B00"/>
          </a:solidFill>
          <a:ln w="9525">
            <a:solidFill>
              <a:srgbClr val="A9853F"/>
            </a:solidFill>
          </a:ln>
        </p:spPr>
        <p:txBody>
          <a:bodyPr rtlCol="0" anchor="ctr"/>
          <a:lstStyle/>
          <a:p>
            <a:endParaRPr lang="fr-FR"/>
          </a:p>
        </p:txBody>
      </p:sp>
      <p:sp>
        <p:nvSpPr>
          <p:cNvPr id="7" name="Text 21023">
            <a:extLst>
              <a:ext uri="{FF2B5EF4-FFF2-40B4-BE49-F238E27FC236}">
                <a16:creationId xmlns:a16="http://schemas.microsoft.com/office/drawing/2014/main" id="{BD1250AE-6475-BA3A-2F66-3F9C37CD8733}"/>
              </a:ext>
            </a:extLst>
          </p:cNvPr>
          <p:cNvSpPr txBox="1"/>
          <p:nvPr/>
        </p:nvSpPr>
        <p:spPr>
          <a:xfrm>
            <a:off x="1367468" y="5719009"/>
            <a:ext cx="2813765" cy="529221"/>
          </a:xfrm>
          <a:prstGeom prst="rect">
            <a:avLst/>
          </a:prstGeom>
          <a:noFill/>
          <a:ln>
            <a:noFill/>
          </a:ln>
        </p:spPr>
        <p:txBody>
          <a:bodyPr wrap="square" lIns="0" tIns="0" rIns="0" bIns="0" rtlCol="0" anchor="ctr">
            <a:normAutofit/>
          </a:bodyPr>
          <a:lstStyle/>
          <a:p>
            <a:pPr algn="ctr">
              <a:buNone/>
            </a:pPr>
            <a:r>
              <a:rPr lang="fr-FR" sz="1400" b="1" dirty="0">
                <a:solidFill>
                  <a:srgbClr val="A9853F"/>
                </a:solidFill>
                <a:latin typeface="Cormorant Garamond SemiBold" pitchFamily="2" charset="77"/>
                <a:ea typeface="Cormorant Garamond SemiBold" pitchFamily="2" charset="77"/>
                <a:cs typeface="Cormorant Garamond SemiBold" pitchFamily="2" charset="77"/>
              </a:rPr>
              <a:t>1.  </a:t>
            </a:r>
            <a:r>
              <a:rPr lang="fr-FR" sz="1000" dirty="0">
                <a:solidFill>
                  <a:srgbClr val="FFFFFF"/>
                </a:solidFill>
                <a:latin typeface="Jost Medium" pitchFamily="2" charset="77"/>
                <a:ea typeface="Jost Medium" pitchFamily="2" charset="77"/>
                <a:cs typeface="Jost Medium" pitchFamily="2" charset="77"/>
              </a:rPr>
              <a:t>Vous signez la demande de changement de courtage.</a:t>
            </a:r>
          </a:p>
        </p:txBody>
      </p:sp>
      <p:sp>
        <p:nvSpPr>
          <p:cNvPr id="8" name="Shape 21024">
            <a:extLst>
              <a:ext uri="{FF2B5EF4-FFF2-40B4-BE49-F238E27FC236}">
                <a16:creationId xmlns:a16="http://schemas.microsoft.com/office/drawing/2014/main" id="{0638F4F5-F86D-A461-4822-B73E4E432F50}"/>
              </a:ext>
            </a:extLst>
          </p:cNvPr>
          <p:cNvSpPr/>
          <p:nvPr/>
        </p:nvSpPr>
        <p:spPr>
          <a:xfrm>
            <a:off x="4428978" y="5719009"/>
            <a:ext cx="3521511" cy="529221"/>
          </a:xfrm>
          <a:prstGeom prst="chevron">
            <a:avLst/>
          </a:prstGeom>
          <a:solidFill>
            <a:srgbClr val="073527"/>
          </a:solidFill>
          <a:ln w="9525">
            <a:solidFill>
              <a:srgbClr val="A9853F"/>
            </a:solidFill>
          </a:ln>
        </p:spPr>
        <p:txBody>
          <a:bodyPr rtlCol="0" anchor="ctr"/>
          <a:lstStyle/>
          <a:p>
            <a:endParaRPr lang="fr-FR"/>
          </a:p>
        </p:txBody>
      </p:sp>
      <p:sp>
        <p:nvSpPr>
          <p:cNvPr id="9" name="Text 21025">
            <a:extLst>
              <a:ext uri="{FF2B5EF4-FFF2-40B4-BE49-F238E27FC236}">
                <a16:creationId xmlns:a16="http://schemas.microsoft.com/office/drawing/2014/main" id="{8891682E-B086-2F8E-E1A7-D3B10B651377}"/>
              </a:ext>
            </a:extLst>
          </p:cNvPr>
          <p:cNvSpPr txBox="1"/>
          <p:nvPr/>
        </p:nvSpPr>
        <p:spPr>
          <a:xfrm>
            <a:off x="4848978" y="5719009"/>
            <a:ext cx="2813765" cy="529221"/>
          </a:xfrm>
          <a:prstGeom prst="rect">
            <a:avLst/>
          </a:prstGeom>
          <a:noFill/>
          <a:ln>
            <a:noFill/>
          </a:ln>
        </p:spPr>
        <p:txBody>
          <a:bodyPr wrap="square" lIns="0" tIns="0" rIns="0" bIns="0" rtlCol="0" anchor="ctr">
            <a:normAutofit/>
          </a:bodyPr>
          <a:lstStyle/>
          <a:p>
            <a:pPr algn="ctr">
              <a:buNone/>
            </a:pPr>
            <a:r>
              <a:rPr lang="fr-FR" sz="1400" b="1" dirty="0">
                <a:solidFill>
                  <a:srgbClr val="A9853F"/>
                </a:solidFill>
                <a:latin typeface="Cormorant Garamond SemiBold" pitchFamily="2" charset="77"/>
                <a:ea typeface="Cormorant Garamond SemiBold" pitchFamily="2" charset="77"/>
                <a:cs typeface="Cormorant Garamond SemiBold" pitchFamily="2" charset="77"/>
              </a:rPr>
              <a:t>2.  </a:t>
            </a:r>
            <a:r>
              <a:rPr lang="fr-FR" sz="1000" dirty="0">
                <a:solidFill>
                  <a:srgbClr val="FFFFFF"/>
                </a:solidFill>
                <a:latin typeface="Jost Medium" pitchFamily="2" charset="77"/>
                <a:ea typeface="Jost Medium" pitchFamily="2" charset="77"/>
                <a:cs typeface="Jost Medium" pitchFamily="2" charset="77"/>
              </a:rPr>
              <a:t>L’assureur enregistre le changement, sans toucher au contrat.</a:t>
            </a:r>
          </a:p>
        </p:txBody>
      </p:sp>
      <p:sp>
        <p:nvSpPr>
          <p:cNvPr id="10" name="Shape 21026">
            <a:extLst>
              <a:ext uri="{FF2B5EF4-FFF2-40B4-BE49-F238E27FC236}">
                <a16:creationId xmlns:a16="http://schemas.microsoft.com/office/drawing/2014/main" id="{CE1F7542-D402-5873-526A-7BDA7C3F8130}"/>
              </a:ext>
            </a:extLst>
          </p:cNvPr>
          <p:cNvSpPr/>
          <p:nvPr/>
        </p:nvSpPr>
        <p:spPr>
          <a:xfrm>
            <a:off x="7910489" y="5719009"/>
            <a:ext cx="3521511" cy="529221"/>
          </a:xfrm>
          <a:prstGeom prst="chevron">
            <a:avLst/>
          </a:prstGeom>
          <a:solidFill>
            <a:srgbClr val="001B00"/>
          </a:solidFill>
          <a:ln w="9525">
            <a:solidFill>
              <a:srgbClr val="A9853F"/>
            </a:solidFill>
          </a:ln>
        </p:spPr>
        <p:txBody>
          <a:bodyPr rtlCol="0" anchor="ctr"/>
          <a:lstStyle/>
          <a:p>
            <a:endParaRPr lang="fr-FR"/>
          </a:p>
        </p:txBody>
      </p:sp>
      <p:sp>
        <p:nvSpPr>
          <p:cNvPr id="11" name="Text 21027">
            <a:extLst>
              <a:ext uri="{FF2B5EF4-FFF2-40B4-BE49-F238E27FC236}">
                <a16:creationId xmlns:a16="http://schemas.microsoft.com/office/drawing/2014/main" id="{8EA0F596-2FEB-7A4B-83F1-C51CE7E5947C}"/>
              </a:ext>
            </a:extLst>
          </p:cNvPr>
          <p:cNvSpPr txBox="1"/>
          <p:nvPr/>
        </p:nvSpPr>
        <p:spPr>
          <a:xfrm>
            <a:off x="8330489" y="5719009"/>
            <a:ext cx="2813765" cy="529221"/>
          </a:xfrm>
          <a:prstGeom prst="rect">
            <a:avLst/>
          </a:prstGeom>
          <a:noFill/>
          <a:ln>
            <a:noFill/>
          </a:ln>
        </p:spPr>
        <p:txBody>
          <a:bodyPr wrap="square" lIns="0" tIns="0" rIns="0" bIns="0" rtlCol="0" anchor="ctr">
            <a:normAutofit/>
          </a:bodyPr>
          <a:lstStyle/>
          <a:p>
            <a:pPr algn="ctr">
              <a:buNone/>
            </a:pPr>
            <a:r>
              <a:rPr lang="fr-FR" sz="1400" b="1" dirty="0">
                <a:solidFill>
                  <a:srgbClr val="A9853F"/>
                </a:solidFill>
                <a:latin typeface="Cormorant Garamond SemiBold" pitchFamily="2" charset="77"/>
                <a:ea typeface="Cormorant Garamond SemiBold" pitchFamily="2" charset="77"/>
                <a:cs typeface="Cormorant Garamond SemiBold" pitchFamily="2" charset="77"/>
              </a:rPr>
              <a:t>3.  </a:t>
            </a:r>
            <a:r>
              <a:rPr lang="fr-FR" sz="1000" dirty="0">
                <a:solidFill>
                  <a:srgbClr val="FFFFFF"/>
                </a:solidFill>
                <a:latin typeface="Jost Medium" pitchFamily="2" charset="77"/>
                <a:ea typeface="Jost Medium" pitchFamily="2" charset="77"/>
                <a:cs typeface="Jost Medium" pitchFamily="2" charset="77"/>
              </a:rPr>
              <a:t>Nous reprenons la gestion et la clause bénéficiaire avec vous.</a:t>
            </a:r>
          </a:p>
        </p:txBody>
      </p:sp>
    </p:spTree>
    <p:extLst>
      <p:ext uri="{BB962C8B-B14F-4D97-AF65-F5344CB8AC3E}">
        <p14:creationId xmlns:p14="http://schemas.microsoft.com/office/powerpoint/2010/main" val="7388049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7A02-5CFC-C2AE-489F-5D5E175C636E}"/>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3DD91F5E-FE4F-0DF7-00B4-6208D7144B4D}"/>
              </a:ext>
            </a:extLst>
          </p:cNvPr>
          <p:cNvSpPr/>
          <p:nvPr/>
        </p:nvSpPr>
        <p:spPr>
          <a:xfrm>
            <a:off x="464234" y="351693"/>
            <a:ext cx="93036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F12E4F0E-7B68-C64C-122A-2E8ED41381B4}"/>
              </a:ext>
            </a:extLst>
          </p:cNvPr>
          <p:cNvSpPr txBox="1"/>
          <p:nvPr/>
        </p:nvSpPr>
        <p:spPr>
          <a:xfrm>
            <a:off x="1310516" y="3429000"/>
            <a:ext cx="5139711" cy="646331"/>
          </a:xfrm>
          <a:prstGeom prst="rect">
            <a:avLst/>
          </a:prstGeom>
          <a:noFill/>
        </p:spPr>
        <p:txBody>
          <a:bodyPr wrap="square" rtlCol="0">
            <a:spAutoFit/>
          </a:bodyPr>
          <a:lstStyle/>
          <a:p>
            <a:r>
              <a:rPr lang="fr-FR" sz="3600" b="1" dirty="0">
                <a:solidFill>
                  <a:srgbClr val="E7DCC7"/>
                </a:solidFill>
                <a:latin typeface="Jost SemiBold" pitchFamily="2" charset="77"/>
                <a:ea typeface="Jost SemiBold" pitchFamily="2" charset="77"/>
                <a:cs typeface="Futura" panose="020B0602020204020303" pitchFamily="34" charset="-79"/>
              </a:rPr>
              <a:t>5. Conditions tarifaires</a:t>
            </a:r>
          </a:p>
        </p:txBody>
      </p:sp>
      <p:sp>
        <p:nvSpPr>
          <p:cNvPr id="12" name="Shape 8">
            <a:extLst>
              <a:ext uri="{FF2B5EF4-FFF2-40B4-BE49-F238E27FC236}">
                <a16:creationId xmlns:a16="http://schemas.microsoft.com/office/drawing/2014/main" id="{49D4A063-D6F0-AD78-AF02-4FBE8816E101}"/>
              </a:ext>
            </a:extLst>
          </p:cNvPr>
          <p:cNvSpPr/>
          <p:nvPr/>
        </p:nvSpPr>
        <p:spPr>
          <a:xfrm>
            <a:off x="1371476" y="5012467"/>
            <a:ext cx="2009154" cy="0"/>
          </a:xfrm>
          <a:prstGeom prst="line">
            <a:avLst/>
          </a:prstGeom>
          <a:noFill/>
          <a:ln w="19050">
            <a:solidFill>
              <a:srgbClr val="A9853F"/>
            </a:solidFill>
            <a:prstDash val="solid"/>
          </a:ln>
        </p:spPr>
        <p:txBody>
          <a:bodyPr/>
          <a:lstStyle/>
          <a:p>
            <a:endParaRPr lang="fr-FR"/>
          </a:p>
        </p:txBody>
      </p:sp>
      <p:pic>
        <p:nvPicPr>
          <p:cNvPr id="19" name="Image 18">
            <a:extLst>
              <a:ext uri="{FF2B5EF4-FFF2-40B4-BE49-F238E27FC236}">
                <a16:creationId xmlns:a16="http://schemas.microsoft.com/office/drawing/2014/main" id="{14D67BA9-F985-FB78-7362-CB9921D5AEE2}"/>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156744"/>
            <a:ext cx="2441045" cy="7327940"/>
          </a:xfrm>
          <a:prstGeom prst="rect">
            <a:avLst/>
          </a:prstGeom>
        </p:spPr>
      </p:pic>
      <p:pic>
        <p:nvPicPr>
          <p:cNvPr id="20" name="Image 19">
            <a:extLst>
              <a:ext uri="{FF2B5EF4-FFF2-40B4-BE49-F238E27FC236}">
                <a16:creationId xmlns:a16="http://schemas.microsoft.com/office/drawing/2014/main" id="{BC1970BF-B1E3-4C0D-FF0D-456FDF6BB60F}"/>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1818904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 23">
            <a:extLst>
              <a:ext uri="{FF2B5EF4-FFF2-40B4-BE49-F238E27FC236}">
                <a16:creationId xmlns:a16="http://schemas.microsoft.com/office/drawing/2014/main" id="{8E6B57DC-E879-78BD-5238-9E1C13619272}"/>
              </a:ext>
            </a:extLst>
          </p:cNvPr>
          <p:cNvPicPr>
            <a:picLocks noChangeAspect="1"/>
          </p:cNvPicPr>
          <p:nvPr/>
        </p:nvPicPr>
        <p:blipFill>
          <a:blip r:embed="rId2">
            <a:alphaModFix amt="5000"/>
          </a:blip>
          <a:srcRect l="6207" b="6232"/>
          <a:stretch>
            <a:fillRect/>
          </a:stretch>
        </p:blipFill>
        <p:spPr>
          <a:xfrm>
            <a:off x="1" y="0"/>
            <a:ext cx="12191999" cy="6859822"/>
          </a:xfrm>
          <a:prstGeom prst="rect">
            <a:avLst/>
          </a:prstGeom>
        </p:spPr>
      </p:pic>
      <p:pic>
        <p:nvPicPr>
          <p:cNvPr id="2" name="Image 1">
            <a:extLst>
              <a:ext uri="{FF2B5EF4-FFF2-40B4-BE49-F238E27FC236}">
                <a16:creationId xmlns:a16="http://schemas.microsoft.com/office/drawing/2014/main" id="{1B408EF5-F494-F2AB-ED64-0FA4990AF6CA}"/>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7065D056-BED8-0171-67A7-2ECEB77D3726}"/>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67AD8324-2095-E7F0-A5DC-DEE0810D1464}"/>
              </a:ext>
            </a:extLst>
          </p:cNvPr>
          <p:cNvSpPr/>
          <p:nvPr/>
        </p:nvSpPr>
        <p:spPr>
          <a:xfrm>
            <a:off x="947468" y="949911"/>
            <a:ext cx="4514867" cy="371138"/>
          </a:xfrm>
          <a:prstGeom prst="rect">
            <a:avLst/>
          </a:prstGeom>
          <a:noFill/>
          <a:ln/>
        </p:spPr>
        <p:txBody>
          <a:bodyPr wrap="square" lIns="0" tIns="0" rIns="0" bIns="0" rtlCol="0" anchor="t">
            <a:normAutofit/>
          </a:bodyPr>
          <a:lstStyle/>
          <a:p>
            <a:endParaRPr/>
          </a:p>
        </p:txBody>
      </p:sp>
      <p:sp>
        <p:nvSpPr>
          <p:cNvPr id="5" name="Text 9">
            <a:extLst>
              <a:ext uri="{FF2B5EF4-FFF2-40B4-BE49-F238E27FC236}">
                <a16:creationId xmlns:a16="http://schemas.microsoft.com/office/drawing/2014/main" id="{A7A8CFAD-7438-95A3-1823-D4F3A30AB431}"/>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Conditions tarifaires</a:t>
            </a:r>
          </a:p>
        </p:txBody>
      </p:sp>
      <p:sp>
        <p:nvSpPr>
          <p:cNvPr id="120002" name="Shape 120002"/>
          <p:cNvSpPr/>
          <p:nvPr/>
        </p:nvSpPr>
        <p:spPr>
          <a:xfrm>
            <a:off x="947468" y="1353898"/>
            <a:ext cx="10744532" cy="430000"/>
          </a:xfrm>
          <a:prstGeom prst="rect">
            <a:avLst/>
          </a:prstGeom>
          <a:solidFill>
            <a:srgbClr val="FCF9EF"/>
          </a:solidFill>
          <a:ln w="9525">
            <a:solidFill>
              <a:srgbClr val="A9853F"/>
            </a:solidFill>
          </a:ln>
        </p:spPr>
        <p:txBody>
          <a:bodyPr rtlCol="0" anchor="ctr"/>
          <a:lstStyle/>
          <a:p>
            <a:endParaRPr lang="fr-FR"/>
          </a:p>
        </p:txBody>
      </p:sp>
      <p:sp>
        <p:nvSpPr>
          <p:cNvPr id="120003" name="Text 120003"/>
          <p:cNvSpPr txBox="1"/>
          <p:nvPr/>
        </p:nvSpPr>
        <p:spPr>
          <a:xfrm>
            <a:off x="1227468" y="1353898"/>
            <a:ext cx="4972266" cy="430000"/>
          </a:xfrm>
          <a:prstGeom prst="rect">
            <a:avLst/>
          </a:prstGeom>
          <a:noFill/>
          <a:ln>
            <a:noFill/>
          </a:ln>
        </p:spPr>
        <p:txBody>
          <a:bodyPr wrap="square" lIns="0" tIns="0" rIns="0" bIns="0" rtlCol="0" anchor="ctr">
            <a:normAutofit/>
          </a:bodyPr>
          <a:lstStyle/>
          <a:p>
            <a:pPr algn="l">
              <a:buNone/>
            </a:pPr>
            <a:r>
              <a:rPr lang="fr-FR" sz="950" dirty="0">
                <a:solidFill>
                  <a:srgbClr val="A9853F"/>
                </a:solidFill>
                <a:latin typeface="Jost Medium" pitchFamily="2" charset="77"/>
                <a:ea typeface="Jost Medium" pitchFamily="2" charset="77"/>
                <a:cs typeface="Jost Medium" pitchFamily="2" charset="77"/>
              </a:rPr>
              <a:t>Enveloppe choisie   </a:t>
            </a:r>
            <a:r>
              <a:rPr lang="fr-FR" sz="1000" dirty="0">
                <a:solidFill>
                  <a:srgbClr val="073527"/>
                </a:solidFill>
                <a:highlight>
                  <a:srgbClr val="FFFF00"/>
                </a:highlight>
                <a:latin typeface="Jost Light" pitchFamily="2" charset="77"/>
                <a:ea typeface="Jost Light" pitchFamily="2" charset="77"/>
                <a:cs typeface="Jost Light" pitchFamily="2" charset="77"/>
              </a:rPr>
              <a:t>XXX</a:t>
            </a:r>
          </a:p>
        </p:txBody>
      </p:sp>
      <p:sp>
        <p:nvSpPr>
          <p:cNvPr id="120004" name="Shape 120004"/>
          <p:cNvSpPr/>
          <p:nvPr/>
        </p:nvSpPr>
        <p:spPr>
          <a:xfrm>
            <a:off x="6319734" y="1443898"/>
            <a:ext cx="1" cy="250000"/>
          </a:xfrm>
          <a:prstGeom prst="line">
            <a:avLst/>
          </a:prstGeom>
          <a:noFill/>
          <a:ln w="6350">
            <a:solidFill>
              <a:srgbClr val="A9853F"/>
            </a:solidFill>
          </a:ln>
        </p:spPr>
        <p:txBody>
          <a:bodyPr rtlCol="0" anchor="ctr"/>
          <a:lstStyle/>
          <a:p>
            <a:endParaRPr lang="fr-FR"/>
          </a:p>
        </p:txBody>
      </p:sp>
      <p:sp>
        <p:nvSpPr>
          <p:cNvPr id="120005" name="Text 120005"/>
          <p:cNvSpPr txBox="1"/>
          <p:nvPr/>
        </p:nvSpPr>
        <p:spPr>
          <a:xfrm>
            <a:off x="6599734" y="1353898"/>
            <a:ext cx="4972266" cy="430000"/>
          </a:xfrm>
          <a:prstGeom prst="rect">
            <a:avLst/>
          </a:prstGeom>
          <a:noFill/>
          <a:ln>
            <a:noFill/>
          </a:ln>
        </p:spPr>
        <p:txBody>
          <a:bodyPr wrap="square" lIns="0" tIns="0" rIns="0" bIns="0" rtlCol="0" anchor="ctr">
            <a:normAutofit/>
          </a:bodyPr>
          <a:lstStyle/>
          <a:p>
            <a:pPr algn="l">
              <a:buNone/>
            </a:pPr>
            <a:r>
              <a:rPr lang="fr-FR" sz="950" dirty="0">
                <a:solidFill>
                  <a:srgbClr val="A9853F"/>
                </a:solidFill>
                <a:latin typeface="Jost Medium" pitchFamily="2" charset="77"/>
                <a:ea typeface="Jost Medium" pitchFamily="2" charset="77"/>
                <a:cs typeface="Jost Medium" pitchFamily="2" charset="77"/>
              </a:rPr>
              <a:t>Profil de risque   </a:t>
            </a:r>
            <a:r>
              <a:rPr lang="fr-FR" sz="1000" dirty="0">
                <a:solidFill>
                  <a:srgbClr val="073527"/>
                </a:solidFill>
                <a:highlight>
                  <a:srgbClr val="FFFF00"/>
                </a:highlight>
                <a:latin typeface="Jost Light" pitchFamily="2" charset="77"/>
                <a:ea typeface="Jost Light" pitchFamily="2" charset="77"/>
                <a:cs typeface="Jost Light" pitchFamily="2" charset="77"/>
              </a:rPr>
              <a:t>XXX</a:t>
            </a:r>
          </a:p>
        </p:txBody>
      </p:sp>
      <p:sp>
        <p:nvSpPr>
          <p:cNvPr id="120006" name="Shape 120006"/>
          <p:cNvSpPr/>
          <p:nvPr/>
        </p:nvSpPr>
        <p:spPr>
          <a:xfrm>
            <a:off x="947468" y="2063898"/>
            <a:ext cx="10744532" cy="430000"/>
          </a:xfrm>
          <a:prstGeom prst="rect">
            <a:avLst/>
          </a:prstGeom>
          <a:solidFill>
            <a:srgbClr val="001B00"/>
          </a:solidFill>
          <a:ln>
            <a:noFill/>
          </a:ln>
        </p:spPr>
        <p:txBody>
          <a:bodyPr rtlCol="0" anchor="ctr"/>
          <a:lstStyle/>
          <a:p>
            <a:endParaRPr lang="fr-FR"/>
          </a:p>
        </p:txBody>
      </p:sp>
      <p:sp>
        <p:nvSpPr>
          <p:cNvPr id="120007" name="Text 120007"/>
          <p:cNvSpPr txBox="1"/>
          <p:nvPr/>
        </p:nvSpPr>
        <p:spPr>
          <a:xfrm>
            <a:off x="1227468" y="2063898"/>
            <a:ext cx="3880000" cy="430000"/>
          </a:xfrm>
          <a:prstGeom prst="rect">
            <a:avLst/>
          </a:prstGeom>
          <a:noFill/>
          <a:ln>
            <a:noFill/>
          </a:ln>
        </p:spPr>
        <p:txBody>
          <a:bodyPr wrap="square" lIns="0" tIns="0" rIns="0" bIns="0" rtlCol="0" anchor="ctr">
            <a:normAutofit/>
          </a:bodyPr>
          <a:lstStyle/>
          <a:p>
            <a:pPr algn="l">
              <a:buNone/>
            </a:pPr>
            <a:r>
              <a:rPr lang="fr-FR" sz="1000" dirty="0">
                <a:solidFill>
                  <a:srgbClr val="A9853F"/>
                </a:solidFill>
                <a:latin typeface="Jost Medium" pitchFamily="2" charset="77"/>
                <a:ea typeface="Jost Medium" pitchFamily="2" charset="77"/>
                <a:cs typeface="Jost Medium" pitchFamily="2" charset="77"/>
              </a:rPr>
              <a:t>Nature de la prestation</a:t>
            </a:r>
          </a:p>
        </p:txBody>
      </p:sp>
      <p:sp>
        <p:nvSpPr>
          <p:cNvPr id="120008" name="Text 120008"/>
          <p:cNvSpPr txBox="1"/>
          <p:nvPr/>
        </p:nvSpPr>
        <p:spPr>
          <a:xfrm>
            <a:off x="8347468" y="2063898"/>
            <a:ext cx="3144532" cy="430000"/>
          </a:xfrm>
          <a:prstGeom prst="rect">
            <a:avLst/>
          </a:prstGeom>
          <a:noFill/>
          <a:ln>
            <a:noFill/>
          </a:ln>
        </p:spPr>
        <p:txBody>
          <a:bodyPr wrap="square" lIns="0" tIns="0" rIns="0" bIns="0" rtlCol="0" anchor="ctr">
            <a:normAutofit/>
          </a:bodyPr>
          <a:lstStyle/>
          <a:p>
            <a:pPr algn="r">
              <a:buNone/>
            </a:pPr>
            <a:r>
              <a:rPr lang="fr-FR" sz="1000" dirty="0">
                <a:solidFill>
                  <a:srgbClr val="A9853F"/>
                </a:solidFill>
                <a:latin typeface="Jost Medium" pitchFamily="2" charset="77"/>
                <a:ea typeface="Jost Medium" pitchFamily="2" charset="77"/>
                <a:cs typeface="Jost Medium" pitchFamily="2" charset="77"/>
              </a:rPr>
              <a:t>Montant applicable</a:t>
            </a:r>
          </a:p>
        </p:txBody>
      </p:sp>
      <p:sp>
        <p:nvSpPr>
          <p:cNvPr id="120009" name="Shape 120009"/>
          <p:cNvSpPr/>
          <p:nvPr/>
        </p:nvSpPr>
        <p:spPr>
          <a:xfrm>
            <a:off x="947468" y="2493898"/>
            <a:ext cx="10744532" cy="361111"/>
          </a:xfrm>
          <a:prstGeom prst="rect">
            <a:avLst/>
          </a:prstGeom>
          <a:solidFill>
            <a:srgbClr val="FCF9EF"/>
          </a:solidFill>
          <a:ln>
            <a:noFill/>
          </a:ln>
        </p:spPr>
        <p:txBody>
          <a:bodyPr rtlCol="0" anchor="ctr"/>
          <a:lstStyle/>
          <a:p>
            <a:endParaRPr lang="fr-FR"/>
          </a:p>
        </p:txBody>
      </p:sp>
      <p:sp>
        <p:nvSpPr>
          <p:cNvPr id="120010" name="Text 120010"/>
          <p:cNvSpPr txBox="1"/>
          <p:nvPr/>
        </p:nvSpPr>
        <p:spPr>
          <a:xfrm>
            <a:off x="1227468" y="2493898"/>
            <a:ext cx="3880000" cy="361111"/>
          </a:xfrm>
          <a:prstGeom prst="rect">
            <a:avLst/>
          </a:prstGeom>
          <a:noFill/>
          <a:ln>
            <a:noFill/>
          </a:ln>
        </p:spPr>
        <p:txBody>
          <a:bodyPr wrap="square" lIns="0" tIns="0" rIns="0" bIns="0" rtlCol="0" anchor="ctr">
            <a:normAutofit/>
          </a:bodyPr>
          <a:lstStyle/>
          <a:p>
            <a:pPr algn="l">
              <a:buNone/>
            </a:pPr>
            <a:r>
              <a:rPr lang="fr-FR" sz="950" dirty="0">
                <a:solidFill>
                  <a:srgbClr val="073527"/>
                </a:solidFill>
                <a:latin typeface="Jost Medium" pitchFamily="2" charset="77"/>
                <a:ea typeface="Jost Medium" pitchFamily="2" charset="77"/>
                <a:cs typeface="Jost Medium" pitchFamily="2" charset="77"/>
              </a:rPr>
              <a:t>Droits d’entrée sur versement</a:t>
            </a:r>
          </a:p>
        </p:txBody>
      </p:sp>
      <p:sp>
        <p:nvSpPr>
          <p:cNvPr id="120011" name="Text 120011"/>
          <p:cNvSpPr txBox="1"/>
          <p:nvPr/>
        </p:nvSpPr>
        <p:spPr>
          <a:xfrm>
            <a:off x="8347468" y="2493898"/>
            <a:ext cx="3144532" cy="361111"/>
          </a:xfrm>
          <a:prstGeom prst="rect">
            <a:avLst/>
          </a:prstGeom>
          <a:noFill/>
          <a:ln>
            <a:noFill/>
          </a:ln>
        </p:spPr>
        <p:txBody>
          <a:bodyPr wrap="square" lIns="0" tIns="0" rIns="0" bIns="0" rtlCol="0" anchor="ctr">
            <a:normAutofit/>
          </a:bodyPr>
          <a:lstStyle/>
          <a:p>
            <a:pPr algn="r">
              <a:buNone/>
            </a:pPr>
            <a:r>
              <a:rPr lang="fr-FR" sz="950" dirty="0">
                <a:solidFill>
                  <a:srgbClr val="073527"/>
                </a:solidFill>
                <a:highlight>
                  <a:srgbClr val="FFFF00"/>
                </a:highlight>
                <a:latin typeface="Jost Light" pitchFamily="2" charset="77"/>
                <a:ea typeface="Jost Light" pitchFamily="2" charset="77"/>
                <a:cs typeface="Jost Light" pitchFamily="2" charset="77"/>
              </a:rPr>
              <a:t>XXX</a:t>
            </a:r>
            <a:r>
              <a:rPr lang="fr-FR" sz="950" dirty="0">
                <a:solidFill>
                  <a:srgbClr val="073527"/>
                </a:solidFill>
                <a:latin typeface="Jost Light" pitchFamily="2" charset="77"/>
                <a:ea typeface="Jost Light" pitchFamily="2" charset="77"/>
                <a:cs typeface="Jost Light" pitchFamily="2" charset="77"/>
              </a:rPr>
              <a:t>% du montant versé</a:t>
            </a:r>
          </a:p>
        </p:txBody>
      </p:sp>
      <p:sp>
        <p:nvSpPr>
          <p:cNvPr id="120012" name="Text 120012"/>
          <p:cNvSpPr txBox="1"/>
          <p:nvPr/>
        </p:nvSpPr>
        <p:spPr>
          <a:xfrm>
            <a:off x="1227468" y="2855009"/>
            <a:ext cx="3880000" cy="361111"/>
          </a:xfrm>
          <a:prstGeom prst="rect">
            <a:avLst/>
          </a:prstGeom>
          <a:noFill/>
          <a:ln>
            <a:noFill/>
          </a:ln>
        </p:spPr>
        <p:txBody>
          <a:bodyPr wrap="square" lIns="0" tIns="0" rIns="0" bIns="0" rtlCol="0" anchor="ctr">
            <a:normAutofit/>
          </a:bodyPr>
          <a:lstStyle/>
          <a:p>
            <a:pPr algn="l">
              <a:buNone/>
            </a:pPr>
            <a:r>
              <a:rPr lang="fr-FR" sz="950" dirty="0">
                <a:solidFill>
                  <a:srgbClr val="073527"/>
                </a:solidFill>
                <a:latin typeface="Jost Medium" pitchFamily="2" charset="77"/>
                <a:ea typeface="Jost Medium" pitchFamily="2" charset="77"/>
                <a:cs typeface="Jost Medium" pitchFamily="2" charset="77"/>
              </a:rPr>
              <a:t>Frais de gestion du contrat</a:t>
            </a:r>
          </a:p>
        </p:txBody>
      </p:sp>
      <p:sp>
        <p:nvSpPr>
          <p:cNvPr id="120013" name="Text 120013"/>
          <p:cNvSpPr txBox="1"/>
          <p:nvPr/>
        </p:nvSpPr>
        <p:spPr>
          <a:xfrm>
            <a:off x="8347468" y="2855009"/>
            <a:ext cx="3144532" cy="361111"/>
          </a:xfrm>
          <a:prstGeom prst="rect">
            <a:avLst/>
          </a:prstGeom>
          <a:noFill/>
          <a:ln>
            <a:noFill/>
          </a:ln>
        </p:spPr>
        <p:txBody>
          <a:bodyPr wrap="square" lIns="0" tIns="0" rIns="0" bIns="0" rtlCol="0" anchor="ctr">
            <a:normAutofit/>
          </a:bodyPr>
          <a:lstStyle/>
          <a:p>
            <a:pPr algn="r">
              <a:buNone/>
            </a:pPr>
            <a:r>
              <a:rPr lang="fr-FR" sz="950" dirty="0">
                <a:solidFill>
                  <a:srgbClr val="073527"/>
                </a:solidFill>
                <a:highlight>
                  <a:srgbClr val="FFFF00"/>
                </a:highlight>
                <a:latin typeface="Jost Light" pitchFamily="2" charset="77"/>
                <a:ea typeface="Jost Light" pitchFamily="2" charset="77"/>
                <a:cs typeface="Jost Light" pitchFamily="2" charset="77"/>
              </a:rPr>
              <a:t>XXX</a:t>
            </a:r>
            <a:r>
              <a:rPr lang="fr-FR" sz="950" dirty="0">
                <a:solidFill>
                  <a:srgbClr val="073527"/>
                </a:solidFill>
                <a:latin typeface="Jost Light" pitchFamily="2" charset="77"/>
                <a:ea typeface="Jost Light" pitchFamily="2" charset="77"/>
                <a:cs typeface="Jost Light" pitchFamily="2" charset="77"/>
              </a:rPr>
              <a:t>% des encours, par an</a:t>
            </a:r>
          </a:p>
        </p:txBody>
      </p:sp>
      <p:sp>
        <p:nvSpPr>
          <p:cNvPr id="120014" name="Shape 120014"/>
          <p:cNvSpPr/>
          <p:nvPr/>
        </p:nvSpPr>
        <p:spPr>
          <a:xfrm>
            <a:off x="947468" y="3216120"/>
            <a:ext cx="10744532" cy="361111"/>
          </a:xfrm>
          <a:prstGeom prst="rect">
            <a:avLst/>
          </a:prstGeom>
          <a:solidFill>
            <a:srgbClr val="FCF9EF"/>
          </a:solidFill>
          <a:ln>
            <a:noFill/>
          </a:ln>
        </p:spPr>
        <p:txBody>
          <a:bodyPr rtlCol="0" anchor="ctr"/>
          <a:lstStyle/>
          <a:p>
            <a:endParaRPr lang="fr-FR"/>
          </a:p>
        </p:txBody>
      </p:sp>
      <p:sp>
        <p:nvSpPr>
          <p:cNvPr id="120015" name="Text 120015"/>
          <p:cNvSpPr txBox="1"/>
          <p:nvPr/>
        </p:nvSpPr>
        <p:spPr>
          <a:xfrm>
            <a:off x="1227468" y="3216120"/>
            <a:ext cx="3880000" cy="361111"/>
          </a:xfrm>
          <a:prstGeom prst="rect">
            <a:avLst/>
          </a:prstGeom>
          <a:noFill/>
          <a:ln>
            <a:noFill/>
          </a:ln>
        </p:spPr>
        <p:txBody>
          <a:bodyPr wrap="square" lIns="0" tIns="0" rIns="0" bIns="0" rtlCol="0" anchor="ctr">
            <a:normAutofit/>
          </a:bodyPr>
          <a:lstStyle/>
          <a:p>
            <a:pPr algn="l">
              <a:buNone/>
            </a:pPr>
            <a:r>
              <a:rPr lang="fr-FR" sz="950" dirty="0">
                <a:solidFill>
                  <a:srgbClr val="073527"/>
                </a:solidFill>
                <a:latin typeface="Jost Medium" pitchFamily="2" charset="77"/>
                <a:ea typeface="Jost Medium" pitchFamily="2" charset="77"/>
                <a:cs typeface="Jost Medium" pitchFamily="2" charset="77"/>
              </a:rPr>
              <a:t>Mandat de gestion financière</a:t>
            </a:r>
          </a:p>
        </p:txBody>
      </p:sp>
      <p:sp>
        <p:nvSpPr>
          <p:cNvPr id="120016" name="Text 120016"/>
          <p:cNvSpPr txBox="1"/>
          <p:nvPr/>
        </p:nvSpPr>
        <p:spPr>
          <a:xfrm>
            <a:off x="8347468" y="3216120"/>
            <a:ext cx="3144532" cy="361111"/>
          </a:xfrm>
          <a:prstGeom prst="rect">
            <a:avLst/>
          </a:prstGeom>
          <a:noFill/>
          <a:ln>
            <a:noFill/>
          </a:ln>
        </p:spPr>
        <p:txBody>
          <a:bodyPr wrap="square" lIns="0" tIns="0" rIns="0" bIns="0" rtlCol="0" anchor="ctr">
            <a:normAutofit/>
          </a:bodyPr>
          <a:lstStyle/>
          <a:p>
            <a:pPr algn="r">
              <a:buNone/>
            </a:pPr>
            <a:r>
              <a:rPr lang="fr-FR" sz="950" dirty="0">
                <a:solidFill>
                  <a:srgbClr val="073527"/>
                </a:solidFill>
                <a:highlight>
                  <a:srgbClr val="FFFF00"/>
                </a:highlight>
                <a:latin typeface="Jost Light" pitchFamily="2" charset="77"/>
                <a:ea typeface="Jost Light" pitchFamily="2" charset="77"/>
                <a:cs typeface="Jost Light" pitchFamily="2" charset="77"/>
              </a:rPr>
              <a:t>XXX</a:t>
            </a:r>
            <a:r>
              <a:rPr lang="fr-FR" sz="950" dirty="0">
                <a:solidFill>
                  <a:srgbClr val="073527"/>
                </a:solidFill>
                <a:latin typeface="Jost Light" pitchFamily="2" charset="77"/>
                <a:ea typeface="Jost Light" pitchFamily="2" charset="77"/>
                <a:cs typeface="Jost Light" pitchFamily="2" charset="77"/>
              </a:rPr>
              <a:t>% des encours, par an / Non applicable</a:t>
            </a:r>
          </a:p>
        </p:txBody>
      </p:sp>
      <p:sp>
        <p:nvSpPr>
          <p:cNvPr id="120017" name="Text 120017"/>
          <p:cNvSpPr txBox="1"/>
          <p:nvPr/>
        </p:nvSpPr>
        <p:spPr>
          <a:xfrm>
            <a:off x="1227468" y="3577231"/>
            <a:ext cx="3880000" cy="361111"/>
          </a:xfrm>
          <a:prstGeom prst="rect">
            <a:avLst/>
          </a:prstGeom>
          <a:noFill/>
          <a:ln>
            <a:noFill/>
          </a:ln>
        </p:spPr>
        <p:txBody>
          <a:bodyPr wrap="square" lIns="0" tIns="0" rIns="0" bIns="0" rtlCol="0" anchor="ctr">
            <a:normAutofit/>
          </a:bodyPr>
          <a:lstStyle/>
          <a:p>
            <a:pPr algn="l">
              <a:buNone/>
            </a:pPr>
            <a:r>
              <a:rPr lang="fr-FR" sz="950" dirty="0">
                <a:solidFill>
                  <a:srgbClr val="073527"/>
                </a:solidFill>
                <a:latin typeface="Jost Medium" pitchFamily="2" charset="77"/>
                <a:ea typeface="Jost Medium" pitchFamily="2" charset="77"/>
                <a:cs typeface="Jost Medium" pitchFamily="2" charset="77"/>
              </a:rPr>
              <a:t>Arbitrages</a:t>
            </a:r>
          </a:p>
        </p:txBody>
      </p:sp>
      <p:sp>
        <p:nvSpPr>
          <p:cNvPr id="120018" name="Text 120018"/>
          <p:cNvSpPr txBox="1"/>
          <p:nvPr/>
        </p:nvSpPr>
        <p:spPr>
          <a:xfrm>
            <a:off x="5247468" y="3577231"/>
            <a:ext cx="3300000" cy="361111"/>
          </a:xfrm>
          <a:prstGeom prst="rect">
            <a:avLst/>
          </a:prstGeom>
          <a:noFill/>
          <a:ln>
            <a:noFill/>
          </a:ln>
        </p:spPr>
        <p:txBody>
          <a:bodyPr wrap="square" lIns="0" tIns="0" rIns="0" bIns="0" rtlCol="0" anchor="ctr">
            <a:normAutofit/>
          </a:bodyPr>
          <a:lstStyle/>
          <a:p>
            <a:pPr algn="ctr">
              <a:buNone/>
            </a:pPr>
            <a:r>
              <a:rPr lang="fr-FR" sz="850" dirty="0">
                <a:solidFill>
                  <a:srgbClr val="6B6B6B"/>
                </a:solidFill>
                <a:latin typeface="Jost Light" pitchFamily="2" charset="77"/>
                <a:ea typeface="Jost Light" pitchFamily="2" charset="77"/>
                <a:cs typeface="Jost Light" pitchFamily="2" charset="77"/>
              </a:rPr>
              <a:t>Non perçu par La Financière de Rochechouart</a:t>
            </a:r>
          </a:p>
        </p:txBody>
      </p:sp>
      <p:sp>
        <p:nvSpPr>
          <p:cNvPr id="120019" name="Text 120019"/>
          <p:cNvSpPr txBox="1"/>
          <p:nvPr/>
        </p:nvSpPr>
        <p:spPr>
          <a:xfrm>
            <a:off x="8347468" y="3577231"/>
            <a:ext cx="3144532" cy="361111"/>
          </a:xfrm>
          <a:prstGeom prst="rect">
            <a:avLst/>
          </a:prstGeom>
          <a:noFill/>
          <a:ln>
            <a:noFill/>
          </a:ln>
        </p:spPr>
        <p:txBody>
          <a:bodyPr wrap="square" lIns="0" tIns="0" rIns="0" bIns="0" rtlCol="0" anchor="ctr">
            <a:normAutofit/>
          </a:bodyPr>
          <a:lstStyle/>
          <a:p>
            <a:pPr algn="r">
              <a:buNone/>
            </a:pPr>
            <a:r>
              <a:rPr lang="fr-FR" sz="950" dirty="0">
                <a:solidFill>
                  <a:srgbClr val="073527"/>
                </a:solidFill>
                <a:latin typeface="Jost Light" pitchFamily="2" charset="77"/>
                <a:ea typeface="Jost Light" pitchFamily="2" charset="77"/>
                <a:cs typeface="Jost Light" pitchFamily="2" charset="77"/>
              </a:rPr>
              <a:t>En fonction de l’enveloppe — pas de frais annexes</a:t>
            </a:r>
          </a:p>
        </p:txBody>
      </p:sp>
      <p:sp>
        <p:nvSpPr>
          <p:cNvPr id="120020" name="Shape 120020"/>
          <p:cNvSpPr/>
          <p:nvPr/>
        </p:nvSpPr>
        <p:spPr>
          <a:xfrm>
            <a:off x="947468" y="3938342"/>
            <a:ext cx="10744532" cy="361111"/>
          </a:xfrm>
          <a:prstGeom prst="rect">
            <a:avLst/>
          </a:prstGeom>
          <a:solidFill>
            <a:srgbClr val="FCF9EF"/>
          </a:solidFill>
          <a:ln>
            <a:noFill/>
          </a:ln>
        </p:spPr>
        <p:txBody>
          <a:bodyPr rtlCol="0" anchor="ctr"/>
          <a:lstStyle/>
          <a:p>
            <a:endParaRPr lang="fr-FR"/>
          </a:p>
        </p:txBody>
      </p:sp>
      <p:sp>
        <p:nvSpPr>
          <p:cNvPr id="120021" name="Text 120021"/>
          <p:cNvSpPr txBox="1"/>
          <p:nvPr/>
        </p:nvSpPr>
        <p:spPr>
          <a:xfrm>
            <a:off x="1227468" y="3938342"/>
            <a:ext cx="3880000" cy="361111"/>
          </a:xfrm>
          <a:prstGeom prst="rect">
            <a:avLst/>
          </a:prstGeom>
          <a:noFill/>
          <a:ln>
            <a:noFill/>
          </a:ln>
        </p:spPr>
        <p:txBody>
          <a:bodyPr wrap="square" lIns="0" tIns="0" rIns="0" bIns="0" rtlCol="0" anchor="ctr">
            <a:normAutofit/>
          </a:bodyPr>
          <a:lstStyle/>
          <a:p>
            <a:pPr algn="l">
              <a:buNone/>
            </a:pPr>
            <a:r>
              <a:rPr lang="fr-FR" sz="950" dirty="0">
                <a:solidFill>
                  <a:srgbClr val="073527"/>
                </a:solidFill>
                <a:latin typeface="Jost Medium" pitchFamily="2" charset="77"/>
                <a:ea typeface="Jost Medium" pitchFamily="2" charset="77"/>
                <a:cs typeface="Jost Medium" pitchFamily="2" charset="77"/>
              </a:rPr>
              <a:t>Frais de l’enveloppe (assureur/banque)</a:t>
            </a:r>
          </a:p>
        </p:txBody>
      </p:sp>
      <p:sp>
        <p:nvSpPr>
          <p:cNvPr id="120022" name="Text 120022"/>
          <p:cNvSpPr txBox="1"/>
          <p:nvPr/>
        </p:nvSpPr>
        <p:spPr>
          <a:xfrm>
            <a:off x="5247468" y="3938342"/>
            <a:ext cx="3300000" cy="361111"/>
          </a:xfrm>
          <a:prstGeom prst="rect">
            <a:avLst/>
          </a:prstGeom>
          <a:noFill/>
          <a:ln>
            <a:noFill/>
          </a:ln>
        </p:spPr>
        <p:txBody>
          <a:bodyPr wrap="square" lIns="0" tIns="0" rIns="0" bIns="0" rtlCol="0" anchor="ctr">
            <a:normAutofit/>
          </a:bodyPr>
          <a:lstStyle/>
          <a:p>
            <a:pPr algn="ctr">
              <a:buNone/>
            </a:pPr>
            <a:r>
              <a:rPr lang="fr-FR" sz="850" dirty="0">
                <a:solidFill>
                  <a:srgbClr val="6B6B6B"/>
                </a:solidFill>
                <a:latin typeface="Jost Light" pitchFamily="2" charset="77"/>
                <a:ea typeface="Jost Light" pitchFamily="2" charset="77"/>
                <a:cs typeface="Jost Light" pitchFamily="2" charset="77"/>
              </a:rPr>
              <a:t>Non perçu par La Financière de Rochechouart</a:t>
            </a:r>
          </a:p>
        </p:txBody>
      </p:sp>
      <p:sp>
        <p:nvSpPr>
          <p:cNvPr id="120023" name="Text 120023"/>
          <p:cNvSpPr txBox="1"/>
          <p:nvPr/>
        </p:nvSpPr>
        <p:spPr>
          <a:xfrm>
            <a:off x="8347468" y="3938342"/>
            <a:ext cx="3144532" cy="361111"/>
          </a:xfrm>
          <a:prstGeom prst="rect">
            <a:avLst/>
          </a:prstGeom>
          <a:noFill/>
          <a:ln>
            <a:noFill/>
          </a:ln>
        </p:spPr>
        <p:txBody>
          <a:bodyPr wrap="square" lIns="0" tIns="0" rIns="0" bIns="0" rtlCol="0" anchor="ctr">
            <a:normAutofit/>
          </a:bodyPr>
          <a:lstStyle/>
          <a:p>
            <a:pPr algn="r">
              <a:buNone/>
            </a:pPr>
            <a:r>
              <a:rPr lang="fr-FR" sz="950" dirty="0">
                <a:solidFill>
                  <a:srgbClr val="073527"/>
                </a:solidFill>
                <a:highlight>
                  <a:srgbClr val="FFFF00"/>
                </a:highlight>
                <a:latin typeface="Jost Light" pitchFamily="2" charset="77"/>
                <a:ea typeface="Jost Light" pitchFamily="2" charset="77"/>
                <a:cs typeface="Jost Light" pitchFamily="2" charset="77"/>
              </a:rPr>
              <a:t>XXX</a:t>
            </a:r>
            <a:r>
              <a:rPr lang="fr-FR" sz="950" dirty="0">
                <a:solidFill>
                  <a:srgbClr val="073527"/>
                </a:solidFill>
                <a:latin typeface="Jost Light" pitchFamily="2" charset="77"/>
                <a:ea typeface="Jost Light" pitchFamily="2" charset="77"/>
                <a:cs typeface="Jost Light" pitchFamily="2" charset="77"/>
              </a:rPr>
              <a:t>% des encours, par an</a:t>
            </a:r>
          </a:p>
        </p:txBody>
      </p:sp>
      <p:sp>
        <p:nvSpPr>
          <p:cNvPr id="120024" name="Text 120024"/>
          <p:cNvSpPr txBox="1"/>
          <p:nvPr/>
        </p:nvSpPr>
        <p:spPr>
          <a:xfrm>
            <a:off x="1227468" y="4299453"/>
            <a:ext cx="3880000" cy="361111"/>
          </a:xfrm>
          <a:prstGeom prst="rect">
            <a:avLst/>
          </a:prstGeom>
          <a:noFill/>
          <a:ln>
            <a:noFill/>
          </a:ln>
        </p:spPr>
        <p:txBody>
          <a:bodyPr wrap="square" lIns="0" tIns="0" rIns="0" bIns="0" rtlCol="0" anchor="ctr">
            <a:normAutofit/>
          </a:bodyPr>
          <a:lstStyle/>
          <a:p>
            <a:pPr algn="l">
              <a:buNone/>
            </a:pPr>
            <a:r>
              <a:rPr lang="fr-FR" sz="950" dirty="0">
                <a:solidFill>
                  <a:srgbClr val="073527"/>
                </a:solidFill>
                <a:latin typeface="Jost Medium" pitchFamily="2" charset="77"/>
                <a:ea typeface="Jost Medium" pitchFamily="2" charset="77"/>
                <a:cs typeface="Jost Medium" pitchFamily="2" charset="77"/>
              </a:rPr>
              <a:t>Frais de la banque dépositaire</a:t>
            </a:r>
          </a:p>
        </p:txBody>
      </p:sp>
      <p:sp>
        <p:nvSpPr>
          <p:cNvPr id="120025" name="Text 120025"/>
          <p:cNvSpPr txBox="1"/>
          <p:nvPr/>
        </p:nvSpPr>
        <p:spPr>
          <a:xfrm>
            <a:off x="5247468" y="4299453"/>
            <a:ext cx="3300000" cy="361111"/>
          </a:xfrm>
          <a:prstGeom prst="rect">
            <a:avLst/>
          </a:prstGeom>
          <a:noFill/>
          <a:ln>
            <a:noFill/>
          </a:ln>
        </p:spPr>
        <p:txBody>
          <a:bodyPr wrap="square" lIns="0" tIns="0" rIns="0" bIns="0" rtlCol="0" anchor="ctr">
            <a:normAutofit/>
          </a:bodyPr>
          <a:lstStyle/>
          <a:p>
            <a:pPr algn="ctr">
              <a:buNone/>
            </a:pPr>
            <a:r>
              <a:rPr lang="fr-FR" sz="850" dirty="0">
                <a:solidFill>
                  <a:srgbClr val="6B6B6B"/>
                </a:solidFill>
                <a:latin typeface="Jost Light" pitchFamily="2" charset="77"/>
                <a:ea typeface="Jost Light" pitchFamily="2" charset="77"/>
                <a:cs typeface="Jost Light" pitchFamily="2" charset="77"/>
              </a:rPr>
              <a:t>Non perçu par La Financière de Rochechouart</a:t>
            </a:r>
          </a:p>
        </p:txBody>
      </p:sp>
      <p:sp>
        <p:nvSpPr>
          <p:cNvPr id="120026" name="Text 120026"/>
          <p:cNvSpPr txBox="1"/>
          <p:nvPr/>
        </p:nvSpPr>
        <p:spPr>
          <a:xfrm>
            <a:off x="8347468" y="4299453"/>
            <a:ext cx="3144532" cy="361111"/>
          </a:xfrm>
          <a:prstGeom prst="rect">
            <a:avLst/>
          </a:prstGeom>
          <a:noFill/>
          <a:ln>
            <a:noFill/>
          </a:ln>
        </p:spPr>
        <p:txBody>
          <a:bodyPr wrap="square" lIns="0" tIns="0" rIns="0" bIns="0" rtlCol="0" anchor="ctr">
            <a:normAutofit/>
          </a:bodyPr>
          <a:lstStyle/>
          <a:p>
            <a:pPr algn="r">
              <a:buNone/>
            </a:pPr>
            <a:r>
              <a:rPr lang="fr-FR" sz="950" dirty="0">
                <a:solidFill>
                  <a:srgbClr val="073527"/>
                </a:solidFill>
                <a:highlight>
                  <a:srgbClr val="FFFF00"/>
                </a:highlight>
                <a:latin typeface="Jost Light" pitchFamily="2" charset="77"/>
                <a:ea typeface="Jost Light" pitchFamily="2" charset="77"/>
                <a:cs typeface="Jost Light" pitchFamily="2" charset="77"/>
              </a:rPr>
              <a:t>XXX</a:t>
            </a:r>
            <a:r>
              <a:rPr lang="fr-FR" sz="950" dirty="0">
                <a:solidFill>
                  <a:srgbClr val="073527"/>
                </a:solidFill>
                <a:latin typeface="Jost Light" pitchFamily="2" charset="77"/>
                <a:ea typeface="Jost Light" pitchFamily="2" charset="77"/>
                <a:cs typeface="Jost Light" pitchFamily="2" charset="77"/>
              </a:rPr>
              <a:t>% des encours, par an</a:t>
            </a:r>
          </a:p>
        </p:txBody>
      </p:sp>
      <p:sp>
        <p:nvSpPr>
          <p:cNvPr id="120027" name="Shape 120027"/>
          <p:cNvSpPr/>
          <p:nvPr/>
        </p:nvSpPr>
        <p:spPr>
          <a:xfrm>
            <a:off x="947468" y="4660564"/>
            <a:ext cx="10744532" cy="361111"/>
          </a:xfrm>
          <a:prstGeom prst="rect">
            <a:avLst/>
          </a:prstGeom>
          <a:solidFill>
            <a:srgbClr val="FCF9EF"/>
          </a:solidFill>
          <a:ln>
            <a:noFill/>
          </a:ln>
        </p:spPr>
        <p:txBody>
          <a:bodyPr rtlCol="0" anchor="ctr"/>
          <a:lstStyle/>
          <a:p>
            <a:endParaRPr lang="fr-FR"/>
          </a:p>
        </p:txBody>
      </p:sp>
      <p:sp>
        <p:nvSpPr>
          <p:cNvPr id="120028" name="Text 120028"/>
          <p:cNvSpPr txBox="1"/>
          <p:nvPr/>
        </p:nvSpPr>
        <p:spPr>
          <a:xfrm>
            <a:off x="1227468" y="4660564"/>
            <a:ext cx="3880000" cy="361111"/>
          </a:xfrm>
          <a:prstGeom prst="rect">
            <a:avLst/>
          </a:prstGeom>
          <a:noFill/>
          <a:ln>
            <a:noFill/>
          </a:ln>
        </p:spPr>
        <p:txBody>
          <a:bodyPr wrap="square" lIns="0" tIns="0" rIns="0" bIns="0" rtlCol="0" anchor="ctr">
            <a:normAutofit/>
          </a:bodyPr>
          <a:lstStyle/>
          <a:p>
            <a:pPr algn="l">
              <a:buNone/>
            </a:pPr>
            <a:r>
              <a:rPr lang="fr-FR" sz="950" dirty="0">
                <a:solidFill>
                  <a:srgbClr val="073527"/>
                </a:solidFill>
                <a:latin typeface="Jost Medium" pitchFamily="2" charset="77"/>
                <a:ea typeface="Jost Medium" pitchFamily="2" charset="77"/>
                <a:cs typeface="Jost Medium" pitchFamily="2" charset="77"/>
              </a:rPr>
              <a:t>SCPI</a:t>
            </a:r>
          </a:p>
        </p:txBody>
      </p:sp>
      <p:sp>
        <p:nvSpPr>
          <p:cNvPr id="120029" name="Text 120029"/>
          <p:cNvSpPr txBox="1"/>
          <p:nvPr/>
        </p:nvSpPr>
        <p:spPr>
          <a:xfrm>
            <a:off x="8347468" y="4660564"/>
            <a:ext cx="3144532" cy="361111"/>
          </a:xfrm>
          <a:prstGeom prst="rect">
            <a:avLst/>
          </a:prstGeom>
          <a:noFill/>
          <a:ln>
            <a:noFill/>
          </a:ln>
        </p:spPr>
        <p:txBody>
          <a:bodyPr wrap="square" lIns="0" tIns="0" rIns="0" bIns="0" rtlCol="0" anchor="ctr">
            <a:normAutofit/>
          </a:bodyPr>
          <a:lstStyle/>
          <a:p>
            <a:pPr algn="r">
              <a:buNone/>
            </a:pPr>
            <a:r>
              <a:rPr lang="fr-FR" sz="950" dirty="0">
                <a:solidFill>
                  <a:srgbClr val="073527"/>
                </a:solidFill>
                <a:latin typeface="Jost Light" pitchFamily="2" charset="77"/>
                <a:ea typeface="Jost Light" pitchFamily="2" charset="77"/>
                <a:cs typeface="Jost Light" pitchFamily="2" charset="77"/>
              </a:rPr>
              <a:t>Rétrocession de la maison de gestion / Non applicable</a:t>
            </a:r>
          </a:p>
        </p:txBody>
      </p:sp>
      <p:sp>
        <p:nvSpPr>
          <p:cNvPr id="120030" name="Text 120030"/>
          <p:cNvSpPr txBox="1"/>
          <p:nvPr/>
        </p:nvSpPr>
        <p:spPr>
          <a:xfrm>
            <a:off x="1227468" y="5021675"/>
            <a:ext cx="3880000" cy="361111"/>
          </a:xfrm>
          <a:prstGeom prst="rect">
            <a:avLst/>
          </a:prstGeom>
          <a:noFill/>
          <a:ln>
            <a:noFill/>
          </a:ln>
        </p:spPr>
        <p:txBody>
          <a:bodyPr wrap="square" lIns="0" tIns="0" rIns="0" bIns="0" rtlCol="0" anchor="ctr">
            <a:normAutofit/>
          </a:bodyPr>
          <a:lstStyle/>
          <a:p>
            <a:pPr algn="l">
              <a:buNone/>
            </a:pPr>
            <a:r>
              <a:rPr lang="fr-FR" sz="950" dirty="0">
                <a:solidFill>
                  <a:srgbClr val="073527"/>
                </a:solidFill>
                <a:latin typeface="Jost Medium" pitchFamily="2" charset="77"/>
                <a:ea typeface="Jost Medium" pitchFamily="2" charset="77"/>
                <a:cs typeface="Jost Medium" pitchFamily="2" charset="77"/>
              </a:rPr>
              <a:t>Ingénierie patrimoniale</a:t>
            </a:r>
          </a:p>
        </p:txBody>
      </p:sp>
      <p:sp>
        <p:nvSpPr>
          <p:cNvPr id="120031" name="Text 120031"/>
          <p:cNvSpPr txBox="1"/>
          <p:nvPr/>
        </p:nvSpPr>
        <p:spPr>
          <a:xfrm>
            <a:off x="8347468" y="5021675"/>
            <a:ext cx="3144532" cy="361111"/>
          </a:xfrm>
          <a:prstGeom prst="rect">
            <a:avLst/>
          </a:prstGeom>
          <a:noFill/>
          <a:ln>
            <a:noFill/>
          </a:ln>
        </p:spPr>
        <p:txBody>
          <a:bodyPr wrap="square" lIns="0" tIns="0" rIns="0" bIns="0" rtlCol="0" anchor="ctr">
            <a:normAutofit/>
          </a:bodyPr>
          <a:lstStyle/>
          <a:p>
            <a:pPr algn="r">
              <a:buNone/>
            </a:pPr>
            <a:r>
              <a:rPr lang="fr-FR" sz="950" dirty="0">
                <a:solidFill>
                  <a:srgbClr val="073527"/>
                </a:solidFill>
                <a:latin typeface="Jost Light" pitchFamily="2" charset="77"/>
                <a:ea typeface="Jost Light" pitchFamily="2" charset="77"/>
                <a:cs typeface="Jost Light" pitchFamily="2" charset="77"/>
              </a:rPr>
              <a:t>Forfait de </a:t>
            </a:r>
            <a:r>
              <a:rPr lang="fr-FR" sz="950" dirty="0">
                <a:solidFill>
                  <a:srgbClr val="073527"/>
                </a:solidFill>
                <a:highlight>
                  <a:srgbClr val="FFFF00"/>
                </a:highlight>
                <a:latin typeface="Jost Light" pitchFamily="2" charset="77"/>
                <a:ea typeface="Jost Light" pitchFamily="2" charset="77"/>
                <a:cs typeface="Jost Light" pitchFamily="2" charset="77"/>
              </a:rPr>
              <a:t>XXX</a:t>
            </a:r>
            <a:r>
              <a:rPr lang="fr-FR" sz="950" dirty="0">
                <a:solidFill>
                  <a:srgbClr val="073527"/>
                </a:solidFill>
                <a:latin typeface="Jost Light" pitchFamily="2" charset="77"/>
                <a:ea typeface="Jost Light" pitchFamily="2" charset="77"/>
                <a:cs typeface="Jost Light" pitchFamily="2" charset="77"/>
              </a:rPr>
              <a:t> EUR / Non applicable</a:t>
            </a:r>
          </a:p>
        </p:txBody>
      </p:sp>
      <p:sp>
        <p:nvSpPr>
          <p:cNvPr id="120032" name="Shape 120032"/>
          <p:cNvSpPr/>
          <p:nvPr/>
        </p:nvSpPr>
        <p:spPr>
          <a:xfrm>
            <a:off x="947468" y="5382786"/>
            <a:ext cx="10744532" cy="361111"/>
          </a:xfrm>
          <a:prstGeom prst="rect">
            <a:avLst/>
          </a:prstGeom>
          <a:solidFill>
            <a:srgbClr val="FCF9EF"/>
          </a:solidFill>
          <a:ln>
            <a:noFill/>
          </a:ln>
        </p:spPr>
        <p:txBody>
          <a:bodyPr rtlCol="0" anchor="ctr"/>
          <a:lstStyle/>
          <a:p>
            <a:endParaRPr lang="fr-FR"/>
          </a:p>
        </p:txBody>
      </p:sp>
      <p:sp>
        <p:nvSpPr>
          <p:cNvPr id="120033" name="Text 120033"/>
          <p:cNvSpPr txBox="1"/>
          <p:nvPr/>
        </p:nvSpPr>
        <p:spPr>
          <a:xfrm>
            <a:off x="1227468" y="5382786"/>
            <a:ext cx="3880000" cy="361111"/>
          </a:xfrm>
          <a:prstGeom prst="rect">
            <a:avLst/>
          </a:prstGeom>
          <a:noFill/>
          <a:ln>
            <a:noFill/>
          </a:ln>
        </p:spPr>
        <p:txBody>
          <a:bodyPr wrap="square" lIns="0" tIns="0" rIns="0" bIns="0" rtlCol="0" anchor="ctr">
            <a:normAutofit/>
          </a:bodyPr>
          <a:lstStyle/>
          <a:p>
            <a:pPr algn="l">
              <a:buNone/>
            </a:pPr>
            <a:r>
              <a:rPr lang="fr-FR" sz="950" dirty="0">
                <a:solidFill>
                  <a:srgbClr val="073527"/>
                </a:solidFill>
                <a:latin typeface="Jost Medium" pitchFamily="2" charset="77"/>
                <a:ea typeface="Jost Medium" pitchFamily="2" charset="77"/>
                <a:cs typeface="Jost Medium" pitchFamily="2" charset="77"/>
              </a:rPr>
              <a:t>Transfert de courtage d’un contrat existant</a:t>
            </a:r>
          </a:p>
        </p:txBody>
      </p:sp>
      <p:sp>
        <p:nvSpPr>
          <p:cNvPr id="120034" name="Text 120034"/>
          <p:cNvSpPr txBox="1"/>
          <p:nvPr/>
        </p:nvSpPr>
        <p:spPr>
          <a:xfrm>
            <a:off x="8347468" y="5382786"/>
            <a:ext cx="3144532" cy="361111"/>
          </a:xfrm>
          <a:prstGeom prst="rect">
            <a:avLst/>
          </a:prstGeom>
          <a:noFill/>
          <a:ln>
            <a:noFill/>
          </a:ln>
        </p:spPr>
        <p:txBody>
          <a:bodyPr wrap="square" lIns="0" tIns="0" rIns="0" bIns="0" rtlCol="0" anchor="ctr">
            <a:normAutofit/>
          </a:bodyPr>
          <a:lstStyle/>
          <a:p>
            <a:pPr algn="r">
              <a:buNone/>
            </a:pPr>
            <a:r>
              <a:rPr lang="fr-FR" sz="950" dirty="0">
                <a:solidFill>
                  <a:srgbClr val="A9853F"/>
                </a:solidFill>
                <a:latin typeface="Jost Medium" pitchFamily="2" charset="77"/>
                <a:ea typeface="Jost Medium" pitchFamily="2" charset="77"/>
                <a:cs typeface="Jost Medium" pitchFamily="2" charset="77"/>
              </a:rPr>
              <a:t>Offert : pris en charge par La Financière de Rochechouart</a:t>
            </a:r>
          </a:p>
        </p:txBody>
      </p:sp>
      <p:sp>
        <p:nvSpPr>
          <p:cNvPr id="120035" name="Shape 120035"/>
          <p:cNvSpPr/>
          <p:nvPr/>
        </p:nvSpPr>
        <p:spPr>
          <a:xfrm>
            <a:off x="947468" y="5883898"/>
            <a:ext cx="10744532" cy="430000"/>
          </a:xfrm>
          <a:prstGeom prst="rect">
            <a:avLst/>
          </a:prstGeom>
          <a:solidFill>
            <a:srgbClr val="001B00"/>
          </a:solidFill>
          <a:ln>
            <a:noFill/>
          </a:ln>
        </p:spPr>
        <p:txBody>
          <a:bodyPr rtlCol="0" anchor="ctr"/>
          <a:lstStyle/>
          <a:p>
            <a:endParaRPr lang="fr-FR"/>
          </a:p>
        </p:txBody>
      </p:sp>
      <p:sp>
        <p:nvSpPr>
          <p:cNvPr id="120036" name="Text 120036"/>
          <p:cNvSpPr txBox="1"/>
          <p:nvPr/>
        </p:nvSpPr>
        <p:spPr>
          <a:xfrm>
            <a:off x="1227468" y="5883898"/>
            <a:ext cx="7180000" cy="430000"/>
          </a:xfrm>
          <a:prstGeom prst="rect">
            <a:avLst/>
          </a:prstGeom>
          <a:noFill/>
          <a:ln>
            <a:noFill/>
          </a:ln>
        </p:spPr>
        <p:txBody>
          <a:bodyPr wrap="square" lIns="0" tIns="0" rIns="0" bIns="0" rtlCol="0" anchor="ctr">
            <a:normAutofit/>
          </a:bodyPr>
          <a:lstStyle/>
          <a:p>
            <a:pPr algn="l">
              <a:buNone/>
            </a:pPr>
            <a:r>
              <a:rPr lang="fr-FR" sz="1050" dirty="0">
                <a:solidFill>
                  <a:srgbClr val="A9853F"/>
                </a:solidFill>
                <a:latin typeface="Jost Medium" pitchFamily="2" charset="77"/>
                <a:ea typeface="Jost Medium" pitchFamily="2" charset="77"/>
                <a:cs typeface="Jost Medium" pitchFamily="2" charset="77"/>
              </a:rPr>
              <a:t>Total des frais supportés, par an :</a:t>
            </a:r>
          </a:p>
        </p:txBody>
      </p:sp>
      <p:sp>
        <p:nvSpPr>
          <p:cNvPr id="120037" name="Text 120037"/>
          <p:cNvSpPr txBox="1"/>
          <p:nvPr/>
        </p:nvSpPr>
        <p:spPr>
          <a:xfrm>
            <a:off x="8347468" y="5883898"/>
            <a:ext cx="3144532" cy="430000"/>
          </a:xfrm>
          <a:prstGeom prst="rect">
            <a:avLst/>
          </a:prstGeom>
          <a:noFill/>
          <a:ln>
            <a:noFill/>
          </a:ln>
        </p:spPr>
        <p:txBody>
          <a:bodyPr wrap="square" lIns="0" tIns="0" rIns="0" bIns="0" rtlCol="0" anchor="ctr">
            <a:normAutofit/>
          </a:bodyPr>
          <a:lstStyle/>
          <a:p>
            <a:pPr algn="r">
              <a:buNone/>
            </a:pPr>
            <a:r>
              <a:rPr lang="fr-FR" sz="1500" b="1" dirty="0">
                <a:solidFill>
                  <a:srgbClr val="FFFFFF"/>
                </a:solidFill>
                <a:highlight>
                  <a:srgbClr val="FFFF00"/>
                </a:highlight>
                <a:latin typeface="Cormorant Garamond SemiBold" pitchFamily="2" charset="77"/>
                <a:ea typeface="Cormorant Garamond SemiBold" pitchFamily="2" charset="77"/>
                <a:cs typeface="Cormorant Garamond SemiBold" pitchFamily="2" charset="77"/>
              </a:rPr>
              <a:t>XXX</a:t>
            </a:r>
            <a:r>
              <a:rPr lang="fr-FR" sz="1500" b="1" dirty="0">
                <a:solidFill>
                  <a:srgbClr val="FFFFFF"/>
                </a:solidFill>
                <a:latin typeface="Cormorant Garamond SemiBold" pitchFamily="2" charset="77"/>
                <a:ea typeface="Cormorant Garamond SemiBold" pitchFamily="2" charset="77"/>
                <a:cs typeface="Cormorant Garamond SemiBold" pitchFamily="2" charset="77"/>
              </a:rPr>
              <a:t>% des encours</a:t>
            </a:r>
          </a:p>
        </p:txBody>
      </p:sp>
    </p:spTree>
    <p:extLst>
      <p:ext uri="{BB962C8B-B14F-4D97-AF65-F5344CB8AC3E}">
        <p14:creationId xmlns:p14="http://schemas.microsoft.com/office/powerpoint/2010/main" val="13171249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5551F1-4176-42ED-9C26-DE890CEAFFE1}"/>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22F3B458-C7FA-D3B1-CA7E-B9309EB4413F}"/>
              </a:ext>
            </a:extLst>
          </p:cNvPr>
          <p:cNvSpPr txBox="1"/>
          <p:nvPr/>
        </p:nvSpPr>
        <p:spPr>
          <a:xfrm>
            <a:off x="789405" y="537845"/>
            <a:ext cx="11072395" cy="6017032"/>
          </a:xfrm>
          <a:prstGeom prst="rect">
            <a:avLst/>
          </a:prstGeom>
          <a:noFill/>
        </p:spPr>
        <p:txBody>
          <a:bodyPr wrap="square" rtlCol="0">
            <a:spAutoFit/>
          </a:bodyPr>
          <a:lstStyle/>
          <a:p>
            <a:pPr algn="just"/>
            <a:r>
              <a:rPr lang="fr-FR" sz="1100" b="1" dirty="0">
                <a:latin typeface="Jost Black" pitchFamily="2" charset="77"/>
                <a:ea typeface="Jost Black" pitchFamily="2" charset="77"/>
              </a:rPr>
              <a:t>Informations importantes</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Risques liés aux investissements</a:t>
            </a:r>
          </a:p>
          <a:p>
            <a:pPr algn="just"/>
            <a:r>
              <a:rPr lang="fr-FR" sz="1100" dirty="0">
                <a:latin typeface="Jost ExtraLight" pitchFamily="2" charset="77"/>
                <a:ea typeface="Jost ExtraLight" pitchFamily="2" charset="77"/>
              </a:rPr>
              <a:t>Tout investissement comporte des risques, notamment un risque de perte partielle ou totale du capital investi. La valeur des investissements et les revenus qui en découlent peuvent évoluer à la hausse comme à la baisse. Les performances passées, historiques, simulées ou présentées à titre illustratif ne constituent pas un indicateur fiable des performances futures et ne préjugent pas des résultats futurs. Avant toute décision d’investissement, il convient d’apprécier l’adéquation de la solution envisagée avec la situation financière, les objectifs, l’horizon d’investissement, les connaissances, l’expérience et la tolérance au risque de l’investisseur. Le document source reprend déjà ce principe d’adéquation au profil et aux objectifs du client.</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Nature du document</a:t>
            </a:r>
          </a:p>
          <a:p>
            <a:pPr algn="just"/>
            <a:r>
              <a:rPr lang="fr-FR" sz="1100" dirty="0">
                <a:latin typeface="Jost ExtraLight" pitchFamily="2" charset="77"/>
                <a:ea typeface="Jost ExtraLight" pitchFamily="2" charset="77"/>
              </a:rPr>
              <a:t>Le présent document est communiqué exclusivement à titre informatif et pédagogique. Il ne constitue ni une offre, ni une sollicitation, ni une recommandation personnalisée d’achat, de souscription, de vente ou d’arbitrage d’un instrument financier ou d’un produit d’investissement. Toute décision d’investissement doit être prise sur la base de la documentation juridique et réglementaire officielle du produit concerné et, le cas échéant, après remise d’un conseil adapté à la situation de l’investisseur. Cette logique est également celle du disclaimer du document de référence, qui précise que seuls les documents officiels des partenaires font foi.</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Données, simulations et objectifs de rendement</a:t>
            </a:r>
          </a:p>
          <a:p>
            <a:pPr algn="just"/>
            <a:r>
              <a:rPr lang="fr-FR" sz="1100" dirty="0">
                <a:latin typeface="Jost ExtraLight" pitchFamily="2" charset="77"/>
                <a:ea typeface="Jost ExtraLight" pitchFamily="2" charset="77"/>
              </a:rPr>
              <a:t>Les données, exemples, projections, objectifs de rendement, scénarios et illustrations figurant dans cette présentation sont fournis à titre indicatif. Lorsqu’ils reposent sur des hypothèses, celles-ci peuvent ne pas se réaliser. Sauf mention contraire, les illustrations peuvent ne pas tenir compte de l’ensemble des frais, de la fiscalité, de l’inflation ou des conditions particulières propres à chaque investisseur. Aucun objectif de rendement ne constitue une garantie de performance.</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Informations fiscales et juridiques</a:t>
            </a:r>
          </a:p>
          <a:p>
            <a:pPr algn="just"/>
            <a:r>
              <a:rPr lang="fr-FR" sz="1100" dirty="0">
                <a:latin typeface="Jost ExtraLight" pitchFamily="2" charset="77"/>
                <a:ea typeface="Jost ExtraLight" pitchFamily="2" charset="77"/>
              </a:rPr>
              <a:t>Les informations d’ordre fiscal, juridique ou patrimonial présentées dans ce document sont générales et susceptibles d’évoluer en fonction de la réglementation applicable. Elles ne sauraient se substituer à un conseil juridique, fiscal, comptable ou notarial individualisé. Les conséquences d’une opération dépendent notamment de la situation personnelle et patrimoniale de chaque client.</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Sources et responsabilité</a:t>
            </a:r>
          </a:p>
          <a:p>
            <a:pPr algn="just"/>
            <a:r>
              <a:rPr lang="fr-FR" sz="1100" dirty="0">
                <a:latin typeface="Jost ExtraLight" pitchFamily="2" charset="77"/>
                <a:ea typeface="Jost ExtraLight" pitchFamily="2" charset="77"/>
              </a:rPr>
              <a:t>Les informations utilisées sont issues de sources considérées comme fiables à la date de rédaction. Toutefois, leur exactitude, leur exhaustivité ou leur actualisation ne peuvent être garanties. La Financière de Rochechouart ne saurait être tenue responsable d’une décision prise sur le seul fondement des informations générales figurant dans ce document.</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Confidentialité</a:t>
            </a:r>
          </a:p>
          <a:p>
            <a:pPr algn="just"/>
            <a:r>
              <a:rPr lang="fr-FR" sz="1100" dirty="0">
                <a:latin typeface="Jost ExtraLight" pitchFamily="2" charset="77"/>
                <a:ea typeface="Jost ExtraLight" pitchFamily="2" charset="77"/>
              </a:rPr>
              <a:t>Ce document et les informations qu’il contient sont confidentiels et exclusivement destinés à leurs destinataires. Toute reproduction, modification, transmission ou diffusion, totale ou partielle, sans autorisation préalable de La Financière de Rochechouart est interdite. Le document de référence utilise lui aussi une clause de confidentialité et de restriction de diffusion de cette nature.</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Restrictions de distribution</a:t>
            </a:r>
          </a:p>
          <a:p>
            <a:pPr algn="just"/>
            <a:r>
              <a:rPr lang="fr-FR" sz="1100" dirty="0">
                <a:latin typeface="Jost ExtraLight" pitchFamily="2" charset="77"/>
                <a:ea typeface="Jost ExtraLight" pitchFamily="2" charset="77"/>
              </a:rPr>
              <a:t>Ce document n’est pas destiné à être distribué ou utilisé dans une juridiction dans laquelle une telle distribution ou utilisation serait contraire aux dispositions légales ou réglementaires applicables. Toute restriction particulière applicable à certaines catégories d’investisseurs ou à certains territoires doit être respectée.</a:t>
            </a:r>
          </a:p>
        </p:txBody>
      </p:sp>
      <p:pic>
        <p:nvPicPr>
          <p:cNvPr id="9" name="Image 8">
            <a:extLst>
              <a:ext uri="{FF2B5EF4-FFF2-40B4-BE49-F238E27FC236}">
                <a16:creationId xmlns:a16="http://schemas.microsoft.com/office/drawing/2014/main" id="{F452B377-90AA-998C-0649-8649DB532650}"/>
              </a:ext>
            </a:extLst>
          </p:cNvPr>
          <p:cNvPicPr>
            <a:picLocks noChangeAspect="1"/>
          </p:cNvPicPr>
          <p:nvPr/>
        </p:nvPicPr>
        <p:blipFill>
          <a:blip r:embed="rId2">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30449915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7684AA85-5B5B-D8C3-5B9A-0045E6A07CA7}"/>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15343" t="56914" r="5513" b="11750"/>
          <a:stretch>
            <a:fillRect/>
          </a:stretch>
        </p:blipFill>
        <p:spPr>
          <a:xfrm>
            <a:off x="-1" y="-1"/>
            <a:ext cx="12192001" cy="2518995"/>
          </a:xfrm>
          <a:prstGeom prst="rect">
            <a:avLst/>
          </a:prstGeom>
        </p:spPr>
      </p:pic>
      <p:pic>
        <p:nvPicPr>
          <p:cNvPr id="3" name="Image 2">
            <a:extLst>
              <a:ext uri="{FF2B5EF4-FFF2-40B4-BE49-F238E27FC236}">
                <a16:creationId xmlns:a16="http://schemas.microsoft.com/office/drawing/2014/main" id="{C2F3ADF2-10C4-DF44-DFA6-707D03D6C37D}"/>
              </a:ext>
            </a:extLst>
          </p:cNvPr>
          <p:cNvPicPr>
            <a:picLocks noChangeAspect="1"/>
          </p:cNvPicPr>
          <p:nvPr/>
        </p:nvPicPr>
        <p:blipFill>
          <a:blip r:embed="rId4">
            <a:duotone>
              <a:prstClr val="black"/>
              <a:srgbClr val="063527">
                <a:tint val="45000"/>
                <a:satMod val="400000"/>
              </a:srgbClr>
            </a:duotone>
          </a:blip>
          <a:stretch>
            <a:fillRect/>
          </a:stretch>
        </p:blipFill>
        <p:spPr>
          <a:xfrm>
            <a:off x="4271041" y="2820682"/>
            <a:ext cx="3649911" cy="1216635"/>
          </a:xfrm>
          <a:prstGeom prst="rect">
            <a:avLst/>
          </a:prstGeom>
        </p:spPr>
      </p:pic>
      <p:sp>
        <p:nvSpPr>
          <p:cNvPr id="6" name="ZoneTexte 5">
            <a:extLst>
              <a:ext uri="{FF2B5EF4-FFF2-40B4-BE49-F238E27FC236}">
                <a16:creationId xmlns:a16="http://schemas.microsoft.com/office/drawing/2014/main" id="{FBFA2D28-AED9-3DB5-6B26-8D54CD2A4D08}"/>
              </a:ext>
            </a:extLst>
          </p:cNvPr>
          <p:cNvSpPr txBox="1"/>
          <p:nvPr/>
        </p:nvSpPr>
        <p:spPr>
          <a:xfrm>
            <a:off x="468083" y="6115071"/>
            <a:ext cx="11255829" cy="577081"/>
          </a:xfrm>
          <a:prstGeom prst="rect">
            <a:avLst/>
          </a:prstGeom>
          <a:noFill/>
        </p:spPr>
        <p:txBody>
          <a:bodyPr wrap="square" rtlCol="0">
            <a:spAutoFit/>
          </a:bodyPr>
          <a:lstStyle/>
          <a:p>
            <a:pPr algn="ctr"/>
            <a:r>
              <a:rPr lang="fr-FR" sz="1050" dirty="0">
                <a:solidFill>
                  <a:schemeClr val="bg1">
                    <a:lumMod val="65000"/>
                  </a:schemeClr>
                </a:solidFill>
                <a:latin typeface="Jost Light" pitchFamily="2" charset="77"/>
                <a:ea typeface="Jost Light" pitchFamily="2" charset="77"/>
              </a:rPr>
              <a:t>La Financière de Rochechouart - 58 rue de Monceau, 75008 Paris CEDEX 08. Site internet : </a:t>
            </a:r>
            <a:r>
              <a:rPr lang="fr-FR" sz="1050" dirty="0" err="1">
                <a:solidFill>
                  <a:schemeClr val="bg1">
                    <a:lumMod val="65000"/>
                  </a:schemeClr>
                </a:solidFill>
                <a:latin typeface="Jost Light" pitchFamily="2" charset="77"/>
                <a:ea typeface="Jost Light" pitchFamily="2" charset="77"/>
              </a:rPr>
              <a:t>www.lafinancierederochechouart.com</a:t>
            </a:r>
            <a:r>
              <a:rPr lang="fr-FR" sz="1050" dirty="0">
                <a:solidFill>
                  <a:schemeClr val="bg1">
                    <a:lumMod val="65000"/>
                  </a:schemeClr>
                </a:solidFill>
                <a:latin typeface="Jost Light" pitchFamily="2" charset="77"/>
                <a:ea typeface="Jost Light" pitchFamily="2" charset="77"/>
              </a:rPr>
              <a:t> - Société par actions simplifiées au capital de 10 000 euros - 108 029 570 RCS Paris - TVA : FR 82 108 029 570 - Établissement agréé par l’ORIAS sous le numéro 260 114 74 (</a:t>
            </a:r>
            <a:r>
              <a:rPr lang="fr-FR" sz="1050" dirty="0" err="1">
                <a:solidFill>
                  <a:schemeClr val="bg1">
                    <a:lumMod val="65000"/>
                  </a:schemeClr>
                </a:solidFill>
                <a:latin typeface="Jost Light" pitchFamily="2" charset="77"/>
                <a:ea typeface="Jost Light" pitchFamily="2" charset="77"/>
              </a:rPr>
              <a:t>www.orias.fr</a:t>
            </a:r>
            <a:r>
              <a:rPr lang="fr-FR" sz="1050" dirty="0">
                <a:solidFill>
                  <a:schemeClr val="bg1">
                    <a:lumMod val="65000"/>
                  </a:schemeClr>
                </a:solidFill>
                <a:latin typeface="Jost Light" pitchFamily="2" charset="77"/>
                <a:ea typeface="Jost Light" pitchFamily="2" charset="77"/>
              </a:rPr>
              <a:t>) en qualité de conseiller en investissements financiers (adhésion à l’ANACOFI-CIF), courtier en assurance (IAS - adhésion à l'ANACOFI Courtage) - Siège social : 58 rue de Monceau, 75008 Paris.</a:t>
            </a:r>
          </a:p>
        </p:txBody>
      </p:sp>
    </p:spTree>
    <p:extLst>
      <p:ext uri="{BB962C8B-B14F-4D97-AF65-F5344CB8AC3E}">
        <p14:creationId xmlns:p14="http://schemas.microsoft.com/office/powerpoint/2010/main" val="210491322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13244</Words>
  <Application>Microsoft Macintosh PowerPoint</Application>
  <PresentationFormat>Grand écran</PresentationFormat>
  <Paragraphs>1682</Paragraphs>
  <Slides>82</Slides>
  <Notes>31</Notes>
  <HiddenSlides>0</HiddenSlides>
  <MMClips>0</MMClips>
  <ScaleCrop>false</ScaleCrop>
  <HeadingPairs>
    <vt:vector size="8" baseType="variant">
      <vt:variant>
        <vt:lpstr>Polices utilisées</vt:lpstr>
      </vt:variant>
      <vt:variant>
        <vt:i4>13</vt:i4>
      </vt:variant>
      <vt:variant>
        <vt:lpstr>Thème</vt:lpstr>
      </vt:variant>
      <vt:variant>
        <vt:i4>1</vt:i4>
      </vt:variant>
      <vt:variant>
        <vt:lpstr>Serveurs OLE incorporés</vt:lpstr>
      </vt:variant>
      <vt:variant>
        <vt:i4>1</vt:i4>
      </vt:variant>
      <vt:variant>
        <vt:lpstr>Titres des diapositives</vt:lpstr>
      </vt:variant>
      <vt:variant>
        <vt:i4>82</vt:i4>
      </vt:variant>
    </vt:vector>
  </HeadingPairs>
  <TitlesOfParts>
    <vt:vector size="97" baseType="lpstr">
      <vt:lpstr>Aptos</vt:lpstr>
      <vt:lpstr>Aptos Display</vt:lpstr>
      <vt:lpstr>Arial</vt:lpstr>
      <vt:lpstr>Cormorant Garamond</vt:lpstr>
      <vt:lpstr>Cormorant Garamond Light</vt:lpstr>
      <vt:lpstr>Cormorant Garamond Medium</vt:lpstr>
      <vt:lpstr>Cormorant Garamond SemiBold</vt:lpstr>
      <vt:lpstr>Jost Black</vt:lpstr>
      <vt:lpstr>Jost ExtraLight</vt:lpstr>
      <vt:lpstr>Jost Light</vt:lpstr>
      <vt:lpstr>Jost Medium</vt:lpstr>
      <vt:lpstr>Jost SemiBold</vt:lpstr>
      <vt:lpstr>Wingdings</vt:lpstr>
      <vt:lpstr>Thème Office</vt:lpstr>
      <vt:lpstr>Feuille de calcul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Hugo Flippe</dc:creator>
  <cp:lastModifiedBy>Hugo Flippe</cp:lastModifiedBy>
  <cp:revision>1</cp:revision>
  <dcterms:created xsi:type="dcterms:W3CDTF">2026-09-28T14:45:56Z</dcterms:created>
  <dcterms:modified xsi:type="dcterms:W3CDTF">2026-09-28T15:09:25Z</dcterms:modified>
</cp:coreProperties>
</file>